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72"/>
  </p:notesMasterIdLst>
  <p:sldIdLst>
    <p:sldId id="256" r:id="rId3"/>
    <p:sldId id="294" r:id="rId4"/>
    <p:sldId id="292" r:id="rId5"/>
    <p:sldId id="293" r:id="rId6"/>
    <p:sldId id="309" r:id="rId7"/>
    <p:sldId id="570" r:id="rId8"/>
    <p:sldId id="310" r:id="rId9"/>
    <p:sldId id="581" r:id="rId10"/>
    <p:sldId id="585" r:id="rId11"/>
    <p:sldId id="311" r:id="rId12"/>
    <p:sldId id="572" r:id="rId13"/>
    <p:sldId id="574" r:id="rId14"/>
    <p:sldId id="577" r:id="rId15"/>
    <p:sldId id="582" r:id="rId16"/>
    <p:sldId id="312" r:id="rId17"/>
    <p:sldId id="298" r:id="rId18"/>
    <p:sldId id="313" r:id="rId19"/>
    <p:sldId id="386" r:id="rId20"/>
    <p:sldId id="394" r:id="rId21"/>
    <p:sldId id="586" r:id="rId22"/>
    <p:sldId id="587" r:id="rId23"/>
    <p:sldId id="589" r:id="rId24"/>
    <p:sldId id="590" r:id="rId25"/>
    <p:sldId id="588" r:id="rId26"/>
    <p:sldId id="591" r:id="rId27"/>
    <p:sldId id="592" r:id="rId28"/>
    <p:sldId id="593" r:id="rId29"/>
    <p:sldId id="300" r:id="rId30"/>
    <p:sldId id="315" r:id="rId31"/>
    <p:sldId id="575" r:id="rId32"/>
    <p:sldId id="301" r:id="rId33"/>
    <p:sldId id="316" r:id="rId34"/>
    <p:sldId id="371" r:id="rId35"/>
    <p:sldId id="372" r:id="rId36"/>
    <p:sldId id="387" r:id="rId37"/>
    <p:sldId id="388" r:id="rId38"/>
    <p:sldId id="373" r:id="rId39"/>
    <p:sldId id="317" r:id="rId40"/>
    <p:sldId id="319" r:id="rId41"/>
    <p:sldId id="318" r:id="rId42"/>
    <p:sldId id="320" r:id="rId43"/>
    <p:sldId id="576" r:id="rId44"/>
    <p:sldId id="393" r:id="rId45"/>
    <p:sldId id="303" r:id="rId46"/>
    <p:sldId id="583" r:id="rId47"/>
    <p:sldId id="323" r:id="rId48"/>
    <p:sldId id="584" r:id="rId49"/>
    <p:sldId id="324" r:id="rId50"/>
    <p:sldId id="327" r:id="rId51"/>
    <p:sldId id="328" r:id="rId52"/>
    <p:sldId id="329" r:id="rId53"/>
    <p:sldId id="330" r:id="rId54"/>
    <p:sldId id="331" r:id="rId55"/>
    <p:sldId id="332" r:id="rId56"/>
    <p:sldId id="333" r:id="rId57"/>
    <p:sldId id="334" r:id="rId58"/>
    <p:sldId id="335" r:id="rId59"/>
    <p:sldId id="325" r:id="rId60"/>
    <p:sldId id="326" r:id="rId61"/>
    <p:sldId id="336" r:id="rId62"/>
    <p:sldId id="337" r:id="rId63"/>
    <p:sldId id="340" r:id="rId64"/>
    <p:sldId id="341" r:id="rId65"/>
    <p:sldId id="342" r:id="rId66"/>
    <p:sldId id="338" r:id="rId67"/>
    <p:sldId id="365" r:id="rId68"/>
    <p:sldId id="579" r:id="rId69"/>
    <p:sldId id="569" r:id="rId70"/>
    <p:sldId id="370" r:id="rId7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kern="1200">
        <a:solidFill>
          <a:schemeClr val="tx1"/>
        </a:solidFill>
        <a:latin typeface="Arial" panose="020B0604020202090204" pitchFamily="34" charset="0"/>
        <a:ea typeface="宋体" pitchFamily="2" charset="-122"/>
        <a:cs typeface="+mn-cs"/>
      </a:defRPr>
    </a:lvl6pPr>
    <a:lvl7pPr marL="2743200" algn="l" defTabSz="914400" rtl="0" eaLnBrk="1" latinLnBrk="0" hangingPunct="1">
      <a:defRPr kern="1200">
        <a:solidFill>
          <a:schemeClr val="tx1"/>
        </a:solidFill>
        <a:latin typeface="Arial" panose="020B0604020202090204" pitchFamily="34" charset="0"/>
        <a:ea typeface="宋体" pitchFamily="2" charset="-122"/>
        <a:cs typeface="+mn-cs"/>
      </a:defRPr>
    </a:lvl7pPr>
    <a:lvl8pPr marL="3200400" algn="l" defTabSz="914400" rtl="0" eaLnBrk="1" latinLnBrk="0" hangingPunct="1">
      <a:defRPr kern="1200">
        <a:solidFill>
          <a:schemeClr val="tx1"/>
        </a:solidFill>
        <a:latin typeface="Arial" panose="020B0604020202090204" pitchFamily="34" charset="0"/>
        <a:ea typeface="宋体" pitchFamily="2" charset="-122"/>
        <a:cs typeface="+mn-cs"/>
      </a:defRPr>
    </a:lvl8pPr>
    <a:lvl9pPr marL="3657600" algn="l" defTabSz="914400" rtl="0" eaLnBrk="1" latinLnBrk="0" hangingPunct="1">
      <a:defRPr kern="1200">
        <a:solidFill>
          <a:schemeClr val="tx1"/>
        </a:solidFill>
        <a:latin typeface="Arial" panose="020B0604020202090204"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F5F6F5"/>
    <a:srgbClr val="F7F7F7"/>
    <a:srgbClr val="EAEAEA"/>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60"/>
    <p:restoredTop sz="88482"/>
  </p:normalViewPr>
  <p:slideViewPr>
    <p:cSldViewPr showGuides="1">
      <p:cViewPr varScale="1">
        <p:scale>
          <a:sx n="75" d="100"/>
          <a:sy n="75" d="100"/>
        </p:scale>
        <p:origin x="802"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s>
</file>

<file path=ppt/diagrams/colors1.xml><?xml version="1.0" encoding="utf-8"?>
<dgm:colorsDef xmlns:dgm="http://schemas.openxmlformats.org/drawingml/2006/diagram" xmlns:a="http://schemas.openxmlformats.org/drawingml/2006/main" uniqueId="urn:microsoft.com/office/officeart/2005/8/colors/colorful2#4">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6AC37BD-16C9-4628-B205-9293CF57B3A3}" type="doc">
      <dgm:prSet loTypeId="urn:microsoft.com/office/officeart/2005/8/layout/pyramid1#4" loCatId="pyramid" qsTypeId="urn:microsoft.com/office/officeart/2005/8/quickstyle/3d3#4" qsCatId="3D" csTypeId="urn:microsoft.com/office/officeart/2005/8/colors/colorful2#4" csCatId="colorful" phldr="1"/>
      <dgm:spPr/>
    </dgm:pt>
    <dgm:pt modelId="{B659F9EB-7496-4165-B204-787FEDC6A4E8}">
      <dgm:prSet phldrT="[文本]"/>
      <dgm:spPr/>
      <dgm:t>
        <a:bodyPr/>
        <a:lstStyle/>
        <a:p>
          <a:r>
            <a:rPr lang="zh-CN" altLang="en-US" dirty="0"/>
            <a:t>接口设计</a:t>
          </a:r>
        </a:p>
      </dgm:t>
    </dgm:pt>
    <dgm:pt modelId="{5863A274-3711-46F7-9F22-4597B149BA68}" type="parTrans" cxnId="{9232F2C9-2CCB-4A72-A179-DC805A8DE0FF}">
      <dgm:prSet/>
      <dgm:spPr/>
      <dgm:t>
        <a:bodyPr/>
        <a:lstStyle/>
        <a:p>
          <a:endParaRPr lang="zh-CN" altLang="en-US"/>
        </a:p>
      </dgm:t>
    </dgm:pt>
    <dgm:pt modelId="{516372B4-2F5D-40BF-9C78-08F71F60EF9C}" type="sibTrans" cxnId="{9232F2C9-2CCB-4A72-A179-DC805A8DE0FF}">
      <dgm:prSet/>
      <dgm:spPr/>
      <dgm:t>
        <a:bodyPr/>
        <a:lstStyle/>
        <a:p>
          <a:endParaRPr lang="zh-CN" altLang="en-US"/>
        </a:p>
      </dgm:t>
    </dgm:pt>
    <dgm:pt modelId="{6E8F162A-E268-4B57-8562-C8B91D330252}">
      <dgm:prSet phldrT="[文本]"/>
      <dgm:spPr/>
      <dgm:t>
        <a:bodyPr/>
        <a:lstStyle/>
        <a:p>
          <a:r>
            <a:rPr lang="zh-CN" altLang="en-US" dirty="0"/>
            <a:t>体系结构设计</a:t>
          </a:r>
        </a:p>
      </dgm:t>
    </dgm:pt>
    <dgm:pt modelId="{88B2C5DC-1F99-4D15-9C44-ABCF3E48EEC8}" type="parTrans" cxnId="{DA4CA332-2D48-4EDD-8A99-F7E214AB9674}">
      <dgm:prSet/>
      <dgm:spPr/>
      <dgm:t>
        <a:bodyPr/>
        <a:lstStyle/>
        <a:p>
          <a:endParaRPr lang="zh-CN" altLang="en-US"/>
        </a:p>
      </dgm:t>
    </dgm:pt>
    <dgm:pt modelId="{F5F56C94-5AF2-4870-A34F-80D2199B0BC4}" type="sibTrans" cxnId="{DA4CA332-2D48-4EDD-8A99-F7E214AB9674}">
      <dgm:prSet/>
      <dgm:spPr/>
      <dgm:t>
        <a:bodyPr/>
        <a:lstStyle/>
        <a:p>
          <a:endParaRPr lang="zh-CN" altLang="en-US"/>
        </a:p>
      </dgm:t>
    </dgm:pt>
    <dgm:pt modelId="{54475001-E8FE-478A-A346-2CB8CA7C4FE1}">
      <dgm:prSet phldrT="[文本]"/>
      <dgm:spPr/>
      <dgm:t>
        <a:bodyPr/>
        <a:lstStyle/>
        <a:p>
          <a:r>
            <a:rPr lang="zh-CN" altLang="en-US" dirty="0"/>
            <a:t>数据</a:t>
          </a:r>
          <a:r>
            <a:rPr lang="en-US" altLang="zh-CN" dirty="0"/>
            <a:t>/</a:t>
          </a:r>
          <a:r>
            <a:rPr lang="zh-CN" altLang="en-US" dirty="0"/>
            <a:t>类设计</a:t>
          </a:r>
        </a:p>
      </dgm:t>
    </dgm:pt>
    <dgm:pt modelId="{898E073E-5CE3-4F62-9DC6-23D9D5D420EE}" type="parTrans" cxnId="{05C5D1EC-DCD4-4BDB-9903-43EB51611445}">
      <dgm:prSet/>
      <dgm:spPr/>
      <dgm:t>
        <a:bodyPr/>
        <a:lstStyle/>
        <a:p>
          <a:endParaRPr lang="zh-CN" altLang="en-US"/>
        </a:p>
      </dgm:t>
    </dgm:pt>
    <dgm:pt modelId="{F5284F53-4E6A-4B00-B824-27A796B3B992}" type="sibTrans" cxnId="{05C5D1EC-DCD4-4BDB-9903-43EB51611445}">
      <dgm:prSet/>
      <dgm:spPr/>
      <dgm:t>
        <a:bodyPr/>
        <a:lstStyle/>
        <a:p>
          <a:endParaRPr lang="zh-CN" altLang="en-US"/>
        </a:p>
      </dgm:t>
    </dgm:pt>
    <dgm:pt modelId="{AE0C5C6A-2FA9-4325-BC4C-B1A0B316D58D}">
      <dgm:prSet/>
      <dgm:spPr/>
      <dgm:t>
        <a:bodyPr/>
        <a:lstStyle/>
        <a:p>
          <a:r>
            <a:rPr lang="zh-CN" altLang="en-US" dirty="0"/>
            <a:t>构件级设计</a:t>
          </a:r>
        </a:p>
      </dgm:t>
    </dgm:pt>
    <dgm:pt modelId="{7D97EE27-3F50-4B8F-9545-CC155CA8D005}" type="parTrans" cxnId="{3345F20D-21B2-4F2E-99C0-1972D0B857A2}">
      <dgm:prSet/>
      <dgm:spPr/>
      <dgm:t>
        <a:bodyPr/>
        <a:lstStyle/>
        <a:p>
          <a:endParaRPr lang="zh-CN" altLang="en-US"/>
        </a:p>
      </dgm:t>
    </dgm:pt>
    <dgm:pt modelId="{981773E1-90FC-451D-8845-B8D13274D58F}" type="sibTrans" cxnId="{3345F20D-21B2-4F2E-99C0-1972D0B857A2}">
      <dgm:prSet/>
      <dgm:spPr/>
      <dgm:t>
        <a:bodyPr/>
        <a:lstStyle/>
        <a:p>
          <a:endParaRPr lang="zh-CN" altLang="en-US"/>
        </a:p>
      </dgm:t>
    </dgm:pt>
    <dgm:pt modelId="{8FDA6866-FD03-4A52-9808-6FA772F55505}" type="pres">
      <dgm:prSet presAssocID="{56AC37BD-16C9-4628-B205-9293CF57B3A3}" presName="Name0" presStyleCnt="0">
        <dgm:presLayoutVars>
          <dgm:dir/>
          <dgm:animLvl val="lvl"/>
          <dgm:resizeHandles val="exact"/>
        </dgm:presLayoutVars>
      </dgm:prSet>
      <dgm:spPr/>
    </dgm:pt>
    <dgm:pt modelId="{FE3AE8F7-6DF7-4C24-BAC4-1D0A38D840F7}" type="pres">
      <dgm:prSet presAssocID="{AE0C5C6A-2FA9-4325-BC4C-B1A0B316D58D}" presName="Name8" presStyleCnt="0"/>
      <dgm:spPr/>
    </dgm:pt>
    <dgm:pt modelId="{C65852EB-FC36-40E2-9E77-5106ACC6E895}" type="pres">
      <dgm:prSet presAssocID="{AE0C5C6A-2FA9-4325-BC4C-B1A0B316D58D}" presName="level" presStyleLbl="node1" presStyleIdx="0" presStyleCnt="4">
        <dgm:presLayoutVars>
          <dgm:chMax val="1"/>
          <dgm:bulletEnabled val="1"/>
        </dgm:presLayoutVars>
      </dgm:prSet>
      <dgm:spPr/>
    </dgm:pt>
    <dgm:pt modelId="{B7D188F7-54EB-4DE6-93A1-ECB655545CCD}" type="pres">
      <dgm:prSet presAssocID="{AE0C5C6A-2FA9-4325-BC4C-B1A0B316D58D}" presName="levelTx" presStyleLbl="revTx" presStyleIdx="0" presStyleCnt="0">
        <dgm:presLayoutVars>
          <dgm:chMax val="1"/>
          <dgm:bulletEnabled val="1"/>
        </dgm:presLayoutVars>
      </dgm:prSet>
      <dgm:spPr/>
    </dgm:pt>
    <dgm:pt modelId="{6A56CC9E-4616-45AE-9DE5-B7AA705EBCAE}" type="pres">
      <dgm:prSet presAssocID="{B659F9EB-7496-4165-B204-787FEDC6A4E8}" presName="Name8" presStyleCnt="0"/>
      <dgm:spPr/>
    </dgm:pt>
    <dgm:pt modelId="{F5D90CB6-B0BB-4027-B5C2-E57C1519AA0E}" type="pres">
      <dgm:prSet presAssocID="{B659F9EB-7496-4165-B204-787FEDC6A4E8}" presName="level" presStyleLbl="node1" presStyleIdx="1" presStyleCnt="4">
        <dgm:presLayoutVars>
          <dgm:chMax val="1"/>
          <dgm:bulletEnabled val="1"/>
        </dgm:presLayoutVars>
      </dgm:prSet>
      <dgm:spPr/>
    </dgm:pt>
    <dgm:pt modelId="{B1F0E358-FEFD-4261-B9A1-3A37439434D3}" type="pres">
      <dgm:prSet presAssocID="{B659F9EB-7496-4165-B204-787FEDC6A4E8}" presName="levelTx" presStyleLbl="revTx" presStyleIdx="0" presStyleCnt="0">
        <dgm:presLayoutVars>
          <dgm:chMax val="1"/>
          <dgm:bulletEnabled val="1"/>
        </dgm:presLayoutVars>
      </dgm:prSet>
      <dgm:spPr/>
    </dgm:pt>
    <dgm:pt modelId="{73D4AB47-B1C1-48C7-8E7F-2E71AB74C326}" type="pres">
      <dgm:prSet presAssocID="{6E8F162A-E268-4B57-8562-C8B91D330252}" presName="Name8" presStyleCnt="0"/>
      <dgm:spPr/>
    </dgm:pt>
    <dgm:pt modelId="{0AC5BCB9-F379-4AED-8A52-A6784FCCE20C}" type="pres">
      <dgm:prSet presAssocID="{6E8F162A-E268-4B57-8562-C8B91D330252}" presName="level" presStyleLbl="node1" presStyleIdx="2" presStyleCnt="4">
        <dgm:presLayoutVars>
          <dgm:chMax val="1"/>
          <dgm:bulletEnabled val="1"/>
        </dgm:presLayoutVars>
      </dgm:prSet>
      <dgm:spPr/>
    </dgm:pt>
    <dgm:pt modelId="{EB4FBA12-E38E-4325-950C-FF59871F5981}" type="pres">
      <dgm:prSet presAssocID="{6E8F162A-E268-4B57-8562-C8B91D330252}" presName="levelTx" presStyleLbl="revTx" presStyleIdx="0" presStyleCnt="0">
        <dgm:presLayoutVars>
          <dgm:chMax val="1"/>
          <dgm:bulletEnabled val="1"/>
        </dgm:presLayoutVars>
      </dgm:prSet>
      <dgm:spPr/>
    </dgm:pt>
    <dgm:pt modelId="{E2ECEEC3-8EAF-4DA6-9ACD-780CA066E635}" type="pres">
      <dgm:prSet presAssocID="{54475001-E8FE-478A-A346-2CB8CA7C4FE1}" presName="Name8" presStyleCnt="0"/>
      <dgm:spPr/>
    </dgm:pt>
    <dgm:pt modelId="{946804DA-86AF-4ED3-BE47-CA20C330B18D}" type="pres">
      <dgm:prSet presAssocID="{54475001-E8FE-478A-A346-2CB8CA7C4FE1}" presName="level" presStyleLbl="node1" presStyleIdx="3" presStyleCnt="4">
        <dgm:presLayoutVars>
          <dgm:chMax val="1"/>
          <dgm:bulletEnabled val="1"/>
        </dgm:presLayoutVars>
      </dgm:prSet>
      <dgm:spPr/>
    </dgm:pt>
    <dgm:pt modelId="{D1059310-77BB-4B8A-863E-965381B213E0}" type="pres">
      <dgm:prSet presAssocID="{54475001-E8FE-478A-A346-2CB8CA7C4FE1}" presName="levelTx" presStyleLbl="revTx" presStyleIdx="0" presStyleCnt="0">
        <dgm:presLayoutVars>
          <dgm:chMax val="1"/>
          <dgm:bulletEnabled val="1"/>
        </dgm:presLayoutVars>
      </dgm:prSet>
      <dgm:spPr/>
    </dgm:pt>
  </dgm:ptLst>
  <dgm:cxnLst>
    <dgm:cxn modelId="{3345F20D-21B2-4F2E-99C0-1972D0B857A2}" srcId="{56AC37BD-16C9-4628-B205-9293CF57B3A3}" destId="{AE0C5C6A-2FA9-4325-BC4C-B1A0B316D58D}" srcOrd="0" destOrd="0" parTransId="{7D97EE27-3F50-4B8F-9545-CC155CA8D005}" sibTransId="{981773E1-90FC-451D-8845-B8D13274D58F}"/>
    <dgm:cxn modelId="{00817021-C3B3-4FBC-AF67-1E3B0F6BD6AF}" type="presOf" srcId="{B659F9EB-7496-4165-B204-787FEDC6A4E8}" destId="{F5D90CB6-B0BB-4027-B5C2-E57C1519AA0E}" srcOrd="0" destOrd="0" presId="urn:microsoft.com/office/officeart/2005/8/layout/pyramid1#4"/>
    <dgm:cxn modelId="{D7A18921-5241-49FE-AB6B-9F865DD28A45}" type="presOf" srcId="{56AC37BD-16C9-4628-B205-9293CF57B3A3}" destId="{8FDA6866-FD03-4A52-9808-6FA772F55505}" srcOrd="0" destOrd="0" presId="urn:microsoft.com/office/officeart/2005/8/layout/pyramid1#4"/>
    <dgm:cxn modelId="{97F67F2E-E6F9-4FB9-A680-1F12EB890AC2}" type="presOf" srcId="{AE0C5C6A-2FA9-4325-BC4C-B1A0B316D58D}" destId="{C65852EB-FC36-40E2-9E77-5106ACC6E895}" srcOrd="0" destOrd="0" presId="urn:microsoft.com/office/officeart/2005/8/layout/pyramid1#4"/>
    <dgm:cxn modelId="{DA4CA332-2D48-4EDD-8A99-F7E214AB9674}" srcId="{56AC37BD-16C9-4628-B205-9293CF57B3A3}" destId="{6E8F162A-E268-4B57-8562-C8B91D330252}" srcOrd="2" destOrd="0" parTransId="{88B2C5DC-1F99-4D15-9C44-ABCF3E48EEC8}" sibTransId="{F5F56C94-5AF2-4870-A34F-80D2199B0BC4}"/>
    <dgm:cxn modelId="{AFBA9369-FF87-454A-AFAC-FDE0F8CF784C}" type="presOf" srcId="{54475001-E8FE-478A-A346-2CB8CA7C4FE1}" destId="{946804DA-86AF-4ED3-BE47-CA20C330B18D}" srcOrd="0" destOrd="0" presId="urn:microsoft.com/office/officeart/2005/8/layout/pyramid1#4"/>
    <dgm:cxn modelId="{24C77F56-59DF-4B4A-8AFE-F8244930A320}" type="presOf" srcId="{6E8F162A-E268-4B57-8562-C8B91D330252}" destId="{0AC5BCB9-F379-4AED-8A52-A6784FCCE20C}" srcOrd="0" destOrd="0" presId="urn:microsoft.com/office/officeart/2005/8/layout/pyramid1#4"/>
    <dgm:cxn modelId="{ED2662B8-4A9D-4A22-AC83-D5E5401E6CB1}" type="presOf" srcId="{AE0C5C6A-2FA9-4325-BC4C-B1A0B316D58D}" destId="{B7D188F7-54EB-4DE6-93A1-ECB655545CCD}" srcOrd="1" destOrd="0" presId="urn:microsoft.com/office/officeart/2005/8/layout/pyramid1#4"/>
    <dgm:cxn modelId="{9232F2C9-2CCB-4A72-A179-DC805A8DE0FF}" srcId="{56AC37BD-16C9-4628-B205-9293CF57B3A3}" destId="{B659F9EB-7496-4165-B204-787FEDC6A4E8}" srcOrd="1" destOrd="0" parTransId="{5863A274-3711-46F7-9F22-4597B149BA68}" sibTransId="{516372B4-2F5D-40BF-9C78-08F71F60EF9C}"/>
    <dgm:cxn modelId="{C74BA0D3-1F41-492E-82AE-A6C772FE3D81}" type="presOf" srcId="{54475001-E8FE-478A-A346-2CB8CA7C4FE1}" destId="{D1059310-77BB-4B8A-863E-965381B213E0}" srcOrd="1" destOrd="0" presId="urn:microsoft.com/office/officeart/2005/8/layout/pyramid1#4"/>
    <dgm:cxn modelId="{05C5D1EC-DCD4-4BDB-9903-43EB51611445}" srcId="{56AC37BD-16C9-4628-B205-9293CF57B3A3}" destId="{54475001-E8FE-478A-A346-2CB8CA7C4FE1}" srcOrd="3" destOrd="0" parTransId="{898E073E-5CE3-4F62-9DC6-23D9D5D420EE}" sibTransId="{F5284F53-4E6A-4B00-B824-27A796B3B992}"/>
    <dgm:cxn modelId="{3A9E28EF-02A2-4235-954A-E4AFD8EFF15D}" type="presOf" srcId="{6E8F162A-E268-4B57-8562-C8B91D330252}" destId="{EB4FBA12-E38E-4325-950C-FF59871F5981}" srcOrd="1" destOrd="0" presId="urn:microsoft.com/office/officeart/2005/8/layout/pyramid1#4"/>
    <dgm:cxn modelId="{DB8A7FF5-E30F-4F5F-8DAC-232DBA878674}" type="presOf" srcId="{B659F9EB-7496-4165-B204-787FEDC6A4E8}" destId="{B1F0E358-FEFD-4261-B9A1-3A37439434D3}" srcOrd="1" destOrd="0" presId="urn:microsoft.com/office/officeart/2005/8/layout/pyramid1#4"/>
    <dgm:cxn modelId="{D04A129B-3420-4207-ACB3-CACB2116B49F}" type="presParOf" srcId="{8FDA6866-FD03-4A52-9808-6FA772F55505}" destId="{FE3AE8F7-6DF7-4C24-BAC4-1D0A38D840F7}" srcOrd="0" destOrd="0" presId="urn:microsoft.com/office/officeart/2005/8/layout/pyramid1#4"/>
    <dgm:cxn modelId="{00E0D1EB-5F78-487E-8AF7-294DF85048E7}" type="presParOf" srcId="{FE3AE8F7-6DF7-4C24-BAC4-1D0A38D840F7}" destId="{C65852EB-FC36-40E2-9E77-5106ACC6E895}" srcOrd="0" destOrd="0" presId="urn:microsoft.com/office/officeart/2005/8/layout/pyramid1#4"/>
    <dgm:cxn modelId="{A8B43913-E0FB-4B1C-B08B-848F795B4AB1}" type="presParOf" srcId="{FE3AE8F7-6DF7-4C24-BAC4-1D0A38D840F7}" destId="{B7D188F7-54EB-4DE6-93A1-ECB655545CCD}" srcOrd="1" destOrd="0" presId="urn:microsoft.com/office/officeart/2005/8/layout/pyramid1#4"/>
    <dgm:cxn modelId="{E1397B7D-DDA3-4A11-BC9E-E1430375B13B}" type="presParOf" srcId="{8FDA6866-FD03-4A52-9808-6FA772F55505}" destId="{6A56CC9E-4616-45AE-9DE5-B7AA705EBCAE}" srcOrd="1" destOrd="0" presId="urn:microsoft.com/office/officeart/2005/8/layout/pyramid1#4"/>
    <dgm:cxn modelId="{8E4B6CC8-AEA0-4AC7-96CB-54BD7984D31F}" type="presParOf" srcId="{6A56CC9E-4616-45AE-9DE5-B7AA705EBCAE}" destId="{F5D90CB6-B0BB-4027-B5C2-E57C1519AA0E}" srcOrd="0" destOrd="0" presId="urn:microsoft.com/office/officeart/2005/8/layout/pyramid1#4"/>
    <dgm:cxn modelId="{16D82142-D354-4B2D-B4D0-7FB48C3F6DF4}" type="presParOf" srcId="{6A56CC9E-4616-45AE-9DE5-B7AA705EBCAE}" destId="{B1F0E358-FEFD-4261-B9A1-3A37439434D3}" srcOrd="1" destOrd="0" presId="urn:microsoft.com/office/officeart/2005/8/layout/pyramid1#4"/>
    <dgm:cxn modelId="{7BE40476-9E1B-4F83-B121-3653E289138B}" type="presParOf" srcId="{8FDA6866-FD03-4A52-9808-6FA772F55505}" destId="{73D4AB47-B1C1-48C7-8E7F-2E71AB74C326}" srcOrd="2" destOrd="0" presId="urn:microsoft.com/office/officeart/2005/8/layout/pyramid1#4"/>
    <dgm:cxn modelId="{13981EA8-3467-4FF8-AD67-532CCEC1BC5C}" type="presParOf" srcId="{73D4AB47-B1C1-48C7-8E7F-2E71AB74C326}" destId="{0AC5BCB9-F379-4AED-8A52-A6784FCCE20C}" srcOrd="0" destOrd="0" presId="urn:microsoft.com/office/officeart/2005/8/layout/pyramid1#4"/>
    <dgm:cxn modelId="{B6891033-B01C-44C6-8E30-C39CD63F49A7}" type="presParOf" srcId="{73D4AB47-B1C1-48C7-8E7F-2E71AB74C326}" destId="{EB4FBA12-E38E-4325-950C-FF59871F5981}" srcOrd="1" destOrd="0" presId="urn:microsoft.com/office/officeart/2005/8/layout/pyramid1#4"/>
    <dgm:cxn modelId="{4D8E8086-AF3F-4FF6-8634-6DA581C6D17D}" type="presParOf" srcId="{8FDA6866-FD03-4A52-9808-6FA772F55505}" destId="{E2ECEEC3-8EAF-4DA6-9ACD-780CA066E635}" srcOrd="3" destOrd="0" presId="urn:microsoft.com/office/officeart/2005/8/layout/pyramid1#4"/>
    <dgm:cxn modelId="{F9F34494-3037-4C8E-9512-074EB629DA4C}" type="presParOf" srcId="{E2ECEEC3-8EAF-4DA6-9ACD-780CA066E635}" destId="{946804DA-86AF-4ED3-BE47-CA20C330B18D}" srcOrd="0" destOrd="0" presId="urn:microsoft.com/office/officeart/2005/8/layout/pyramid1#4"/>
    <dgm:cxn modelId="{19FCC28F-D131-419F-A4E7-1238A1EF3E18}" type="presParOf" srcId="{E2ECEEC3-8EAF-4DA6-9ACD-780CA066E635}" destId="{D1059310-77BB-4B8A-863E-965381B213E0}" srcOrd="1" destOrd="0" presId="urn:microsoft.com/office/officeart/2005/8/layout/pyramid1#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5852EB-FC36-40E2-9E77-5106ACC6E895}">
      <dsp:nvSpPr>
        <dsp:cNvPr id="0" name=""/>
        <dsp:cNvSpPr/>
      </dsp:nvSpPr>
      <dsp:spPr bwMode="white">
        <a:xfrm>
          <a:off x="2286000" y="0"/>
          <a:ext cx="1524000" cy="1016000"/>
        </a:xfrm>
        <a:prstGeom prst="trapezoid">
          <a:avLst>
            <a:gd name="adj" fmla="val 75000"/>
          </a:avLst>
        </a:prstGeom>
        <a:solidFill>
          <a:schemeClr val="accent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构件级设计</a:t>
          </a:r>
        </a:p>
      </dsp:txBody>
      <dsp:txXfrm>
        <a:off x="2286000" y="0"/>
        <a:ext cx="1524000" cy="1016000"/>
      </dsp:txXfrm>
    </dsp:sp>
    <dsp:sp modelId="{F5D90CB6-B0BB-4027-B5C2-E57C1519AA0E}">
      <dsp:nvSpPr>
        <dsp:cNvPr id="0" name=""/>
        <dsp:cNvSpPr/>
      </dsp:nvSpPr>
      <dsp:spPr bwMode="white">
        <a:xfrm>
          <a:off x="1524000" y="1015999"/>
          <a:ext cx="3048000" cy="1016000"/>
        </a:xfrm>
        <a:prstGeom prst="trapezoid">
          <a:avLst>
            <a:gd name="adj" fmla="val 75000"/>
          </a:avLst>
        </a:prstGeom>
        <a:solidFill>
          <a:schemeClr val="accent2">
            <a:hueOff val="-4800000"/>
            <a:satOff val="-16668"/>
            <a:lumOff val="2000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接口设计</a:t>
          </a:r>
        </a:p>
      </dsp:txBody>
      <dsp:txXfrm>
        <a:off x="2057400" y="1015999"/>
        <a:ext cx="1981200" cy="1016000"/>
      </dsp:txXfrm>
    </dsp:sp>
    <dsp:sp modelId="{0AC5BCB9-F379-4AED-8A52-A6784FCCE20C}">
      <dsp:nvSpPr>
        <dsp:cNvPr id="0" name=""/>
        <dsp:cNvSpPr/>
      </dsp:nvSpPr>
      <dsp:spPr bwMode="white">
        <a:xfrm>
          <a:off x="762000" y="2031999"/>
          <a:ext cx="4572000" cy="1016000"/>
        </a:xfrm>
        <a:prstGeom prst="trapezoid">
          <a:avLst>
            <a:gd name="adj" fmla="val 75000"/>
          </a:avLst>
        </a:prstGeom>
        <a:solidFill>
          <a:schemeClr val="accent2">
            <a:hueOff val="-9600000"/>
            <a:satOff val="-33335"/>
            <a:lumOff val="40001"/>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体系结构设计</a:t>
          </a:r>
        </a:p>
      </dsp:txBody>
      <dsp:txXfrm>
        <a:off x="1562100" y="2031999"/>
        <a:ext cx="2971800" cy="1016000"/>
      </dsp:txXfrm>
    </dsp:sp>
    <dsp:sp modelId="{946804DA-86AF-4ED3-BE47-CA20C330B18D}">
      <dsp:nvSpPr>
        <dsp:cNvPr id="0" name=""/>
        <dsp:cNvSpPr/>
      </dsp:nvSpPr>
      <dsp:spPr bwMode="white">
        <a:xfrm>
          <a:off x="0" y="3047999"/>
          <a:ext cx="6096000" cy="1016000"/>
        </a:xfrm>
        <a:prstGeom prst="trapezoid">
          <a:avLst>
            <a:gd name="adj" fmla="val 75000"/>
          </a:avLst>
        </a:prstGeom>
        <a:solidFill>
          <a:schemeClr val="accent2">
            <a:hueOff val="-14400000"/>
            <a:satOff val="-50003"/>
            <a:lumOff val="60001"/>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数据</a:t>
          </a:r>
          <a:r>
            <a:rPr lang="en-US" altLang="zh-CN" sz="3100" kern="1200" dirty="0"/>
            <a:t>/</a:t>
          </a:r>
          <a:r>
            <a:rPr lang="zh-CN" altLang="en-US" sz="3100" kern="1200" dirty="0"/>
            <a:t>类设计</a:t>
          </a:r>
        </a:p>
      </dsp:txBody>
      <dsp:txXfrm>
        <a:off x="1066799" y="3047999"/>
        <a:ext cx="3962400" cy="1016000"/>
      </dsp:txXfrm>
    </dsp:sp>
  </dsp:spTree>
</dsp:drawing>
</file>

<file path=ppt/diagrams/layout1.xml><?xml version="1.0" encoding="utf-8"?>
<dgm:layoutDef xmlns:dgm="http://schemas.openxmlformats.org/drawingml/2006/diagram" xmlns:a="http://schemas.openxmlformats.org/drawingml/2006/main" uniqueId="urn:microsoft.com/office/officeart/2005/8/layout/pyramid1#4">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pyraLvlNode" val="level"/>
          <dgm:param type="pyraAcctTxNode" val="acctTx"/>
          <dgm:param type="pyraAcctBkgdNode" val="acctBkgd"/>
          <dgm:param type="linDir" val="fromB"/>
          <dgm:param type="txDir" val="fromT"/>
          <dgm:param type="pyraAcctPos" val="aft"/>
          <dgm:param type="pyraAcctTxMar" val="step"/>
        </dgm:alg>
      </dgm:if>
      <dgm:else name="Name3">
        <dgm:alg type="pyra">
          <dgm:param type="pyraLvlNode" val="level"/>
          <dgm:param type="pyraAcctTxNode" val="acctTx"/>
          <dgm:param type="pyraAcctBkgdNode" val="acctBkgd"/>
          <dgm:param type="linDir" val="fromB"/>
          <dgm:param type="txDir" val="fromT"/>
          <dgm:param type="pyraAcctPos" val="bef"/>
          <dgm:param type="pyraAcctTxMar" val="step"/>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4">
  <dgm:title val=""/>
  <dgm:desc val=""/>
  <dgm:catLst>
    <dgm:cat type="3D" pri="11300"/>
  </dgm:catLst>
  <dgm:scene3d>
    <a:camera prst="orthographicFront"/>
    <a:lightRig rig="threePt" dir="t"/>
  </dgm:scene3d>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defRPr sz="1200">
                <a:latin typeface="Arial" panose="020B0604020202090204" pitchFamily="34" charset="0"/>
              </a:defRPr>
            </a:lvl1pPr>
          </a:lstStyle>
          <a:p>
            <a:pPr>
              <a:defRPr/>
            </a:pPr>
            <a:endParaRPr lang="zh-CN"/>
          </a:p>
        </p:txBody>
      </p:sp>
      <p:sp>
        <p:nvSpPr>
          <p:cNvPr id="3075" name="日期占位符 2"/>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defRPr sz="1200">
                <a:latin typeface="Arial" panose="020B0604020202090204" pitchFamily="34" charset="0"/>
              </a:defRPr>
            </a:lvl1pPr>
          </a:lstStyle>
          <a:p>
            <a:pPr>
              <a:defRPr/>
            </a:pPr>
            <a:fld id="{5FAA5416-6721-4165-BB30-1BE3BA07F5CE}" type="datetimeFigureOut">
              <a:rPr lang="zh-CN" altLang="en-US"/>
              <a:t>2025/11/10</a:t>
            </a:fld>
            <a:endParaRPr lang="zh-CN"/>
          </a:p>
        </p:txBody>
      </p:sp>
      <p:sp>
        <p:nvSpPr>
          <p:cNvPr id="3076"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
        <p:nvSpPr>
          <p:cNvPr id="3077" name="备注占位符 4"/>
          <p:cNvSpPr>
            <a:spLocks noGrp="1" noChangeArrowheads="1"/>
          </p:cNvSpPr>
          <p:nvPr>
            <p:ph type="body" sz="quarter" idx="3"/>
          </p:nvPr>
        </p:nvSpPr>
        <p:spPr bwMode="auto">
          <a:xfrm>
            <a:off x="685800" y="4343400"/>
            <a:ext cx="5486400" cy="4114800"/>
          </a:xfrm>
          <a:prstGeom prst="rect">
            <a:avLst/>
          </a:prstGeom>
          <a:noFill/>
          <a:ln w="12700" cmpd="sng">
            <a:noFill/>
            <a:miter lim="800000"/>
          </a:ln>
        </p:spPr>
        <p:txBody>
          <a:bodyPr vert="horz" wrap="square" lIns="91440" tIns="45720" rIns="91440" bIns="45720" numCol="1" anchor="ctr" anchorCtr="0" compatLnSpc="1"/>
          <a:lstStyle/>
          <a:p>
            <a:pPr lvl="0"/>
            <a:r>
              <a:rPr lang="zh-CN" noProof="0"/>
              <a:t>单击此处编辑母版文本样式</a:t>
            </a:r>
          </a:p>
          <a:p>
            <a:pPr lvl="1"/>
            <a:r>
              <a:rPr lang="zh-CN" noProof="0"/>
              <a:t>第二级</a:t>
            </a:r>
          </a:p>
          <a:p>
            <a:pPr lvl="2"/>
            <a:r>
              <a:rPr lang="zh-CN" noProof="0"/>
              <a:t>第三级</a:t>
            </a:r>
          </a:p>
          <a:p>
            <a:pPr lvl="3"/>
            <a:r>
              <a:rPr lang="zh-CN" noProof="0"/>
              <a:t>第四级</a:t>
            </a:r>
          </a:p>
          <a:p>
            <a:pPr lvl="4"/>
            <a:r>
              <a:rPr lang="zh-CN" noProof="0"/>
              <a:t>第五级</a:t>
            </a:r>
          </a:p>
        </p:txBody>
      </p:sp>
      <p:sp>
        <p:nvSpPr>
          <p:cNvPr id="3078" name="页脚占位符 5"/>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eaLnBrk="1" hangingPunct="1">
              <a:defRPr sz="1200">
                <a:latin typeface="Arial" panose="020B0604020202090204" pitchFamily="34" charset="0"/>
              </a:defRPr>
            </a:lvl1pPr>
          </a:lstStyle>
          <a:p>
            <a:pPr>
              <a:defRPr/>
            </a:pPr>
            <a:endParaRPr lang="zh-CN"/>
          </a:p>
        </p:txBody>
      </p:sp>
      <p:sp>
        <p:nvSpPr>
          <p:cNvPr id="3079" name="灯片编号占位符 6"/>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lstStyle>
            <a:lvl1pPr algn="r" eaLnBrk="1" hangingPunct="1">
              <a:defRPr sz="1200" smtClean="0"/>
            </a:lvl1pPr>
          </a:lstStyle>
          <a:p>
            <a:pPr>
              <a:defRPr/>
            </a:pPr>
            <a:fld id="{748D5263-95F7-4E3A-A1EB-275AF747331F}" type="slidenum">
              <a:rPr lang="en-US" altLang="zh-CN"/>
              <a:t>‹#›</a:t>
            </a:fld>
            <a:endParaRPr lang="zh-CN"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19</a:t>
            </a:fld>
            <a:endParaRPr lang="zh-CN" altLang="zh-CN"/>
          </a:p>
        </p:txBody>
      </p:sp>
    </p:spTree>
    <p:extLst>
      <p:ext uri="{BB962C8B-B14F-4D97-AF65-F5344CB8AC3E}">
        <p14:creationId xmlns:p14="http://schemas.microsoft.com/office/powerpoint/2010/main" val="4126782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35</a:t>
            </a:fld>
            <a:endParaRPr lang="zh-CN" altLang="zh-CN"/>
          </a:p>
        </p:txBody>
      </p:sp>
    </p:spTree>
    <p:extLst>
      <p:ext uri="{BB962C8B-B14F-4D97-AF65-F5344CB8AC3E}">
        <p14:creationId xmlns:p14="http://schemas.microsoft.com/office/powerpoint/2010/main" val="1370564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41</a:t>
            </a:fld>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52</a:t>
            </a:fld>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通常，即使设计相对复杂的系统，也只需要相对较小的原始集合。</a:t>
            </a:r>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54</a:t>
            </a:fld>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结点：表示住宅安全功能的输入和输出元素的内聚集合</a:t>
            </a:r>
            <a:endParaRPr kumimoji="1" lang="en-US" altLang="zh-CN" dirty="0"/>
          </a:p>
          <a:p>
            <a:r>
              <a:rPr kumimoji="1" lang="zh-CN" altLang="en-US" dirty="0"/>
              <a:t>探测器：传感设备</a:t>
            </a:r>
            <a:endParaRPr kumimoji="1" lang="en-US" altLang="zh-CN" dirty="0"/>
          </a:p>
          <a:p>
            <a:r>
              <a:rPr kumimoji="1" lang="zh-CN" altLang="en-US" dirty="0"/>
              <a:t>指示器：报警机械装置</a:t>
            </a:r>
            <a:endParaRPr kumimoji="1" lang="en-US" altLang="zh-CN" dirty="0"/>
          </a:p>
          <a:p>
            <a:r>
              <a:rPr kumimoji="1" lang="zh-CN" altLang="en-US" dirty="0"/>
              <a:t>控制器：对允许节点发出警报或撤销警报的机器装置的抽象</a:t>
            </a:r>
            <a:endParaRPr kumimoji="1" lang="en-US" altLang="zh-CN"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55</a:t>
            </a:fld>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58</a:t>
            </a:fld>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探测器管理 </a:t>
            </a:r>
            <a:r>
              <a:rPr kumimoji="1" lang="en-US" altLang="zh-CN" dirty="0"/>
              <a:t>+</a:t>
            </a:r>
            <a:r>
              <a:rPr kumimoji="1" lang="zh-CN" altLang="en-US" dirty="0"/>
              <a:t> 调度器 相互作用，实现安全系统中使用的每个传感器对象的定时查询</a:t>
            </a:r>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59</a:t>
            </a:fld>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748D5263-95F7-4E3A-A1EB-275AF747331F}" type="slidenum">
              <a:rPr lang="en-US" altLang="zh-CN" smtClean="0"/>
              <a:t>68</a:t>
            </a:fld>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63BE39EB-961A-45F7-B251-A6C19BD9F313}"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D7791864-A1E7-4BE2-AE42-0B44A78B5CAE}"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7461FBD0-6354-43ED-A4E5-8EC62AAA5C57}"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36FECE74-4CED-4329-B93E-EDBE2D8F01C3}"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B5AA4E22-6949-40E9-8A68-160884DC0E02}"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DDB7BC02-A58D-4FA3-9D3A-92276ECC3754}"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F0245F24-0DD7-465E-9761-AC391EB51532}"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00B955BE-8185-4FA4-A4B1-7AEAD290345A}"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00716C53-10CD-4034-B417-FF1A4A97A9E0}"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40C74532-4FDA-4049-800E-E8497D1A54C3}"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5634AFCD-FA50-41B2-A076-2D50FA00051C}" type="slidenum">
              <a:rPr lang="en-US" altLang="zh-CN"/>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1C3F5873-EBC3-4678-9D32-4977F2A37D34}" type="slidenum">
              <a:rPr lang="en-US" altLang="zh-CN"/>
              <a:t>‹#›</a:t>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E4FC179D-2DAE-4B5A-AD9D-17A6BCEE363C}" type="slidenum">
              <a:rPr lang="en-US" altLang="zh-CN"/>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21CF139D-C45C-4F6F-8471-369AE0F630B3}" type="slidenum">
              <a:rPr lang="en-US" altLang="zh-CN"/>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1E03B13E-00F7-4153-B372-AE0A7CF3A164}" type="slidenum">
              <a:rPr lang="en-US" altLang="zh-CN"/>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673AA795-018E-4EBD-BEDA-B286E700FBF6}" type="slidenum">
              <a:rPr lang="en-US" altLang="zh-CN"/>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E2999055-FD94-43C3-A009-6D87C42AE139}" type="slidenum">
              <a:rPr lang="en-US" altLang="zh-CN"/>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7A6E4F8D-593D-47AA-AAA9-49D6996FFEE9}" type="slidenum">
              <a:rPr lang="en-US" altLang="zh-CN"/>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9FBFFB80-FB8E-432A-B2FB-6796A230FFFB}" type="slidenum">
              <a:rPr lang="en-US" altLang="zh-CN"/>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68491406-30BB-4183-BD7C-2770EF2235C6}" type="slidenum">
              <a:rPr lang="en-US" altLang="zh-CN"/>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63EC6D31-3587-42D2-AB67-69F959E3BB83}" type="slidenum">
              <a:rPr lang="en-US" altLang="zh-CN"/>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D31381F9-6492-4DD0-B221-554BC40D4D03}"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第五级软件工程</a:t>
            </a:r>
          </a:p>
          <a:p>
            <a:pPr lvl="4"/>
            <a:endParaRPr lang="zh-CN" altLang="zh-CN"/>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eaLnBrk="1" hangingPunct="1">
              <a:defRPr sz="1400">
                <a:latin typeface="Arial" panose="020B0604020202090204"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eaLnBrk="1" hangingPunct="1">
              <a:defRPr sz="1400">
                <a:latin typeface="Arial" panose="020B0604020202090204"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eaLnBrk="1" hangingPunct="1">
              <a:defRPr sz="1400" smtClean="0"/>
            </a:lvl1pPr>
          </a:lstStyle>
          <a:p>
            <a:pPr>
              <a:defRPr/>
            </a:pPr>
            <a:fld id="{E927B893-FAF5-49E8-8D79-50F407E4B59E}" type="slidenum">
              <a:rPr lang="en-US" altLang="zh-CN"/>
              <a:t>‹#›</a:t>
            </a:fld>
            <a:endParaRPr lang="en-US" altLang="zh-CN"/>
          </a:p>
        </p:txBody>
      </p:sp>
      <p:sp>
        <p:nvSpPr>
          <p:cNvPr id="1031" name="TextBox 10"/>
          <p:cNvSpPr txBox="1">
            <a:spLocks noChangeArrowheads="1"/>
          </p:cNvSpPr>
          <p:nvPr/>
        </p:nvSpPr>
        <p:spPr bwMode="auto">
          <a:xfrm>
            <a:off x="7451725" y="188913"/>
            <a:ext cx="12969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lang="zh-CN" altLang="zh-CN">
                <a:solidFill>
                  <a:schemeClr val="bg1"/>
                </a:solidFill>
                <a:latin typeface="华文新魏" panose="02010800040101010101" pitchFamily="2" charset="-122"/>
                <a:ea typeface="华文新魏" panose="02010800040101010101" pitchFamily="2" charset="-122"/>
              </a:rPr>
              <a:t>软 件 工 程</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0" fontAlgn="base" hangingPunct="0">
        <a:lnSpc>
          <a:spcPct val="150000"/>
        </a:lnSpc>
        <a:spcBef>
          <a:spcPct val="20000"/>
        </a:spcBef>
        <a:spcAft>
          <a:spcPct val="0"/>
        </a:spcAft>
        <a:buChar char="»"/>
        <a:defRPr sz="2000">
          <a:solidFill>
            <a:schemeClr val="tx1"/>
          </a:solidFill>
          <a:latin typeface="+mn-lt"/>
          <a:ea typeface="+mn-ea"/>
        </a:defRPr>
      </a:lvl6pPr>
      <a:lvl7pPr marL="2971800" indent="-228600" algn="l" rtl="0" eaLnBrk="0" fontAlgn="base" hangingPunct="0">
        <a:lnSpc>
          <a:spcPct val="150000"/>
        </a:lnSpc>
        <a:spcBef>
          <a:spcPct val="20000"/>
        </a:spcBef>
        <a:spcAft>
          <a:spcPct val="0"/>
        </a:spcAft>
        <a:buChar char="»"/>
        <a:defRPr sz="2000">
          <a:solidFill>
            <a:schemeClr val="tx1"/>
          </a:solidFill>
          <a:latin typeface="+mn-lt"/>
          <a:ea typeface="+mn-ea"/>
        </a:defRPr>
      </a:lvl7pPr>
      <a:lvl8pPr marL="3429000" indent="-228600" algn="l" rtl="0" eaLnBrk="0" fontAlgn="base" hangingPunct="0">
        <a:lnSpc>
          <a:spcPct val="150000"/>
        </a:lnSpc>
        <a:spcBef>
          <a:spcPct val="20000"/>
        </a:spcBef>
        <a:spcAft>
          <a:spcPct val="0"/>
        </a:spcAft>
        <a:buChar char="»"/>
        <a:defRPr sz="2000">
          <a:solidFill>
            <a:schemeClr val="tx1"/>
          </a:solidFill>
          <a:latin typeface="+mn-lt"/>
          <a:ea typeface="+mn-ea"/>
        </a:defRPr>
      </a:lvl8pPr>
      <a:lvl9pPr marL="3886200" indent="-228600" algn="l" rtl="0" eaLnBrk="0" fontAlgn="base" hangingPunct="0">
        <a:lnSpc>
          <a:spcPct val="150000"/>
        </a:lnSpc>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pic>
        <p:nvPicPr>
          <p:cNvPr id="2050" name="图片 7" descr="08f46c7211d24e3a8701b02c.jpg"/>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7380288" y="4221163"/>
            <a:ext cx="750887"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p>
        </p:txBody>
      </p:sp>
      <p:sp>
        <p:nvSpPr>
          <p:cNvPr id="2052"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第五级软件工程</a:t>
            </a:r>
          </a:p>
          <a:p>
            <a:pPr lvl="4"/>
            <a:endParaRPr lang="zh-CN" altLang="zh-CN"/>
          </a:p>
        </p:txBody>
      </p:sp>
      <p:sp>
        <p:nvSpPr>
          <p:cNvPr id="2053" name="Rectangle 4"/>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eaLnBrk="1" hangingPunct="1">
              <a:defRPr sz="1400">
                <a:latin typeface="Arial" panose="020B0604020202090204" pitchFamily="34" charset="0"/>
              </a:defRPr>
            </a:lvl1pPr>
          </a:lstStyle>
          <a:p>
            <a:pPr>
              <a:defRPr/>
            </a:pPr>
            <a:endParaRPr lang="en-US"/>
          </a:p>
        </p:txBody>
      </p:sp>
      <p:sp>
        <p:nvSpPr>
          <p:cNvPr id="2054" name="Rectangle 5"/>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eaLnBrk="1" hangingPunct="1">
              <a:defRPr sz="1400">
                <a:latin typeface="Arial" panose="020B0604020202090204" pitchFamily="34" charset="0"/>
              </a:defRPr>
            </a:lvl1pPr>
          </a:lstStyle>
          <a:p>
            <a:pPr>
              <a:defRPr/>
            </a:pPr>
            <a:endParaRPr lang="en-US"/>
          </a:p>
        </p:txBody>
      </p:sp>
      <p:sp>
        <p:nvSpPr>
          <p:cNvPr id="2055"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eaLnBrk="1" hangingPunct="1">
              <a:defRPr sz="1400" smtClean="0"/>
            </a:lvl1pPr>
          </a:lstStyle>
          <a:p>
            <a:pPr>
              <a:defRPr/>
            </a:pPr>
            <a:fld id="{DC25BB4B-7508-489A-9F94-3EF4E5FF8B9C}"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9pPr>
    </p:titleStyle>
    <p:body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0" fontAlgn="base" hangingPunct="0">
        <a:lnSpc>
          <a:spcPct val="150000"/>
        </a:lnSpc>
        <a:spcBef>
          <a:spcPct val="20000"/>
        </a:spcBef>
        <a:spcAft>
          <a:spcPct val="0"/>
        </a:spcAft>
        <a:buChar char="»"/>
        <a:defRPr sz="2000">
          <a:solidFill>
            <a:schemeClr val="tx1"/>
          </a:solidFill>
          <a:latin typeface="+mn-lt"/>
          <a:ea typeface="+mn-ea"/>
        </a:defRPr>
      </a:lvl6pPr>
      <a:lvl7pPr marL="2971800" indent="-228600" algn="l" rtl="0" eaLnBrk="0" fontAlgn="base" hangingPunct="0">
        <a:lnSpc>
          <a:spcPct val="150000"/>
        </a:lnSpc>
        <a:spcBef>
          <a:spcPct val="20000"/>
        </a:spcBef>
        <a:spcAft>
          <a:spcPct val="0"/>
        </a:spcAft>
        <a:buChar char="»"/>
        <a:defRPr sz="2000">
          <a:solidFill>
            <a:schemeClr val="tx1"/>
          </a:solidFill>
          <a:latin typeface="+mn-lt"/>
          <a:ea typeface="+mn-ea"/>
        </a:defRPr>
      </a:lvl7pPr>
      <a:lvl8pPr marL="3429000" indent="-228600" algn="l" rtl="0" eaLnBrk="0" fontAlgn="base" hangingPunct="0">
        <a:lnSpc>
          <a:spcPct val="150000"/>
        </a:lnSpc>
        <a:spcBef>
          <a:spcPct val="20000"/>
        </a:spcBef>
        <a:spcAft>
          <a:spcPct val="0"/>
        </a:spcAft>
        <a:buChar char="»"/>
        <a:defRPr sz="2000">
          <a:solidFill>
            <a:schemeClr val="tx1"/>
          </a:solidFill>
          <a:latin typeface="+mn-lt"/>
          <a:ea typeface="+mn-ea"/>
        </a:defRPr>
      </a:lvl8pPr>
      <a:lvl9pPr marL="3886200" indent="-228600" algn="l" rtl="0" eaLnBrk="0" fontAlgn="base" hangingPunct="0">
        <a:lnSpc>
          <a:spcPct val="150000"/>
        </a:lnSpc>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blog.csdn.net/vincent_wen0766/article/details/112283274"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hyperlink" Target="../&#36719;&#20214;&#24037;&#31243;&#25991;&#26723;&#27169;&#26495;/&#22235;&#12289;&#27010;&#35201;&#35774;&#35745;&#35828;&#26126;&#20070;.do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enku.baidu.com/view/8b2190b132d4b14e852458fb770bf78a64293a5d.html"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323850" y="4173538"/>
            <a:ext cx="4032250" cy="935037"/>
            <a:chOff x="0" y="0"/>
            <a:chExt cx="2540" cy="589"/>
          </a:xfrm>
        </p:grpSpPr>
        <p:sp>
          <p:nvSpPr>
            <p:cNvPr id="4101" name="Text Box 10"/>
            <p:cNvSpPr txBox="1">
              <a:spLocks noChangeArrowheads="1"/>
            </p:cNvSpPr>
            <p:nvPr/>
          </p:nvSpPr>
          <p:spPr bwMode="auto">
            <a:xfrm>
              <a:off x="0" y="0"/>
              <a:ext cx="254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zh-CN" sz="3000">
                <a:solidFill>
                  <a:schemeClr val="bg1"/>
                </a:solidFill>
                <a:latin typeface="黑体" panose="02010609060101010101" pitchFamily="49" charset="-122"/>
                <a:ea typeface="黑体" panose="02010609060101010101" pitchFamily="49" charset="-122"/>
              </a:endParaRPr>
            </a:p>
          </p:txBody>
        </p:sp>
        <p:sp>
          <p:nvSpPr>
            <p:cNvPr id="4102" name="Text Box 11"/>
            <p:cNvSpPr txBox="1">
              <a:spLocks noChangeArrowheads="1"/>
            </p:cNvSpPr>
            <p:nvPr/>
          </p:nvSpPr>
          <p:spPr bwMode="auto">
            <a:xfrm>
              <a:off x="499" y="301"/>
              <a:ext cx="154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50000"/>
                </a:spcBef>
                <a:buFontTx/>
                <a:buNone/>
              </a:pPr>
              <a:endParaRPr lang="zh-CN" altLang="zh-CN" sz="2400" b="1">
                <a:solidFill>
                  <a:schemeClr val="bg1"/>
                </a:solidFill>
                <a:latin typeface="黑体" panose="02010609060101010101" pitchFamily="49" charset="-122"/>
                <a:ea typeface="黑体" panose="02010609060101010101" pitchFamily="49" charset="-122"/>
              </a:endParaRPr>
            </a:p>
          </p:txBody>
        </p:sp>
      </p:grpSp>
      <p:sp>
        <p:nvSpPr>
          <p:cNvPr id="4099" name="标题 7"/>
          <p:cNvSpPr>
            <a:spLocks noGrp="1"/>
          </p:cNvSpPr>
          <p:nvPr>
            <p:ph type="ctrTitle" idx="4294967295"/>
          </p:nvPr>
        </p:nvSpPr>
        <p:spPr>
          <a:xfrm>
            <a:off x="685800" y="2130425"/>
            <a:ext cx="7772400" cy="1470025"/>
          </a:xfrm>
        </p:spPr>
        <p:txBody>
          <a:bodyPr/>
          <a:lstStyle/>
          <a:p>
            <a:pPr eaLnBrk="1" hangingPunct="1"/>
            <a:r>
              <a:rPr lang="zh-CN" altLang="zh-CN" dirty="0">
                <a:latin typeface="宋体" pitchFamily="2" charset="-122"/>
              </a:rPr>
              <a:t>第</a:t>
            </a:r>
            <a:r>
              <a:rPr lang="zh-CN" altLang="en-US" dirty="0">
                <a:latin typeface="宋体" pitchFamily="2" charset="-122"/>
              </a:rPr>
              <a:t>八</a:t>
            </a:r>
            <a:r>
              <a:rPr lang="zh-CN" altLang="zh-CN" dirty="0">
                <a:latin typeface="宋体" pitchFamily="2" charset="-122"/>
              </a:rPr>
              <a:t>章 体系结构设计</a:t>
            </a:r>
          </a:p>
        </p:txBody>
      </p:sp>
      <p:sp>
        <p:nvSpPr>
          <p:cNvPr id="4100" name="副标题 8"/>
          <p:cNvSpPr>
            <a:spLocks noGrp="1"/>
          </p:cNvSpPr>
          <p:nvPr>
            <p:ph type="subTitle" idx="4294967295"/>
          </p:nvPr>
        </p:nvSpPr>
        <p:spPr>
          <a:xfrm>
            <a:off x="179388" y="4005263"/>
            <a:ext cx="4248150" cy="936625"/>
          </a:xfrm>
        </p:spPr>
        <p:txBody>
          <a:bodyPr/>
          <a:lstStyle/>
          <a:p>
            <a:pPr marL="0" indent="0" algn="ctr" eaLnBrk="1" hangingPunct="1">
              <a:buFontTx/>
              <a:buNone/>
            </a:pPr>
            <a:r>
              <a:rPr lang="zh-CN" altLang="en-US" dirty="0">
                <a:latin typeface="宋体" pitchFamily="2" charset="-122"/>
              </a:rPr>
              <a:t>吴清强</a:t>
            </a:r>
            <a:endParaRPr lang="zh-CN" altLang="zh-CN" dirty="0">
              <a:latin typeface="宋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2"/>
          <p:cNvSpPr>
            <a:spLocks noGrp="1"/>
          </p:cNvSpPr>
          <p:nvPr>
            <p:ph idx="4294967295"/>
          </p:nvPr>
        </p:nvSpPr>
        <p:spPr>
          <a:xfrm>
            <a:off x="323528" y="460238"/>
            <a:ext cx="8229600" cy="5937523"/>
          </a:xfrm>
        </p:spPr>
        <p:txBody>
          <a:bodyPr/>
          <a:lstStyle/>
          <a:p>
            <a:pPr eaLnBrk="1" hangingPunct="1"/>
            <a:r>
              <a:rPr lang="zh-CN" altLang="zh-CN" sz="2800" dirty="0">
                <a:latin typeface="宋体" pitchFamily="2" charset="-122"/>
              </a:rPr>
              <a:t>体系结构设计需要做的事情：</a:t>
            </a:r>
            <a:r>
              <a:rPr lang="zh-CN" altLang="zh-CN" sz="2800" dirty="0">
                <a:solidFill>
                  <a:srgbClr val="FF0000"/>
                </a:solidFill>
                <a:latin typeface="宋体" pitchFamily="2" charset="-122"/>
              </a:rPr>
              <a:t>为你提供整体的视图并保证得到正确的理解</a:t>
            </a:r>
            <a:endParaRPr lang="en-US" altLang="zh-CN" sz="2800" dirty="0">
              <a:solidFill>
                <a:srgbClr val="FF0000"/>
              </a:solidFill>
              <a:latin typeface="宋体" pitchFamily="2" charset="-122"/>
            </a:endParaRPr>
          </a:p>
          <a:p>
            <a:pPr eaLnBrk="1" hangingPunct="1"/>
            <a:r>
              <a:rPr lang="en-US" altLang="zh-CN" sz="2800" dirty="0">
                <a:solidFill>
                  <a:srgbClr val="FF0000"/>
                </a:solidFill>
                <a:latin typeface="宋体" pitchFamily="2" charset="-122"/>
              </a:rPr>
              <a:t>“</a:t>
            </a:r>
            <a:r>
              <a:rPr lang="zh-CN" altLang="en-US" sz="2800" dirty="0">
                <a:solidFill>
                  <a:srgbClr val="FF0000"/>
                </a:solidFill>
                <a:latin typeface="宋体" pitchFamily="2" charset="-122"/>
              </a:rPr>
              <a:t>系统架构师”</a:t>
            </a:r>
            <a:r>
              <a:rPr lang="zh-CN" altLang="en-US" sz="2800" dirty="0">
                <a:latin typeface="宋体" pitchFamily="2" charset="-122"/>
              </a:rPr>
              <a:t>根据软件需求分析得到的需求为系统选择合适的体系结构风格。</a:t>
            </a:r>
            <a:r>
              <a:rPr lang="zh-CN" altLang="en-US" sz="2800" dirty="0">
                <a:solidFill>
                  <a:srgbClr val="FF0000"/>
                </a:solidFill>
                <a:latin typeface="宋体" pitchFamily="2" charset="-122"/>
              </a:rPr>
              <a:t>数据库或数据仓库设计者</a:t>
            </a:r>
            <a:r>
              <a:rPr lang="zh-CN" altLang="en-US" sz="2800" dirty="0">
                <a:latin typeface="宋体" pitchFamily="2" charset="-122"/>
              </a:rPr>
              <a:t>为系统创建数据体系结构。</a:t>
            </a:r>
            <a:endParaRPr lang="en-US" altLang="zh-CN" sz="2800" dirty="0">
              <a:latin typeface="宋体" pitchFamily="2" charset="-122"/>
            </a:endParaRPr>
          </a:p>
          <a:p>
            <a:pPr eaLnBrk="1" hangingPunct="1"/>
            <a:r>
              <a:rPr lang="zh-CN" altLang="en-US" sz="2800" dirty="0">
                <a:latin typeface="宋体" pitchFamily="2" charset="-122"/>
              </a:rPr>
              <a:t>工作产品：在体系结构设计过程中，要创建一个包含</a:t>
            </a:r>
            <a:r>
              <a:rPr lang="zh-CN" altLang="en-US" sz="2800" dirty="0">
                <a:solidFill>
                  <a:srgbClr val="FF0000"/>
                </a:solidFill>
                <a:latin typeface="宋体" pitchFamily="2" charset="-122"/>
              </a:rPr>
              <a:t>数据结构和程序结构</a:t>
            </a:r>
            <a:r>
              <a:rPr lang="zh-CN" altLang="en-US" sz="2800" dirty="0">
                <a:latin typeface="宋体" pitchFamily="2" charset="-122"/>
              </a:rPr>
              <a:t>的</a:t>
            </a:r>
            <a:r>
              <a:rPr lang="zh-CN" altLang="en-US" sz="2800" u="sng" dirty="0">
                <a:latin typeface="宋体" pitchFamily="2" charset="-122"/>
              </a:rPr>
              <a:t>体系结构模型</a:t>
            </a:r>
            <a:r>
              <a:rPr lang="zh-CN" altLang="en-US" sz="2800" dirty="0">
                <a:latin typeface="宋体" pitchFamily="2" charset="-122"/>
              </a:rPr>
              <a:t>。同时，还需描述构件属性以及构件之间的</a:t>
            </a:r>
            <a:r>
              <a:rPr lang="zh-CN" altLang="en-US" sz="2800" u="sng" dirty="0">
                <a:latin typeface="宋体" pitchFamily="2" charset="-122"/>
              </a:rPr>
              <a:t>相互关系</a:t>
            </a:r>
            <a:r>
              <a:rPr lang="zh-CN" altLang="en-US" sz="2800" dirty="0">
                <a:latin typeface="宋体" pitchFamily="2" charset="-122"/>
              </a:rPr>
              <a:t>（交互关系）。</a:t>
            </a:r>
            <a:endParaRPr lang="zh-CN" altLang="zh-CN" sz="2800" dirty="0">
              <a:latin typeface="宋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20"/>
          <p:cNvSpPr>
            <a:spLocks noGrp="1"/>
          </p:cNvSpPr>
          <p:nvPr>
            <p:ph type="title" idx="4294967295"/>
          </p:nvPr>
        </p:nvSpPr>
        <p:spPr/>
        <p:txBody>
          <a:bodyPr/>
          <a:lstStyle/>
          <a:p>
            <a:pPr eaLnBrk="1" hangingPunct="1"/>
            <a:r>
              <a:rPr lang="zh-CN" altLang="zh-CN">
                <a:latin typeface="宋体" pitchFamily="2" charset="-122"/>
              </a:rPr>
              <a:t>主要内容</a:t>
            </a:r>
          </a:p>
        </p:txBody>
      </p:sp>
      <p:sp>
        <p:nvSpPr>
          <p:cNvPr id="6147" name="内容占位符 21"/>
          <p:cNvSpPr>
            <a:spLocks noGrp="1"/>
          </p:cNvSpPr>
          <p:nvPr>
            <p:ph idx="4294967295"/>
          </p:nvPr>
        </p:nvSpPr>
        <p:spPr/>
        <p:txBody>
          <a:bodyPr/>
          <a:lstStyle/>
          <a:p>
            <a:pPr eaLnBrk="1" hangingPunct="1"/>
            <a:r>
              <a:rPr lang="zh-CN" altLang="zh-CN"/>
              <a:t>软件体系结构</a:t>
            </a:r>
            <a:endParaRPr lang="en-US" altLang="zh-CN"/>
          </a:p>
          <a:p>
            <a:pPr eaLnBrk="1" hangingPunct="1"/>
            <a:r>
              <a:rPr lang="zh-CN" altLang="zh-CN"/>
              <a:t>数据设计</a:t>
            </a:r>
            <a:endParaRPr lang="en-US" altLang="zh-CN"/>
          </a:p>
          <a:p>
            <a:pPr eaLnBrk="1" hangingPunct="1"/>
            <a:r>
              <a:rPr lang="zh-CN" altLang="zh-CN"/>
              <a:t>体系结构风格和模式</a:t>
            </a:r>
            <a:endParaRPr lang="en-US" altLang="zh-CN"/>
          </a:p>
          <a:p>
            <a:pPr eaLnBrk="1" hangingPunct="1"/>
            <a:r>
              <a:rPr lang="zh-CN" altLang="zh-CN"/>
              <a:t>体系结构设计</a:t>
            </a:r>
            <a:endParaRPr lang="en-US" altLang="zh-CN"/>
          </a:p>
          <a:p>
            <a:pPr eaLnBrk="1" hangingPunct="1"/>
            <a:r>
              <a:rPr lang="zh-CN" altLang="zh-CN"/>
              <a:t>评估可选的体系结构设计</a:t>
            </a:r>
            <a:endParaRPr lang="en-US" altLang="zh-CN"/>
          </a:p>
          <a:p>
            <a:pPr eaLnBrk="1" hangingPunct="1"/>
            <a:r>
              <a:rPr lang="zh-CN" altLang="zh-CN"/>
              <a:t>映射数据流到软件体系结构</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a:t>
            </a:r>
            <a:r>
              <a:rPr lang="en-US" altLang="zh-CN">
                <a:latin typeface="宋体" pitchFamily="2" charset="-122"/>
              </a:rPr>
              <a:t> </a:t>
            </a:r>
            <a:endParaRPr lang="zh-CN" altLang="zh-CN">
              <a:latin typeface="宋体" pitchFamily="2" charset="-122"/>
            </a:endParaRPr>
          </a:p>
        </p:txBody>
      </p:sp>
      <p:sp>
        <p:nvSpPr>
          <p:cNvPr id="7171" name="内容占位符 2"/>
          <p:cNvSpPr>
            <a:spLocks noGrp="1"/>
          </p:cNvSpPr>
          <p:nvPr>
            <p:ph idx="4294967295"/>
          </p:nvPr>
        </p:nvSpPr>
        <p:spPr/>
        <p:txBody>
          <a:bodyPr/>
          <a:lstStyle/>
          <a:p>
            <a:pPr eaLnBrk="1" hangingPunct="1"/>
            <a:r>
              <a:rPr lang="zh-CN" altLang="zh-CN" dirty="0">
                <a:latin typeface="宋体" pitchFamily="2" charset="-122"/>
              </a:rPr>
              <a:t>什么是体系结构？</a:t>
            </a:r>
            <a:endParaRPr lang="en-US" altLang="zh-CN" dirty="0">
              <a:latin typeface="宋体" pitchFamily="2" charset="-122"/>
            </a:endParaRPr>
          </a:p>
          <a:p>
            <a:pPr lvl="1" eaLnBrk="1" hangingPunct="1"/>
            <a:r>
              <a:rPr lang="zh-CN" altLang="zh-CN" dirty="0">
                <a:solidFill>
                  <a:srgbClr val="FF0000"/>
                </a:solidFill>
                <a:latin typeface="宋体" pitchFamily="2" charset="-122"/>
              </a:rPr>
              <a:t>建筑类的体系结构</a:t>
            </a:r>
            <a:endParaRPr lang="en-US" altLang="zh-CN" dirty="0">
              <a:solidFill>
                <a:srgbClr val="FF0000"/>
              </a:solidFill>
              <a:latin typeface="宋体" pitchFamily="2" charset="-122"/>
            </a:endParaRPr>
          </a:p>
          <a:p>
            <a:pPr lvl="2" eaLnBrk="1" hangingPunct="1"/>
            <a:r>
              <a:rPr lang="zh-CN" altLang="zh-CN" dirty="0">
                <a:latin typeface="宋体" pitchFamily="2" charset="-122"/>
              </a:rPr>
              <a:t>整体形状</a:t>
            </a:r>
            <a:endParaRPr lang="en-US" altLang="zh-CN" dirty="0">
              <a:latin typeface="宋体" pitchFamily="2" charset="-122"/>
            </a:endParaRPr>
          </a:p>
          <a:p>
            <a:pPr lvl="2" eaLnBrk="1" hangingPunct="1"/>
            <a:r>
              <a:rPr lang="zh-CN" altLang="zh-CN" dirty="0">
                <a:latin typeface="宋体" pitchFamily="2" charset="-122"/>
              </a:rPr>
              <a:t>纹理、颜色和材料在一起创建外部门面和内部“居住环境”</a:t>
            </a:r>
            <a:endParaRPr lang="en-US" altLang="zh-CN" dirty="0">
              <a:latin typeface="宋体" pitchFamily="2" charset="-122"/>
            </a:endParaRPr>
          </a:p>
          <a:p>
            <a:pPr lvl="2" eaLnBrk="1" hangingPunct="1"/>
            <a:r>
              <a:rPr lang="zh-CN" altLang="zh-CN" dirty="0">
                <a:latin typeface="宋体" pitchFamily="2" charset="-122"/>
              </a:rPr>
              <a:t>灯光设计、地板类型、壁挂布置等等</a:t>
            </a:r>
            <a:endParaRPr lang="en-US" altLang="zh-CN" dirty="0">
              <a:latin typeface="宋体" pitchFamily="2" charset="-122"/>
            </a:endParaRPr>
          </a:p>
          <a:p>
            <a:pPr lvl="2" eaLnBrk="1" hangingPunct="1"/>
            <a:r>
              <a:rPr lang="zh-CN" altLang="en-US" dirty="0">
                <a:latin typeface="宋体" pitchFamily="2" charset="-122"/>
              </a:rPr>
              <a:t>可以是数千个“大大小小的决策”</a:t>
            </a:r>
            <a:endParaRPr lang="zh-CN" altLang="zh-CN" dirty="0">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animEffect transition="in" filter="blinds(horizontal)">
                                      <p:cBhvr>
                                        <p:cTn id="7" dur="500"/>
                                        <p:tgtEl>
                                          <p:spTgt spid="717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171">
                                            <p:txEl>
                                              <p:pRg st="2" end="2"/>
                                            </p:txEl>
                                          </p:spTgt>
                                        </p:tgtEl>
                                        <p:attrNameLst>
                                          <p:attrName>style.visibility</p:attrName>
                                        </p:attrNameLst>
                                      </p:cBhvr>
                                      <p:to>
                                        <p:strVal val="visible"/>
                                      </p:to>
                                    </p:set>
                                    <p:animEffect transition="in" filter="blinds(horizontal)">
                                      <p:cBhvr>
                                        <p:cTn id="10" dur="500"/>
                                        <p:tgtEl>
                                          <p:spTgt spid="717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animEffect transition="in" filter="blinds(horizontal)">
                                      <p:cBhvr>
                                        <p:cTn id="13" dur="500"/>
                                        <p:tgtEl>
                                          <p:spTgt spid="7171">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171">
                                            <p:txEl>
                                              <p:pRg st="4" end="4"/>
                                            </p:txEl>
                                          </p:spTgt>
                                        </p:tgtEl>
                                        <p:attrNameLst>
                                          <p:attrName>style.visibility</p:attrName>
                                        </p:attrNameLst>
                                      </p:cBhvr>
                                      <p:to>
                                        <p:strVal val="visible"/>
                                      </p:to>
                                    </p:set>
                                    <p:animEffect transition="in" filter="blinds(horizontal)">
                                      <p:cBhvr>
                                        <p:cTn id="16" dur="500"/>
                                        <p:tgtEl>
                                          <p:spTgt spid="7171">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7171">
                                            <p:txEl>
                                              <p:pRg st="5" end="5"/>
                                            </p:txEl>
                                          </p:spTgt>
                                        </p:tgtEl>
                                        <p:attrNameLst>
                                          <p:attrName>style.visibility</p:attrName>
                                        </p:attrNameLst>
                                      </p:cBhvr>
                                      <p:to>
                                        <p:strVal val="visible"/>
                                      </p:to>
                                    </p:set>
                                    <p:animEffect transition="in" filter="blinds(horizontal)">
                                      <p:cBhvr>
                                        <p:cTn id="19" dur="500"/>
                                        <p:tgtEl>
                                          <p:spTgt spid="71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p>
        </p:txBody>
      </p:sp>
      <p:sp>
        <p:nvSpPr>
          <p:cNvPr id="8195" name="内容占位符 2"/>
          <p:cNvSpPr>
            <a:spLocks noGrp="1"/>
          </p:cNvSpPr>
          <p:nvPr>
            <p:ph idx="4294967295"/>
          </p:nvPr>
        </p:nvSpPr>
        <p:spPr/>
        <p:txBody>
          <a:bodyPr/>
          <a:lstStyle/>
          <a:p>
            <a:pPr eaLnBrk="1" hangingPunct="1"/>
            <a:r>
              <a:rPr lang="zh-CN" altLang="zh-CN" dirty="0">
                <a:latin typeface="宋体" pitchFamily="2" charset="-122"/>
              </a:rPr>
              <a:t> </a:t>
            </a:r>
            <a:r>
              <a:rPr lang="zh-CN" altLang="zh-CN" dirty="0">
                <a:solidFill>
                  <a:srgbClr val="FF0000"/>
                </a:solidFill>
                <a:latin typeface="宋体" pitchFamily="2" charset="-122"/>
              </a:rPr>
              <a:t>软件体系结构定义</a:t>
            </a:r>
            <a:r>
              <a:rPr lang="zh-CN" altLang="en-US" dirty="0">
                <a:solidFill>
                  <a:srgbClr val="FF0000"/>
                </a:solidFill>
                <a:latin typeface="宋体" pitchFamily="2" charset="-122"/>
              </a:rPr>
              <a:t>一</a:t>
            </a:r>
            <a:endParaRPr lang="en-US" altLang="zh-CN" dirty="0">
              <a:solidFill>
                <a:srgbClr val="FF0000"/>
              </a:solidFill>
              <a:latin typeface="宋体" pitchFamily="2" charset="-122"/>
            </a:endParaRPr>
          </a:p>
          <a:p>
            <a:pPr eaLnBrk="1" hangingPunct="1"/>
            <a:r>
              <a:rPr lang="zh-CN" altLang="en-US" dirty="0">
                <a:latin typeface="宋体" pitchFamily="2" charset="-122"/>
              </a:rPr>
              <a:t>一个系统的“结构元素和其相应的接口”以及系统中各个构件和子系统的“行为”。</a:t>
            </a:r>
            <a:endParaRPr lang="en-US" altLang="zh-CN" dirty="0">
              <a:latin typeface="宋体"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p>
        </p:txBody>
      </p:sp>
      <p:sp>
        <p:nvSpPr>
          <p:cNvPr id="8195" name="内容占位符 2"/>
          <p:cNvSpPr>
            <a:spLocks noGrp="1"/>
          </p:cNvSpPr>
          <p:nvPr>
            <p:ph idx="4294967295"/>
          </p:nvPr>
        </p:nvSpPr>
        <p:spPr/>
        <p:txBody>
          <a:bodyPr/>
          <a:lstStyle/>
          <a:p>
            <a:pPr eaLnBrk="1" hangingPunct="1"/>
            <a:r>
              <a:rPr lang="zh-CN" altLang="zh-CN" dirty="0">
                <a:latin typeface="宋体" pitchFamily="2" charset="-122"/>
              </a:rPr>
              <a:t> </a:t>
            </a:r>
            <a:r>
              <a:rPr lang="zh-CN" altLang="zh-CN" dirty="0">
                <a:solidFill>
                  <a:srgbClr val="FF0000"/>
                </a:solidFill>
                <a:latin typeface="宋体" pitchFamily="2" charset="-122"/>
              </a:rPr>
              <a:t>软件体系结构定义</a:t>
            </a:r>
            <a:r>
              <a:rPr lang="zh-CN" altLang="en-US" dirty="0">
                <a:solidFill>
                  <a:srgbClr val="FF0000"/>
                </a:solidFill>
                <a:latin typeface="宋体" pitchFamily="2" charset="-122"/>
              </a:rPr>
              <a:t>二</a:t>
            </a:r>
            <a:r>
              <a:rPr lang="zh-CN" altLang="zh-CN" dirty="0">
                <a:solidFill>
                  <a:srgbClr val="FF0000"/>
                </a:solidFill>
                <a:latin typeface="宋体" pitchFamily="2" charset="-122"/>
              </a:rPr>
              <a:t>：</a:t>
            </a:r>
            <a:endParaRPr lang="en-US" altLang="zh-CN" dirty="0">
              <a:solidFill>
                <a:srgbClr val="FF0000"/>
              </a:solidFill>
              <a:latin typeface="宋体" pitchFamily="2" charset="-122"/>
            </a:endParaRPr>
          </a:p>
          <a:p>
            <a:pPr lvl="1" eaLnBrk="1" hangingPunct="1"/>
            <a:r>
              <a:rPr lang="zh-CN" altLang="zh-CN" dirty="0">
                <a:latin typeface="宋体" pitchFamily="2" charset="-122"/>
              </a:rPr>
              <a:t>描述一个计算机软件的各个</a:t>
            </a:r>
            <a:r>
              <a:rPr lang="zh-CN" altLang="zh-CN" dirty="0">
                <a:solidFill>
                  <a:srgbClr val="FF0000"/>
                </a:solidFill>
                <a:latin typeface="宋体" pitchFamily="2" charset="-122"/>
              </a:rPr>
              <a:t>功能模块</a:t>
            </a:r>
            <a:r>
              <a:rPr lang="zh-CN" altLang="zh-CN" dirty="0">
                <a:latin typeface="宋体" pitchFamily="2" charset="-122"/>
              </a:rPr>
              <a:t>内部关系以及不同模块之间的关系的构造图（可以是文字的描述，也可以是图表的描述），类似于硬件设计中的原理框图，它是软件流程图的上层抽象。</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p>
        </p:txBody>
      </p:sp>
      <p:sp>
        <p:nvSpPr>
          <p:cNvPr id="9219" name="内容占位符 2"/>
          <p:cNvSpPr>
            <a:spLocks noGrp="1"/>
          </p:cNvSpPr>
          <p:nvPr>
            <p:ph idx="4294967295"/>
          </p:nvPr>
        </p:nvSpPr>
        <p:spPr/>
        <p:txBody>
          <a:bodyPr/>
          <a:lstStyle/>
          <a:p>
            <a:pPr eaLnBrk="1" hangingPunct="1"/>
            <a:r>
              <a:rPr lang="zh-CN" altLang="zh-CN" dirty="0">
                <a:latin typeface="宋体" pitchFamily="2" charset="-122"/>
              </a:rPr>
              <a:t> </a:t>
            </a:r>
            <a:r>
              <a:rPr lang="zh-CN" altLang="zh-CN" dirty="0">
                <a:solidFill>
                  <a:srgbClr val="FF0000"/>
                </a:solidFill>
                <a:latin typeface="宋体" pitchFamily="2" charset="-122"/>
              </a:rPr>
              <a:t>软件体系结构定义</a:t>
            </a:r>
            <a:r>
              <a:rPr lang="zh-CN" altLang="en-US" dirty="0">
                <a:solidFill>
                  <a:srgbClr val="FF0000"/>
                </a:solidFill>
                <a:latin typeface="宋体" pitchFamily="2" charset="-122"/>
              </a:rPr>
              <a:t>三</a:t>
            </a:r>
            <a:r>
              <a:rPr lang="zh-CN" altLang="zh-CN" dirty="0">
                <a:solidFill>
                  <a:srgbClr val="FF0000"/>
                </a:solidFill>
                <a:latin typeface="宋体" pitchFamily="2" charset="-122"/>
              </a:rPr>
              <a:t>：</a:t>
            </a:r>
            <a:endParaRPr lang="en-US" altLang="zh-CN" dirty="0">
              <a:solidFill>
                <a:srgbClr val="FF0000"/>
              </a:solidFill>
              <a:latin typeface="宋体" pitchFamily="2" charset="-122"/>
            </a:endParaRPr>
          </a:p>
          <a:p>
            <a:pPr lvl="1" eaLnBrk="1" hangingPunct="1"/>
            <a:r>
              <a:rPr lang="zh-CN" altLang="zh-CN" dirty="0">
                <a:latin typeface="宋体" pitchFamily="2" charset="-122"/>
              </a:rPr>
              <a:t>一个程序和计算机系统软件体系结构是指系统的一个或者多个结构。结构中包括软件的构件，构件的外部可见属性以及他们之间的关系。</a:t>
            </a:r>
            <a:endParaRPr lang="en-US" altLang="zh-CN" dirty="0">
              <a:latin typeface="宋体" pitchFamily="2" charset="-122"/>
            </a:endParaRPr>
          </a:p>
          <a:p>
            <a:pPr eaLnBrk="1" hangingPunct="1"/>
            <a:r>
              <a:rPr lang="zh-CN" altLang="zh-CN" dirty="0">
                <a:latin typeface="宋体" pitchFamily="2" charset="-122"/>
              </a:rPr>
              <a:t>是一定程度上的抽象，非可运行的软件。</a:t>
            </a:r>
          </a:p>
          <a:p>
            <a:pPr lvl="1" eaLnBrk="1" hangingPunct="1"/>
            <a:endParaRPr lang="en-US" altLang="zh-CN" dirty="0">
              <a:latin typeface="宋体"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p>
        </p:txBody>
      </p:sp>
      <p:sp>
        <p:nvSpPr>
          <p:cNvPr id="9219" name="内容占位符 2"/>
          <p:cNvSpPr>
            <a:spLocks noGrp="1"/>
          </p:cNvSpPr>
          <p:nvPr>
            <p:ph idx="4294967295"/>
          </p:nvPr>
        </p:nvSpPr>
        <p:spPr/>
        <p:txBody>
          <a:bodyPr/>
          <a:lstStyle/>
          <a:p>
            <a:pPr eaLnBrk="1" hangingPunct="1"/>
            <a:r>
              <a:rPr lang="zh-CN" altLang="zh-CN" sz="2800" dirty="0">
                <a:latin typeface="宋体" pitchFamily="2" charset="-122"/>
              </a:rPr>
              <a:t> </a:t>
            </a:r>
            <a:r>
              <a:rPr lang="zh-CN" altLang="zh-CN" sz="2800" dirty="0">
                <a:solidFill>
                  <a:srgbClr val="FF0000"/>
                </a:solidFill>
                <a:latin typeface="宋体" pitchFamily="2" charset="-122"/>
              </a:rPr>
              <a:t>软件体系结构定义</a:t>
            </a:r>
            <a:r>
              <a:rPr lang="zh-CN" altLang="en-US" sz="2800" dirty="0">
                <a:solidFill>
                  <a:srgbClr val="FF0000"/>
                </a:solidFill>
                <a:latin typeface="宋体" pitchFamily="2" charset="-122"/>
              </a:rPr>
              <a:t>四</a:t>
            </a:r>
            <a:r>
              <a:rPr lang="zh-CN" altLang="zh-CN" sz="2800" dirty="0">
                <a:solidFill>
                  <a:srgbClr val="FF0000"/>
                </a:solidFill>
                <a:latin typeface="宋体" pitchFamily="2" charset="-122"/>
              </a:rPr>
              <a:t>：</a:t>
            </a:r>
            <a:endParaRPr lang="en-US" altLang="zh-CN" sz="2800" dirty="0">
              <a:solidFill>
                <a:srgbClr val="FF0000"/>
              </a:solidFill>
              <a:latin typeface="宋体" pitchFamily="2" charset="-122"/>
            </a:endParaRPr>
          </a:p>
          <a:p>
            <a:pPr lvl="1" eaLnBrk="1" hangingPunct="1"/>
            <a:r>
              <a:rPr lang="zh-CN" altLang="en-US" sz="2400" dirty="0">
                <a:solidFill>
                  <a:srgbClr val="333333"/>
                </a:solidFill>
                <a:latin typeface="Helvetica Neue" panose="02000503000000020004" charset="0"/>
              </a:rPr>
              <a:t>系统体系结构是一个综合模型，系统体系结构是由许多结构要素及各种视图（或观点）（</a:t>
            </a:r>
            <a:r>
              <a:rPr lang="en-GB" altLang="zh-CN" sz="2400" dirty="0">
                <a:solidFill>
                  <a:srgbClr val="333333"/>
                </a:solidFill>
                <a:latin typeface="Helvetica Neue" panose="02000503000000020004" charset="0"/>
              </a:rPr>
              <a:t>View</a:t>
            </a:r>
            <a:r>
              <a:rPr lang="zh-CN" altLang="en-GB" sz="2400" dirty="0">
                <a:solidFill>
                  <a:srgbClr val="333333"/>
                </a:solidFill>
                <a:latin typeface="Helvetica Neue" panose="02000503000000020004" charset="0"/>
              </a:rPr>
              <a:t>）</a:t>
            </a:r>
            <a:r>
              <a:rPr lang="zh-CN" altLang="en-US" sz="2400" dirty="0">
                <a:solidFill>
                  <a:srgbClr val="333333"/>
                </a:solidFill>
                <a:latin typeface="Helvetica Neue" panose="02000503000000020004" charset="0"/>
              </a:rPr>
              <a:t>所组成的，而各种视图主要是基于各组成要素之间的联系与互操作而形成的。所以，系统体系结构是一个综合各种观点的模型，用来完整描述整个系统。</a:t>
            </a:r>
            <a:endParaRPr lang="zh-CN"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79512" y="-169909"/>
            <a:ext cx="8964488" cy="70987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endParaRPr lang="zh-CN" altLang="zh-CN"/>
          </a:p>
        </p:txBody>
      </p:sp>
      <p:sp>
        <p:nvSpPr>
          <p:cNvPr id="10243" name="内容占位符 2"/>
          <p:cNvSpPr>
            <a:spLocks noGrp="1"/>
          </p:cNvSpPr>
          <p:nvPr>
            <p:ph idx="4294967295"/>
          </p:nvPr>
        </p:nvSpPr>
        <p:spPr/>
        <p:txBody>
          <a:bodyPr/>
          <a:lstStyle/>
          <a:p>
            <a:pPr eaLnBrk="1" hangingPunct="1"/>
            <a:r>
              <a:rPr lang="zh-CN" altLang="zh-CN" sz="2800" dirty="0">
                <a:latin typeface="宋体" pitchFamily="2" charset="-122"/>
              </a:rPr>
              <a:t>凭借体系结构图，软件开发人员可以：</a:t>
            </a:r>
            <a:endParaRPr lang="en-US" altLang="zh-CN" sz="2800" dirty="0">
              <a:latin typeface="宋体" pitchFamily="2" charset="-122"/>
            </a:endParaRPr>
          </a:p>
          <a:p>
            <a:pPr lvl="1" eaLnBrk="1" hangingPunct="1"/>
            <a:r>
              <a:rPr lang="zh-CN" altLang="zh-CN" sz="2400" dirty="0">
                <a:latin typeface="宋体" pitchFamily="2" charset="-122"/>
              </a:rPr>
              <a:t>分析设计能否完全满足需求</a:t>
            </a:r>
            <a:endParaRPr lang="en-US" altLang="zh-CN" sz="2400" dirty="0">
              <a:latin typeface="宋体" pitchFamily="2" charset="-122"/>
            </a:endParaRPr>
          </a:p>
          <a:p>
            <a:pPr lvl="1" eaLnBrk="1" hangingPunct="1"/>
            <a:r>
              <a:rPr lang="zh-CN" altLang="zh-CN" sz="2400" dirty="0">
                <a:latin typeface="宋体" pitchFamily="2" charset="-122"/>
              </a:rPr>
              <a:t>为设计中某些方面的变更提供指导</a:t>
            </a:r>
            <a:endParaRPr lang="en-US" altLang="zh-CN" sz="2400" dirty="0">
              <a:latin typeface="宋体" pitchFamily="2" charset="-122"/>
            </a:endParaRPr>
          </a:p>
          <a:p>
            <a:pPr lvl="1" eaLnBrk="1" hangingPunct="1"/>
            <a:r>
              <a:rPr lang="zh-CN" altLang="zh-CN" sz="2400" dirty="0">
                <a:latin typeface="宋体" pitchFamily="2" charset="-122"/>
              </a:rPr>
              <a:t>降低由于软件构造不合理带来的风险</a:t>
            </a:r>
            <a:endParaRPr lang="zh-CN" altLang="en-US" sz="2400" dirty="0">
              <a:latin typeface="宋体" pitchFamily="2" charset="-122"/>
            </a:endParaRPr>
          </a:p>
          <a:p>
            <a:pPr eaLnBrk="1" hangingPunct="1"/>
            <a:r>
              <a:rPr lang="zh-CN" altLang="en-US" sz="2800" dirty="0">
                <a:latin typeface="宋体" pitchFamily="2" charset="-122"/>
              </a:rPr>
              <a:t>是</a:t>
            </a:r>
            <a:r>
              <a:rPr lang="zh-CN" altLang="en-US" sz="2800" dirty="0">
                <a:solidFill>
                  <a:srgbClr val="FF0000"/>
                </a:solidFill>
                <a:latin typeface="宋体" pitchFamily="2" charset="-122"/>
              </a:rPr>
              <a:t>蓝图</a:t>
            </a:r>
            <a:r>
              <a:rPr lang="zh-CN" altLang="en-US" sz="2800" dirty="0">
                <a:latin typeface="宋体" pitchFamily="2" charset="-122"/>
              </a:rPr>
              <a:t>，是从</a:t>
            </a:r>
            <a:r>
              <a:rPr lang="zh-CN" altLang="en-US" sz="2800" u="sng" dirty="0">
                <a:latin typeface="宋体" pitchFamily="2" charset="-122"/>
              </a:rPr>
              <a:t>架构师</a:t>
            </a:r>
            <a:r>
              <a:rPr lang="zh-CN" altLang="en-US" sz="2800" dirty="0">
                <a:latin typeface="宋体" pitchFamily="2" charset="-122"/>
              </a:rPr>
              <a:t>到</a:t>
            </a:r>
            <a:r>
              <a:rPr lang="zh-CN" altLang="en-US" sz="2800" u="sng" dirty="0">
                <a:latin typeface="宋体" pitchFamily="2" charset="-122"/>
              </a:rPr>
              <a:t>系统设计师</a:t>
            </a:r>
            <a:r>
              <a:rPr lang="zh-CN" altLang="en-US" sz="2800" dirty="0">
                <a:latin typeface="宋体" pitchFamily="2" charset="-122"/>
              </a:rPr>
              <a:t>再到负责开发不同系统构件的</a:t>
            </a:r>
            <a:r>
              <a:rPr lang="zh-CN" altLang="en-US" sz="2800" u="sng" dirty="0">
                <a:latin typeface="宋体" pitchFamily="2" charset="-122"/>
              </a:rPr>
              <a:t>软件工程师</a:t>
            </a:r>
            <a:r>
              <a:rPr lang="zh-CN" altLang="en-US" sz="2800" dirty="0">
                <a:latin typeface="宋体" pitchFamily="2" charset="-122"/>
              </a:rPr>
              <a:t>之间</a:t>
            </a:r>
            <a:r>
              <a:rPr lang="zh-CN" altLang="en-US" sz="2800" dirty="0">
                <a:solidFill>
                  <a:srgbClr val="FF0000"/>
                </a:solidFill>
                <a:latin typeface="宋体" pitchFamily="2" charset="-122"/>
              </a:rPr>
              <a:t>传递准确信息的工具</a:t>
            </a:r>
            <a:r>
              <a:rPr lang="zh-CN" altLang="en-US" sz="2800" dirty="0">
                <a:latin typeface="宋体" pitchFamily="2" charset="-122"/>
              </a:rPr>
              <a:t>。</a:t>
            </a:r>
            <a:endParaRPr lang="zh-CN" altLang="zh-C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endParaRPr lang="zh-CN" altLang="zh-CN"/>
          </a:p>
        </p:txBody>
      </p:sp>
      <p:sp>
        <p:nvSpPr>
          <p:cNvPr id="10243" name="内容占位符 2"/>
          <p:cNvSpPr>
            <a:spLocks noGrp="1"/>
          </p:cNvSpPr>
          <p:nvPr>
            <p:ph idx="4294967295"/>
          </p:nvPr>
        </p:nvSpPr>
        <p:spPr>
          <a:xfrm>
            <a:off x="457200" y="1600200"/>
            <a:ext cx="8507288" cy="4525963"/>
          </a:xfrm>
        </p:spPr>
        <p:txBody>
          <a:bodyPr/>
          <a:lstStyle/>
          <a:p>
            <a:pPr eaLnBrk="1" hangingPunct="1"/>
            <a:r>
              <a:rPr lang="zh-CN" altLang="en-US" sz="2800" dirty="0">
                <a:latin typeface="宋体" pitchFamily="2" charset="-122"/>
              </a:rPr>
              <a:t>一个系统的</a:t>
            </a:r>
            <a:r>
              <a:rPr lang="zh-CN" altLang="en-US" sz="2800" dirty="0">
                <a:solidFill>
                  <a:srgbClr val="FF0000"/>
                </a:solidFill>
                <a:latin typeface="宋体" pitchFamily="2" charset="-122"/>
              </a:rPr>
              <a:t>多个不同视图，</a:t>
            </a:r>
            <a:r>
              <a:rPr lang="zh-CN" altLang="en-US" sz="2800" dirty="0">
                <a:latin typeface="宋体" pitchFamily="2" charset="-122"/>
              </a:rPr>
              <a:t>每个视图从不同利益相关者</a:t>
            </a:r>
            <a:r>
              <a:rPr lang="zh-CN" altLang="en-US" sz="2800" dirty="0">
                <a:solidFill>
                  <a:srgbClr val="FF0000"/>
                </a:solidFill>
                <a:latin typeface="宋体" pitchFamily="2" charset="-122"/>
              </a:rPr>
              <a:t>不同关注点</a:t>
            </a:r>
            <a:r>
              <a:rPr lang="zh-CN" altLang="en-US" sz="2800" dirty="0">
                <a:latin typeface="宋体" pitchFamily="2" charset="-122"/>
              </a:rPr>
              <a:t>对整个系统进行的表示。</a:t>
            </a:r>
            <a:endParaRPr lang="en-US" altLang="zh-CN" sz="2800" dirty="0">
              <a:latin typeface="宋体" pitchFamily="2" charset="-122"/>
            </a:endParaRPr>
          </a:p>
          <a:p>
            <a:pPr eaLnBrk="1" hangingPunct="1"/>
            <a:r>
              <a:rPr lang="zh-CN" altLang="en-US" sz="2800" dirty="0">
                <a:latin typeface="宋体" pitchFamily="2" charset="-122"/>
              </a:rPr>
              <a:t>开发者角度：</a:t>
            </a:r>
            <a:r>
              <a:rPr lang="zh-CN" altLang="en-US" sz="2400" dirty="0">
                <a:latin typeface="宋体" pitchFamily="2" charset="-122"/>
              </a:rPr>
              <a:t>是从架构师到设计师再到负责开发不同系统构件的软件工程师之间</a:t>
            </a:r>
            <a:r>
              <a:rPr lang="zh-CN" altLang="en-US" sz="2400" dirty="0">
                <a:solidFill>
                  <a:srgbClr val="FF0000"/>
                </a:solidFill>
                <a:latin typeface="宋体" pitchFamily="2" charset="-122"/>
              </a:rPr>
              <a:t>传递准确信息的工具</a:t>
            </a:r>
            <a:r>
              <a:rPr lang="zh-CN" altLang="en-US" sz="2400" dirty="0">
                <a:latin typeface="宋体" pitchFamily="2" charset="-122"/>
              </a:rPr>
              <a:t>。</a:t>
            </a:r>
            <a:endParaRPr lang="en-US" altLang="zh-CN" sz="2400" dirty="0">
              <a:latin typeface="宋体" pitchFamily="2" charset="-122"/>
            </a:endParaRPr>
          </a:p>
          <a:p>
            <a:pPr lvl="1" eaLnBrk="1" hangingPunct="1"/>
            <a:r>
              <a:rPr lang="zh-CN" altLang="en-US" sz="2400" dirty="0">
                <a:latin typeface="宋体" pitchFamily="2" charset="-122"/>
              </a:rPr>
              <a:t>可以</a:t>
            </a:r>
            <a:r>
              <a:rPr lang="zh-CN" altLang="zh-CN" sz="2400" dirty="0">
                <a:latin typeface="宋体" pitchFamily="2" charset="-122"/>
              </a:rPr>
              <a:t>分析设计能否完全满足需求</a:t>
            </a:r>
            <a:r>
              <a:rPr lang="zh-CN" altLang="en-US" sz="2400" dirty="0">
                <a:latin typeface="宋体" pitchFamily="2" charset="-122"/>
              </a:rPr>
              <a:t>；</a:t>
            </a:r>
            <a:r>
              <a:rPr lang="zh-CN" altLang="zh-CN" sz="2400" dirty="0">
                <a:latin typeface="宋体" pitchFamily="2" charset="-122"/>
              </a:rPr>
              <a:t>为设计中某些方面的变更提供指导</a:t>
            </a:r>
            <a:r>
              <a:rPr lang="zh-CN" altLang="en-US" sz="2400" dirty="0">
                <a:latin typeface="宋体" pitchFamily="2" charset="-122"/>
              </a:rPr>
              <a:t>：</a:t>
            </a:r>
            <a:r>
              <a:rPr lang="zh-CN" altLang="zh-CN" sz="2400" dirty="0">
                <a:latin typeface="宋体" pitchFamily="2" charset="-122"/>
              </a:rPr>
              <a:t>降低由于软件构造不合理带来的风险</a:t>
            </a:r>
            <a:endParaRPr lang="zh-CN" altLang="en-US" sz="2400" dirty="0">
              <a:latin typeface="宋体" pitchFamily="2" charset="-122"/>
            </a:endParaRPr>
          </a:p>
          <a:p>
            <a:pPr eaLnBrk="1" hangingPunct="1"/>
            <a:endParaRPr lang="en-US" altLang="zh-CN" sz="2800" dirty="0">
              <a:latin typeface="宋体" pitchFamily="2" charset="-122"/>
            </a:endParaRPr>
          </a:p>
          <a:p>
            <a:pPr eaLnBrk="1" hangingPunct="1"/>
            <a:endParaRPr lang="en-US" altLang="zh-CN" sz="2800" dirty="0">
              <a:latin typeface="宋体" pitchFamily="2" charset="-122"/>
            </a:endParaRPr>
          </a:p>
          <a:p>
            <a:pPr eaLnBrk="1" hangingPunct="1"/>
            <a:endParaRPr lang="zh-CN" altLang="zh-CN"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idx="4294967295"/>
          </p:nvPr>
        </p:nvSpPr>
        <p:spPr/>
        <p:txBody>
          <a:bodyPr/>
          <a:lstStyle/>
          <a:p>
            <a:pPr eaLnBrk="1" hangingPunct="1"/>
            <a:r>
              <a:rPr lang="en-US" altLang="zh-CN">
                <a:latin typeface="宋体" pitchFamily="2" charset="-122"/>
              </a:rPr>
              <a:t>8.1 </a:t>
            </a:r>
            <a:r>
              <a:rPr lang="zh-CN" altLang="zh-CN">
                <a:latin typeface="宋体" pitchFamily="2" charset="-122"/>
              </a:rPr>
              <a:t>软件体系结构（续）</a:t>
            </a:r>
            <a:endParaRPr lang="zh-CN" altLang="zh-CN"/>
          </a:p>
        </p:txBody>
      </p:sp>
      <p:sp>
        <p:nvSpPr>
          <p:cNvPr id="10243" name="内容占位符 2"/>
          <p:cNvSpPr>
            <a:spLocks noGrp="1"/>
          </p:cNvSpPr>
          <p:nvPr>
            <p:ph idx="4294967295"/>
          </p:nvPr>
        </p:nvSpPr>
        <p:spPr/>
        <p:txBody>
          <a:bodyPr/>
          <a:lstStyle/>
          <a:p>
            <a:pPr eaLnBrk="1" hangingPunct="1"/>
            <a:r>
              <a:rPr lang="zh-CN" altLang="en-US" dirty="0">
                <a:latin typeface="宋体" pitchFamily="2" charset="-122"/>
              </a:rPr>
              <a:t>不同利益者相关者：</a:t>
            </a:r>
            <a:r>
              <a:rPr lang="zh-CN" altLang="en-US" dirty="0">
                <a:solidFill>
                  <a:srgbClr val="FF0000"/>
                </a:solidFill>
                <a:latin typeface="宋体" pitchFamily="2" charset="-122"/>
              </a:rPr>
              <a:t>交流的语言</a:t>
            </a:r>
            <a:endParaRPr lang="en-US" altLang="zh-CN" dirty="0">
              <a:solidFill>
                <a:srgbClr val="FF0000"/>
              </a:solidFill>
              <a:latin typeface="宋体" pitchFamily="2" charset="-122"/>
            </a:endParaRPr>
          </a:p>
          <a:p>
            <a:pPr eaLnBrk="1" hangingPunct="1"/>
            <a:r>
              <a:rPr lang="zh-CN" altLang="en-US" dirty="0">
                <a:latin typeface="宋体" pitchFamily="2" charset="-122"/>
              </a:rPr>
              <a:t>可看作对诸如成本、可用性、可维护性以及性能等多个会对社会系统产生重大影响的属性进行权衡取舍之后做出的</a:t>
            </a:r>
            <a:r>
              <a:rPr lang="zh-CN" altLang="en-US" dirty="0">
                <a:solidFill>
                  <a:srgbClr val="FF0000"/>
                </a:solidFill>
                <a:latin typeface="宋体" pitchFamily="2" charset="-122"/>
              </a:rPr>
              <a:t>决策</a:t>
            </a:r>
            <a:r>
              <a:rPr lang="zh-CN" altLang="en-US" dirty="0">
                <a:latin typeface="宋体" pitchFamily="2" charset="-122"/>
              </a:rPr>
              <a:t>。</a:t>
            </a:r>
            <a:endParaRPr lang="en-US" altLang="zh-CN" dirty="0">
              <a:latin typeface="宋体" pitchFamily="2" charset="-122"/>
            </a:endParaRPr>
          </a:p>
          <a:p>
            <a:pPr eaLnBrk="1" hangingPunct="1"/>
            <a:r>
              <a:rPr lang="zh-CN" altLang="en-US" dirty="0">
                <a:latin typeface="宋体" pitchFamily="2" charset="-122"/>
              </a:rPr>
              <a:t>是记录过去体系结构解决方案等</a:t>
            </a:r>
            <a:r>
              <a:rPr lang="zh-CN" altLang="en-US" dirty="0">
                <a:solidFill>
                  <a:srgbClr val="FF0000"/>
                </a:solidFill>
                <a:latin typeface="宋体" pitchFamily="2" charset="-122"/>
              </a:rPr>
              <a:t>文档资料</a:t>
            </a:r>
            <a:endParaRPr lang="zh-CN" altLang="zh-CN" dirty="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79512" y="836712"/>
            <a:ext cx="8712968" cy="5560561"/>
          </a:xfrm>
          <a:prstGeom prst="rect">
            <a:avLst/>
          </a:prstGeom>
        </p:spPr>
        <p:txBody>
          <a:bodyPr wrap="square">
            <a:spAutoFit/>
          </a:bodyPr>
          <a:lstStyle/>
          <a:p>
            <a:pPr>
              <a:lnSpc>
                <a:spcPct val="150000"/>
              </a:lnSpc>
            </a:pPr>
            <a:r>
              <a:rPr lang="zh-CN" altLang="en-US" sz="2400" dirty="0"/>
              <a:t>每个关键的体系结构决策都可以被记录，以便以后想要理解体系结构揭述的利益相关者进行评审。这里给出的是 Tyree 和 Ackerman [Tyr05] 提出模版的修改简化版本。</a:t>
            </a:r>
          </a:p>
          <a:p>
            <a:pPr>
              <a:lnSpc>
                <a:spcPct val="150000"/>
              </a:lnSpc>
            </a:pPr>
            <a:r>
              <a:rPr lang="zh-CN" altLang="en-US" sz="2400" b="1" dirty="0">
                <a:solidFill>
                  <a:srgbClr val="FF0000"/>
                </a:solidFill>
              </a:rPr>
              <a:t>设计问题：</a:t>
            </a:r>
            <a:r>
              <a:rPr lang="zh-CN" altLang="en-US" sz="2400" dirty="0"/>
              <a:t>描述将要解决的体系结构设计问题。</a:t>
            </a:r>
          </a:p>
          <a:p>
            <a:pPr>
              <a:lnSpc>
                <a:spcPct val="150000"/>
              </a:lnSpc>
            </a:pPr>
            <a:r>
              <a:rPr lang="zh-CN" altLang="en-US" sz="2400" b="1" dirty="0">
                <a:solidFill>
                  <a:srgbClr val="FF0000"/>
                </a:solidFill>
              </a:rPr>
              <a:t>解决方案：</a:t>
            </a:r>
            <a:r>
              <a:rPr lang="zh-CN" altLang="en-US" sz="2400" dirty="0"/>
              <a:t>陈述所选择的解决设计问题的方法。</a:t>
            </a:r>
          </a:p>
          <a:p>
            <a:pPr>
              <a:lnSpc>
                <a:spcPct val="150000"/>
              </a:lnSpc>
            </a:pPr>
            <a:r>
              <a:rPr lang="zh-CN" altLang="en-US" sz="2400" b="1" dirty="0">
                <a:solidFill>
                  <a:srgbClr val="FF0000"/>
                </a:solidFill>
              </a:rPr>
              <a:t>分类：</a:t>
            </a:r>
            <a:r>
              <a:rPr lang="zh-CN" altLang="en-US" sz="2400" dirty="0"/>
              <a:t>指定设计问题和解决方案陈述的设计类别（例如，数据设计、内容结构、构件结构、集成、简要说明）</a:t>
            </a:r>
          </a:p>
          <a:p>
            <a:pPr>
              <a:lnSpc>
                <a:spcPct val="150000"/>
              </a:lnSpc>
            </a:pPr>
            <a:r>
              <a:rPr lang="zh-CN" altLang="en-US" sz="2400" b="1" dirty="0">
                <a:solidFill>
                  <a:srgbClr val="FF0000"/>
                </a:solidFill>
              </a:rPr>
              <a:t>假设：</a:t>
            </a:r>
            <a:r>
              <a:rPr lang="zh-CN" altLang="en-US" sz="2400" dirty="0"/>
              <a:t>指出任何有助于制定决策的假设。</a:t>
            </a:r>
          </a:p>
          <a:p>
            <a:pPr>
              <a:lnSpc>
                <a:spcPct val="150000"/>
              </a:lnSpc>
            </a:pPr>
            <a:r>
              <a:rPr lang="zh-CN" altLang="en-US" sz="2400" b="1" dirty="0">
                <a:solidFill>
                  <a:srgbClr val="FF0000"/>
                </a:solidFill>
              </a:rPr>
              <a:t>约束：</a:t>
            </a:r>
            <a:r>
              <a:rPr lang="zh-CN" altLang="en-US" sz="2400" dirty="0"/>
              <a:t>指定任何有助于制定决策的环境约束（例如，技术标准、可用模式、项目相关问题）。</a:t>
            </a:r>
          </a:p>
        </p:txBody>
      </p:sp>
      <p:sp>
        <p:nvSpPr>
          <p:cNvPr id="4" name="文本框 3"/>
          <p:cNvSpPr txBox="1"/>
          <p:nvPr/>
        </p:nvSpPr>
        <p:spPr>
          <a:xfrm>
            <a:off x="2195736" y="251937"/>
            <a:ext cx="4288353" cy="584775"/>
          </a:xfrm>
          <a:prstGeom prst="rect">
            <a:avLst/>
          </a:prstGeom>
          <a:noFill/>
        </p:spPr>
        <p:txBody>
          <a:bodyPr wrap="none" rtlCol="0">
            <a:spAutoFit/>
          </a:bodyPr>
          <a:lstStyle/>
          <a:p>
            <a:r>
              <a:rPr kumimoji="1" lang="zh-CN" altLang="en-US" sz="3200" dirty="0"/>
              <a:t>体系结构决策描述模版</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12" y="836712"/>
            <a:ext cx="9180976" cy="5006563"/>
          </a:xfrm>
          <a:prstGeom prst="rect">
            <a:avLst/>
          </a:prstGeom>
        </p:spPr>
        <p:txBody>
          <a:bodyPr wrap="square">
            <a:spAutoFit/>
          </a:bodyPr>
          <a:lstStyle/>
          <a:p>
            <a:pPr>
              <a:lnSpc>
                <a:spcPct val="150000"/>
              </a:lnSpc>
            </a:pPr>
            <a:r>
              <a:rPr lang="zh-CN" altLang="en-US" sz="2400" b="1" dirty="0">
                <a:solidFill>
                  <a:srgbClr val="FF0000"/>
                </a:solidFill>
              </a:rPr>
              <a:t>候选方案：</a:t>
            </a:r>
            <a:r>
              <a:rPr lang="zh-CN" altLang="en-US" sz="2400" dirty="0"/>
              <a:t>简要描述考虑过的体系结构设计方案，并描述为什么放弃这些方案。</a:t>
            </a:r>
          </a:p>
          <a:p>
            <a:pPr>
              <a:lnSpc>
                <a:spcPct val="150000"/>
              </a:lnSpc>
            </a:pPr>
            <a:r>
              <a:rPr lang="zh-CN" altLang="en-US" sz="2400" b="1" dirty="0">
                <a:solidFill>
                  <a:srgbClr val="FF0000"/>
                </a:solidFill>
              </a:rPr>
              <a:t>决策理由：</a:t>
            </a:r>
            <a:r>
              <a:rPr lang="zh-CN" altLang="en-US" sz="2400" dirty="0"/>
              <a:t>陈述选择该决策而不是其他决策的理由。</a:t>
            </a:r>
          </a:p>
          <a:p>
            <a:pPr>
              <a:lnSpc>
                <a:spcPct val="150000"/>
              </a:lnSpc>
            </a:pPr>
            <a:r>
              <a:rPr lang="zh-CN" altLang="en-US" sz="2400" b="1" dirty="0">
                <a:solidFill>
                  <a:srgbClr val="FF0000"/>
                </a:solidFill>
              </a:rPr>
              <a:t>决策结果：</a:t>
            </a:r>
            <a:r>
              <a:rPr lang="zh-CN" altLang="en-US" sz="2400" dirty="0"/>
              <a:t>指出做出该决策的影响这个决策方案会对其他体系结构设计问题产生什么影响？这个决策方案是否会对设计产生约束？</a:t>
            </a:r>
          </a:p>
          <a:p>
            <a:pPr>
              <a:lnSpc>
                <a:spcPct val="150000"/>
              </a:lnSpc>
            </a:pPr>
            <a:r>
              <a:rPr lang="zh-CN" altLang="en-US" sz="2400" b="1" dirty="0">
                <a:solidFill>
                  <a:srgbClr val="FF0000"/>
                </a:solidFill>
              </a:rPr>
              <a:t>相关决策：</a:t>
            </a:r>
            <a:r>
              <a:rPr lang="zh-CN" altLang="en-US" sz="2400" dirty="0"/>
              <a:t>其他哪些已记录的决策与此决策相关？</a:t>
            </a:r>
          </a:p>
          <a:p>
            <a:pPr>
              <a:lnSpc>
                <a:spcPct val="150000"/>
              </a:lnSpc>
            </a:pPr>
            <a:r>
              <a:rPr lang="zh-CN" altLang="en-US" sz="2400" b="1" dirty="0">
                <a:solidFill>
                  <a:srgbClr val="FF0000"/>
                </a:solidFill>
              </a:rPr>
              <a:t>相关关注点：</a:t>
            </a:r>
            <a:r>
              <a:rPr lang="zh-CN" altLang="en-US" sz="2400" dirty="0"/>
              <a:t>其他哪些需求与该决策相关？</a:t>
            </a:r>
          </a:p>
          <a:p>
            <a:pPr>
              <a:lnSpc>
                <a:spcPct val="150000"/>
              </a:lnSpc>
            </a:pPr>
            <a:r>
              <a:rPr lang="zh-CN" altLang="en-US" sz="2400" b="1" dirty="0">
                <a:solidFill>
                  <a:srgbClr val="FF0000"/>
                </a:solidFill>
              </a:rPr>
              <a:t>工作产品：</a:t>
            </a:r>
            <a:r>
              <a:rPr lang="zh-CN" altLang="en-US" sz="2400" dirty="0"/>
              <a:t>指出该决策会在何处对整个体系结构描述产生影响。</a:t>
            </a:r>
          </a:p>
          <a:p>
            <a:pPr>
              <a:lnSpc>
                <a:spcPct val="150000"/>
              </a:lnSpc>
            </a:pPr>
            <a:r>
              <a:rPr lang="zh-CN" altLang="en-US" sz="2400" b="1" dirty="0">
                <a:solidFill>
                  <a:srgbClr val="FF0000"/>
                </a:solidFill>
              </a:rPr>
              <a:t>注释：</a:t>
            </a:r>
            <a:r>
              <a:rPr lang="zh-CN" altLang="en-US" sz="2400" dirty="0"/>
              <a:t>参考可用来制定决策的其他团队的备忘录或文档。</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8"/>
          <p:cNvSpPr txBox="1">
            <a:spLocks noChangeArrowheads="1"/>
          </p:cNvSpPr>
          <p:nvPr/>
        </p:nvSpPr>
        <p:spPr bwMode="auto">
          <a:xfrm>
            <a:off x="611188" y="404813"/>
            <a:ext cx="2212975"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3000"/>
              <a:t>设计模型</a:t>
            </a:r>
          </a:p>
        </p:txBody>
      </p:sp>
      <p:graphicFrame>
        <p:nvGraphicFramePr>
          <p:cNvPr id="11" name="图示 10"/>
          <p:cNvGraphicFramePr/>
          <p:nvPr/>
        </p:nvGraphicFramePr>
        <p:xfrm>
          <a:off x="1142976" y="1428736"/>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3"/>
          <p:cNvSpPr>
            <a:spLocks noGrp="1"/>
          </p:cNvSpPr>
          <p:nvPr>
            <p:ph type="title" idx="4294967295"/>
          </p:nvPr>
        </p:nvSpPr>
        <p:spPr/>
        <p:txBody>
          <a:bodyPr/>
          <a:lstStyle/>
          <a:p>
            <a:pPr eaLnBrk="1" hangingPunct="1"/>
            <a:r>
              <a:rPr lang="en-US" altLang="zh-CN" sz="6000">
                <a:latin typeface="宋体" pitchFamily="2" charset="-122"/>
              </a:rPr>
              <a:t>8.2 </a:t>
            </a:r>
            <a:r>
              <a:rPr lang="zh-CN" altLang="zh-CN" sz="6000">
                <a:latin typeface="宋体" pitchFamily="2" charset="-122"/>
              </a:rPr>
              <a:t>数据设计</a:t>
            </a:r>
            <a:endParaRPr lang="zh-CN" altLang="zh-CN"/>
          </a:p>
        </p:txBody>
      </p:sp>
      <p:sp>
        <p:nvSpPr>
          <p:cNvPr id="12291" name="内容占位符 2"/>
          <p:cNvSpPr>
            <a:spLocks noGrp="1"/>
          </p:cNvSpPr>
          <p:nvPr>
            <p:ph idx="4294967295"/>
          </p:nvPr>
        </p:nvSpPr>
        <p:spPr/>
        <p:txBody>
          <a:bodyPr/>
          <a:lstStyle/>
          <a:p>
            <a:pPr eaLnBrk="1" hangingPunct="1"/>
            <a:r>
              <a:rPr lang="zh-CN" altLang="zh-CN">
                <a:latin typeface="宋体" pitchFamily="2" charset="-122"/>
              </a:rPr>
              <a:t>数据设计：</a:t>
            </a:r>
            <a:endParaRPr lang="en-US" altLang="zh-CN">
              <a:latin typeface="宋体" pitchFamily="2" charset="-122"/>
            </a:endParaRPr>
          </a:p>
          <a:p>
            <a:pPr lvl="1" eaLnBrk="1" hangingPunct="1"/>
            <a:r>
              <a:rPr lang="zh-CN" altLang="zh-CN">
                <a:latin typeface="宋体" pitchFamily="2" charset="-122"/>
              </a:rPr>
              <a:t>把</a:t>
            </a:r>
            <a:r>
              <a:rPr lang="zh-CN" altLang="zh-CN">
                <a:solidFill>
                  <a:srgbClr val="FF0000"/>
                </a:solidFill>
                <a:latin typeface="宋体" pitchFamily="2" charset="-122"/>
              </a:rPr>
              <a:t>分析模型</a:t>
            </a:r>
            <a:r>
              <a:rPr lang="zh-CN" altLang="zh-CN">
                <a:latin typeface="宋体" pitchFamily="2" charset="-122"/>
              </a:rPr>
              <a:t>中定义的</a:t>
            </a:r>
            <a:r>
              <a:rPr lang="zh-CN" altLang="zh-CN">
                <a:solidFill>
                  <a:srgbClr val="FF0000"/>
                </a:solidFill>
                <a:latin typeface="宋体" pitchFamily="2" charset="-122"/>
              </a:rPr>
              <a:t>数据对象</a:t>
            </a:r>
            <a:r>
              <a:rPr lang="zh-CN" altLang="zh-CN">
                <a:latin typeface="宋体" pitchFamily="2" charset="-122"/>
              </a:rPr>
              <a:t>转化成软件构件级的数据结构，或整个程序级的数据库结构。</a:t>
            </a:r>
            <a:endParaRPr lang="en-US" altLang="zh-CN">
              <a:latin typeface="宋体" pitchFamily="2" charset="-122"/>
            </a:endParaRPr>
          </a:p>
          <a:p>
            <a:pPr eaLnBrk="1" hangingPunct="1">
              <a:buFontTx/>
              <a:buNone/>
            </a:pPr>
            <a:endParaRPr lang="en-US" altLang="zh-CN" sz="2400">
              <a:latin typeface="宋体"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idx="4294967295"/>
          </p:nvPr>
        </p:nvSpPr>
        <p:spPr/>
        <p:txBody>
          <a:bodyPr/>
          <a:lstStyle/>
          <a:p>
            <a:pPr eaLnBrk="1" hangingPunct="1"/>
            <a:r>
              <a:rPr lang="en-US" altLang="zh-CN"/>
              <a:t>8.2.1 </a:t>
            </a:r>
            <a:r>
              <a:rPr lang="zh-CN" altLang="zh-CN"/>
              <a:t>体系结构级的数据设计</a:t>
            </a:r>
          </a:p>
        </p:txBody>
      </p:sp>
      <p:sp>
        <p:nvSpPr>
          <p:cNvPr id="13315" name="内容占位符 2"/>
          <p:cNvSpPr>
            <a:spLocks noGrp="1"/>
          </p:cNvSpPr>
          <p:nvPr>
            <p:ph idx="4294967295"/>
          </p:nvPr>
        </p:nvSpPr>
        <p:spPr/>
        <p:txBody>
          <a:bodyPr/>
          <a:lstStyle/>
          <a:p>
            <a:pPr eaLnBrk="1" hangingPunct="1"/>
            <a:r>
              <a:rPr lang="zh-CN" altLang="zh-CN">
                <a:latin typeface="宋体" pitchFamily="2" charset="-122"/>
              </a:rPr>
              <a:t> </a:t>
            </a:r>
            <a:r>
              <a:rPr lang="zh-CN" altLang="zh-CN">
                <a:solidFill>
                  <a:srgbClr val="0070C0"/>
                </a:solidFill>
                <a:latin typeface="宋体" pitchFamily="2" charset="-122"/>
              </a:rPr>
              <a:t>体系结构级</a:t>
            </a:r>
            <a:r>
              <a:rPr lang="zh-CN" altLang="zh-CN">
                <a:latin typeface="宋体" pitchFamily="2" charset="-122"/>
              </a:rPr>
              <a:t>（系统结构级，或程序级）的数据设计：</a:t>
            </a:r>
            <a:endParaRPr lang="en-US" altLang="zh-CN">
              <a:latin typeface="宋体" pitchFamily="2" charset="-122"/>
            </a:endParaRPr>
          </a:p>
          <a:p>
            <a:pPr lvl="1" eaLnBrk="1" hangingPunct="1"/>
            <a:r>
              <a:rPr lang="zh-CN" altLang="zh-CN">
                <a:solidFill>
                  <a:srgbClr val="FF0000"/>
                </a:solidFill>
                <a:latin typeface="宋体" pitchFamily="2" charset="-122"/>
              </a:rPr>
              <a:t>数据挖掘技术</a:t>
            </a:r>
            <a:endParaRPr lang="en-US" altLang="zh-CN">
              <a:solidFill>
                <a:srgbClr val="FF0000"/>
              </a:solidFill>
              <a:latin typeface="宋体" pitchFamily="2" charset="-122"/>
            </a:endParaRPr>
          </a:p>
          <a:p>
            <a:pPr lvl="2" eaLnBrk="1" hangingPunct="1"/>
            <a:r>
              <a:rPr lang="zh-CN" altLang="zh-CN">
                <a:latin typeface="宋体" pitchFamily="2" charset="-122"/>
              </a:rPr>
              <a:t>数据库中的知识发现</a:t>
            </a:r>
            <a:endParaRPr lang="en-US" altLang="zh-CN">
              <a:latin typeface="宋体" pitchFamily="2" charset="-122"/>
            </a:endParaRPr>
          </a:p>
          <a:p>
            <a:pPr lvl="1" eaLnBrk="1" hangingPunct="1"/>
            <a:r>
              <a:rPr lang="zh-CN" altLang="zh-CN">
                <a:solidFill>
                  <a:srgbClr val="FF0000"/>
                </a:solidFill>
                <a:latin typeface="宋体" pitchFamily="2" charset="-122"/>
              </a:rPr>
              <a:t>数据仓库</a:t>
            </a:r>
            <a:endParaRPr lang="en-US" altLang="zh-CN">
              <a:solidFill>
                <a:srgbClr val="FF0000"/>
              </a:solidFill>
              <a:latin typeface="宋体" pitchFamily="2" charset="-122"/>
            </a:endParaRPr>
          </a:p>
          <a:p>
            <a:pPr lvl="2" eaLnBrk="1" hangingPunct="1"/>
            <a:r>
              <a:rPr lang="zh-CN" altLang="zh-CN"/>
              <a:t>庞大的、独立的数据库，访问存于数据库中的数据，为某项业务所需要的一组应用系统服务。</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animEffect transition="in" filter="blinds(horizontal)">
                                      <p:cBhvr>
                                        <p:cTn id="7" dur="500"/>
                                        <p:tgtEl>
                                          <p:spTgt spid="1331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0" dur="500"/>
                                        <p:tgtEl>
                                          <p:spTgt spid="1331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15" dur="500"/>
                                        <p:tgtEl>
                                          <p:spTgt spid="13315">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3315">
                                            <p:txEl>
                                              <p:pRg st="4" end="4"/>
                                            </p:txEl>
                                          </p:spTgt>
                                        </p:tgtEl>
                                        <p:attrNameLst>
                                          <p:attrName>style.visibility</p:attrName>
                                        </p:attrNameLst>
                                      </p:cBhvr>
                                      <p:to>
                                        <p:strVal val="visible"/>
                                      </p:to>
                                    </p:set>
                                    <p:animEffect transition="in" filter="blinds(horizontal)">
                                      <p:cBhvr>
                                        <p:cTn id="18" dur="500"/>
                                        <p:tgtEl>
                                          <p:spTgt spid="133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文本框 1"/>
          <p:cNvSpPr txBox="1">
            <a:spLocks noChangeArrowheads="1"/>
          </p:cNvSpPr>
          <p:nvPr/>
        </p:nvSpPr>
        <p:spPr bwMode="auto">
          <a:xfrm>
            <a:off x="684213" y="549275"/>
            <a:ext cx="1568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lang="zh-CN" altLang="en-US"/>
              <a:t>数据架构举例</a:t>
            </a:r>
          </a:p>
        </p:txBody>
      </p:sp>
      <p:pic>
        <p:nvPicPr>
          <p:cNvPr id="14340"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388" y="981075"/>
            <a:ext cx="5688756" cy="3777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a:extLst>
              <a:ext uri="{FF2B5EF4-FFF2-40B4-BE49-F238E27FC236}">
                <a16:creationId xmlns:a16="http://schemas.microsoft.com/office/drawing/2014/main" id="{B0AFFD2A-023C-D87D-B2AC-0B74E13B7B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1892" y="4211354"/>
            <a:ext cx="4372719" cy="26466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9D743DC-6CEF-485E-1F49-91A5BDC8D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2304" y="1556792"/>
            <a:ext cx="3068147" cy="23496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新核心业务系统数据架构规划与数据治理"/>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04" y="22845"/>
            <a:ext cx="7200800" cy="537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68622849-C05B-A0CF-1BB8-23D9A12B0F48}"/>
              </a:ext>
            </a:extLst>
          </p:cNvPr>
          <p:cNvSpPr txBox="1"/>
          <p:nvPr/>
        </p:nvSpPr>
        <p:spPr>
          <a:xfrm>
            <a:off x="107504" y="5396450"/>
            <a:ext cx="4572000" cy="1384995"/>
          </a:xfrm>
          <a:prstGeom prst="rect">
            <a:avLst/>
          </a:prstGeom>
          <a:noFill/>
        </p:spPr>
        <p:txBody>
          <a:bodyPr wrap="square">
            <a:spAutoFit/>
          </a:bodyPr>
          <a:lstStyle/>
          <a:p>
            <a:r>
              <a:rPr lang="zh-CN" altLang="en-US" sz="1200" b="1" i="0" dirty="0">
                <a:solidFill>
                  <a:srgbClr val="FF0000"/>
                </a:solidFill>
                <a:effectLst/>
                <a:latin typeface="Helvetica Neue"/>
              </a:rPr>
              <a:t>读写分离</a:t>
            </a:r>
            <a:r>
              <a:rPr lang="zh-CN" altLang="en-US" sz="1200" b="0" i="0" dirty="0">
                <a:solidFill>
                  <a:srgbClr val="333333"/>
                </a:solidFill>
                <a:effectLst/>
                <a:latin typeface="Helvetica Neue"/>
              </a:rPr>
              <a:t>是一种数据库架构设计模式，通过将读操作（</a:t>
            </a:r>
            <a:r>
              <a:rPr lang="en-US" altLang="zh-CN" sz="1200" b="0" i="0" dirty="0">
                <a:solidFill>
                  <a:srgbClr val="333333"/>
                </a:solidFill>
                <a:effectLst/>
                <a:latin typeface="Helvetica Neue"/>
              </a:rPr>
              <a:t>SELECT</a:t>
            </a:r>
            <a:r>
              <a:rPr lang="zh-CN" altLang="en-US" sz="1200" b="0" i="0" dirty="0">
                <a:solidFill>
                  <a:srgbClr val="333333"/>
                </a:solidFill>
                <a:effectLst/>
                <a:latin typeface="Helvetica Neue"/>
              </a:rPr>
              <a:t>）与写操作（</a:t>
            </a:r>
            <a:r>
              <a:rPr lang="en-US" altLang="zh-CN" sz="1200" b="0" i="0" dirty="0">
                <a:solidFill>
                  <a:srgbClr val="333333"/>
                </a:solidFill>
                <a:effectLst/>
                <a:latin typeface="Helvetica Neue"/>
              </a:rPr>
              <a:t>INSERT/UPDATE/DELETE</a:t>
            </a:r>
            <a:r>
              <a:rPr lang="zh-CN" altLang="en-US" sz="1200" b="0" i="0" dirty="0">
                <a:solidFill>
                  <a:srgbClr val="333333"/>
                </a:solidFill>
                <a:effectLst/>
                <a:latin typeface="Helvetica Neue"/>
              </a:rPr>
              <a:t>）</a:t>
            </a:r>
            <a:r>
              <a:rPr lang="zh-CN" altLang="en-US" sz="1200" b="0" i="0" dirty="0">
                <a:solidFill>
                  <a:srgbClr val="FF0000"/>
                </a:solidFill>
                <a:effectLst/>
                <a:latin typeface="Helvetica Neue"/>
              </a:rPr>
              <a:t>分配到不同数据库实例以优化性能</a:t>
            </a:r>
            <a:r>
              <a:rPr lang="zh-CN" altLang="en-US" sz="1200" b="0" i="0" dirty="0">
                <a:solidFill>
                  <a:srgbClr val="333333"/>
                </a:solidFill>
                <a:effectLst/>
                <a:latin typeface="Helvetica Neue"/>
              </a:rPr>
              <a:t>。其原理为主数据库（</a:t>
            </a:r>
            <a:r>
              <a:rPr lang="en-US" altLang="zh-CN" sz="1200" b="0" i="0" dirty="0">
                <a:solidFill>
                  <a:srgbClr val="333333"/>
                </a:solidFill>
                <a:effectLst/>
                <a:latin typeface="Helvetica Neue"/>
              </a:rPr>
              <a:t>master</a:t>
            </a:r>
            <a:r>
              <a:rPr lang="zh-CN" altLang="en-US" sz="1200" b="0" i="0" dirty="0">
                <a:solidFill>
                  <a:srgbClr val="333333"/>
                </a:solidFill>
                <a:effectLst/>
                <a:latin typeface="Helvetica Neue"/>
              </a:rPr>
              <a:t>）处理写操作，从数据库（</a:t>
            </a:r>
            <a:r>
              <a:rPr lang="en-US" altLang="zh-CN" sz="1200" b="0" i="0" dirty="0">
                <a:solidFill>
                  <a:srgbClr val="333333"/>
                </a:solidFill>
                <a:effectLst/>
                <a:latin typeface="Helvetica Neue"/>
              </a:rPr>
              <a:t>slave</a:t>
            </a:r>
            <a:r>
              <a:rPr lang="zh-CN" altLang="en-US" sz="1200" b="0" i="0" dirty="0">
                <a:solidFill>
                  <a:srgbClr val="333333"/>
                </a:solidFill>
                <a:effectLst/>
                <a:latin typeface="Helvetica Neue"/>
              </a:rPr>
              <a:t>）处理查询操作并配备双机热备功能保障稳定性，数据通过主服务器单向同步至备用服务器。该技术起源于互联网快速发展时期解决数据库性能瓶颈问题，在降低主服务器压力的同时提升资源利用率</a:t>
            </a:r>
            <a:endParaRPr lang="zh-CN" altLang="en-US" sz="1200" dirty="0"/>
          </a:p>
        </p:txBody>
      </p:sp>
      <p:sp>
        <p:nvSpPr>
          <p:cNvPr id="6" name="文本框 5">
            <a:extLst>
              <a:ext uri="{FF2B5EF4-FFF2-40B4-BE49-F238E27FC236}">
                <a16:creationId xmlns:a16="http://schemas.microsoft.com/office/drawing/2014/main" id="{4B815B70-38FF-5D6A-E110-A3489B490D54}"/>
              </a:ext>
            </a:extLst>
          </p:cNvPr>
          <p:cNvSpPr txBox="1"/>
          <p:nvPr/>
        </p:nvSpPr>
        <p:spPr>
          <a:xfrm>
            <a:off x="4687913" y="5396450"/>
            <a:ext cx="4572000" cy="523220"/>
          </a:xfrm>
          <a:prstGeom prst="rect">
            <a:avLst/>
          </a:prstGeom>
          <a:noFill/>
        </p:spPr>
        <p:txBody>
          <a:bodyPr wrap="square">
            <a:spAutoFit/>
          </a:bodyPr>
          <a:lstStyle/>
          <a:p>
            <a:r>
              <a:rPr lang="zh-CN" altLang="en-US" sz="1400" dirty="0">
                <a:hlinkClick r:id="rId4"/>
              </a:rPr>
              <a:t>https://blog.csdn.net/vincent_wen0766/article/details/112283274</a:t>
            </a:r>
            <a:r>
              <a:rPr lang="zh-CN" altLang="en-US" sz="1400" dirty="0"/>
              <a:t> </a:t>
            </a:r>
            <a:r>
              <a:rPr lang="zh-CN" altLang="en-US" sz="1400" b="1" dirty="0">
                <a:solidFill>
                  <a:srgbClr val="FF0000"/>
                </a:solidFill>
              </a:rPr>
              <a:t>冷热分离</a:t>
            </a:r>
          </a:p>
        </p:txBody>
      </p:sp>
      <p:sp>
        <p:nvSpPr>
          <p:cNvPr id="8" name="文本框 7">
            <a:extLst>
              <a:ext uri="{FF2B5EF4-FFF2-40B4-BE49-F238E27FC236}">
                <a16:creationId xmlns:a16="http://schemas.microsoft.com/office/drawing/2014/main" id="{7CEE430A-E076-110B-B95D-B61A15BD27E7}"/>
              </a:ext>
            </a:extLst>
          </p:cNvPr>
          <p:cNvSpPr txBox="1"/>
          <p:nvPr/>
        </p:nvSpPr>
        <p:spPr>
          <a:xfrm>
            <a:off x="4572000" y="5919670"/>
            <a:ext cx="4464496" cy="830997"/>
          </a:xfrm>
          <a:prstGeom prst="rect">
            <a:avLst/>
          </a:prstGeom>
          <a:noFill/>
        </p:spPr>
        <p:txBody>
          <a:bodyPr wrap="square">
            <a:spAutoFit/>
          </a:bodyPr>
          <a:lstStyle/>
          <a:p>
            <a:r>
              <a:rPr lang="zh-CN" altLang="en-US" sz="1200" dirty="0"/>
              <a:t>在面对亿级数据量的订单系统中，查询性能严重下降的问题。通过分析业务场景，提出了冷热数据分离的解决方案，将不常用数据存储在‘冷库’，常用数据存于‘热库’，显著提升了查询速度和系统稳定性。</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29BE94A-BDE8-D92F-1B47-ACE31D8064D8}"/>
              </a:ext>
            </a:extLst>
          </p:cNvPr>
          <p:cNvSpPr txBox="1"/>
          <p:nvPr/>
        </p:nvSpPr>
        <p:spPr>
          <a:xfrm>
            <a:off x="320368" y="1225689"/>
            <a:ext cx="8388424" cy="5016758"/>
          </a:xfrm>
          <a:prstGeom prst="rect">
            <a:avLst/>
          </a:prstGeom>
          <a:noFill/>
        </p:spPr>
        <p:txBody>
          <a:bodyPr wrap="square">
            <a:spAutoFit/>
          </a:bodyPr>
          <a:lstStyle/>
          <a:p>
            <a:pPr algn="l"/>
            <a:r>
              <a:rPr lang="zh-CN" altLang="en-US" sz="2000" b="1" i="0" dirty="0">
                <a:solidFill>
                  <a:srgbClr val="0F1115"/>
                </a:solidFill>
                <a:effectLst/>
                <a:latin typeface="quote-cjk-patch"/>
              </a:rPr>
              <a:t>什么是构件级的数据设计？</a:t>
            </a:r>
          </a:p>
          <a:p>
            <a:pPr algn="l"/>
            <a:r>
              <a:rPr lang="zh-CN" altLang="en-US" sz="2000" b="1" i="0" dirty="0">
                <a:solidFill>
                  <a:srgbClr val="0F1115"/>
                </a:solidFill>
                <a:effectLst/>
                <a:latin typeface="quote-cjk-patch"/>
              </a:rPr>
              <a:t>构件级的数据设计</a:t>
            </a:r>
            <a:r>
              <a:rPr lang="zh-CN" altLang="en-US" sz="2000" b="0" i="0" dirty="0">
                <a:solidFill>
                  <a:srgbClr val="0F1115"/>
                </a:solidFill>
                <a:effectLst/>
                <a:latin typeface="quote-cjk-patch"/>
              </a:rPr>
              <a:t>，就是指在设计和实现一个具体构件时，如何规划和管理其内部的数据。</a:t>
            </a:r>
            <a:endParaRPr lang="en-US" altLang="zh-CN" sz="2000" b="0" i="0" dirty="0">
              <a:solidFill>
                <a:srgbClr val="0F1115"/>
              </a:solidFill>
              <a:effectLst/>
              <a:latin typeface="quote-cjk-patch"/>
            </a:endParaRPr>
          </a:p>
          <a:p>
            <a:pPr algn="l"/>
            <a:r>
              <a:rPr lang="zh-CN" altLang="en-US" sz="2000" b="0" i="0" dirty="0">
                <a:solidFill>
                  <a:srgbClr val="0F1115"/>
                </a:solidFill>
                <a:effectLst/>
                <a:latin typeface="quote-cjk-patch"/>
              </a:rPr>
              <a:t>它关注的是：</a:t>
            </a:r>
          </a:p>
          <a:p>
            <a:pPr algn="l">
              <a:buFont typeface="Arial" panose="020B0604020202020204" pitchFamily="34" charset="0"/>
              <a:buChar char="•"/>
            </a:pPr>
            <a:r>
              <a:rPr lang="zh-CN" altLang="en-US" sz="2000" b="1" i="0" dirty="0">
                <a:solidFill>
                  <a:srgbClr val="0F1115"/>
                </a:solidFill>
                <a:effectLst/>
                <a:latin typeface="quote-cjk-patch"/>
              </a:rPr>
              <a:t>数据成员（属性）</a:t>
            </a:r>
            <a:r>
              <a:rPr lang="zh-CN" altLang="en-US" sz="2000" b="0" i="0" dirty="0">
                <a:solidFill>
                  <a:srgbClr val="0F1115"/>
                </a:solidFill>
                <a:effectLst/>
                <a:latin typeface="quote-cjk-patch"/>
              </a:rPr>
              <a:t>：构件需要哪些内部数据来维持其状态和实现其功能？</a:t>
            </a:r>
          </a:p>
          <a:p>
            <a:pPr algn="l">
              <a:buFont typeface="Arial" panose="020B0604020202020204" pitchFamily="34" charset="0"/>
              <a:buChar char="•"/>
            </a:pPr>
            <a:r>
              <a:rPr lang="zh-CN" altLang="en-US" sz="2000" b="1" i="0" dirty="0">
                <a:solidFill>
                  <a:srgbClr val="0F1115"/>
                </a:solidFill>
                <a:effectLst/>
                <a:latin typeface="quote-cjk-patch"/>
              </a:rPr>
              <a:t>数据结构</a:t>
            </a:r>
            <a:r>
              <a:rPr lang="zh-CN" altLang="en-US" sz="2000" b="0" i="0" dirty="0">
                <a:solidFill>
                  <a:srgbClr val="0F1115"/>
                </a:solidFill>
                <a:effectLst/>
                <a:latin typeface="quote-cjk-patch"/>
              </a:rPr>
              <a:t>：这些数据应该用什么类型来组织（如基本类型、数组、列表、字典、自定义结构体或类）？</a:t>
            </a:r>
          </a:p>
          <a:p>
            <a:pPr algn="l">
              <a:buFont typeface="Arial" panose="020B0604020202020204" pitchFamily="34" charset="0"/>
              <a:buChar char="•"/>
            </a:pPr>
            <a:r>
              <a:rPr lang="zh-CN" altLang="en-US" sz="2000" b="1" i="0" dirty="0">
                <a:solidFill>
                  <a:srgbClr val="0F1115"/>
                </a:solidFill>
                <a:effectLst/>
                <a:latin typeface="quote-cjk-patch"/>
              </a:rPr>
              <a:t>数据生命周期</a:t>
            </a:r>
            <a:r>
              <a:rPr lang="zh-CN" altLang="en-US" sz="2000" b="0" i="0" dirty="0">
                <a:solidFill>
                  <a:srgbClr val="0F1115"/>
                </a:solidFill>
                <a:effectLst/>
                <a:latin typeface="quote-cjk-patch"/>
              </a:rPr>
              <a:t>：数据的创建、初始化、修改和销毁是如何进行的？</a:t>
            </a:r>
          </a:p>
          <a:p>
            <a:pPr algn="l">
              <a:buFont typeface="Arial" panose="020B0604020202020204" pitchFamily="34" charset="0"/>
              <a:buChar char="•"/>
            </a:pPr>
            <a:r>
              <a:rPr lang="zh-CN" altLang="en-US" sz="2000" b="1" i="0" dirty="0">
                <a:solidFill>
                  <a:srgbClr val="0F1115"/>
                </a:solidFill>
                <a:effectLst/>
                <a:latin typeface="quote-cjk-patch"/>
              </a:rPr>
              <a:t>数据封装与访问控制</a:t>
            </a:r>
            <a:r>
              <a:rPr lang="zh-CN" altLang="en-US" sz="2000" b="0" i="0" dirty="0">
                <a:solidFill>
                  <a:srgbClr val="0F1115"/>
                </a:solidFill>
                <a:effectLst/>
                <a:latin typeface="quote-cjk-patch"/>
              </a:rPr>
              <a:t>：哪些数据应该对外暴露？哪些应该严格隐藏在构件内部？通过何种方式（如</a:t>
            </a:r>
            <a:r>
              <a:rPr lang="en-US" altLang="zh-CN" sz="2000" b="0" i="0" dirty="0">
                <a:solidFill>
                  <a:srgbClr val="0F1115"/>
                </a:solidFill>
                <a:effectLst/>
                <a:latin typeface="quote-cjk-patch"/>
              </a:rPr>
              <a:t>Getter/Setter</a:t>
            </a:r>
            <a:r>
              <a:rPr lang="zh-CN" altLang="en-US" sz="2000" b="0" i="0" dirty="0">
                <a:solidFill>
                  <a:srgbClr val="0F1115"/>
                </a:solidFill>
                <a:effectLst/>
                <a:latin typeface="quote-cjk-patch"/>
              </a:rPr>
              <a:t>方法）与外部交互？</a:t>
            </a:r>
          </a:p>
          <a:p>
            <a:pPr algn="l">
              <a:buFont typeface="Arial" panose="020B0604020202020204" pitchFamily="34" charset="0"/>
              <a:buChar char="•"/>
            </a:pPr>
            <a:r>
              <a:rPr lang="zh-CN" altLang="en-US" sz="2000" b="1" i="0" dirty="0">
                <a:solidFill>
                  <a:srgbClr val="0F1115"/>
                </a:solidFill>
                <a:effectLst/>
                <a:latin typeface="quote-cjk-patch"/>
              </a:rPr>
              <a:t>数据完整性</a:t>
            </a:r>
            <a:r>
              <a:rPr lang="zh-CN" altLang="en-US" sz="2000" b="0" i="0" dirty="0">
                <a:solidFill>
                  <a:srgbClr val="0F1115"/>
                </a:solidFill>
                <a:effectLst/>
                <a:latin typeface="quote-cjk-patch"/>
              </a:rPr>
              <a:t>：如何保证构件内部数据的一致性和有效性？</a:t>
            </a:r>
          </a:p>
          <a:p>
            <a:pPr algn="l"/>
            <a:r>
              <a:rPr lang="zh-CN" altLang="en-US" sz="2000" b="1" i="0" dirty="0">
                <a:solidFill>
                  <a:srgbClr val="0F1115"/>
                </a:solidFill>
                <a:effectLst/>
                <a:latin typeface="quote-cjk-patch"/>
              </a:rPr>
              <a:t>核心思想：信息隐藏与高内聚</a:t>
            </a:r>
            <a:br>
              <a:rPr lang="zh-CN" altLang="en-US" sz="2000" b="0" i="0" dirty="0">
                <a:solidFill>
                  <a:srgbClr val="0F1115"/>
                </a:solidFill>
                <a:effectLst/>
                <a:latin typeface="quote-cjk-patch"/>
              </a:rPr>
            </a:br>
            <a:r>
              <a:rPr lang="zh-CN" altLang="en-US" sz="2000" b="0" i="0" dirty="0">
                <a:solidFill>
                  <a:srgbClr val="0F1115"/>
                </a:solidFill>
                <a:effectLst/>
                <a:latin typeface="quote-cjk-patch"/>
              </a:rPr>
              <a:t>优秀的构件级数据设计，应该将数据的内部实现细节隐藏起来，只暴露必要的操作接口。这样，当内部数据结构需要改变时，不会影响其他使用该构件的代码。</a:t>
            </a:r>
          </a:p>
        </p:txBody>
      </p:sp>
      <p:sp>
        <p:nvSpPr>
          <p:cNvPr id="4" name="标题 3">
            <a:extLst>
              <a:ext uri="{FF2B5EF4-FFF2-40B4-BE49-F238E27FC236}">
                <a16:creationId xmlns:a16="http://schemas.microsoft.com/office/drawing/2014/main" id="{155F9E77-EA03-0938-A2BF-309A4E5CE263}"/>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9pPr>
          </a:lstStyle>
          <a:p>
            <a:pPr eaLnBrk="1" hangingPunct="1"/>
            <a:r>
              <a:rPr lang="en-US" altLang="zh-CN" kern="0"/>
              <a:t>8.2.2 </a:t>
            </a:r>
            <a:r>
              <a:rPr lang="zh-CN" altLang="zh-CN" kern="0"/>
              <a:t>构件级的数据设计</a:t>
            </a:r>
            <a:endParaRPr lang="zh-CN" altLang="zh-CN" kern="0" dirty="0"/>
          </a:p>
        </p:txBody>
      </p:sp>
    </p:spTree>
    <p:extLst>
      <p:ext uri="{BB962C8B-B14F-4D97-AF65-F5344CB8AC3E}">
        <p14:creationId xmlns:p14="http://schemas.microsoft.com/office/powerpoint/2010/main" val="2169607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2BE40-584F-4B17-71A5-C29EF020ED68}"/>
            </a:ext>
          </a:extLst>
        </p:cNvPr>
        <p:cNvGrpSpPr/>
        <p:nvPr/>
      </p:nvGrpSpPr>
      <p:grpSpPr>
        <a:xfrm>
          <a:off x="0" y="0"/>
          <a:ext cx="0" cy="0"/>
          <a:chOff x="0" y="0"/>
          <a:chExt cx="0" cy="0"/>
        </a:xfrm>
      </p:grpSpPr>
      <p:sp>
        <p:nvSpPr>
          <p:cNvPr id="15362" name="标题 3">
            <a:extLst>
              <a:ext uri="{FF2B5EF4-FFF2-40B4-BE49-F238E27FC236}">
                <a16:creationId xmlns:a16="http://schemas.microsoft.com/office/drawing/2014/main" id="{253C6CFC-610F-2506-30F3-9E26E63523C7}"/>
              </a:ext>
            </a:extLst>
          </p:cNvPr>
          <p:cNvSpPr>
            <a:spLocks noGrp="1"/>
          </p:cNvSpPr>
          <p:nvPr>
            <p:ph type="title" idx="4294967295"/>
          </p:nvPr>
        </p:nvSpPr>
        <p:spPr/>
        <p:txBody>
          <a:bodyPr/>
          <a:lstStyle/>
          <a:p>
            <a:pPr eaLnBrk="1" hangingPunct="1"/>
            <a:r>
              <a:rPr lang="en-US" altLang="zh-CN" dirty="0"/>
              <a:t>8.2.2 </a:t>
            </a:r>
            <a:r>
              <a:rPr lang="zh-CN" altLang="zh-CN" dirty="0"/>
              <a:t>构件级的数据设计</a:t>
            </a:r>
          </a:p>
        </p:txBody>
      </p:sp>
      <p:graphicFrame>
        <p:nvGraphicFramePr>
          <p:cNvPr id="2" name="表格 1">
            <a:extLst>
              <a:ext uri="{FF2B5EF4-FFF2-40B4-BE49-F238E27FC236}">
                <a16:creationId xmlns:a16="http://schemas.microsoft.com/office/drawing/2014/main" id="{4CA14537-0CAE-8877-2000-F0B8300DF226}"/>
              </a:ext>
            </a:extLst>
          </p:cNvPr>
          <p:cNvGraphicFramePr>
            <a:graphicFrameLocks noGrp="1"/>
          </p:cNvGraphicFramePr>
          <p:nvPr/>
        </p:nvGraphicFramePr>
        <p:xfrm>
          <a:off x="755577" y="1897222"/>
          <a:ext cx="8064894" cy="4196073"/>
        </p:xfrm>
        <a:graphic>
          <a:graphicData uri="http://schemas.openxmlformats.org/drawingml/2006/table">
            <a:tbl>
              <a:tblPr/>
              <a:tblGrid>
                <a:gridCol w="2688298">
                  <a:extLst>
                    <a:ext uri="{9D8B030D-6E8A-4147-A177-3AD203B41FA5}">
                      <a16:colId xmlns:a16="http://schemas.microsoft.com/office/drawing/2014/main" val="148789190"/>
                    </a:ext>
                  </a:extLst>
                </a:gridCol>
                <a:gridCol w="2688298">
                  <a:extLst>
                    <a:ext uri="{9D8B030D-6E8A-4147-A177-3AD203B41FA5}">
                      <a16:colId xmlns:a16="http://schemas.microsoft.com/office/drawing/2014/main" val="3474717748"/>
                    </a:ext>
                  </a:extLst>
                </a:gridCol>
                <a:gridCol w="2688298">
                  <a:extLst>
                    <a:ext uri="{9D8B030D-6E8A-4147-A177-3AD203B41FA5}">
                      <a16:colId xmlns:a16="http://schemas.microsoft.com/office/drawing/2014/main" val="3993280289"/>
                    </a:ext>
                  </a:extLst>
                </a:gridCol>
              </a:tblGrid>
              <a:tr h="455388">
                <a:tc>
                  <a:txBody>
                    <a:bodyPr/>
                    <a:lstStyle/>
                    <a:p>
                      <a:pPr algn="l"/>
                      <a:r>
                        <a:rPr lang="zh-CN" altLang="en-US">
                          <a:effectLst/>
                        </a:rPr>
                        <a:t>原则</a:t>
                      </a:r>
                    </a:p>
                  </a:txBody>
                  <a:tcPr marR="121920" marT="76200" marB="76200" anchor="ctr">
                    <a:lnL>
                      <a:noFill/>
                    </a:lnL>
                    <a:lnR>
                      <a:noFill/>
                    </a:lnR>
                    <a:lnT>
                      <a:noFill/>
                    </a:lnT>
                    <a:lnB>
                      <a:noFill/>
                    </a:lnB>
                    <a:noFill/>
                  </a:tcPr>
                </a:tc>
                <a:tc>
                  <a:txBody>
                    <a:bodyPr/>
                    <a:lstStyle/>
                    <a:p>
                      <a:pPr algn="l"/>
                      <a:r>
                        <a:rPr lang="zh-CN" altLang="en-US">
                          <a:effectLst/>
                        </a:rPr>
                        <a:t>描述</a:t>
                      </a:r>
                    </a:p>
                  </a:txBody>
                  <a:tcPr marL="121920" marR="121920" marT="76200" marB="76200" anchor="ctr">
                    <a:lnL>
                      <a:noFill/>
                    </a:lnL>
                    <a:lnR>
                      <a:noFill/>
                    </a:lnR>
                    <a:lnT>
                      <a:noFill/>
                    </a:lnT>
                    <a:lnB>
                      <a:noFill/>
                    </a:lnB>
                    <a:noFill/>
                  </a:tcPr>
                </a:tc>
                <a:tc>
                  <a:txBody>
                    <a:bodyPr/>
                    <a:lstStyle/>
                    <a:p>
                      <a:pPr algn="l"/>
                      <a:r>
                        <a:rPr lang="zh-CN" altLang="en-US">
                          <a:effectLst/>
                        </a:rPr>
                        <a:t>收益</a:t>
                      </a:r>
                    </a:p>
                  </a:txBody>
                  <a:tcPr marL="121920" marR="121920" marT="76200" marB="76200" anchor="ctr">
                    <a:lnL>
                      <a:noFill/>
                    </a:lnL>
                    <a:lnR>
                      <a:noFill/>
                    </a:lnR>
                    <a:lnT>
                      <a:noFill/>
                    </a:lnT>
                    <a:lnB>
                      <a:noFill/>
                    </a:lnB>
                    <a:noFill/>
                  </a:tcPr>
                </a:tc>
                <a:extLst>
                  <a:ext uri="{0D108BD9-81ED-4DB2-BD59-A6C34878D82A}">
                    <a16:rowId xmlns:a16="http://schemas.microsoft.com/office/drawing/2014/main" val="1186797334"/>
                  </a:ext>
                </a:extLst>
              </a:tr>
              <a:tr h="748137">
                <a:tc>
                  <a:txBody>
                    <a:bodyPr/>
                    <a:lstStyle/>
                    <a:p>
                      <a:r>
                        <a:rPr lang="zh-CN" altLang="en-US" b="1">
                          <a:effectLst/>
                        </a:rPr>
                        <a:t>严格封装</a:t>
                      </a:r>
                      <a:endParaRPr lang="zh-CN" altLang="en-US">
                        <a:effectLst/>
                      </a:endParaRPr>
                    </a:p>
                  </a:txBody>
                  <a:tcPr marR="121920" marT="76200" marB="76200" anchor="ctr">
                    <a:lnL>
                      <a:noFill/>
                    </a:lnL>
                    <a:lnR>
                      <a:noFill/>
                    </a:lnR>
                    <a:lnT>
                      <a:noFill/>
                    </a:lnT>
                    <a:lnB>
                      <a:noFill/>
                    </a:lnB>
                    <a:noFill/>
                  </a:tcPr>
                </a:tc>
                <a:tc>
                  <a:txBody>
                    <a:bodyPr/>
                    <a:lstStyle/>
                    <a:p>
                      <a:r>
                        <a:rPr lang="zh-CN" altLang="en-US">
                          <a:effectLst/>
                        </a:rPr>
                        <a:t>隐藏内部实现细节</a:t>
                      </a:r>
                    </a:p>
                  </a:txBody>
                  <a:tcPr marL="121920" marR="121920" marT="76200" marB="76200" anchor="ctr">
                    <a:lnL>
                      <a:noFill/>
                    </a:lnL>
                    <a:lnR>
                      <a:noFill/>
                    </a:lnR>
                    <a:lnT>
                      <a:noFill/>
                    </a:lnT>
                    <a:lnB>
                      <a:noFill/>
                    </a:lnB>
                    <a:noFill/>
                  </a:tcPr>
                </a:tc>
                <a:tc>
                  <a:txBody>
                    <a:bodyPr/>
                    <a:lstStyle/>
                    <a:p>
                      <a:r>
                        <a:rPr lang="zh-CN" altLang="en-US">
                          <a:effectLst/>
                        </a:rPr>
                        <a:t>降低耦合，提高可维护性</a:t>
                      </a:r>
                    </a:p>
                  </a:txBody>
                  <a:tcPr marL="121920" marT="76200" marB="76200" anchor="ctr">
                    <a:lnL>
                      <a:noFill/>
                    </a:lnL>
                    <a:lnR>
                      <a:noFill/>
                    </a:lnR>
                    <a:lnT>
                      <a:noFill/>
                    </a:lnT>
                    <a:lnB>
                      <a:noFill/>
                    </a:lnB>
                    <a:noFill/>
                  </a:tcPr>
                </a:tc>
                <a:extLst>
                  <a:ext uri="{0D108BD9-81ED-4DB2-BD59-A6C34878D82A}">
                    <a16:rowId xmlns:a16="http://schemas.microsoft.com/office/drawing/2014/main" val="2398262635"/>
                  </a:ext>
                </a:extLst>
              </a:tr>
              <a:tr h="748137">
                <a:tc>
                  <a:txBody>
                    <a:bodyPr/>
                    <a:lstStyle/>
                    <a:p>
                      <a:r>
                        <a:rPr lang="zh-CN" altLang="en-US" b="1">
                          <a:effectLst/>
                        </a:rPr>
                        <a:t>明确接口</a:t>
                      </a:r>
                      <a:endParaRPr lang="zh-CN" altLang="en-US">
                        <a:effectLst/>
                      </a:endParaRPr>
                    </a:p>
                  </a:txBody>
                  <a:tcPr marR="121920" marT="76200" marB="76200" anchor="ctr">
                    <a:lnL>
                      <a:noFill/>
                    </a:lnL>
                    <a:lnR>
                      <a:noFill/>
                    </a:lnR>
                    <a:lnT>
                      <a:noFill/>
                    </a:lnT>
                    <a:lnB>
                      <a:noFill/>
                    </a:lnB>
                    <a:noFill/>
                  </a:tcPr>
                </a:tc>
                <a:tc>
                  <a:txBody>
                    <a:bodyPr/>
                    <a:lstStyle/>
                    <a:p>
                      <a:r>
                        <a:rPr lang="zh-CN" altLang="en-US">
                          <a:effectLst/>
                        </a:rPr>
                        <a:t>提供清晰的操作方法</a:t>
                      </a:r>
                    </a:p>
                  </a:txBody>
                  <a:tcPr marL="121920" marR="121920" marT="76200" marB="76200" anchor="ctr">
                    <a:lnL>
                      <a:noFill/>
                    </a:lnL>
                    <a:lnR>
                      <a:noFill/>
                    </a:lnR>
                    <a:lnT>
                      <a:noFill/>
                    </a:lnT>
                    <a:lnB>
                      <a:noFill/>
                    </a:lnB>
                    <a:noFill/>
                  </a:tcPr>
                </a:tc>
                <a:tc>
                  <a:txBody>
                    <a:bodyPr/>
                    <a:lstStyle/>
                    <a:p>
                      <a:r>
                        <a:rPr lang="zh-CN" altLang="en-US">
                          <a:effectLst/>
                        </a:rPr>
                        <a:t>易于理解和使用</a:t>
                      </a:r>
                    </a:p>
                  </a:txBody>
                  <a:tcPr marL="121920" marT="76200" marB="76200" anchor="ctr">
                    <a:lnL>
                      <a:noFill/>
                    </a:lnL>
                    <a:lnR>
                      <a:noFill/>
                    </a:lnR>
                    <a:lnT>
                      <a:noFill/>
                    </a:lnT>
                    <a:lnB>
                      <a:noFill/>
                    </a:lnB>
                    <a:noFill/>
                  </a:tcPr>
                </a:tc>
                <a:extLst>
                  <a:ext uri="{0D108BD9-81ED-4DB2-BD59-A6C34878D82A}">
                    <a16:rowId xmlns:a16="http://schemas.microsoft.com/office/drawing/2014/main" val="965805839"/>
                  </a:ext>
                </a:extLst>
              </a:tr>
              <a:tr h="748137">
                <a:tc>
                  <a:txBody>
                    <a:bodyPr/>
                    <a:lstStyle/>
                    <a:p>
                      <a:r>
                        <a:rPr lang="zh-CN" altLang="en-US" b="1">
                          <a:effectLst/>
                        </a:rPr>
                        <a:t>数据校验</a:t>
                      </a:r>
                      <a:endParaRPr lang="zh-CN" altLang="en-US">
                        <a:effectLst/>
                      </a:endParaRPr>
                    </a:p>
                  </a:txBody>
                  <a:tcPr marR="121920" marT="76200" marB="76200" anchor="ctr">
                    <a:lnL>
                      <a:noFill/>
                    </a:lnL>
                    <a:lnR>
                      <a:noFill/>
                    </a:lnR>
                    <a:lnT>
                      <a:noFill/>
                    </a:lnT>
                    <a:lnB>
                      <a:noFill/>
                    </a:lnB>
                    <a:noFill/>
                  </a:tcPr>
                </a:tc>
                <a:tc>
                  <a:txBody>
                    <a:bodyPr/>
                    <a:lstStyle/>
                    <a:p>
                      <a:r>
                        <a:rPr lang="zh-CN" altLang="en-US">
                          <a:effectLst/>
                        </a:rPr>
                        <a:t>在入口处验证数据</a:t>
                      </a:r>
                    </a:p>
                  </a:txBody>
                  <a:tcPr marL="121920" marR="121920" marT="76200" marB="76200" anchor="ctr">
                    <a:lnL>
                      <a:noFill/>
                    </a:lnL>
                    <a:lnR>
                      <a:noFill/>
                    </a:lnR>
                    <a:lnT>
                      <a:noFill/>
                    </a:lnT>
                    <a:lnB>
                      <a:noFill/>
                    </a:lnB>
                    <a:noFill/>
                  </a:tcPr>
                </a:tc>
                <a:tc>
                  <a:txBody>
                    <a:bodyPr/>
                    <a:lstStyle/>
                    <a:p>
                      <a:r>
                        <a:rPr lang="zh-CN" altLang="en-US">
                          <a:effectLst/>
                        </a:rPr>
                        <a:t>保证内部状态一致性</a:t>
                      </a:r>
                    </a:p>
                  </a:txBody>
                  <a:tcPr marL="121920" marT="76200" marB="76200" anchor="ctr">
                    <a:lnL>
                      <a:noFill/>
                    </a:lnL>
                    <a:lnR>
                      <a:noFill/>
                    </a:lnR>
                    <a:lnT>
                      <a:noFill/>
                    </a:lnT>
                    <a:lnB>
                      <a:noFill/>
                    </a:lnB>
                    <a:noFill/>
                  </a:tcPr>
                </a:tc>
                <a:extLst>
                  <a:ext uri="{0D108BD9-81ED-4DB2-BD59-A6C34878D82A}">
                    <a16:rowId xmlns:a16="http://schemas.microsoft.com/office/drawing/2014/main" val="3432062120"/>
                  </a:ext>
                </a:extLst>
              </a:tr>
              <a:tr h="748137">
                <a:tc>
                  <a:txBody>
                    <a:bodyPr/>
                    <a:lstStyle/>
                    <a:p>
                      <a:r>
                        <a:rPr lang="zh-CN" altLang="en-US" b="1">
                          <a:effectLst/>
                        </a:rPr>
                        <a:t>适当暴露</a:t>
                      </a:r>
                      <a:endParaRPr lang="zh-CN" altLang="en-US">
                        <a:effectLst/>
                      </a:endParaRPr>
                    </a:p>
                  </a:txBody>
                  <a:tcPr marR="121920" marT="76200" marB="76200" anchor="ctr">
                    <a:lnL>
                      <a:noFill/>
                    </a:lnL>
                    <a:lnR>
                      <a:noFill/>
                    </a:lnR>
                    <a:lnT>
                      <a:noFill/>
                    </a:lnT>
                    <a:lnB>
                      <a:noFill/>
                    </a:lnB>
                    <a:noFill/>
                  </a:tcPr>
                </a:tc>
                <a:tc>
                  <a:txBody>
                    <a:bodyPr/>
                    <a:lstStyle/>
                    <a:p>
                      <a:r>
                        <a:rPr lang="zh-CN" altLang="en-US">
                          <a:effectLst/>
                        </a:rPr>
                        <a:t>控制数据的可见性</a:t>
                      </a:r>
                    </a:p>
                  </a:txBody>
                  <a:tcPr marL="121920" marR="121920" marT="76200" marB="76200" anchor="ctr">
                    <a:lnL>
                      <a:noFill/>
                    </a:lnL>
                    <a:lnR>
                      <a:noFill/>
                    </a:lnR>
                    <a:lnT>
                      <a:noFill/>
                    </a:lnT>
                    <a:lnB>
                      <a:noFill/>
                    </a:lnB>
                    <a:noFill/>
                  </a:tcPr>
                </a:tc>
                <a:tc>
                  <a:txBody>
                    <a:bodyPr/>
                    <a:lstStyle/>
                    <a:p>
                      <a:r>
                        <a:rPr lang="zh-CN" altLang="en-US" dirty="0">
                          <a:effectLst/>
                        </a:rPr>
                        <a:t>防止意外修改</a:t>
                      </a:r>
                    </a:p>
                  </a:txBody>
                  <a:tcPr marL="121920" marT="76200" marB="76200" anchor="ctr">
                    <a:lnL>
                      <a:noFill/>
                    </a:lnL>
                    <a:lnR>
                      <a:noFill/>
                    </a:lnR>
                    <a:lnT>
                      <a:noFill/>
                    </a:lnT>
                    <a:lnB>
                      <a:noFill/>
                    </a:lnB>
                    <a:noFill/>
                  </a:tcPr>
                </a:tc>
                <a:extLst>
                  <a:ext uri="{0D108BD9-81ED-4DB2-BD59-A6C34878D82A}">
                    <a16:rowId xmlns:a16="http://schemas.microsoft.com/office/drawing/2014/main" val="437050575"/>
                  </a:ext>
                </a:extLst>
              </a:tr>
              <a:tr h="748137">
                <a:tc>
                  <a:txBody>
                    <a:bodyPr/>
                    <a:lstStyle/>
                    <a:p>
                      <a:r>
                        <a:rPr lang="zh-CN" altLang="en-US" b="1">
                          <a:effectLst/>
                        </a:rPr>
                        <a:t>结构匹配</a:t>
                      </a:r>
                      <a:endParaRPr lang="zh-CN" altLang="en-US">
                        <a:effectLst/>
                      </a:endParaRPr>
                    </a:p>
                  </a:txBody>
                  <a:tcPr marR="121920" marT="76200" marB="76200" anchor="ctr">
                    <a:lnL>
                      <a:noFill/>
                    </a:lnL>
                    <a:lnR>
                      <a:noFill/>
                    </a:lnR>
                    <a:lnT>
                      <a:noFill/>
                    </a:lnT>
                    <a:lnB>
                      <a:noFill/>
                    </a:lnB>
                    <a:noFill/>
                  </a:tcPr>
                </a:tc>
                <a:tc>
                  <a:txBody>
                    <a:bodyPr/>
                    <a:lstStyle/>
                    <a:p>
                      <a:r>
                        <a:rPr lang="zh-CN" altLang="en-US">
                          <a:effectLst/>
                        </a:rPr>
                        <a:t>选择合适的数据结构</a:t>
                      </a:r>
                    </a:p>
                  </a:txBody>
                  <a:tcPr marL="121920" marR="121920" marT="76200" marB="76200" anchor="ctr">
                    <a:lnL>
                      <a:noFill/>
                    </a:lnL>
                    <a:lnR>
                      <a:noFill/>
                    </a:lnR>
                    <a:lnT>
                      <a:noFill/>
                    </a:lnT>
                    <a:lnB>
                      <a:noFill/>
                    </a:lnB>
                    <a:noFill/>
                  </a:tcPr>
                </a:tc>
                <a:tc>
                  <a:txBody>
                    <a:bodyPr/>
                    <a:lstStyle/>
                    <a:p>
                      <a:r>
                        <a:rPr lang="zh-CN" altLang="en-US" dirty="0">
                          <a:effectLst/>
                        </a:rPr>
                        <a:t>提升性能和可读性</a:t>
                      </a:r>
                    </a:p>
                  </a:txBody>
                  <a:tcPr marL="121920" marT="76200" marB="76200" anchor="ctr">
                    <a:lnL>
                      <a:noFill/>
                    </a:lnL>
                    <a:lnR>
                      <a:noFill/>
                    </a:lnR>
                    <a:lnT>
                      <a:noFill/>
                    </a:lnT>
                    <a:lnB>
                      <a:noFill/>
                    </a:lnB>
                    <a:noFill/>
                  </a:tcPr>
                </a:tc>
                <a:extLst>
                  <a:ext uri="{0D108BD9-81ED-4DB2-BD59-A6C34878D82A}">
                    <a16:rowId xmlns:a16="http://schemas.microsoft.com/office/drawing/2014/main" val="3412374006"/>
                  </a:ext>
                </a:extLst>
              </a:tr>
            </a:tbl>
          </a:graphicData>
        </a:graphic>
      </p:graphicFrame>
      <p:sp>
        <p:nvSpPr>
          <p:cNvPr id="3" name="Rectangle 1">
            <a:extLst>
              <a:ext uri="{FF2B5EF4-FFF2-40B4-BE49-F238E27FC236}">
                <a16:creationId xmlns:a16="http://schemas.microsoft.com/office/drawing/2014/main" id="{74C5D777-CF0C-1ACC-BCD5-2A0FB284B200}"/>
              </a:ext>
            </a:extLst>
          </p:cNvPr>
          <p:cNvSpPr>
            <a:spLocks noChangeArrowheads="1"/>
          </p:cNvSpPr>
          <p:nvPr/>
        </p:nvSpPr>
        <p:spPr bwMode="auto">
          <a:xfrm>
            <a:off x="755577" y="1048354"/>
            <a:ext cx="6687732" cy="7385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03136" rIns="0" bIns="101568"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rgbClr val="0F1115"/>
                </a:solidFill>
                <a:effectLst/>
                <a:latin typeface="Arial" panose="020B0604020202020204" pitchFamily="34" charset="0"/>
                <a:ea typeface="quote-cjk-patch"/>
              </a:rPr>
              <a:t>优秀</a:t>
            </a:r>
            <a:r>
              <a:rPr kumimoji="0" lang="zh-CN" altLang="en-US" sz="2800" b="1" i="0" u="none" strike="noStrike" cap="none" normalizeH="0" baseline="0" dirty="0">
                <a:ln>
                  <a:noFill/>
                </a:ln>
                <a:solidFill>
                  <a:srgbClr val="0F1115"/>
                </a:solidFill>
                <a:effectLst/>
                <a:latin typeface="Arial" panose="020B0604020202020204" pitchFamily="34" charset="0"/>
                <a:ea typeface="quote-cjk-patch"/>
              </a:rPr>
              <a:t>构件级</a:t>
            </a:r>
            <a:r>
              <a:rPr kumimoji="0" lang="zh-CN" altLang="zh-CN" sz="2800" b="1" i="0" u="none" strike="noStrike" cap="none" normalizeH="0" baseline="0" dirty="0">
                <a:ln>
                  <a:noFill/>
                </a:ln>
                <a:solidFill>
                  <a:srgbClr val="0F1115"/>
                </a:solidFill>
                <a:effectLst/>
                <a:latin typeface="Arial" panose="020B0604020202020204" pitchFamily="34" charset="0"/>
                <a:ea typeface="quote-cjk-patch"/>
              </a:rPr>
              <a:t>数据设计的</a:t>
            </a:r>
            <a:r>
              <a:rPr kumimoji="0" lang="zh-CN" altLang="zh-CN" sz="2800" b="1" i="0" u="none" strike="noStrike" cap="none" normalizeH="0" baseline="0" dirty="0">
                <a:ln>
                  <a:noFill/>
                </a:ln>
                <a:solidFill>
                  <a:srgbClr val="FF0000"/>
                </a:solidFill>
                <a:effectLst/>
                <a:latin typeface="Arial" panose="020B0604020202020204" pitchFamily="34" charset="0"/>
                <a:ea typeface="quote-cjk-patch"/>
              </a:rPr>
              <a:t>指导原则</a:t>
            </a:r>
            <a:endParaRPr kumimoji="0" lang="zh-CN" altLang="zh-CN" sz="7200" b="0" i="0" u="none" strike="noStrike" cap="none" normalizeH="0" baseline="0" dirty="0">
              <a:ln>
                <a:noFill/>
              </a:ln>
              <a:solidFill>
                <a:srgbClr val="FF0000"/>
              </a:solidFill>
              <a:effectLst/>
              <a:latin typeface="Arial" panose="020B0604020202020204" pitchFamily="34" charset="0"/>
            </a:endParaRPr>
          </a:p>
        </p:txBody>
      </p:sp>
    </p:spTree>
    <p:extLst>
      <p:ext uri="{BB962C8B-B14F-4D97-AF65-F5344CB8AC3E}">
        <p14:creationId xmlns:p14="http://schemas.microsoft.com/office/powerpoint/2010/main" val="840632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55FEE17-1095-DC07-37DA-781D4B71A9A0}"/>
              </a:ext>
            </a:extLst>
          </p:cNvPr>
          <p:cNvSpPr txBox="1"/>
          <p:nvPr/>
        </p:nvSpPr>
        <p:spPr>
          <a:xfrm>
            <a:off x="827584" y="1268760"/>
            <a:ext cx="6336704" cy="5509200"/>
          </a:xfrm>
          <a:prstGeom prst="rect">
            <a:avLst/>
          </a:prstGeom>
          <a:noFill/>
        </p:spPr>
        <p:txBody>
          <a:bodyPr wrap="square">
            <a:spAutoFit/>
          </a:bodyPr>
          <a:lstStyle/>
          <a:p>
            <a:pPr algn="l"/>
            <a:r>
              <a:rPr lang="zh-CN" altLang="en-US" sz="3200" b="1" i="0" dirty="0">
                <a:solidFill>
                  <a:srgbClr val="0F1115"/>
                </a:solidFill>
                <a:effectLst/>
                <a:latin typeface="quote-cjk-patch"/>
              </a:rPr>
              <a:t>实战案例 </a:t>
            </a:r>
            <a:r>
              <a:rPr lang="en-US" altLang="zh-CN" sz="3200" b="1" i="0" dirty="0">
                <a:solidFill>
                  <a:srgbClr val="0F1115"/>
                </a:solidFill>
                <a:effectLst/>
                <a:latin typeface="quote-cjk-patch"/>
              </a:rPr>
              <a:t>- </a:t>
            </a:r>
            <a:r>
              <a:rPr lang="zh-CN" altLang="en-US" sz="3200" b="1" i="0" dirty="0">
                <a:solidFill>
                  <a:srgbClr val="0F1115"/>
                </a:solidFill>
                <a:effectLst/>
                <a:latin typeface="quote-cjk-patch"/>
              </a:rPr>
              <a:t>需求分析</a:t>
            </a:r>
          </a:p>
          <a:p>
            <a:pPr algn="l"/>
            <a:r>
              <a:rPr lang="zh-CN" altLang="en-US" sz="3200" b="1" i="0" dirty="0">
                <a:solidFill>
                  <a:srgbClr val="0F1115"/>
                </a:solidFill>
                <a:effectLst/>
                <a:latin typeface="quote-cjk-patch"/>
              </a:rPr>
              <a:t>案例：电商购物车系统</a:t>
            </a:r>
          </a:p>
          <a:p>
            <a:pPr algn="l"/>
            <a:r>
              <a:rPr lang="zh-CN" altLang="en-US" sz="2400" b="1" i="0" dirty="0">
                <a:solidFill>
                  <a:srgbClr val="0F1115"/>
                </a:solidFill>
                <a:effectLst/>
                <a:latin typeface="quote-cjk-patch"/>
              </a:rPr>
              <a:t>业务需求：</a:t>
            </a:r>
            <a:endParaRPr lang="zh-CN" altLang="en-US" sz="2400" b="0" i="0" dirty="0">
              <a:solidFill>
                <a:srgbClr val="0F1115"/>
              </a:solidFill>
              <a:effectLst/>
              <a:latin typeface="quote-cjk-patch"/>
            </a:endParaRPr>
          </a:p>
          <a:p>
            <a:pPr algn="l">
              <a:buFont typeface="Arial" panose="020B0604020202020204" pitchFamily="34" charset="0"/>
              <a:buChar char="•"/>
            </a:pPr>
            <a:r>
              <a:rPr lang="zh-CN" altLang="en-US" sz="2400" b="0" i="0" dirty="0">
                <a:solidFill>
                  <a:srgbClr val="0F1115"/>
                </a:solidFill>
                <a:effectLst/>
                <a:latin typeface="quote-cjk-patch"/>
              </a:rPr>
              <a:t>🛒 添加商品到购物车</a:t>
            </a:r>
          </a:p>
          <a:p>
            <a:pPr algn="l">
              <a:buFont typeface="Arial" panose="020B0604020202020204" pitchFamily="34" charset="0"/>
              <a:buChar char="•"/>
            </a:pPr>
            <a:r>
              <a:rPr lang="zh-CN" altLang="en-US" sz="2400" b="0" i="0" dirty="0">
                <a:solidFill>
                  <a:srgbClr val="0F1115"/>
                </a:solidFill>
                <a:effectLst/>
                <a:latin typeface="quote-cjk-patch"/>
              </a:rPr>
              <a:t>❌ 从购物车移除商品</a:t>
            </a:r>
          </a:p>
          <a:p>
            <a:pPr algn="l">
              <a:buFont typeface="Arial" panose="020B0604020202020204" pitchFamily="34" charset="0"/>
              <a:buChar char="•"/>
            </a:pPr>
            <a:r>
              <a:rPr lang="zh-CN" altLang="en-US" sz="2400" b="0" i="0" dirty="0">
                <a:solidFill>
                  <a:srgbClr val="0F1115"/>
                </a:solidFill>
                <a:effectLst/>
                <a:latin typeface="quote-cjk-patch"/>
              </a:rPr>
              <a:t>✏️ 修改商品数量</a:t>
            </a:r>
          </a:p>
          <a:p>
            <a:pPr algn="l">
              <a:buFont typeface="Arial" panose="020B0604020202020204" pitchFamily="34" charset="0"/>
              <a:buChar char="•"/>
            </a:pPr>
            <a:r>
              <a:rPr lang="zh-CN" altLang="en-US" sz="2400" b="0" i="0" dirty="0">
                <a:solidFill>
                  <a:srgbClr val="0F1115"/>
                </a:solidFill>
                <a:effectLst/>
                <a:latin typeface="quote-cjk-patch"/>
              </a:rPr>
              <a:t>🗑️ 清空购物车</a:t>
            </a:r>
          </a:p>
          <a:p>
            <a:pPr algn="l">
              <a:buFont typeface="Arial" panose="020B0604020202020204" pitchFamily="34" charset="0"/>
              <a:buChar char="•"/>
            </a:pPr>
            <a:r>
              <a:rPr lang="zh-CN" altLang="en-US" sz="2400" b="0" i="0" dirty="0">
                <a:solidFill>
                  <a:srgbClr val="0F1115"/>
                </a:solidFill>
                <a:effectLst/>
                <a:latin typeface="quote-cjk-patch"/>
              </a:rPr>
              <a:t>💰 计算总价</a:t>
            </a:r>
          </a:p>
          <a:p>
            <a:pPr algn="l">
              <a:buFont typeface="Arial" panose="020B0604020202020204" pitchFamily="34" charset="0"/>
              <a:buChar char="•"/>
            </a:pPr>
            <a:r>
              <a:rPr lang="zh-CN" altLang="en-US" sz="2400" b="0" i="0" dirty="0">
                <a:solidFill>
                  <a:srgbClr val="0F1115"/>
                </a:solidFill>
                <a:effectLst/>
                <a:latin typeface="quote-cjk-patch"/>
              </a:rPr>
              <a:t>📋 查看商品列表</a:t>
            </a:r>
          </a:p>
          <a:p>
            <a:pPr algn="l"/>
            <a:r>
              <a:rPr lang="zh-CN" altLang="en-US" sz="2400" b="1" i="0" dirty="0">
                <a:solidFill>
                  <a:srgbClr val="0F1115"/>
                </a:solidFill>
                <a:effectLst/>
                <a:latin typeface="quote-cjk-patch"/>
              </a:rPr>
              <a:t>设计目标：</a:t>
            </a:r>
            <a:endParaRPr lang="zh-CN" altLang="en-US" sz="2400" b="0" i="0" dirty="0">
              <a:solidFill>
                <a:srgbClr val="0F1115"/>
              </a:solidFill>
              <a:effectLst/>
              <a:latin typeface="quote-cjk-patch"/>
            </a:endParaRPr>
          </a:p>
          <a:p>
            <a:pPr algn="l">
              <a:buFont typeface="Arial" panose="020B0604020202020204" pitchFamily="34" charset="0"/>
              <a:buChar char="•"/>
            </a:pPr>
            <a:r>
              <a:rPr lang="zh-CN" altLang="en-US" sz="2400" b="0" i="0" dirty="0">
                <a:solidFill>
                  <a:srgbClr val="0F1115"/>
                </a:solidFill>
                <a:effectLst/>
                <a:latin typeface="quote-cjk-patch"/>
              </a:rPr>
              <a:t>高性能的商品查找和更新</a:t>
            </a:r>
          </a:p>
          <a:p>
            <a:pPr algn="l">
              <a:buFont typeface="Arial" panose="020B0604020202020204" pitchFamily="34" charset="0"/>
              <a:buChar char="•"/>
            </a:pPr>
            <a:r>
              <a:rPr lang="zh-CN" altLang="en-US" sz="2400" b="0" i="0" dirty="0">
                <a:solidFill>
                  <a:srgbClr val="0F1115"/>
                </a:solidFill>
                <a:effectLst/>
                <a:latin typeface="quote-cjk-patch"/>
              </a:rPr>
              <a:t>防止无效数据</a:t>
            </a:r>
          </a:p>
          <a:p>
            <a:pPr algn="l">
              <a:buFont typeface="Arial" panose="020B0604020202020204" pitchFamily="34" charset="0"/>
              <a:buChar char="•"/>
            </a:pPr>
            <a:r>
              <a:rPr lang="zh-CN" altLang="en-US" sz="2400" b="0" i="0" dirty="0">
                <a:solidFill>
                  <a:srgbClr val="0F1115"/>
                </a:solidFill>
                <a:effectLst/>
                <a:latin typeface="quote-cjk-patch"/>
              </a:rPr>
              <a:t>易于扩展和维护</a:t>
            </a:r>
          </a:p>
          <a:p>
            <a:pPr algn="l">
              <a:buFont typeface="Arial" panose="020B0604020202020204" pitchFamily="34" charset="0"/>
              <a:buChar char="•"/>
            </a:pPr>
            <a:r>
              <a:rPr lang="zh-CN" altLang="en-US" sz="2400" b="0" i="0" dirty="0">
                <a:solidFill>
                  <a:srgbClr val="0F1115"/>
                </a:solidFill>
                <a:effectLst/>
                <a:latin typeface="quote-cjk-patch"/>
              </a:rPr>
              <a:t>线程安全考虑</a:t>
            </a:r>
          </a:p>
        </p:txBody>
      </p:sp>
      <p:sp>
        <p:nvSpPr>
          <p:cNvPr id="4" name="标题 3">
            <a:extLst>
              <a:ext uri="{FF2B5EF4-FFF2-40B4-BE49-F238E27FC236}">
                <a16:creationId xmlns:a16="http://schemas.microsoft.com/office/drawing/2014/main" id="{4DFF3A29-2DD1-ECB3-ED96-5A79D62A5C80}"/>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2pPr>
            <a:lvl3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3pPr>
            <a:lvl4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4pPr>
            <a:lvl5pPr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anose="020B0604020202090204" pitchFamily="34" charset="0"/>
                <a:ea typeface="宋体" pitchFamily="2" charset="-122"/>
              </a:defRPr>
            </a:lvl9pPr>
          </a:lstStyle>
          <a:p>
            <a:pPr eaLnBrk="1" hangingPunct="1"/>
            <a:r>
              <a:rPr lang="en-US" altLang="zh-CN" kern="0"/>
              <a:t>8.2.2 </a:t>
            </a:r>
            <a:r>
              <a:rPr lang="zh-CN" altLang="zh-CN" kern="0"/>
              <a:t>构件级的数据设计</a:t>
            </a:r>
            <a:endParaRPr lang="zh-CN" altLang="zh-CN" kern="0" dirty="0"/>
          </a:p>
        </p:txBody>
      </p:sp>
    </p:spTree>
    <p:extLst>
      <p:ext uri="{BB962C8B-B14F-4D97-AF65-F5344CB8AC3E}">
        <p14:creationId xmlns:p14="http://schemas.microsoft.com/office/powerpoint/2010/main" val="2017537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ACA6162C-1CD4-BC96-D4D0-0040343C3A80}"/>
              </a:ext>
            </a:extLst>
          </p:cNvPr>
          <p:cNvGraphicFramePr>
            <a:graphicFrameLocks noGrp="1"/>
          </p:cNvGraphicFramePr>
          <p:nvPr>
            <p:extLst>
              <p:ext uri="{D42A27DB-BD31-4B8C-83A1-F6EECF244321}">
                <p14:modId xmlns:p14="http://schemas.microsoft.com/office/powerpoint/2010/main" val="685362652"/>
              </p:ext>
            </p:extLst>
          </p:nvPr>
        </p:nvGraphicFramePr>
        <p:xfrm>
          <a:off x="457200" y="2421233"/>
          <a:ext cx="8229599" cy="1785007"/>
        </p:xfrm>
        <a:graphic>
          <a:graphicData uri="http://schemas.openxmlformats.org/drawingml/2006/table">
            <a:tbl>
              <a:tblPr/>
              <a:tblGrid>
                <a:gridCol w="1877627">
                  <a:extLst>
                    <a:ext uri="{9D8B030D-6E8A-4147-A177-3AD203B41FA5}">
                      <a16:colId xmlns:a16="http://schemas.microsoft.com/office/drawing/2014/main" val="2552266221"/>
                    </a:ext>
                  </a:extLst>
                </a:gridCol>
                <a:gridCol w="2117324">
                  <a:extLst>
                    <a:ext uri="{9D8B030D-6E8A-4147-A177-3AD203B41FA5}">
                      <a16:colId xmlns:a16="http://schemas.microsoft.com/office/drawing/2014/main" val="2118497744"/>
                    </a:ext>
                  </a:extLst>
                </a:gridCol>
                <a:gridCol w="2117324">
                  <a:extLst>
                    <a:ext uri="{9D8B030D-6E8A-4147-A177-3AD203B41FA5}">
                      <a16:colId xmlns:a16="http://schemas.microsoft.com/office/drawing/2014/main" val="3301461071"/>
                    </a:ext>
                  </a:extLst>
                </a:gridCol>
                <a:gridCol w="2117324">
                  <a:extLst>
                    <a:ext uri="{9D8B030D-6E8A-4147-A177-3AD203B41FA5}">
                      <a16:colId xmlns:a16="http://schemas.microsoft.com/office/drawing/2014/main" val="2138165612"/>
                    </a:ext>
                  </a:extLst>
                </a:gridCol>
              </a:tblGrid>
              <a:tr h="490002">
                <a:tc>
                  <a:txBody>
                    <a:bodyPr/>
                    <a:lstStyle/>
                    <a:p>
                      <a:pPr algn="l"/>
                      <a:r>
                        <a:rPr lang="zh-CN" altLang="en-US">
                          <a:effectLst/>
                        </a:rPr>
                        <a:t>方案</a:t>
                      </a:r>
                    </a:p>
                  </a:txBody>
                  <a:tcPr marR="121920" marT="76200" marB="76200" anchor="ctr">
                    <a:lnL>
                      <a:noFill/>
                    </a:lnL>
                    <a:lnR>
                      <a:noFill/>
                    </a:lnR>
                    <a:lnT>
                      <a:noFill/>
                    </a:lnT>
                    <a:lnB>
                      <a:noFill/>
                    </a:lnB>
                    <a:noFill/>
                  </a:tcPr>
                </a:tc>
                <a:tc>
                  <a:txBody>
                    <a:bodyPr/>
                    <a:lstStyle/>
                    <a:p>
                      <a:pPr algn="l"/>
                      <a:r>
                        <a:rPr lang="zh-CN" altLang="en-US">
                          <a:effectLst/>
                        </a:rPr>
                        <a:t>优点</a:t>
                      </a:r>
                    </a:p>
                  </a:txBody>
                  <a:tcPr marL="121920" marR="121920" marT="76200" marB="76200" anchor="ctr">
                    <a:lnL>
                      <a:noFill/>
                    </a:lnL>
                    <a:lnR>
                      <a:noFill/>
                    </a:lnR>
                    <a:lnT>
                      <a:noFill/>
                    </a:lnT>
                    <a:lnB>
                      <a:noFill/>
                    </a:lnB>
                    <a:noFill/>
                  </a:tcPr>
                </a:tc>
                <a:tc>
                  <a:txBody>
                    <a:bodyPr/>
                    <a:lstStyle/>
                    <a:p>
                      <a:pPr algn="l"/>
                      <a:r>
                        <a:rPr lang="zh-CN" altLang="en-US">
                          <a:effectLst/>
                        </a:rPr>
                        <a:t>缺点</a:t>
                      </a:r>
                    </a:p>
                  </a:txBody>
                  <a:tcPr marL="121920" marR="121920" marT="76200" marB="76200" anchor="ctr">
                    <a:lnL>
                      <a:noFill/>
                    </a:lnL>
                    <a:lnR>
                      <a:noFill/>
                    </a:lnR>
                    <a:lnT>
                      <a:noFill/>
                    </a:lnT>
                    <a:lnB>
                      <a:noFill/>
                    </a:lnB>
                    <a:noFill/>
                  </a:tcPr>
                </a:tc>
                <a:tc>
                  <a:txBody>
                    <a:bodyPr/>
                    <a:lstStyle/>
                    <a:p>
                      <a:pPr algn="l"/>
                      <a:r>
                        <a:rPr lang="zh-CN" altLang="en-US">
                          <a:effectLst/>
                        </a:rPr>
                        <a:t>适用性</a:t>
                      </a:r>
                    </a:p>
                  </a:txBody>
                  <a:tcPr marL="121920" marR="121920" marT="76200" marB="76200" anchor="ctr">
                    <a:lnL>
                      <a:noFill/>
                    </a:lnL>
                    <a:lnR>
                      <a:noFill/>
                    </a:lnR>
                    <a:lnT>
                      <a:noFill/>
                    </a:lnT>
                    <a:lnB>
                      <a:noFill/>
                    </a:lnB>
                    <a:noFill/>
                  </a:tcPr>
                </a:tc>
                <a:extLst>
                  <a:ext uri="{0D108BD9-81ED-4DB2-BD59-A6C34878D82A}">
                    <a16:rowId xmlns:a16="http://schemas.microsoft.com/office/drawing/2014/main" val="2917880829"/>
                  </a:ext>
                </a:extLst>
              </a:tr>
              <a:tr h="490002">
                <a:tc>
                  <a:txBody>
                    <a:bodyPr/>
                    <a:lstStyle/>
                    <a:p>
                      <a:r>
                        <a:rPr lang="en-US" b="1">
                          <a:effectLst/>
                        </a:rPr>
                        <a:t>List</a:t>
                      </a:r>
                      <a:r>
                        <a:rPr lang="en-US" b="1">
                          <a:effectLst/>
                          <a:latin typeface="var(--ds-font-family-code)"/>
                        </a:rPr>
                        <a:t>&lt;CartItem&gt;</a:t>
                      </a:r>
                      <a:endParaRPr lang="en-US">
                        <a:effectLst/>
                      </a:endParaRPr>
                    </a:p>
                  </a:txBody>
                  <a:tcPr marR="121920" marT="76200" marB="76200" anchor="ctr">
                    <a:lnL>
                      <a:noFill/>
                    </a:lnL>
                    <a:lnR>
                      <a:noFill/>
                    </a:lnR>
                    <a:lnT>
                      <a:noFill/>
                    </a:lnT>
                    <a:lnB>
                      <a:noFill/>
                    </a:lnB>
                    <a:noFill/>
                  </a:tcPr>
                </a:tc>
                <a:tc>
                  <a:txBody>
                    <a:bodyPr/>
                    <a:lstStyle/>
                    <a:p>
                      <a:r>
                        <a:rPr lang="zh-CN" altLang="en-US">
                          <a:effectLst/>
                        </a:rPr>
                        <a:t>简单直观</a:t>
                      </a:r>
                    </a:p>
                  </a:txBody>
                  <a:tcPr marL="121920" marR="121920" marT="76200" marB="76200" anchor="ctr">
                    <a:lnL>
                      <a:noFill/>
                    </a:lnL>
                    <a:lnR>
                      <a:noFill/>
                    </a:lnR>
                    <a:lnT>
                      <a:noFill/>
                    </a:lnT>
                    <a:lnB>
                      <a:noFill/>
                    </a:lnB>
                    <a:noFill/>
                  </a:tcPr>
                </a:tc>
                <a:tc>
                  <a:txBody>
                    <a:bodyPr/>
                    <a:lstStyle/>
                    <a:p>
                      <a:r>
                        <a:rPr lang="zh-CN" altLang="en-US">
                          <a:effectLst/>
                        </a:rPr>
                        <a:t>查找效率低</a:t>
                      </a:r>
                      <a:r>
                        <a:rPr lang="en-US" altLang="zh-CN">
                          <a:effectLst/>
                        </a:rPr>
                        <a:t>(</a:t>
                      </a:r>
                      <a:r>
                        <a:rPr lang="en-US">
                          <a:effectLst/>
                        </a:rPr>
                        <a:t>O(n))</a:t>
                      </a:r>
                    </a:p>
                  </a:txBody>
                  <a:tcPr marL="121920" marR="121920" marT="76200" marB="76200" anchor="ctr">
                    <a:lnL>
                      <a:noFill/>
                    </a:lnL>
                    <a:lnR>
                      <a:noFill/>
                    </a:lnR>
                    <a:lnT>
                      <a:noFill/>
                    </a:lnT>
                    <a:lnB>
                      <a:noFill/>
                    </a:lnB>
                    <a:noFill/>
                  </a:tcPr>
                </a:tc>
                <a:tc>
                  <a:txBody>
                    <a:bodyPr/>
                    <a:lstStyle/>
                    <a:p>
                      <a:r>
                        <a:rPr lang="zh-CN" altLang="en-US">
                          <a:effectLst/>
                        </a:rPr>
                        <a:t>❌ 不推荐</a:t>
                      </a:r>
                    </a:p>
                  </a:txBody>
                  <a:tcPr marL="121920" marT="76200" marB="76200" anchor="ctr">
                    <a:lnL>
                      <a:noFill/>
                    </a:lnL>
                    <a:lnR>
                      <a:noFill/>
                    </a:lnR>
                    <a:lnT>
                      <a:noFill/>
                    </a:lnT>
                    <a:lnB>
                      <a:noFill/>
                    </a:lnB>
                    <a:noFill/>
                  </a:tcPr>
                </a:tc>
                <a:extLst>
                  <a:ext uri="{0D108BD9-81ED-4DB2-BD59-A6C34878D82A}">
                    <a16:rowId xmlns:a16="http://schemas.microsoft.com/office/drawing/2014/main" val="270548776"/>
                  </a:ext>
                </a:extLst>
              </a:tr>
              <a:tr h="805003">
                <a:tc>
                  <a:txBody>
                    <a:bodyPr/>
                    <a:lstStyle/>
                    <a:p>
                      <a:r>
                        <a:rPr lang="en-US" b="1">
                          <a:effectLst/>
                        </a:rPr>
                        <a:t>Dictionary&lt;string, CartItem&gt;</a:t>
                      </a:r>
                      <a:endParaRPr lang="en-US">
                        <a:effectLst/>
                      </a:endParaRPr>
                    </a:p>
                  </a:txBody>
                  <a:tcPr marR="121920" marT="76200" marB="76200" anchor="ctr">
                    <a:lnL>
                      <a:noFill/>
                    </a:lnL>
                    <a:lnR>
                      <a:noFill/>
                    </a:lnR>
                    <a:lnT>
                      <a:noFill/>
                    </a:lnT>
                    <a:lnB>
                      <a:noFill/>
                    </a:lnB>
                    <a:noFill/>
                  </a:tcPr>
                </a:tc>
                <a:tc>
                  <a:txBody>
                    <a:bodyPr/>
                    <a:lstStyle/>
                    <a:p>
                      <a:r>
                        <a:rPr lang="zh-CN" altLang="en-US" dirty="0">
                          <a:effectLst/>
                        </a:rPr>
                        <a:t>快速查找</a:t>
                      </a:r>
                      <a:r>
                        <a:rPr lang="en-US" altLang="zh-CN" dirty="0">
                          <a:effectLst/>
                        </a:rPr>
                        <a:t>(</a:t>
                      </a:r>
                      <a:r>
                        <a:rPr lang="en-US" dirty="0">
                          <a:effectLst/>
                        </a:rPr>
                        <a:t>O(1))</a:t>
                      </a:r>
                    </a:p>
                  </a:txBody>
                  <a:tcPr marL="121920" marR="121920" marT="76200" marB="76200" anchor="ctr">
                    <a:lnL>
                      <a:noFill/>
                    </a:lnL>
                    <a:lnR>
                      <a:noFill/>
                    </a:lnR>
                    <a:lnT>
                      <a:noFill/>
                    </a:lnT>
                    <a:lnB>
                      <a:noFill/>
                    </a:lnB>
                    <a:noFill/>
                  </a:tcPr>
                </a:tc>
                <a:tc>
                  <a:txBody>
                    <a:bodyPr/>
                    <a:lstStyle/>
                    <a:p>
                      <a:r>
                        <a:rPr lang="zh-CN" altLang="en-US">
                          <a:effectLst/>
                        </a:rPr>
                        <a:t>稍复杂</a:t>
                      </a:r>
                    </a:p>
                  </a:txBody>
                  <a:tcPr marL="121920" marR="121920" marT="76200" marB="76200" anchor="ctr">
                    <a:lnL>
                      <a:noFill/>
                    </a:lnL>
                    <a:lnR>
                      <a:noFill/>
                    </a:lnR>
                    <a:lnT>
                      <a:noFill/>
                    </a:lnT>
                    <a:lnB>
                      <a:noFill/>
                    </a:lnB>
                    <a:noFill/>
                  </a:tcPr>
                </a:tc>
                <a:tc>
                  <a:txBody>
                    <a:bodyPr/>
                    <a:lstStyle/>
                    <a:p>
                      <a:r>
                        <a:rPr lang="zh-CN" altLang="en-US" dirty="0">
                          <a:effectLst/>
                        </a:rPr>
                        <a:t>✅ </a:t>
                      </a:r>
                      <a:r>
                        <a:rPr lang="zh-CN" altLang="en-US" b="1" dirty="0">
                          <a:effectLst/>
                        </a:rPr>
                        <a:t>最佳选择</a:t>
                      </a:r>
                      <a:endParaRPr lang="zh-CN" altLang="en-US" dirty="0">
                        <a:effectLst/>
                      </a:endParaRPr>
                    </a:p>
                  </a:txBody>
                  <a:tcPr marL="121920" marT="76200" marB="76200" anchor="ctr">
                    <a:lnL>
                      <a:noFill/>
                    </a:lnL>
                    <a:lnR>
                      <a:noFill/>
                    </a:lnR>
                    <a:lnT>
                      <a:noFill/>
                    </a:lnT>
                    <a:lnB>
                      <a:noFill/>
                    </a:lnB>
                    <a:noFill/>
                  </a:tcPr>
                </a:tc>
                <a:extLst>
                  <a:ext uri="{0D108BD9-81ED-4DB2-BD59-A6C34878D82A}">
                    <a16:rowId xmlns:a16="http://schemas.microsoft.com/office/drawing/2014/main" val="3282327216"/>
                  </a:ext>
                </a:extLst>
              </a:tr>
            </a:tbl>
          </a:graphicData>
        </a:graphic>
      </p:graphicFrame>
      <p:sp>
        <p:nvSpPr>
          <p:cNvPr id="3" name="Rectangle 1">
            <a:extLst>
              <a:ext uri="{FF2B5EF4-FFF2-40B4-BE49-F238E27FC236}">
                <a16:creationId xmlns:a16="http://schemas.microsoft.com/office/drawing/2014/main" id="{6980DFB8-717C-CAD0-81C1-82A9B5E86E6F}"/>
              </a:ext>
            </a:extLst>
          </p:cNvPr>
          <p:cNvSpPr>
            <a:spLocks noChangeArrowheads="1"/>
          </p:cNvSpPr>
          <p:nvPr/>
        </p:nvSpPr>
        <p:spPr bwMode="auto">
          <a:xfrm>
            <a:off x="611560" y="949370"/>
            <a:ext cx="4995192" cy="14156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03136" rIns="0" bIns="101568"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F1115"/>
                </a:solidFill>
                <a:effectLst/>
                <a:latin typeface="Arial" panose="020B0604020202020204" pitchFamily="34" charset="0"/>
                <a:ea typeface="quote-cjk-patch"/>
              </a:rPr>
              <a:t>数据结构设计</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F1115"/>
                </a:solidFill>
                <a:effectLst/>
                <a:latin typeface="Arial" panose="020B0604020202020204" pitchFamily="34" charset="0"/>
                <a:ea typeface="quote-cjk-patch"/>
              </a:rPr>
              <a:t>核心数据结构选择方案对比：</a:t>
            </a:r>
            <a:endParaRPr kumimoji="0" lang="zh-CN" altLang="zh-CN"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0470CCE5-4772-B1B7-639D-DEF9C54D0BFD}"/>
              </a:ext>
            </a:extLst>
          </p:cNvPr>
          <p:cNvSpPr>
            <a:spLocks noChangeArrowheads="1"/>
          </p:cNvSpPr>
          <p:nvPr/>
        </p:nvSpPr>
        <p:spPr bwMode="auto">
          <a:xfrm>
            <a:off x="755576" y="4407135"/>
            <a:ext cx="5616624" cy="20517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01568"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400" b="1" i="0" u="none" strike="noStrike" cap="none" normalizeH="0" baseline="0" dirty="0">
                <a:ln>
                  <a:noFill/>
                </a:ln>
                <a:solidFill>
                  <a:srgbClr val="0F1115"/>
                </a:solidFill>
                <a:effectLst/>
                <a:latin typeface="Arial" panose="020B0604020202020204" pitchFamily="34" charset="0"/>
                <a:ea typeface="quote-cjk-patch"/>
              </a:rPr>
              <a:t>选择理由：</a:t>
            </a:r>
            <a:endParaRPr kumimoji="0" lang="zh-CN" altLang="zh-CN"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2400" b="0" i="0" u="none" strike="noStrike" cap="none" normalizeH="0" baseline="0" dirty="0">
                <a:ln>
                  <a:noFill/>
                </a:ln>
                <a:solidFill>
                  <a:srgbClr val="0F1115"/>
                </a:solidFill>
                <a:effectLst/>
                <a:latin typeface="Arial" panose="020B0604020202020204" pitchFamily="34" charset="0"/>
                <a:ea typeface="quote-cjk-patch"/>
              </a:rPr>
              <a:t>购物车操作以商品ID为键</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2400" b="0" i="0" u="none" strike="noStrike" cap="none" normalizeH="0" baseline="0" dirty="0">
                <a:ln>
                  <a:noFill/>
                </a:ln>
                <a:solidFill>
                  <a:srgbClr val="0F1115"/>
                </a:solidFill>
                <a:effectLst/>
                <a:latin typeface="Arial" panose="020B0604020202020204" pitchFamily="34" charset="0"/>
                <a:ea typeface="quote-cjk-patch"/>
              </a:rPr>
              <a:t>高频的查找、更新操作</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2400" b="0" i="0" u="none" strike="noStrike" cap="none" normalizeH="0" baseline="0" dirty="0">
                <a:ln>
                  <a:noFill/>
                </a:ln>
                <a:solidFill>
                  <a:srgbClr val="0F1115"/>
                </a:solidFill>
                <a:effectLst/>
                <a:latin typeface="Arial" panose="020B0604020202020204" pitchFamily="34" charset="0"/>
                <a:ea typeface="quote-cjk-patch"/>
              </a:rPr>
              <a:t>需要快速判断商品是否存在</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73693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8BBDE38-BDD9-3550-0835-881257C2C3D8}"/>
              </a:ext>
            </a:extLst>
          </p:cNvPr>
          <p:cNvSpPr txBox="1"/>
          <p:nvPr/>
        </p:nvSpPr>
        <p:spPr>
          <a:xfrm>
            <a:off x="251520" y="1583229"/>
            <a:ext cx="7698040" cy="5262979"/>
          </a:xfrm>
          <a:prstGeom prst="rect">
            <a:avLst/>
          </a:prstGeom>
          <a:noFill/>
        </p:spPr>
        <p:txBody>
          <a:bodyPr wrap="square">
            <a:spAutoFit/>
          </a:bodyPr>
          <a:lstStyle/>
          <a:p>
            <a:r>
              <a:rPr lang="zh-CN" altLang="en-US" sz="1400" dirty="0"/>
              <a:t>public class CartItem</a:t>
            </a:r>
          </a:p>
          <a:p>
            <a:r>
              <a:rPr lang="zh-CN" altLang="en-US" sz="1400" dirty="0"/>
              <a:t>{</a:t>
            </a:r>
          </a:p>
          <a:p>
            <a:r>
              <a:rPr lang="zh-CN" altLang="en-US" sz="1400" dirty="0"/>
              <a:t>    // 核心数据成员</a:t>
            </a:r>
          </a:p>
          <a:p>
            <a:r>
              <a:rPr lang="zh-CN" altLang="en-US" sz="1400" dirty="0"/>
              <a:t>    public string ProductId { get; }        // 只读，保证一致性</a:t>
            </a:r>
          </a:p>
          <a:p>
            <a:r>
              <a:rPr lang="zh-CN" altLang="en-US" sz="1400" dirty="0"/>
              <a:t>    public string ProductName { get; set; } // 可写，允许更新</a:t>
            </a:r>
          </a:p>
          <a:p>
            <a:r>
              <a:rPr lang="zh-CN" altLang="en-US" sz="1400" dirty="0"/>
              <a:t>    public decimal UnitPrice { get; set; }  // 可写，支持价格变动</a:t>
            </a:r>
          </a:p>
          <a:p>
            <a:r>
              <a:rPr lang="zh-CN" altLang="en-US" sz="1400" dirty="0"/>
              <a:t>    public int Quantity { get; private set; } // 受控写入</a:t>
            </a:r>
          </a:p>
          <a:p>
            <a:r>
              <a:rPr lang="zh-CN" altLang="en-US" sz="1400" dirty="0"/>
              <a:t>    </a:t>
            </a:r>
          </a:p>
          <a:p>
            <a:r>
              <a:rPr lang="zh-CN" altLang="en-US" sz="1400" dirty="0"/>
              <a:t>    // 构造时数据校验</a:t>
            </a:r>
          </a:p>
          <a:p>
            <a:r>
              <a:rPr lang="zh-CN" altLang="en-US" sz="1400" dirty="0"/>
              <a:t>    public CartItem(string productId, string name, decimal price, int quantity)</a:t>
            </a:r>
          </a:p>
          <a:p>
            <a:r>
              <a:rPr lang="zh-CN" altLang="en-US" sz="1400" dirty="0"/>
              <a:t>    {</a:t>
            </a:r>
          </a:p>
          <a:p>
            <a:r>
              <a:rPr lang="zh-CN" altLang="en-US" sz="1400" dirty="0"/>
              <a:t>        // 数据完整性检查</a:t>
            </a:r>
          </a:p>
          <a:p>
            <a:r>
              <a:rPr lang="zh-CN" altLang="en-US" sz="1400" dirty="0"/>
              <a:t>        if (price &lt; 0) throw new ArgumentException("价格不能为负");</a:t>
            </a:r>
          </a:p>
          <a:p>
            <a:r>
              <a:rPr lang="zh-CN" altLang="en-US" sz="1400" dirty="0"/>
              <a:t>        if (quantity &lt;= 0) throw new ArgumentException("数量必须为正");</a:t>
            </a:r>
          </a:p>
          <a:p>
            <a:r>
              <a:rPr lang="zh-CN" altLang="en-US" sz="1400" dirty="0"/>
              <a:t>        // ... 初始化赋值</a:t>
            </a:r>
          </a:p>
          <a:p>
            <a:r>
              <a:rPr lang="zh-CN" altLang="en-US" sz="1400" dirty="0"/>
              <a:t>    }</a:t>
            </a:r>
          </a:p>
          <a:p>
            <a:r>
              <a:rPr lang="zh-CN" altLang="en-US" sz="1400" dirty="0"/>
              <a:t>    </a:t>
            </a:r>
          </a:p>
          <a:p>
            <a:r>
              <a:rPr lang="zh-CN" altLang="en-US" sz="1400" dirty="0"/>
              <a:t>    // 受控的数量更新方法</a:t>
            </a:r>
          </a:p>
          <a:p>
            <a:r>
              <a:rPr lang="zh-CN" altLang="en-US" sz="1400" dirty="0"/>
              <a:t>    public void UpdateQuantity(int newQuantity)</a:t>
            </a:r>
          </a:p>
          <a:p>
            <a:r>
              <a:rPr lang="zh-CN" altLang="en-US" sz="1400" dirty="0"/>
              <a:t>    {</a:t>
            </a:r>
          </a:p>
          <a:p>
            <a:r>
              <a:rPr lang="zh-CN" altLang="en-US" sz="1400" dirty="0"/>
              <a:t>        if (newQuantity &lt;= 0) throw new ArgumentException("数量必须为正");</a:t>
            </a:r>
          </a:p>
          <a:p>
            <a:r>
              <a:rPr lang="zh-CN" altLang="en-US" sz="1400" dirty="0"/>
              <a:t>        Quantity = newQuantity;</a:t>
            </a:r>
          </a:p>
          <a:p>
            <a:r>
              <a:rPr lang="zh-CN" altLang="en-US" sz="1400" dirty="0"/>
              <a:t>    }</a:t>
            </a:r>
          </a:p>
          <a:p>
            <a:r>
              <a:rPr lang="zh-CN" altLang="en-US" sz="1400" dirty="0"/>
              <a:t>}</a:t>
            </a:r>
          </a:p>
        </p:txBody>
      </p:sp>
      <p:sp>
        <p:nvSpPr>
          <p:cNvPr id="5" name="文本框 4">
            <a:extLst>
              <a:ext uri="{FF2B5EF4-FFF2-40B4-BE49-F238E27FC236}">
                <a16:creationId xmlns:a16="http://schemas.microsoft.com/office/drawing/2014/main" id="{7D1D249E-3239-3A8B-1D53-5C932E4548F9}"/>
              </a:ext>
            </a:extLst>
          </p:cNvPr>
          <p:cNvSpPr txBox="1"/>
          <p:nvPr/>
        </p:nvSpPr>
        <p:spPr>
          <a:xfrm>
            <a:off x="539552" y="548680"/>
            <a:ext cx="4572000" cy="646331"/>
          </a:xfrm>
          <a:prstGeom prst="rect">
            <a:avLst/>
          </a:prstGeom>
          <a:noFill/>
        </p:spPr>
        <p:txBody>
          <a:bodyPr wrap="square">
            <a:spAutoFit/>
          </a:bodyPr>
          <a:lstStyle/>
          <a:p>
            <a:pPr algn="l"/>
            <a:r>
              <a:rPr lang="zh-CN" altLang="en-US" b="1" i="0" dirty="0">
                <a:solidFill>
                  <a:srgbClr val="0F1115"/>
                </a:solidFill>
                <a:effectLst/>
                <a:latin typeface="quote-cjk-patch"/>
              </a:rPr>
              <a:t>数据模型设计</a:t>
            </a:r>
          </a:p>
          <a:p>
            <a:pPr algn="l"/>
            <a:r>
              <a:rPr lang="en-US" altLang="zh-CN" b="1" i="0" dirty="0" err="1">
                <a:solidFill>
                  <a:srgbClr val="0F1115"/>
                </a:solidFill>
                <a:effectLst/>
                <a:latin typeface="quote-cjk-patch"/>
              </a:rPr>
              <a:t>CartItem</a:t>
            </a:r>
            <a:r>
              <a:rPr lang="en-US" altLang="zh-CN" b="1" i="0" dirty="0">
                <a:solidFill>
                  <a:srgbClr val="0F1115"/>
                </a:solidFill>
                <a:effectLst/>
                <a:latin typeface="quote-cjk-patch"/>
              </a:rPr>
              <a:t> - </a:t>
            </a:r>
            <a:r>
              <a:rPr lang="zh-CN" altLang="en-US" b="1" i="0" dirty="0">
                <a:solidFill>
                  <a:srgbClr val="0F1115"/>
                </a:solidFill>
                <a:effectLst/>
                <a:latin typeface="quote-cjk-patch"/>
              </a:rPr>
              <a:t>购物车项设计</a:t>
            </a:r>
          </a:p>
        </p:txBody>
      </p:sp>
    </p:spTree>
    <p:extLst>
      <p:ext uri="{BB962C8B-B14F-4D97-AF65-F5344CB8AC3E}">
        <p14:creationId xmlns:p14="http://schemas.microsoft.com/office/powerpoint/2010/main" val="3476228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E579D7-0CF0-04A2-B8C8-9AF2A768DE2C}"/>
              </a:ext>
            </a:extLst>
          </p:cNvPr>
          <p:cNvSpPr>
            <a:spLocks noChangeArrowheads="1"/>
          </p:cNvSpPr>
          <p:nvPr/>
        </p:nvSpPr>
        <p:spPr bwMode="auto">
          <a:xfrm>
            <a:off x="611560" y="1097015"/>
            <a:ext cx="8352928" cy="55399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F1115"/>
                </a:solidFill>
                <a:effectLst/>
                <a:ea typeface="quote-cjk-patch"/>
              </a:rPr>
              <a:t>构件封装设计</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F1115"/>
                </a:solidFill>
                <a:effectLst/>
                <a:ea typeface="quote-cjk-patch"/>
              </a:rPr>
              <a:t>ShoppingCart - 核心构件实现</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F1115"/>
                </a:solidFill>
                <a:effectLst/>
                <a:ea typeface="var(--ds-font-family-code)"/>
              </a:rPr>
              <a:t>csharp</a:t>
            </a:r>
            <a:endParaRPr kumimoji="0" lang="zh-CN" altLang="zh-CN" b="0" i="0" u="none" strike="noStrike" cap="none" normalizeH="0" baseline="0" dirty="0">
              <a:ln>
                <a:noFill/>
              </a:ln>
              <a:solidFill>
                <a:srgbClr val="0F1115"/>
              </a:solidFill>
              <a:effectLst/>
              <a:ea typeface="quote-cjk-patch"/>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A626A4"/>
                </a:solidFill>
                <a:effectLst/>
                <a:latin typeface="Arial Unicode MS"/>
                <a:ea typeface="var(--ds-font-family-code)"/>
              </a:rPr>
              <a:t>public</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A626A4"/>
                </a:solidFill>
                <a:effectLst/>
                <a:latin typeface="Arial Unicode MS"/>
                <a:ea typeface="var(--ds-font-family-code)"/>
              </a:rPr>
              <a:t>class</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B76B01"/>
                </a:solidFill>
                <a:effectLst/>
                <a:latin typeface="Arial Unicode MS"/>
                <a:ea typeface="var(--ds-font-family-code)"/>
              </a:rPr>
              <a:t>ShoppingCart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endParaRPr kumimoji="0" lang="en-US" altLang="zh-CN" b="0" i="0" u="none" strike="noStrike" cap="none" normalizeH="0" baseline="0" dirty="0">
              <a:ln>
                <a:noFill/>
              </a:ln>
              <a:solidFill>
                <a:srgbClr val="0F1115"/>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1" u="none" strike="noStrike" cap="none" normalizeH="0" baseline="0" dirty="0">
                <a:ln>
                  <a:noFill/>
                </a:ln>
                <a:solidFill>
                  <a:srgbClr val="A0A1A7"/>
                </a:solidFill>
                <a:effectLst/>
                <a:latin typeface="Arial Unicode MS"/>
                <a:ea typeface="var(--ds-font-family-code)"/>
              </a:rPr>
              <a:t>// 🔒 私有核心数据 - 完全封装</a:t>
            </a:r>
            <a:r>
              <a:rPr kumimoji="0" lang="zh-CN" altLang="zh-CN" b="0" i="0" u="none" strike="noStrike" cap="none" normalizeH="0" baseline="0" dirty="0">
                <a:ln>
                  <a:noFill/>
                </a:ln>
                <a:solidFill>
                  <a:srgbClr val="0F1115"/>
                </a:solidFill>
                <a:effectLst/>
                <a:latin typeface="Arial Unicode MS"/>
                <a:ea typeface="var(--ds-font-family-code)"/>
              </a:rPr>
              <a:t> </a:t>
            </a:r>
            <a:endParaRPr kumimoji="0" lang="en-US" altLang="zh-CN" b="0" i="0" u="none" strike="noStrike" cap="none" normalizeH="0" baseline="0" dirty="0">
              <a:ln>
                <a:noFill/>
              </a:ln>
              <a:solidFill>
                <a:srgbClr val="0F1115"/>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A626A4"/>
                </a:solidFill>
                <a:effectLst/>
                <a:latin typeface="Arial Unicode MS"/>
                <a:ea typeface="var(--ds-font-family-code)"/>
              </a:rPr>
              <a:t>private</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A626A4"/>
                </a:solidFill>
                <a:effectLst/>
                <a:latin typeface="Arial Unicode MS"/>
                <a:ea typeface="var(--ds-font-family-code)"/>
              </a:rPr>
              <a:t>readonly</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B76B01"/>
                </a:solidFill>
                <a:effectLst/>
                <a:latin typeface="Arial Unicode MS"/>
                <a:ea typeface="var(--ds-font-family-code)"/>
              </a:rPr>
              <a:t>Dictionary</a:t>
            </a:r>
            <a:r>
              <a:rPr kumimoji="0" lang="zh-CN" altLang="zh-CN" b="0" i="0" u="none" strike="noStrike" cap="none" normalizeH="0" baseline="0" dirty="0">
                <a:ln>
                  <a:noFill/>
                </a:ln>
                <a:solidFill>
                  <a:srgbClr val="383A42"/>
                </a:solidFill>
                <a:effectLst/>
                <a:latin typeface="Arial Unicode MS"/>
                <a:ea typeface="var(--ds-font-family-code)"/>
              </a:rPr>
              <a:t>&lt;</a:t>
            </a:r>
            <a:r>
              <a:rPr kumimoji="0" lang="zh-CN" altLang="zh-CN" b="0" i="0" u="none" strike="noStrike" cap="none" normalizeH="0" baseline="0" dirty="0">
                <a:ln>
                  <a:noFill/>
                </a:ln>
                <a:solidFill>
                  <a:srgbClr val="A626A4"/>
                </a:solidFill>
                <a:effectLst/>
                <a:latin typeface="Arial Unicode MS"/>
                <a:ea typeface="var(--ds-font-family-code)"/>
              </a:rPr>
              <a:t>string</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B76B01"/>
                </a:solidFill>
                <a:effectLst/>
                <a:latin typeface="Arial Unicode MS"/>
                <a:ea typeface="var(--ds-font-family-code)"/>
              </a:rPr>
              <a:t> CartItem</a:t>
            </a:r>
            <a:r>
              <a:rPr kumimoji="0" lang="zh-CN" altLang="zh-CN" b="0" i="0" u="none" strike="noStrike" cap="none" normalizeH="0" baseline="0" dirty="0">
                <a:ln>
                  <a:noFill/>
                </a:ln>
                <a:solidFill>
                  <a:srgbClr val="383A42"/>
                </a:solidFill>
                <a:effectLst/>
                <a:latin typeface="Arial Unicode MS"/>
                <a:ea typeface="var(--ds-font-family-code)"/>
              </a:rPr>
              <a:t>&gt;</a:t>
            </a:r>
            <a:r>
              <a:rPr kumimoji="0" lang="zh-CN" altLang="zh-CN" b="0" i="0" u="none" strike="noStrike" cap="none" normalizeH="0" baseline="0" dirty="0">
                <a:ln>
                  <a:noFill/>
                </a:ln>
                <a:solidFill>
                  <a:srgbClr val="0F1115"/>
                </a:solidFill>
                <a:effectLst/>
                <a:latin typeface="Arial Unicode MS"/>
                <a:ea typeface="var(--ds-font-family-code)"/>
              </a:rPr>
              <a:t> _items </a:t>
            </a:r>
            <a:r>
              <a:rPr kumimoji="0" lang="zh-CN" altLang="zh-CN" b="0" i="0" u="none" strike="noStrike" cap="none" normalizeH="0" baseline="0" dirty="0">
                <a:ln>
                  <a:noFill/>
                </a:ln>
                <a:solidFill>
                  <a:srgbClr val="4078F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A626A4"/>
                </a:solidFill>
                <a:effectLst/>
                <a:latin typeface="Arial Unicode MS"/>
                <a:ea typeface="var(--ds-font-family-code)"/>
              </a:rPr>
              <a:t>new</a:t>
            </a:r>
            <a:r>
              <a:rPr kumimoji="0" lang="zh-CN" altLang="zh-CN" b="0" i="0" u="none" strike="noStrike" cap="none" normalizeH="0" baseline="0" dirty="0">
                <a:ln>
                  <a:noFill/>
                </a:ln>
                <a:solidFill>
                  <a:srgbClr val="383A42"/>
                </a:solidFill>
                <a:effectLst/>
                <a:latin typeface="Arial Unicode MS"/>
                <a:ea typeface="var(--ds-font-family-code)"/>
              </a:rPr>
              <a:t>();</a:t>
            </a:r>
            <a:endParaRPr kumimoji="0" lang="en-US" altLang="zh-CN" b="0" i="0" u="none" strike="noStrike" cap="none" normalizeH="0" baseline="0" dirty="0">
              <a:ln>
                <a:noFill/>
              </a:ln>
              <a:solidFill>
                <a:srgbClr val="383A42"/>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1" u="none" strike="noStrike" cap="none" normalizeH="0" baseline="0" dirty="0">
                <a:ln>
                  <a:noFill/>
                </a:ln>
                <a:solidFill>
                  <a:srgbClr val="A0A1A7"/>
                </a:solidFill>
                <a:effectLst/>
                <a:latin typeface="Arial Unicode MS"/>
                <a:ea typeface="var(--ds-font-family-code)"/>
              </a:rPr>
              <a:t>// 📊 只读状态属性 - 安全暴露</a:t>
            </a:r>
            <a:r>
              <a:rPr kumimoji="0" lang="zh-CN" altLang="zh-CN" b="0" i="0" u="none" strike="noStrike" cap="none" normalizeH="0" baseline="0" dirty="0">
                <a:ln>
                  <a:noFill/>
                </a:ln>
                <a:solidFill>
                  <a:srgbClr val="0F1115"/>
                </a:solidFill>
                <a:effectLst/>
                <a:latin typeface="Arial Unicode MS"/>
                <a:ea typeface="var(--ds-font-family-code)"/>
              </a:rPr>
              <a:t> </a:t>
            </a:r>
            <a:endParaRPr kumimoji="0" lang="en-US" altLang="zh-CN" b="0" i="0" u="none" strike="noStrike" cap="none" normalizeH="0" baseline="0" dirty="0">
              <a:ln>
                <a:noFill/>
              </a:ln>
              <a:solidFill>
                <a:srgbClr val="0F1115"/>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A626A4"/>
                </a:solidFill>
                <a:effectLst/>
                <a:latin typeface="Arial Unicode MS"/>
                <a:ea typeface="var(--ds-font-family-code)"/>
              </a:rPr>
              <a:t>public</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A626A4"/>
                </a:solidFill>
                <a:effectLst/>
                <a:latin typeface="Arial Unicode MS"/>
                <a:ea typeface="var(--ds-font-family-code)"/>
              </a:rPr>
              <a:t>int</a:t>
            </a:r>
            <a:r>
              <a:rPr kumimoji="0" lang="zh-CN" altLang="zh-CN" b="0" i="0" u="none" strike="noStrike" cap="none" normalizeH="0" baseline="0" dirty="0">
                <a:ln>
                  <a:noFill/>
                </a:ln>
                <a:solidFill>
                  <a:srgbClr val="0F1115"/>
                </a:solidFill>
                <a:effectLst/>
                <a:latin typeface="Arial Unicode MS"/>
                <a:ea typeface="var(--ds-font-family-code)"/>
              </a:rPr>
              <a:t> TotalUniqueItems </a:t>
            </a:r>
            <a:r>
              <a:rPr kumimoji="0" lang="zh-CN" altLang="zh-CN" b="0" i="0" u="none" strike="noStrike" cap="none" normalizeH="0" baseline="0" dirty="0">
                <a:ln>
                  <a:noFill/>
                </a:ln>
                <a:solidFill>
                  <a:srgbClr val="4078F2"/>
                </a:solidFill>
                <a:effectLst/>
                <a:latin typeface="Arial Unicode MS"/>
                <a:ea typeface="var(--ds-font-family-code)"/>
              </a:rPr>
              <a:t>=&gt;</a:t>
            </a:r>
            <a:r>
              <a:rPr kumimoji="0" lang="zh-CN" altLang="zh-CN" b="0" i="0" u="none" strike="noStrike" cap="none" normalizeH="0" baseline="0" dirty="0">
                <a:ln>
                  <a:noFill/>
                </a:ln>
                <a:solidFill>
                  <a:srgbClr val="0F1115"/>
                </a:solidFill>
                <a:effectLst/>
                <a:latin typeface="Arial Unicode MS"/>
                <a:ea typeface="var(--ds-font-family-code)"/>
              </a:rPr>
              <a:t> _items</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Count</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endParaRPr kumimoji="0" lang="en-US" altLang="zh-CN" b="0" i="0" u="none" strike="noStrike" cap="none" normalizeH="0" baseline="0" dirty="0">
              <a:ln>
                <a:noFill/>
              </a:ln>
              <a:solidFill>
                <a:srgbClr val="0F1115"/>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A626A4"/>
                </a:solidFill>
                <a:effectLst/>
                <a:latin typeface="Arial Unicode MS"/>
                <a:ea typeface="var(--ds-font-family-code)"/>
              </a:rPr>
              <a:t>public</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A626A4"/>
                </a:solidFill>
                <a:effectLst/>
                <a:latin typeface="Arial Unicode MS"/>
                <a:ea typeface="var(--ds-font-family-code)"/>
              </a:rPr>
              <a:t>bool</a:t>
            </a:r>
            <a:r>
              <a:rPr kumimoji="0" lang="zh-CN" altLang="zh-CN" b="0" i="0" u="none" strike="noStrike" cap="none" normalizeH="0" baseline="0" dirty="0">
                <a:ln>
                  <a:noFill/>
                </a:ln>
                <a:solidFill>
                  <a:srgbClr val="0F1115"/>
                </a:solidFill>
                <a:effectLst/>
                <a:latin typeface="Arial Unicode MS"/>
                <a:ea typeface="var(--ds-font-family-code)"/>
              </a:rPr>
              <a:t> IsEmpty </a:t>
            </a:r>
            <a:r>
              <a:rPr kumimoji="0" lang="zh-CN" altLang="zh-CN" b="0" i="0" u="none" strike="noStrike" cap="none" normalizeH="0" baseline="0" dirty="0">
                <a:ln>
                  <a:noFill/>
                </a:ln>
                <a:solidFill>
                  <a:srgbClr val="4078F2"/>
                </a:solidFill>
                <a:effectLst/>
                <a:latin typeface="Arial Unicode MS"/>
                <a:ea typeface="var(--ds-font-family-code)"/>
              </a:rPr>
              <a:t>=&gt;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4078F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_items</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4078F2"/>
                </a:solidFill>
                <a:effectLst/>
                <a:latin typeface="Arial Unicode MS"/>
                <a:ea typeface="var(--ds-font-family-code)"/>
              </a:rPr>
              <a:t>Any</a:t>
            </a:r>
            <a:r>
              <a:rPr kumimoji="0" lang="zh-CN" altLang="zh-CN" b="0" i="0" u="none" strike="noStrike" cap="none" normalizeH="0" baseline="0" dirty="0">
                <a:ln>
                  <a:noFill/>
                </a:ln>
                <a:solidFill>
                  <a:srgbClr val="383A42"/>
                </a:solidFill>
                <a:effectLst/>
                <a:latin typeface="Arial Unicode MS"/>
                <a:ea typeface="var(--ds-font-family-code)"/>
              </a:rPr>
              <a:t>();</a:t>
            </a:r>
            <a:endParaRPr kumimoji="0" lang="en-US" altLang="zh-CN" b="0" i="0" u="none" strike="noStrike" cap="none" normalizeH="0" baseline="0" dirty="0">
              <a:ln>
                <a:noFill/>
              </a:ln>
              <a:solidFill>
                <a:srgbClr val="383A42"/>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1" u="none" strike="noStrike" cap="none" normalizeH="0" baseline="0" dirty="0">
                <a:ln>
                  <a:noFill/>
                </a:ln>
                <a:solidFill>
                  <a:srgbClr val="A0A1A7"/>
                </a:solidFill>
                <a:effectLst/>
                <a:latin typeface="Arial Unicode MS"/>
                <a:ea typeface="var(--ds-font-family-code)"/>
              </a:rPr>
              <a:t>// 🎯 公共操作接口 - 受控访问</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A626A4"/>
                </a:solidFill>
                <a:effectLst/>
                <a:latin typeface="Arial Unicode MS"/>
                <a:ea typeface="var(--ds-font-family-code)"/>
              </a:rPr>
              <a:t>public</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A626A4"/>
                </a:solidFill>
                <a:effectLst/>
                <a:latin typeface="Arial Unicode MS"/>
                <a:ea typeface="var(--ds-font-family-code)"/>
              </a:rPr>
              <a:t>void</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4078F2"/>
                </a:solidFill>
                <a:effectLst/>
                <a:latin typeface="Arial Unicode MS"/>
                <a:ea typeface="var(--ds-font-family-code)"/>
              </a:rPr>
              <a:t>AddItem</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A626A4"/>
                </a:solidFill>
                <a:effectLst/>
                <a:latin typeface="Arial Unicode MS"/>
                <a:ea typeface="var(--ds-font-family-code)"/>
              </a:rPr>
              <a:t>string</a:t>
            </a:r>
            <a:r>
              <a:rPr kumimoji="0" lang="zh-CN" altLang="zh-CN" b="0" i="0" u="none" strike="noStrike" cap="none" normalizeH="0" baseline="0" dirty="0">
                <a:ln>
                  <a:noFill/>
                </a:ln>
                <a:solidFill>
                  <a:srgbClr val="0F1115"/>
                </a:solidFill>
                <a:effectLst/>
                <a:latin typeface="Arial Unicode MS"/>
                <a:ea typeface="var(--ds-font-family-code)"/>
              </a:rPr>
              <a:t> productId</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A626A4"/>
                </a:solidFill>
                <a:effectLst/>
                <a:latin typeface="Arial Unicode MS"/>
                <a:ea typeface="var(--ds-font-family-code)"/>
              </a:rPr>
              <a:t>string</a:t>
            </a:r>
            <a:r>
              <a:rPr kumimoji="0" lang="zh-CN" altLang="zh-CN" b="0" i="0" u="none" strike="noStrike" cap="none" normalizeH="0" baseline="0" dirty="0">
                <a:ln>
                  <a:noFill/>
                </a:ln>
                <a:solidFill>
                  <a:srgbClr val="0F1115"/>
                </a:solidFill>
                <a:effectLst/>
                <a:latin typeface="Arial Unicode MS"/>
                <a:ea typeface="var(--ds-font-family-code)"/>
              </a:rPr>
              <a:t> name</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A626A4"/>
                </a:solidFill>
                <a:effectLst/>
                <a:latin typeface="Arial Unicode MS"/>
                <a:ea typeface="var(--ds-font-family-code)"/>
              </a:rPr>
              <a:t>decimal</a:t>
            </a:r>
            <a:r>
              <a:rPr kumimoji="0" lang="zh-CN" altLang="zh-CN" b="0" i="0" u="none" strike="noStrike" cap="none" normalizeH="0" baseline="0" dirty="0">
                <a:ln>
                  <a:noFill/>
                </a:ln>
                <a:solidFill>
                  <a:srgbClr val="0F1115"/>
                </a:solidFill>
                <a:effectLst/>
                <a:latin typeface="Arial Unicode MS"/>
                <a:ea typeface="var(--ds-font-family-code)"/>
              </a:rPr>
              <a:t> price</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A626A4"/>
                </a:solidFill>
                <a:effectLst/>
                <a:latin typeface="Arial Unicode MS"/>
                <a:ea typeface="var(--ds-font-family-code)"/>
              </a:rPr>
              <a:t>int</a:t>
            </a:r>
            <a:r>
              <a:rPr kumimoji="0" lang="zh-CN" altLang="zh-CN" b="0" i="0" u="none" strike="noStrike" cap="none" normalizeH="0" baseline="0" dirty="0">
                <a:ln>
                  <a:noFill/>
                </a:ln>
                <a:solidFill>
                  <a:srgbClr val="0F1115"/>
                </a:solidFill>
                <a:effectLst/>
                <a:latin typeface="Arial Unicode MS"/>
                <a:ea typeface="var(--ds-font-family-code)"/>
              </a:rPr>
              <a:t> quantity</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endParaRPr kumimoji="0" lang="en-US" altLang="zh-CN" b="0" i="0" u="none" strike="noStrike" cap="none" normalizeH="0" baseline="0" dirty="0">
              <a:ln>
                <a:noFill/>
              </a:ln>
              <a:solidFill>
                <a:srgbClr val="0F1115"/>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1" u="none" strike="noStrike" cap="none" normalizeH="0" baseline="0" dirty="0">
                <a:ln>
                  <a:noFill/>
                </a:ln>
                <a:solidFill>
                  <a:srgbClr val="A0A1A7"/>
                </a:solidFill>
                <a:effectLst/>
                <a:latin typeface="Arial Unicode MS"/>
                <a:ea typeface="var(--ds-font-family-code)"/>
              </a:rPr>
              <a:t>// 封装复杂的添加逻辑</a:t>
            </a:r>
            <a:r>
              <a:rPr kumimoji="0" lang="zh-CN" altLang="zh-CN" b="0" i="0" u="none" strike="noStrike" cap="none" normalizeH="0" baseline="0" dirty="0">
                <a:ln>
                  <a:noFill/>
                </a:ln>
                <a:solidFill>
                  <a:srgbClr val="0F1115"/>
                </a:solidFill>
                <a:effectLst/>
                <a:latin typeface="Arial Unicode MS"/>
                <a:ea typeface="var(--ds-font-family-code)"/>
              </a:rPr>
              <a:t> </a:t>
            </a:r>
            <a:endParaRPr kumimoji="0" lang="en-US" altLang="zh-CN" b="0" i="0" u="none" strike="noStrike" cap="none" normalizeH="0" baseline="0" dirty="0">
              <a:ln>
                <a:noFill/>
              </a:ln>
              <a:solidFill>
                <a:srgbClr val="0F1115"/>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A626A4"/>
                </a:solidFill>
                <a:effectLst/>
                <a:latin typeface="Arial Unicode MS"/>
                <a:ea typeface="var(--ds-font-family-code)"/>
              </a:rPr>
              <a:t>if</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_items</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4078F2"/>
                </a:solidFill>
                <a:effectLst/>
                <a:latin typeface="Arial Unicode MS"/>
                <a:ea typeface="var(--ds-font-family-code)"/>
              </a:rPr>
              <a:t>ContainsKey</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productId</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endParaRPr kumimoji="0" lang="en-US" altLang="zh-CN" b="0" i="0" u="none" strike="noStrike" cap="none" normalizeH="0" baseline="0" dirty="0">
              <a:ln>
                <a:noFill/>
              </a:ln>
              <a:solidFill>
                <a:srgbClr val="0F1115"/>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1" u="none" strike="noStrike" cap="none" normalizeH="0" baseline="0" dirty="0">
                <a:ln>
                  <a:noFill/>
                </a:ln>
                <a:solidFill>
                  <a:srgbClr val="A0A1A7"/>
                </a:solidFill>
                <a:effectLst/>
                <a:latin typeface="Arial Unicode MS"/>
                <a:ea typeface="var(--ds-font-family-code)"/>
              </a:rPr>
              <a:t>// 更新现有项</a:t>
            </a:r>
            <a:r>
              <a:rPr kumimoji="0" lang="zh-CN" altLang="zh-CN" b="0" i="0" u="none" strike="noStrike" cap="none" normalizeH="0" baseline="0" dirty="0">
                <a:ln>
                  <a:noFill/>
                </a:ln>
                <a:solidFill>
                  <a:srgbClr val="0F1115"/>
                </a:solidFill>
                <a:effectLst/>
                <a:latin typeface="Arial Unicode MS"/>
                <a:ea typeface="var(--ds-font-family-code)"/>
              </a:rPr>
              <a:t> </a:t>
            </a:r>
            <a:endParaRPr kumimoji="0" lang="en-US" altLang="zh-CN" b="0" i="0" u="none" strike="noStrike" cap="none" normalizeH="0" baseline="0" dirty="0">
              <a:ln>
                <a:noFill/>
              </a:ln>
              <a:solidFill>
                <a:srgbClr val="0F1115"/>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A626A4"/>
                </a:solidFill>
                <a:effectLst/>
                <a:latin typeface="Arial Unicode MS"/>
                <a:ea typeface="var(--ds-font-family-code)"/>
              </a:rPr>
              <a:t>var</a:t>
            </a:r>
            <a:r>
              <a:rPr kumimoji="0" lang="zh-CN" altLang="zh-CN" b="0" i="0" u="none" strike="noStrike" cap="none" normalizeH="0" baseline="0" dirty="0">
                <a:ln>
                  <a:noFill/>
                </a:ln>
                <a:solidFill>
                  <a:srgbClr val="0F1115"/>
                </a:solidFill>
                <a:effectLst/>
                <a:latin typeface="Arial Unicode MS"/>
                <a:ea typeface="var(--ds-font-family-code)"/>
              </a:rPr>
              <a:t> existing </a:t>
            </a:r>
            <a:r>
              <a:rPr kumimoji="0" lang="zh-CN" altLang="zh-CN" b="0" i="0" u="none" strike="noStrike" cap="none" normalizeH="0" baseline="0" dirty="0">
                <a:ln>
                  <a:noFill/>
                </a:ln>
                <a:solidFill>
                  <a:srgbClr val="4078F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_items</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productId</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existing</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4078F2"/>
                </a:solidFill>
                <a:effectLst/>
                <a:latin typeface="Arial Unicode MS"/>
                <a:ea typeface="var(--ds-font-family-code)"/>
              </a:rPr>
              <a:t>UpdateQuantity</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existing</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Quantity </a:t>
            </a:r>
            <a:r>
              <a:rPr kumimoji="0" lang="zh-CN" altLang="zh-CN" b="0" i="0" u="none" strike="noStrike" cap="none" normalizeH="0" baseline="0" dirty="0">
                <a:ln>
                  <a:noFill/>
                </a:ln>
                <a:solidFill>
                  <a:srgbClr val="4078F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quantity</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383A42"/>
                </a:solidFill>
                <a:effectLst/>
                <a:latin typeface="Arial Unicode MS"/>
                <a:ea typeface="var(--ds-font-family-code)"/>
              </a:rPr>
              <a:t>}</a:t>
            </a:r>
            <a:endParaRPr kumimoji="0" lang="en-US" altLang="zh-CN" b="0" i="0" u="none" strike="noStrike" cap="none" normalizeH="0" baseline="0" dirty="0">
              <a:ln>
                <a:noFill/>
              </a:ln>
              <a:solidFill>
                <a:srgbClr val="383A42"/>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A626A4"/>
                </a:solidFill>
                <a:effectLst/>
                <a:latin typeface="Arial Unicode MS"/>
                <a:ea typeface="var(--ds-font-family-code)"/>
              </a:rPr>
              <a:t>else</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383A42"/>
                </a:solidFill>
                <a:effectLst/>
                <a:latin typeface="Arial Unicode MS"/>
                <a:ea typeface="var(--ds-font-family-code)"/>
              </a:rPr>
              <a:t>{</a:t>
            </a:r>
            <a:endParaRPr kumimoji="0" lang="en-US" altLang="zh-CN" b="0" i="0" u="none" strike="noStrike" cap="none" normalizeH="0" baseline="0" dirty="0">
              <a:ln>
                <a:noFill/>
              </a:ln>
              <a:solidFill>
                <a:srgbClr val="383A42"/>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1" u="none" strike="noStrike" cap="none" normalizeH="0" baseline="0" dirty="0">
                <a:ln>
                  <a:noFill/>
                </a:ln>
                <a:solidFill>
                  <a:srgbClr val="A0A1A7"/>
                </a:solidFill>
                <a:effectLst/>
                <a:latin typeface="Arial Unicode MS"/>
                <a:ea typeface="var(--ds-font-family-code)"/>
              </a:rPr>
              <a:t>// 创建新项</a:t>
            </a:r>
            <a:r>
              <a:rPr kumimoji="0" lang="zh-CN" altLang="zh-CN" b="0" i="0" u="none" strike="noStrike" cap="none" normalizeH="0" baseline="0" dirty="0">
                <a:ln>
                  <a:noFill/>
                </a:ln>
                <a:solidFill>
                  <a:srgbClr val="0F1115"/>
                </a:solidFill>
                <a:effectLst/>
                <a:latin typeface="Arial Unicode MS"/>
                <a:ea typeface="var(--ds-font-family-code)"/>
              </a:rPr>
              <a:t> </a:t>
            </a:r>
            <a:endParaRPr kumimoji="0" lang="en-US" altLang="zh-CN" b="0" i="0" u="none" strike="noStrike" cap="none" normalizeH="0" baseline="0" dirty="0">
              <a:ln>
                <a:noFill/>
              </a:ln>
              <a:solidFill>
                <a:srgbClr val="0F1115"/>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F1115"/>
                </a:solidFill>
                <a:effectLst/>
                <a:latin typeface="Arial Unicode MS"/>
                <a:ea typeface="var(--ds-font-family-code)"/>
              </a:rPr>
              <a:t>_items</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productId</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4078F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A626A4"/>
                </a:solidFill>
                <a:effectLst/>
                <a:latin typeface="Arial Unicode MS"/>
                <a:ea typeface="var(--ds-font-family-code)"/>
              </a:rPr>
              <a:t>new</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B76B01"/>
                </a:solidFill>
                <a:effectLst/>
                <a:latin typeface="Arial Unicode MS"/>
                <a:ea typeface="var(--ds-font-family-code)"/>
              </a:rPr>
              <a:t>CartItem</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productId</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name</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price</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quantity</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383A42"/>
                </a:solidFill>
                <a:effectLst/>
                <a:latin typeface="Arial Unicode MS"/>
                <a:ea typeface="var(--ds-font-family-code)"/>
              </a:rPr>
              <a:t>}</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1" u="none" strike="noStrike" cap="none" normalizeH="0" baseline="0" dirty="0">
                <a:ln>
                  <a:noFill/>
                </a:ln>
                <a:solidFill>
                  <a:srgbClr val="A0A1A7"/>
                </a:solidFill>
                <a:effectLst/>
                <a:latin typeface="Arial Unicode MS"/>
                <a:ea typeface="var(--ds-font-family-code)"/>
              </a:rPr>
              <a:t>/</a:t>
            </a:r>
            <a:endParaRPr kumimoji="0" lang="en-US" altLang="zh-CN" b="0" i="1" u="none" strike="noStrike" cap="none" normalizeH="0" baseline="0" dirty="0">
              <a:ln>
                <a:noFill/>
              </a:ln>
              <a:solidFill>
                <a:srgbClr val="A0A1A7"/>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1" u="none" strike="noStrike" cap="none" normalizeH="0" baseline="0" dirty="0">
                <a:ln>
                  <a:noFill/>
                </a:ln>
                <a:solidFill>
                  <a:srgbClr val="A0A1A7"/>
                </a:solidFill>
                <a:effectLst/>
                <a:latin typeface="Arial Unicode MS"/>
                <a:ea typeface="var(--ds-font-family-code)"/>
              </a:rPr>
              <a:t>/ 其他方法：RemoveItem, UpdateQuantity, CalculateTotalPrice...</a:t>
            </a:r>
            <a:r>
              <a:rPr kumimoji="0" lang="zh-CN" altLang="zh-CN" b="0" i="0" u="none" strike="noStrike" cap="none" normalizeH="0" baseline="0" dirty="0">
                <a:ln>
                  <a:noFill/>
                </a:ln>
                <a:solidFill>
                  <a:srgbClr val="0F1115"/>
                </a:solidFill>
                <a:effectLst/>
                <a:latin typeface="Arial Unicode MS"/>
                <a:ea typeface="var(--ds-font-family-code)"/>
              </a:rPr>
              <a:t> </a:t>
            </a:r>
            <a:r>
              <a:rPr kumimoji="0" lang="zh-CN" altLang="zh-CN" b="0" i="0" u="none" strike="noStrike" cap="none" normalizeH="0" baseline="0" dirty="0">
                <a:ln>
                  <a:noFill/>
                </a:ln>
                <a:solidFill>
                  <a:srgbClr val="383A42"/>
                </a:solidFill>
                <a:effectLst/>
                <a:latin typeface="Arial Unicode MS"/>
                <a:ea typeface="var(--ds-font-family-code)"/>
              </a:rPr>
              <a:t>}</a:t>
            </a:r>
            <a:endParaRPr kumimoji="0" lang="zh-CN" altLang="zh-CN"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974336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6B1C7F-E03F-A5FC-4D17-483DBF82977F}"/>
              </a:ext>
            </a:extLst>
          </p:cNvPr>
          <p:cNvSpPr>
            <a:spLocks noChangeArrowheads="1"/>
          </p:cNvSpPr>
          <p:nvPr/>
        </p:nvSpPr>
        <p:spPr bwMode="auto">
          <a:xfrm>
            <a:off x="179512" y="1730717"/>
            <a:ext cx="8388424" cy="461664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F1115"/>
                </a:solidFill>
                <a:effectLst/>
                <a:ea typeface="quote-cjk-patch"/>
              </a:rPr>
              <a:t>接口设计策略</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F1115"/>
                </a:solidFill>
                <a:effectLst/>
                <a:ea typeface="quote-cjk-patch"/>
              </a:rPr>
              <a:t>数据暴露与访问控制</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F1115"/>
                </a:solidFill>
                <a:effectLst/>
                <a:ea typeface="quote-cjk-patch"/>
              </a:rPr>
              <a:t>安全的只读访问：</a:t>
            </a:r>
            <a:endParaRPr kumimoji="0" lang="zh-CN" altLang="zh-CN"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F1115"/>
                </a:solidFill>
                <a:effectLst/>
                <a:ea typeface="var(--ds-font-family-code)"/>
              </a:rPr>
              <a:t>csharp</a:t>
            </a:r>
            <a:endParaRPr kumimoji="0" lang="zh-CN" altLang="zh-CN" sz="2000" b="0" i="0" u="none" strike="noStrike" cap="none" normalizeH="0" baseline="0" dirty="0">
              <a:ln>
                <a:noFill/>
              </a:ln>
              <a:solidFill>
                <a:srgbClr val="0F1115"/>
              </a:solidFill>
              <a:effectLst/>
              <a:ea typeface="quote-cjk-patch"/>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1" u="none" strike="noStrike" cap="none" normalizeH="0" baseline="0" dirty="0">
                <a:ln>
                  <a:noFill/>
                </a:ln>
                <a:solidFill>
                  <a:srgbClr val="A0A1A7"/>
                </a:solidFill>
                <a:effectLst/>
                <a:latin typeface="Arial Unicode MS"/>
                <a:ea typeface="var(--ds-font-family-code)"/>
              </a:rPr>
              <a:t>// ✅ 安全：返回只读副本</a:t>
            </a:r>
            <a:r>
              <a:rPr kumimoji="0" lang="zh-CN" altLang="zh-CN" sz="2000" b="0" i="0" u="none" strike="noStrike" cap="none" normalizeH="0" baseline="0" dirty="0">
                <a:ln>
                  <a:noFill/>
                </a:ln>
                <a:solidFill>
                  <a:srgbClr val="0F1115"/>
                </a:solidFill>
                <a:effectLst/>
                <a:latin typeface="Arial Unicode MS"/>
                <a:ea typeface="var(--ds-font-family-code)"/>
              </a:rPr>
              <a:t> </a:t>
            </a:r>
            <a:endParaRPr kumimoji="0" lang="en-US" altLang="zh-CN" sz="2000" b="0" i="0" u="none" strike="noStrike" cap="none" normalizeH="0" baseline="0" dirty="0">
              <a:ln>
                <a:noFill/>
              </a:ln>
              <a:solidFill>
                <a:srgbClr val="0F1115"/>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A626A4"/>
                </a:solidFill>
                <a:effectLst/>
                <a:latin typeface="Arial Unicode MS"/>
                <a:ea typeface="var(--ds-font-family-code)"/>
              </a:rPr>
              <a:t>public</a:t>
            </a:r>
            <a:r>
              <a:rPr kumimoji="0" lang="zh-CN" altLang="zh-CN" sz="2000" b="0" i="0" u="none" strike="noStrike" cap="none" normalizeH="0" baseline="0" dirty="0">
                <a:ln>
                  <a:noFill/>
                </a:ln>
                <a:solidFill>
                  <a:srgbClr val="0F1115"/>
                </a:solidFill>
                <a:effectLst/>
                <a:latin typeface="Arial Unicode MS"/>
                <a:ea typeface="var(--ds-font-family-code)"/>
              </a:rPr>
              <a:t> </a:t>
            </a:r>
            <a:r>
              <a:rPr kumimoji="0" lang="zh-CN" altLang="zh-CN" sz="2000" b="0" i="0" u="none" strike="noStrike" cap="none" normalizeH="0" baseline="0" dirty="0">
                <a:ln>
                  <a:noFill/>
                </a:ln>
                <a:solidFill>
                  <a:srgbClr val="B76B01"/>
                </a:solidFill>
                <a:effectLst/>
                <a:latin typeface="Arial Unicode MS"/>
                <a:ea typeface="var(--ds-font-family-code)"/>
              </a:rPr>
              <a:t>IReadOnlyCollection</a:t>
            </a:r>
            <a:r>
              <a:rPr kumimoji="0" lang="zh-CN" altLang="zh-CN" sz="2000" b="0" i="0" u="none" strike="noStrike" cap="none" normalizeH="0" baseline="0" dirty="0">
                <a:ln>
                  <a:noFill/>
                </a:ln>
                <a:solidFill>
                  <a:srgbClr val="383A42"/>
                </a:solidFill>
                <a:effectLst/>
                <a:latin typeface="Arial Unicode MS"/>
                <a:ea typeface="var(--ds-font-family-code)"/>
              </a:rPr>
              <a:t>&lt;</a:t>
            </a:r>
            <a:r>
              <a:rPr kumimoji="0" lang="zh-CN" altLang="zh-CN" sz="2000" b="0" i="0" u="none" strike="noStrike" cap="none" normalizeH="0" baseline="0" dirty="0">
                <a:ln>
                  <a:noFill/>
                </a:ln>
                <a:solidFill>
                  <a:srgbClr val="B76B01"/>
                </a:solidFill>
                <a:effectLst/>
                <a:latin typeface="Arial Unicode MS"/>
                <a:ea typeface="var(--ds-font-family-code)"/>
              </a:rPr>
              <a:t>CartItem</a:t>
            </a:r>
            <a:r>
              <a:rPr kumimoji="0" lang="zh-CN" altLang="zh-CN" sz="2000" b="0" i="0" u="none" strike="noStrike" cap="none" normalizeH="0" baseline="0" dirty="0">
                <a:ln>
                  <a:noFill/>
                </a:ln>
                <a:solidFill>
                  <a:srgbClr val="383A42"/>
                </a:solidFill>
                <a:effectLst/>
                <a:latin typeface="Arial Unicode MS"/>
                <a:ea typeface="var(--ds-font-family-code)"/>
              </a:rPr>
              <a:t>&gt;</a:t>
            </a:r>
            <a:r>
              <a:rPr kumimoji="0" lang="zh-CN" altLang="zh-CN" sz="2000" b="0" i="0" u="none" strike="noStrike" cap="none" normalizeH="0" baseline="0" dirty="0">
                <a:ln>
                  <a:noFill/>
                </a:ln>
                <a:solidFill>
                  <a:srgbClr val="0F1115"/>
                </a:solidFill>
                <a:effectLst/>
                <a:latin typeface="Arial Unicode MS"/>
                <a:ea typeface="var(--ds-font-family-code)"/>
              </a:rPr>
              <a:t> </a:t>
            </a:r>
            <a:r>
              <a:rPr kumimoji="0" lang="zh-CN" altLang="zh-CN" sz="2000" b="0" i="0" u="none" strike="noStrike" cap="none" normalizeH="0" baseline="0" dirty="0">
                <a:ln>
                  <a:noFill/>
                </a:ln>
                <a:solidFill>
                  <a:srgbClr val="4078F2"/>
                </a:solidFill>
                <a:effectLst/>
                <a:latin typeface="Arial Unicode MS"/>
                <a:ea typeface="var(--ds-font-family-code)"/>
              </a:rPr>
              <a:t>GetItems</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0F1115"/>
                </a:solidFill>
                <a:effectLst/>
                <a:latin typeface="Arial Unicode MS"/>
                <a:ea typeface="var(--ds-font-family-code)"/>
              </a:rPr>
              <a:t> </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0F1115"/>
                </a:solidFill>
                <a:effectLst/>
                <a:latin typeface="Arial Unicode MS"/>
                <a:ea typeface="var(--ds-font-family-code)"/>
              </a:rPr>
              <a:t> </a:t>
            </a:r>
            <a:endParaRPr kumimoji="0" lang="en-US" altLang="zh-CN" sz="2000" b="0" i="0" u="none" strike="noStrike" cap="none" normalizeH="0" baseline="0" dirty="0">
              <a:ln>
                <a:noFill/>
              </a:ln>
              <a:solidFill>
                <a:srgbClr val="0F1115"/>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A626A4"/>
                </a:solidFill>
                <a:effectLst/>
                <a:latin typeface="Arial Unicode MS"/>
                <a:ea typeface="var(--ds-font-family-code)"/>
              </a:rPr>
              <a:t>return</a:t>
            </a:r>
            <a:r>
              <a:rPr kumimoji="0" lang="zh-CN" altLang="zh-CN" sz="2000" b="0" i="0" u="none" strike="noStrike" cap="none" normalizeH="0" baseline="0" dirty="0">
                <a:ln>
                  <a:noFill/>
                </a:ln>
                <a:solidFill>
                  <a:srgbClr val="0F1115"/>
                </a:solidFill>
                <a:effectLst/>
                <a:latin typeface="Arial Unicode MS"/>
                <a:ea typeface="var(--ds-font-family-code)"/>
              </a:rPr>
              <a:t> _items</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0F1115"/>
                </a:solidFill>
                <a:effectLst/>
                <a:latin typeface="Arial Unicode MS"/>
                <a:ea typeface="var(--ds-font-family-code)"/>
              </a:rPr>
              <a:t>Values</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4078F2"/>
                </a:solidFill>
                <a:effectLst/>
                <a:latin typeface="Arial Unicode MS"/>
                <a:ea typeface="var(--ds-font-family-code)"/>
              </a:rPr>
              <a:t>ToList</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4078F2"/>
                </a:solidFill>
                <a:effectLst/>
                <a:latin typeface="Arial Unicode MS"/>
                <a:ea typeface="var(--ds-font-family-code)"/>
              </a:rPr>
              <a:t>AsReadOnly</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0F1115"/>
                </a:solidFill>
                <a:effectLst/>
                <a:latin typeface="Arial Unicode MS"/>
                <a:ea typeface="var(--ds-font-family-code)"/>
              </a:rPr>
              <a:t> </a:t>
            </a:r>
            <a:r>
              <a:rPr kumimoji="0" lang="zh-CN" altLang="zh-CN" sz="2000" b="0" i="0" u="none" strike="noStrike" cap="none" normalizeH="0" baseline="0" dirty="0">
                <a:ln>
                  <a:noFill/>
                </a:ln>
                <a:solidFill>
                  <a:srgbClr val="383A42"/>
                </a:solidFill>
                <a:effectLst/>
                <a:latin typeface="Arial Unicode MS"/>
                <a:ea typeface="var(--ds-font-family-code)"/>
              </a:rPr>
              <a:t>}</a:t>
            </a:r>
            <a:endParaRPr kumimoji="0" lang="en-US" altLang="zh-CN" sz="2000" b="0" i="0" u="none" strike="noStrike" cap="none" normalizeH="0" baseline="0" dirty="0">
              <a:ln>
                <a:noFill/>
              </a:ln>
              <a:solidFill>
                <a:srgbClr val="383A42"/>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F1115"/>
                </a:solidFill>
                <a:effectLst/>
                <a:latin typeface="Arial Unicode MS"/>
                <a:ea typeface="var(--ds-font-family-code)"/>
              </a:rPr>
              <a:t> </a:t>
            </a:r>
            <a:r>
              <a:rPr kumimoji="0" lang="zh-CN" altLang="zh-CN" sz="2000" b="0" i="1" u="none" strike="noStrike" cap="none" normalizeH="0" baseline="0" dirty="0">
                <a:ln>
                  <a:noFill/>
                </a:ln>
                <a:solidFill>
                  <a:srgbClr val="A0A1A7"/>
                </a:solidFill>
                <a:effectLst/>
                <a:latin typeface="Arial Unicode MS"/>
                <a:ea typeface="var(--ds-font-family-code)"/>
              </a:rPr>
              <a:t>// ❌ 危险：直接暴露内部集合</a:t>
            </a:r>
            <a:r>
              <a:rPr kumimoji="0" lang="zh-CN" altLang="zh-CN" sz="2000" b="0" i="0" u="none" strike="noStrike" cap="none" normalizeH="0" baseline="0" dirty="0">
                <a:ln>
                  <a:noFill/>
                </a:ln>
                <a:solidFill>
                  <a:srgbClr val="0F1115"/>
                </a:solidFill>
                <a:effectLst/>
                <a:latin typeface="Arial Unicode MS"/>
                <a:ea typeface="var(--ds-font-family-code)"/>
              </a:rPr>
              <a:t> </a:t>
            </a:r>
            <a:endParaRPr kumimoji="0" lang="en-US" altLang="zh-CN" sz="2000" b="0" i="0" u="none" strike="noStrike" cap="none" normalizeH="0" baseline="0" dirty="0">
              <a:ln>
                <a:noFill/>
              </a:ln>
              <a:solidFill>
                <a:srgbClr val="0F1115"/>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A626A4"/>
                </a:solidFill>
                <a:effectLst/>
                <a:latin typeface="Arial Unicode MS"/>
                <a:ea typeface="var(--ds-font-family-code)"/>
              </a:rPr>
              <a:t>public</a:t>
            </a:r>
            <a:r>
              <a:rPr kumimoji="0" lang="zh-CN" altLang="zh-CN" sz="2000" b="0" i="0" u="none" strike="noStrike" cap="none" normalizeH="0" baseline="0" dirty="0">
                <a:ln>
                  <a:noFill/>
                </a:ln>
                <a:solidFill>
                  <a:srgbClr val="0F1115"/>
                </a:solidFill>
                <a:effectLst/>
                <a:latin typeface="Arial Unicode MS"/>
                <a:ea typeface="var(--ds-font-family-code)"/>
              </a:rPr>
              <a:t> </a:t>
            </a:r>
            <a:r>
              <a:rPr kumimoji="0" lang="zh-CN" altLang="zh-CN" sz="2000" b="0" i="0" u="none" strike="noStrike" cap="none" normalizeH="0" baseline="0" dirty="0">
                <a:ln>
                  <a:noFill/>
                </a:ln>
                <a:solidFill>
                  <a:srgbClr val="B76B01"/>
                </a:solidFill>
                <a:effectLst/>
                <a:latin typeface="Arial Unicode MS"/>
                <a:ea typeface="var(--ds-font-family-code)"/>
              </a:rPr>
              <a:t>Dictionary</a:t>
            </a:r>
            <a:r>
              <a:rPr kumimoji="0" lang="zh-CN" altLang="zh-CN" sz="2000" b="0" i="0" u="none" strike="noStrike" cap="none" normalizeH="0" baseline="0" dirty="0">
                <a:ln>
                  <a:noFill/>
                </a:ln>
                <a:solidFill>
                  <a:srgbClr val="383A42"/>
                </a:solidFill>
                <a:effectLst/>
                <a:latin typeface="Arial Unicode MS"/>
                <a:ea typeface="var(--ds-font-family-code)"/>
              </a:rPr>
              <a:t>&lt;</a:t>
            </a:r>
            <a:r>
              <a:rPr kumimoji="0" lang="zh-CN" altLang="zh-CN" sz="2000" b="0" i="0" u="none" strike="noStrike" cap="none" normalizeH="0" baseline="0" dirty="0">
                <a:ln>
                  <a:noFill/>
                </a:ln>
                <a:solidFill>
                  <a:srgbClr val="A626A4"/>
                </a:solidFill>
                <a:effectLst/>
                <a:latin typeface="Arial Unicode MS"/>
                <a:ea typeface="var(--ds-font-family-code)"/>
              </a:rPr>
              <a:t>string</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B76B01"/>
                </a:solidFill>
                <a:effectLst/>
                <a:latin typeface="Arial Unicode MS"/>
                <a:ea typeface="var(--ds-font-family-code)"/>
              </a:rPr>
              <a:t> CartItem</a:t>
            </a:r>
            <a:r>
              <a:rPr kumimoji="0" lang="zh-CN" altLang="zh-CN" sz="2000" b="0" i="0" u="none" strike="noStrike" cap="none" normalizeH="0" baseline="0" dirty="0">
                <a:ln>
                  <a:noFill/>
                </a:ln>
                <a:solidFill>
                  <a:srgbClr val="383A42"/>
                </a:solidFill>
                <a:effectLst/>
                <a:latin typeface="Arial Unicode MS"/>
                <a:ea typeface="var(--ds-font-family-code)"/>
              </a:rPr>
              <a:t>&gt;</a:t>
            </a:r>
            <a:r>
              <a:rPr kumimoji="0" lang="zh-CN" altLang="zh-CN" sz="2000" b="0" i="0" u="none" strike="noStrike" cap="none" normalizeH="0" baseline="0" dirty="0">
                <a:ln>
                  <a:noFill/>
                </a:ln>
                <a:solidFill>
                  <a:srgbClr val="0F1115"/>
                </a:solidFill>
                <a:effectLst/>
                <a:latin typeface="Arial Unicode MS"/>
                <a:ea typeface="var(--ds-font-family-code)"/>
              </a:rPr>
              <a:t> Items </a:t>
            </a:r>
            <a:r>
              <a:rPr kumimoji="0" lang="zh-CN" altLang="zh-CN" sz="2000" b="0" i="0" u="none" strike="noStrike" cap="none" normalizeH="0" baseline="0" dirty="0">
                <a:ln>
                  <a:noFill/>
                </a:ln>
                <a:solidFill>
                  <a:srgbClr val="4078F2"/>
                </a:solidFill>
                <a:effectLst/>
                <a:latin typeface="Arial Unicode MS"/>
                <a:ea typeface="var(--ds-font-family-code)"/>
              </a:rPr>
              <a:t>=&gt;</a:t>
            </a:r>
            <a:r>
              <a:rPr kumimoji="0" lang="zh-CN" altLang="zh-CN" sz="2000" b="0" i="0" u="none" strike="noStrike" cap="none" normalizeH="0" baseline="0" dirty="0">
                <a:ln>
                  <a:noFill/>
                </a:ln>
                <a:solidFill>
                  <a:srgbClr val="0F1115"/>
                </a:solidFill>
                <a:effectLst/>
                <a:latin typeface="Arial Unicode MS"/>
                <a:ea typeface="var(--ds-font-family-code)"/>
              </a:rPr>
              <a:t> _items</a:t>
            </a:r>
            <a:r>
              <a:rPr kumimoji="0" lang="zh-CN" altLang="zh-CN" sz="2000" b="0" i="0" u="none" strike="noStrike" cap="none" normalizeH="0" baseline="0" dirty="0">
                <a:ln>
                  <a:noFill/>
                </a:ln>
                <a:solidFill>
                  <a:srgbClr val="383A42"/>
                </a:solidFill>
                <a:effectLst/>
                <a:latin typeface="Arial Unicode MS"/>
                <a:ea typeface="var(--ds-font-family-code)"/>
              </a:rPr>
              <a:t>;</a:t>
            </a:r>
            <a:endParaRPr kumimoji="0" lang="zh-CN" altLang="zh-CN"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rgbClr val="0F1115"/>
                </a:solidFill>
                <a:effectLst/>
                <a:ea typeface="quote-cjk-patch"/>
              </a:rPr>
              <a:t>状态计算属性：</a:t>
            </a:r>
            <a:endParaRPr kumimoji="0" lang="zh-CN" altLang="zh-CN"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F1115"/>
                </a:solidFill>
                <a:effectLst/>
                <a:ea typeface="var(--ds-font-family-code)"/>
              </a:rPr>
              <a:t>csharp</a:t>
            </a:r>
            <a:endParaRPr kumimoji="0" lang="zh-CN" altLang="zh-CN" sz="2000" b="0" i="0" u="none" strike="noStrike" cap="none" normalizeH="0" baseline="0" dirty="0">
              <a:ln>
                <a:noFill/>
              </a:ln>
              <a:solidFill>
                <a:srgbClr val="0F1115"/>
              </a:solidFill>
              <a:effectLst/>
              <a:ea typeface="quote-cjk-patch"/>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1" u="none" strike="noStrike" cap="none" normalizeH="0" baseline="0" dirty="0">
                <a:ln>
                  <a:noFill/>
                </a:ln>
                <a:solidFill>
                  <a:srgbClr val="A0A1A7"/>
                </a:solidFill>
                <a:effectLst/>
                <a:latin typeface="Arial Unicode MS"/>
                <a:ea typeface="var(--ds-font-family-code)"/>
              </a:rPr>
              <a:t>// 提供计算状态，而非原始数据</a:t>
            </a:r>
            <a:endParaRPr kumimoji="0" lang="en-US" altLang="zh-CN" sz="2000" b="0" i="1" u="none" strike="noStrike" cap="none" normalizeH="0" baseline="0" dirty="0">
              <a:ln>
                <a:noFill/>
              </a:ln>
              <a:solidFill>
                <a:srgbClr val="A0A1A7"/>
              </a:solidFill>
              <a:effectLst/>
              <a:latin typeface="Arial Unicode MS"/>
              <a:ea typeface="var(--ds-font-family-cod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000" b="0" i="0" u="none" strike="noStrike" cap="none" normalizeH="0" baseline="0" dirty="0">
                <a:ln>
                  <a:noFill/>
                </a:ln>
                <a:solidFill>
                  <a:srgbClr val="0F1115"/>
                </a:solidFill>
                <a:effectLst/>
                <a:latin typeface="Arial Unicode MS"/>
                <a:ea typeface="var(--ds-font-family-code)"/>
              </a:rPr>
              <a:t> </a:t>
            </a:r>
            <a:r>
              <a:rPr kumimoji="0" lang="zh-CN" altLang="zh-CN" sz="2000" b="0" i="0" u="none" strike="noStrike" cap="none" normalizeH="0" baseline="0" dirty="0">
                <a:ln>
                  <a:noFill/>
                </a:ln>
                <a:solidFill>
                  <a:srgbClr val="A626A4"/>
                </a:solidFill>
                <a:effectLst/>
                <a:latin typeface="Arial Unicode MS"/>
                <a:ea typeface="var(--ds-font-family-code)"/>
              </a:rPr>
              <a:t>public</a:t>
            </a:r>
            <a:r>
              <a:rPr kumimoji="0" lang="zh-CN" altLang="zh-CN" sz="2000" b="0" i="0" u="none" strike="noStrike" cap="none" normalizeH="0" baseline="0" dirty="0">
                <a:ln>
                  <a:noFill/>
                </a:ln>
                <a:solidFill>
                  <a:srgbClr val="0F1115"/>
                </a:solidFill>
                <a:effectLst/>
                <a:latin typeface="Arial Unicode MS"/>
                <a:ea typeface="var(--ds-font-family-code)"/>
              </a:rPr>
              <a:t> </a:t>
            </a:r>
            <a:r>
              <a:rPr kumimoji="0" lang="zh-CN" altLang="zh-CN" sz="2000" b="0" i="0" u="none" strike="noStrike" cap="none" normalizeH="0" baseline="0" dirty="0">
                <a:ln>
                  <a:noFill/>
                </a:ln>
                <a:solidFill>
                  <a:srgbClr val="A626A4"/>
                </a:solidFill>
                <a:effectLst/>
                <a:latin typeface="Arial Unicode MS"/>
                <a:ea typeface="var(--ds-font-family-code)"/>
              </a:rPr>
              <a:t>decimal</a:t>
            </a:r>
            <a:r>
              <a:rPr kumimoji="0" lang="zh-CN" altLang="zh-CN" sz="2000" b="0" i="0" u="none" strike="noStrike" cap="none" normalizeH="0" baseline="0" dirty="0">
                <a:ln>
                  <a:noFill/>
                </a:ln>
                <a:solidFill>
                  <a:srgbClr val="0F1115"/>
                </a:solidFill>
                <a:effectLst/>
                <a:latin typeface="Arial Unicode MS"/>
                <a:ea typeface="var(--ds-font-family-code)"/>
              </a:rPr>
              <a:t> TotalPrice </a:t>
            </a:r>
            <a:r>
              <a:rPr kumimoji="0" lang="zh-CN" altLang="zh-CN" sz="2000" b="0" i="0" u="none" strike="noStrike" cap="none" normalizeH="0" baseline="0" dirty="0">
                <a:ln>
                  <a:noFill/>
                </a:ln>
                <a:solidFill>
                  <a:srgbClr val="4078F2"/>
                </a:solidFill>
                <a:effectLst/>
                <a:latin typeface="Arial Unicode MS"/>
                <a:ea typeface="var(--ds-font-family-code)"/>
              </a:rPr>
              <a:t>=&gt;</a:t>
            </a:r>
            <a:r>
              <a:rPr kumimoji="0" lang="zh-CN" altLang="zh-CN" sz="2000" b="0" i="0" u="none" strike="noStrike" cap="none" normalizeH="0" baseline="0" dirty="0">
                <a:ln>
                  <a:noFill/>
                </a:ln>
                <a:solidFill>
                  <a:srgbClr val="0F1115"/>
                </a:solidFill>
                <a:effectLst/>
                <a:latin typeface="Arial Unicode MS"/>
                <a:ea typeface="var(--ds-font-family-code)"/>
              </a:rPr>
              <a:t> _items</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0F1115"/>
                </a:solidFill>
                <a:effectLst/>
                <a:latin typeface="Arial Unicode MS"/>
                <a:ea typeface="var(--ds-font-family-code)"/>
              </a:rPr>
              <a:t>Values</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4078F2"/>
                </a:solidFill>
                <a:effectLst/>
                <a:latin typeface="Arial Unicode MS"/>
                <a:ea typeface="var(--ds-font-family-code)"/>
              </a:rPr>
              <a:t>Sum</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0F1115"/>
                </a:solidFill>
                <a:effectLst/>
                <a:latin typeface="Arial Unicode MS"/>
                <a:ea typeface="var(--ds-font-family-code)"/>
              </a:rPr>
              <a:t>item </a:t>
            </a:r>
            <a:r>
              <a:rPr kumimoji="0" lang="zh-CN" altLang="zh-CN" sz="2000" b="0" i="0" u="none" strike="noStrike" cap="none" normalizeH="0" baseline="0" dirty="0">
                <a:ln>
                  <a:noFill/>
                </a:ln>
                <a:solidFill>
                  <a:srgbClr val="4078F2"/>
                </a:solidFill>
                <a:effectLst/>
                <a:latin typeface="Arial Unicode MS"/>
                <a:ea typeface="var(--ds-font-family-code)"/>
              </a:rPr>
              <a:t>=&gt;</a:t>
            </a:r>
            <a:r>
              <a:rPr kumimoji="0" lang="zh-CN" altLang="zh-CN" sz="2000" b="0" i="0" u="none" strike="noStrike" cap="none" normalizeH="0" baseline="0" dirty="0">
                <a:ln>
                  <a:noFill/>
                </a:ln>
                <a:solidFill>
                  <a:srgbClr val="0F1115"/>
                </a:solidFill>
                <a:effectLst/>
                <a:latin typeface="Arial Unicode MS"/>
                <a:ea typeface="var(--ds-font-family-code)"/>
              </a:rPr>
              <a:t> item</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0F1115"/>
                </a:solidFill>
                <a:effectLst/>
                <a:latin typeface="Arial Unicode MS"/>
                <a:ea typeface="var(--ds-font-family-code)"/>
              </a:rPr>
              <a:t>UnitPrice </a:t>
            </a:r>
            <a:r>
              <a:rPr kumimoji="0" lang="zh-CN" altLang="zh-CN" sz="2000" b="0" i="0" u="none" strike="noStrike" cap="none" normalizeH="0" baseline="0" dirty="0">
                <a:ln>
                  <a:noFill/>
                </a:ln>
                <a:solidFill>
                  <a:srgbClr val="4078F2"/>
                </a:solidFill>
                <a:effectLst/>
                <a:latin typeface="Arial Unicode MS"/>
                <a:ea typeface="var(--ds-font-family-code)"/>
              </a:rPr>
              <a:t>*</a:t>
            </a:r>
            <a:r>
              <a:rPr kumimoji="0" lang="zh-CN" altLang="zh-CN" sz="2000" b="0" i="0" u="none" strike="noStrike" cap="none" normalizeH="0" baseline="0" dirty="0">
                <a:ln>
                  <a:noFill/>
                </a:ln>
                <a:solidFill>
                  <a:srgbClr val="0F1115"/>
                </a:solidFill>
                <a:effectLst/>
                <a:latin typeface="Arial Unicode MS"/>
                <a:ea typeface="var(--ds-font-family-code)"/>
              </a:rPr>
              <a:t> item</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0F1115"/>
                </a:solidFill>
                <a:effectLst/>
                <a:latin typeface="Arial Unicode MS"/>
                <a:ea typeface="var(--ds-font-family-code)"/>
              </a:rPr>
              <a:t>Quantity</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0F1115"/>
                </a:solidFill>
                <a:effectLst/>
                <a:latin typeface="Arial Unicode MS"/>
                <a:ea typeface="var(--ds-font-family-code)"/>
              </a:rPr>
              <a:t> </a:t>
            </a:r>
            <a:r>
              <a:rPr kumimoji="0" lang="zh-CN" altLang="zh-CN" sz="2000" b="0" i="0" u="none" strike="noStrike" cap="none" normalizeH="0" baseline="0" dirty="0">
                <a:ln>
                  <a:noFill/>
                </a:ln>
                <a:solidFill>
                  <a:srgbClr val="A626A4"/>
                </a:solidFill>
                <a:effectLst/>
                <a:latin typeface="Arial Unicode MS"/>
                <a:ea typeface="var(--ds-font-family-code)"/>
              </a:rPr>
              <a:t>public</a:t>
            </a:r>
            <a:r>
              <a:rPr kumimoji="0" lang="zh-CN" altLang="zh-CN" sz="2000" b="0" i="0" u="none" strike="noStrike" cap="none" normalizeH="0" baseline="0" dirty="0">
                <a:ln>
                  <a:noFill/>
                </a:ln>
                <a:solidFill>
                  <a:srgbClr val="0F1115"/>
                </a:solidFill>
                <a:effectLst/>
                <a:latin typeface="Arial Unicode MS"/>
                <a:ea typeface="var(--ds-font-family-code)"/>
              </a:rPr>
              <a:t> </a:t>
            </a:r>
            <a:r>
              <a:rPr kumimoji="0" lang="zh-CN" altLang="zh-CN" sz="2000" b="0" i="0" u="none" strike="noStrike" cap="none" normalizeH="0" baseline="0" dirty="0">
                <a:ln>
                  <a:noFill/>
                </a:ln>
                <a:solidFill>
                  <a:srgbClr val="A626A4"/>
                </a:solidFill>
                <a:effectLst/>
                <a:latin typeface="Arial Unicode MS"/>
                <a:ea typeface="var(--ds-font-family-code)"/>
              </a:rPr>
              <a:t>int</a:t>
            </a:r>
            <a:r>
              <a:rPr kumimoji="0" lang="zh-CN" altLang="zh-CN" sz="2000" b="0" i="0" u="none" strike="noStrike" cap="none" normalizeH="0" baseline="0" dirty="0">
                <a:ln>
                  <a:noFill/>
                </a:ln>
                <a:solidFill>
                  <a:srgbClr val="0F1115"/>
                </a:solidFill>
                <a:effectLst/>
                <a:latin typeface="Arial Unicode MS"/>
                <a:ea typeface="var(--ds-font-family-code)"/>
              </a:rPr>
              <a:t> TotalItemsCount </a:t>
            </a:r>
            <a:r>
              <a:rPr kumimoji="0" lang="zh-CN" altLang="zh-CN" sz="2000" b="0" i="0" u="none" strike="noStrike" cap="none" normalizeH="0" baseline="0" dirty="0">
                <a:ln>
                  <a:noFill/>
                </a:ln>
                <a:solidFill>
                  <a:srgbClr val="4078F2"/>
                </a:solidFill>
                <a:effectLst/>
                <a:latin typeface="Arial Unicode MS"/>
                <a:ea typeface="var(--ds-font-family-code)"/>
              </a:rPr>
              <a:t>=&gt;</a:t>
            </a:r>
            <a:r>
              <a:rPr kumimoji="0" lang="zh-CN" altLang="zh-CN" sz="2000" b="0" i="0" u="none" strike="noStrike" cap="none" normalizeH="0" baseline="0" dirty="0">
                <a:ln>
                  <a:noFill/>
                </a:ln>
                <a:solidFill>
                  <a:srgbClr val="0F1115"/>
                </a:solidFill>
                <a:effectLst/>
                <a:latin typeface="Arial Unicode MS"/>
                <a:ea typeface="var(--ds-font-family-code)"/>
              </a:rPr>
              <a:t> _items</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0F1115"/>
                </a:solidFill>
                <a:effectLst/>
                <a:latin typeface="Arial Unicode MS"/>
                <a:ea typeface="var(--ds-font-family-code)"/>
              </a:rPr>
              <a:t>Values</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4078F2"/>
                </a:solidFill>
                <a:effectLst/>
                <a:latin typeface="Arial Unicode MS"/>
                <a:ea typeface="var(--ds-font-family-code)"/>
              </a:rPr>
              <a:t>Sum</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0F1115"/>
                </a:solidFill>
                <a:effectLst/>
                <a:latin typeface="Arial Unicode MS"/>
                <a:ea typeface="var(--ds-font-family-code)"/>
              </a:rPr>
              <a:t>item </a:t>
            </a:r>
            <a:r>
              <a:rPr kumimoji="0" lang="zh-CN" altLang="zh-CN" sz="2000" b="0" i="0" u="none" strike="noStrike" cap="none" normalizeH="0" baseline="0" dirty="0">
                <a:ln>
                  <a:noFill/>
                </a:ln>
                <a:solidFill>
                  <a:srgbClr val="4078F2"/>
                </a:solidFill>
                <a:effectLst/>
                <a:latin typeface="Arial Unicode MS"/>
                <a:ea typeface="var(--ds-font-family-code)"/>
              </a:rPr>
              <a:t>=&gt;</a:t>
            </a:r>
            <a:r>
              <a:rPr kumimoji="0" lang="zh-CN" altLang="zh-CN" sz="2000" b="0" i="0" u="none" strike="noStrike" cap="none" normalizeH="0" baseline="0" dirty="0">
                <a:ln>
                  <a:noFill/>
                </a:ln>
                <a:solidFill>
                  <a:srgbClr val="0F1115"/>
                </a:solidFill>
                <a:effectLst/>
                <a:latin typeface="Arial Unicode MS"/>
                <a:ea typeface="var(--ds-font-family-code)"/>
              </a:rPr>
              <a:t> item</a:t>
            </a:r>
            <a:r>
              <a:rPr kumimoji="0" lang="zh-CN" altLang="zh-CN" sz="2000" b="0" i="0" u="none" strike="noStrike" cap="none" normalizeH="0" baseline="0" dirty="0">
                <a:ln>
                  <a:noFill/>
                </a:ln>
                <a:solidFill>
                  <a:srgbClr val="383A42"/>
                </a:solidFill>
                <a:effectLst/>
                <a:latin typeface="Arial Unicode MS"/>
                <a:ea typeface="var(--ds-font-family-code)"/>
              </a:rPr>
              <a:t>.</a:t>
            </a:r>
            <a:r>
              <a:rPr kumimoji="0" lang="zh-CN" altLang="zh-CN" sz="2000" b="0" i="0" u="none" strike="noStrike" cap="none" normalizeH="0" baseline="0" dirty="0">
                <a:ln>
                  <a:noFill/>
                </a:ln>
                <a:solidFill>
                  <a:srgbClr val="0F1115"/>
                </a:solidFill>
                <a:effectLst/>
                <a:latin typeface="Arial Unicode MS"/>
                <a:ea typeface="var(--ds-font-family-code)"/>
              </a:rPr>
              <a:t>Quantity</a:t>
            </a:r>
            <a:r>
              <a:rPr kumimoji="0" lang="zh-CN" altLang="zh-CN" sz="2000" b="0" i="0" u="none" strike="noStrike" cap="none" normalizeH="0" baseline="0" dirty="0">
                <a:ln>
                  <a:noFill/>
                </a:ln>
                <a:solidFill>
                  <a:srgbClr val="383A42"/>
                </a:solidFill>
                <a:effectLst/>
                <a:latin typeface="Arial Unicode MS"/>
                <a:ea typeface="var(--ds-font-family-code)"/>
              </a:rPr>
              <a:t>);</a:t>
            </a:r>
            <a:endParaRPr kumimoji="0" lang="zh-CN" altLang="zh-CN" sz="2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9336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8A39A27-467C-1E8D-6364-3DED449DDDBC}"/>
              </a:ext>
            </a:extLst>
          </p:cNvPr>
          <p:cNvSpPr txBox="1"/>
          <p:nvPr/>
        </p:nvSpPr>
        <p:spPr>
          <a:xfrm>
            <a:off x="1763688" y="428178"/>
            <a:ext cx="4572000" cy="6001643"/>
          </a:xfrm>
          <a:prstGeom prst="rect">
            <a:avLst/>
          </a:prstGeom>
          <a:noFill/>
        </p:spPr>
        <p:txBody>
          <a:bodyPr wrap="square">
            <a:spAutoFit/>
          </a:bodyPr>
          <a:lstStyle/>
          <a:p>
            <a:pPr algn="l"/>
            <a:r>
              <a:rPr lang="zh-CN" altLang="en-US" sz="2400" b="1" i="0" dirty="0">
                <a:solidFill>
                  <a:srgbClr val="0F1115"/>
                </a:solidFill>
                <a:effectLst/>
                <a:latin typeface="quote-cjk-patch"/>
              </a:rPr>
              <a:t>设计要点总结</a:t>
            </a:r>
          </a:p>
          <a:p>
            <a:pPr algn="l"/>
            <a:r>
              <a:rPr lang="zh-CN" altLang="en-US" sz="2400" b="1" i="0" dirty="0">
                <a:solidFill>
                  <a:srgbClr val="0F1115"/>
                </a:solidFill>
                <a:effectLst/>
                <a:latin typeface="quote-cjk-patch"/>
              </a:rPr>
              <a:t>关键最佳实践</a:t>
            </a:r>
          </a:p>
          <a:p>
            <a:pPr algn="l">
              <a:buFont typeface="+mj-lt"/>
              <a:buAutoNum type="arabicPeriod"/>
            </a:pPr>
            <a:r>
              <a:rPr lang="zh-CN" altLang="en-US" sz="2400" b="1" i="0" dirty="0">
                <a:solidFill>
                  <a:srgbClr val="0F1115"/>
                </a:solidFill>
                <a:effectLst/>
                <a:latin typeface="quote-cjk-patch"/>
              </a:rPr>
              <a:t>🎯 精准匹配数据结构</a:t>
            </a:r>
            <a:endParaRPr lang="zh-CN" altLang="en-US" sz="2400" b="0" i="0" dirty="0">
              <a:solidFill>
                <a:srgbClr val="0F1115"/>
              </a:solidFill>
              <a:effectLst/>
              <a:latin typeface="quote-cjk-patch"/>
            </a:endParaRPr>
          </a:p>
          <a:p>
            <a:pPr marL="800100" lvl="1" indent="-342900" algn="l">
              <a:buFont typeface="Wingdings" panose="05000000000000000000" pitchFamily="2" charset="2"/>
              <a:buChar char="Ø"/>
            </a:pPr>
            <a:r>
              <a:rPr lang="zh-CN" altLang="en-US" sz="2400" b="0" i="0" dirty="0">
                <a:solidFill>
                  <a:srgbClr val="0F1115"/>
                </a:solidFill>
                <a:effectLst/>
                <a:latin typeface="quote-cjk-patch"/>
              </a:rPr>
              <a:t>根据访问模式选择最优结构</a:t>
            </a:r>
          </a:p>
          <a:p>
            <a:pPr algn="l">
              <a:buFont typeface="+mj-lt"/>
              <a:buAutoNum type="arabicPeriod"/>
            </a:pPr>
            <a:r>
              <a:rPr lang="zh-CN" altLang="en-US" sz="2400" b="1" i="0" dirty="0">
                <a:solidFill>
                  <a:srgbClr val="0F1115"/>
                </a:solidFill>
                <a:effectLst/>
                <a:latin typeface="quote-cjk-patch"/>
              </a:rPr>
              <a:t>🔒 严格数据封装</a:t>
            </a:r>
            <a:endParaRPr lang="zh-CN" altLang="en-US" sz="2400" b="0" i="0" dirty="0">
              <a:solidFill>
                <a:srgbClr val="0F1115"/>
              </a:solidFill>
              <a:effectLst/>
              <a:latin typeface="quote-cjk-patch"/>
            </a:endParaRPr>
          </a:p>
          <a:p>
            <a:pPr marL="800100" lvl="1" indent="-342900">
              <a:buFont typeface="Wingdings" panose="05000000000000000000" pitchFamily="2" charset="2"/>
              <a:buChar char="Ø"/>
            </a:pPr>
            <a:r>
              <a:rPr lang="zh-CN" altLang="en-US" sz="2400" dirty="0">
                <a:solidFill>
                  <a:srgbClr val="0F1115"/>
                </a:solidFill>
                <a:latin typeface="quote-cjk-patch"/>
              </a:rPr>
              <a:t>私有字段 </a:t>
            </a:r>
            <a:r>
              <a:rPr lang="en-US" altLang="zh-CN" sz="2400" dirty="0">
                <a:solidFill>
                  <a:srgbClr val="0F1115"/>
                </a:solidFill>
                <a:latin typeface="quote-cjk-patch"/>
              </a:rPr>
              <a:t>+ </a:t>
            </a:r>
            <a:r>
              <a:rPr lang="zh-CN" altLang="en-US" sz="2400" dirty="0">
                <a:solidFill>
                  <a:srgbClr val="0F1115"/>
                </a:solidFill>
                <a:latin typeface="quote-cjk-patch"/>
              </a:rPr>
              <a:t>公共接口</a:t>
            </a:r>
          </a:p>
          <a:p>
            <a:pPr marL="800100" lvl="1" indent="-342900">
              <a:buFont typeface="Wingdings" panose="05000000000000000000" pitchFamily="2" charset="2"/>
              <a:buChar char="Ø"/>
            </a:pPr>
            <a:r>
              <a:rPr lang="zh-CN" altLang="en-US" sz="2400" dirty="0">
                <a:solidFill>
                  <a:srgbClr val="0F1115"/>
                </a:solidFill>
                <a:latin typeface="quote-cjk-patch"/>
              </a:rPr>
              <a:t>隐藏实现细节</a:t>
            </a:r>
          </a:p>
          <a:p>
            <a:pPr algn="l">
              <a:buFont typeface="+mj-lt"/>
              <a:buAutoNum type="arabicPeriod"/>
            </a:pPr>
            <a:r>
              <a:rPr lang="zh-CN" altLang="en-US" sz="2400" b="1" i="0" dirty="0">
                <a:solidFill>
                  <a:srgbClr val="0F1115"/>
                </a:solidFill>
                <a:effectLst/>
                <a:latin typeface="quote-cjk-patch"/>
              </a:rPr>
              <a:t>🛡️ 数据完整性保障</a:t>
            </a:r>
            <a:endParaRPr lang="zh-CN" altLang="en-US" sz="2400" b="0" i="0" dirty="0">
              <a:solidFill>
                <a:srgbClr val="0F1115"/>
              </a:solidFill>
              <a:effectLst/>
              <a:latin typeface="quote-cjk-patch"/>
            </a:endParaRPr>
          </a:p>
          <a:p>
            <a:pPr marL="800100" lvl="1" indent="-342900" algn="l">
              <a:buFont typeface="Wingdings" panose="05000000000000000000" pitchFamily="2" charset="2"/>
              <a:buChar char="Ø"/>
            </a:pPr>
            <a:r>
              <a:rPr lang="zh-CN" altLang="en-US" sz="2400" b="0" i="0" dirty="0">
                <a:solidFill>
                  <a:srgbClr val="0F1115"/>
                </a:solidFill>
                <a:effectLst/>
                <a:latin typeface="quote-cjk-patch"/>
              </a:rPr>
              <a:t>构造时验证</a:t>
            </a:r>
          </a:p>
          <a:p>
            <a:pPr marL="800100" lvl="1" indent="-342900" algn="l">
              <a:buFont typeface="Wingdings" panose="05000000000000000000" pitchFamily="2" charset="2"/>
              <a:buChar char="Ø"/>
            </a:pPr>
            <a:r>
              <a:rPr lang="zh-CN" altLang="en-US" sz="2400" b="0" i="0" dirty="0">
                <a:solidFill>
                  <a:srgbClr val="0F1115"/>
                </a:solidFill>
                <a:effectLst/>
                <a:latin typeface="quote-cjk-patch"/>
              </a:rPr>
              <a:t>方法内校验</a:t>
            </a:r>
          </a:p>
          <a:p>
            <a:pPr algn="l">
              <a:buFont typeface="+mj-lt"/>
              <a:buAutoNum type="arabicPeriod"/>
            </a:pPr>
            <a:r>
              <a:rPr lang="zh-CN" altLang="en-US" sz="2400" b="1" i="0" dirty="0">
                <a:solidFill>
                  <a:srgbClr val="0F1115"/>
                </a:solidFill>
                <a:effectLst/>
                <a:latin typeface="quote-cjk-patch"/>
              </a:rPr>
              <a:t>🎭 受控的数据暴露</a:t>
            </a:r>
            <a:endParaRPr lang="zh-CN" altLang="en-US" sz="2400" b="0" i="0" dirty="0">
              <a:solidFill>
                <a:srgbClr val="0F1115"/>
              </a:solidFill>
              <a:effectLst/>
              <a:latin typeface="quote-cjk-patch"/>
            </a:endParaRPr>
          </a:p>
          <a:p>
            <a:pPr marL="800100" lvl="1" indent="-342900" algn="l">
              <a:buFont typeface="Wingdings" panose="05000000000000000000" pitchFamily="2" charset="2"/>
              <a:buChar char="Ø"/>
            </a:pPr>
            <a:r>
              <a:rPr lang="zh-CN" altLang="en-US" sz="2400" b="0" i="0" dirty="0">
                <a:solidFill>
                  <a:srgbClr val="0F1115"/>
                </a:solidFill>
                <a:effectLst/>
                <a:latin typeface="quote-cjk-patch"/>
              </a:rPr>
              <a:t>只读接口</a:t>
            </a:r>
          </a:p>
          <a:p>
            <a:pPr marL="800100" lvl="1" indent="-342900" algn="l">
              <a:buFont typeface="Wingdings" panose="05000000000000000000" pitchFamily="2" charset="2"/>
              <a:buChar char="Ø"/>
            </a:pPr>
            <a:r>
              <a:rPr lang="zh-CN" altLang="en-US" sz="2400" b="0" i="0" dirty="0">
                <a:solidFill>
                  <a:srgbClr val="0F1115"/>
                </a:solidFill>
                <a:effectLst/>
                <a:latin typeface="quote-cjk-patch"/>
              </a:rPr>
              <a:t>计算属性替代原始数据</a:t>
            </a:r>
          </a:p>
          <a:p>
            <a:pPr algn="l">
              <a:buFont typeface="+mj-lt"/>
              <a:buAutoNum type="arabicPeriod"/>
            </a:pPr>
            <a:r>
              <a:rPr lang="zh-CN" altLang="en-US" sz="2400" b="1" i="0" dirty="0">
                <a:solidFill>
                  <a:srgbClr val="0F1115"/>
                </a:solidFill>
                <a:effectLst/>
                <a:latin typeface="quote-cjk-patch"/>
              </a:rPr>
              <a:t>📐 明确的职责边界</a:t>
            </a:r>
            <a:endParaRPr lang="zh-CN" altLang="en-US" sz="2400" b="0" i="0" dirty="0">
              <a:solidFill>
                <a:srgbClr val="0F1115"/>
              </a:solidFill>
              <a:effectLst/>
              <a:latin typeface="quote-cjk-patch"/>
            </a:endParaRPr>
          </a:p>
          <a:p>
            <a:pPr marL="800100" lvl="1" indent="-342900" algn="l">
              <a:buFont typeface="Wingdings" panose="05000000000000000000" pitchFamily="2" charset="2"/>
              <a:buChar char="Ø"/>
            </a:pPr>
            <a:r>
              <a:rPr lang="zh-CN" altLang="en-US" sz="2400" b="0" i="0" dirty="0">
                <a:solidFill>
                  <a:srgbClr val="0F1115"/>
                </a:solidFill>
                <a:effectLst/>
                <a:latin typeface="quote-cjk-patch"/>
              </a:rPr>
              <a:t>高内聚，单一职责</a:t>
            </a:r>
          </a:p>
        </p:txBody>
      </p:sp>
    </p:spTree>
    <p:extLst>
      <p:ext uri="{BB962C8B-B14F-4D97-AF65-F5344CB8AC3E}">
        <p14:creationId xmlns:p14="http://schemas.microsoft.com/office/powerpoint/2010/main" val="30128995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3"/>
          <p:cNvSpPr>
            <a:spLocks noGrp="1"/>
          </p:cNvSpPr>
          <p:nvPr>
            <p:ph type="title" idx="4294967295"/>
          </p:nvPr>
        </p:nvSpPr>
        <p:spPr/>
        <p:txBody>
          <a:bodyPr/>
          <a:lstStyle/>
          <a:p>
            <a:pPr eaLnBrk="1" hangingPunct="1"/>
            <a:r>
              <a:rPr lang="en-US" altLang="zh-CN">
                <a:latin typeface="宋体" pitchFamily="2" charset="-122"/>
              </a:rPr>
              <a:t>8.3 </a:t>
            </a:r>
            <a:r>
              <a:rPr lang="zh-CN" altLang="zh-CN">
                <a:latin typeface="宋体" pitchFamily="2" charset="-122"/>
              </a:rPr>
              <a:t>体系结构风格和模式</a:t>
            </a:r>
            <a:endParaRPr lang="zh-CN" altLang="zh-CN"/>
          </a:p>
        </p:txBody>
      </p:sp>
      <p:sp>
        <p:nvSpPr>
          <p:cNvPr id="15363" name="内容占位符 2"/>
          <p:cNvSpPr>
            <a:spLocks noGrp="1"/>
          </p:cNvSpPr>
          <p:nvPr>
            <p:ph idx="4294967295"/>
          </p:nvPr>
        </p:nvSpPr>
        <p:spPr/>
        <p:txBody>
          <a:bodyPr/>
          <a:lstStyle/>
          <a:p>
            <a:pPr eaLnBrk="1" hangingPunct="1"/>
            <a:r>
              <a:rPr lang="zh-CN" altLang="zh-CN" sz="2600">
                <a:latin typeface="宋体" pitchFamily="2" charset="-122"/>
              </a:rPr>
              <a:t>建筑风格指导了建筑师的工作</a:t>
            </a:r>
            <a:endParaRPr lang="en-US" altLang="zh-CN" sz="2600">
              <a:latin typeface="宋体" pitchFamily="2" charset="-122"/>
            </a:endParaRPr>
          </a:p>
          <a:p>
            <a:pPr eaLnBrk="1" hangingPunct="1"/>
            <a:r>
              <a:rPr lang="zh-CN" altLang="zh-CN" sz="2600">
                <a:solidFill>
                  <a:srgbClr val="FF0000"/>
                </a:solidFill>
                <a:latin typeface="宋体" pitchFamily="2" charset="-122"/>
              </a:rPr>
              <a:t>体系结构风格</a:t>
            </a:r>
            <a:r>
              <a:rPr lang="zh-CN" altLang="zh-CN" sz="2600">
                <a:latin typeface="宋体" pitchFamily="2" charset="-122"/>
              </a:rPr>
              <a:t>：</a:t>
            </a:r>
            <a:endParaRPr lang="en-US" altLang="zh-CN" sz="2600">
              <a:latin typeface="宋体" pitchFamily="2" charset="-122"/>
            </a:endParaRPr>
          </a:p>
          <a:p>
            <a:pPr lvl="1" eaLnBrk="1" hangingPunct="1"/>
            <a:r>
              <a:rPr lang="zh-CN" altLang="zh-CN" sz="2200">
                <a:latin typeface="宋体" pitchFamily="2" charset="-122"/>
              </a:rPr>
              <a:t>对完成同一种或同一类工作，不同的设计人员在体系结构设计的方式各不一样，这种方式的一定程度上的抽象</a:t>
            </a:r>
            <a:endParaRPr lang="en-US" altLang="zh-CN" sz="2200">
              <a:latin typeface="宋体" pitchFamily="2" charset="-122"/>
            </a:endParaRPr>
          </a:p>
          <a:p>
            <a:pPr eaLnBrk="1" hangingPunct="1"/>
            <a:r>
              <a:rPr lang="zh-CN" altLang="zh-CN" sz="2600">
                <a:solidFill>
                  <a:srgbClr val="FF0000"/>
                </a:solidFill>
                <a:latin typeface="宋体" pitchFamily="2" charset="-122"/>
              </a:rPr>
              <a:t>体系结构模式</a:t>
            </a:r>
            <a:r>
              <a:rPr lang="zh-CN" altLang="zh-CN" sz="2600">
                <a:latin typeface="宋体" pitchFamily="2" charset="-122"/>
              </a:rPr>
              <a:t>：</a:t>
            </a:r>
            <a:endParaRPr lang="en-US" altLang="zh-CN" sz="2600">
              <a:latin typeface="宋体" pitchFamily="2" charset="-122"/>
            </a:endParaRPr>
          </a:p>
          <a:p>
            <a:pPr lvl="1" eaLnBrk="1" hangingPunct="1"/>
            <a:r>
              <a:rPr lang="zh-CN" altLang="zh-CN" sz="2200">
                <a:latin typeface="宋体" pitchFamily="2" charset="-122"/>
              </a:rPr>
              <a:t>就是风格的具体体现，或者体系结构设计的一个框架。</a:t>
            </a:r>
            <a:endParaRPr lang="en-US" altLang="zh-CN" sz="2200">
              <a:latin typeface="宋体" pitchFamily="2" charset="-122"/>
            </a:endParaRPr>
          </a:p>
          <a:p>
            <a:pPr lvl="1" eaLnBrk="1" hangingPunct="1"/>
            <a:r>
              <a:rPr lang="zh-CN" altLang="zh-CN" sz="2200">
                <a:latin typeface="宋体" pitchFamily="2" charset="-122"/>
              </a:rPr>
              <a:t>定义了处理系统某些行为特征的方法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7" dur="500"/>
                                        <p:tgtEl>
                                          <p:spTgt spid="1536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363">
                                            <p:txEl>
                                              <p:pRg st="2" end="2"/>
                                            </p:txEl>
                                          </p:spTgt>
                                        </p:tgtEl>
                                        <p:attrNameLst>
                                          <p:attrName>style.visibility</p:attrName>
                                        </p:attrNameLst>
                                      </p:cBhvr>
                                      <p:to>
                                        <p:strVal val="visible"/>
                                      </p:to>
                                    </p:set>
                                    <p:animEffect transition="in" filter="blinds(horizontal)">
                                      <p:cBhvr>
                                        <p:cTn id="10" dur="500"/>
                                        <p:tgtEl>
                                          <p:spTgt spid="1536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363">
                                            <p:txEl>
                                              <p:pRg st="3" end="3"/>
                                            </p:txEl>
                                          </p:spTgt>
                                        </p:tgtEl>
                                        <p:attrNameLst>
                                          <p:attrName>style.visibility</p:attrName>
                                        </p:attrNameLst>
                                      </p:cBhvr>
                                      <p:to>
                                        <p:strVal val="visible"/>
                                      </p:to>
                                    </p:set>
                                    <p:animEffect transition="in" filter="blinds(horizontal)">
                                      <p:cBhvr>
                                        <p:cTn id="15" dur="500"/>
                                        <p:tgtEl>
                                          <p:spTgt spid="15363">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5363">
                                            <p:txEl>
                                              <p:pRg st="4" end="4"/>
                                            </p:txEl>
                                          </p:spTgt>
                                        </p:tgtEl>
                                        <p:attrNameLst>
                                          <p:attrName>style.visibility</p:attrName>
                                        </p:attrNameLst>
                                      </p:cBhvr>
                                      <p:to>
                                        <p:strVal val="visible"/>
                                      </p:to>
                                    </p:set>
                                    <p:animEffect transition="in" filter="blinds(horizontal)">
                                      <p:cBhvr>
                                        <p:cTn id="18" dur="500"/>
                                        <p:tgtEl>
                                          <p:spTgt spid="15363">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5363">
                                            <p:txEl>
                                              <p:pRg st="5" end="5"/>
                                            </p:txEl>
                                          </p:spTgt>
                                        </p:tgtEl>
                                        <p:attrNameLst>
                                          <p:attrName>style.visibility</p:attrName>
                                        </p:attrNameLst>
                                      </p:cBhvr>
                                      <p:to>
                                        <p:strVal val="visible"/>
                                      </p:to>
                                    </p:set>
                                    <p:animEffect transition="in" filter="blinds(horizontal)">
                                      <p:cBhvr>
                                        <p:cTn id="21" dur="500"/>
                                        <p:tgtEl>
                                          <p:spTgt spid="153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idx="4294967295"/>
          </p:nvPr>
        </p:nvSpPr>
        <p:spPr/>
        <p:txBody>
          <a:bodyPr/>
          <a:lstStyle/>
          <a:p>
            <a:pPr eaLnBrk="1" hangingPunct="1"/>
            <a:r>
              <a:rPr lang="en-US" altLang="zh-CN" dirty="0">
                <a:latin typeface="宋体" pitchFamily="2" charset="-122"/>
              </a:rPr>
              <a:t>8.3.1 </a:t>
            </a:r>
            <a:r>
              <a:rPr lang="zh-CN" altLang="zh-CN" dirty="0">
                <a:latin typeface="宋体" pitchFamily="2" charset="-122"/>
              </a:rPr>
              <a:t>体系结构风格的分类</a:t>
            </a:r>
            <a:endParaRPr lang="zh-CN" altLang="zh-CN" dirty="0"/>
          </a:p>
        </p:txBody>
      </p:sp>
      <p:sp>
        <p:nvSpPr>
          <p:cNvPr id="17411" name="内容占位符 2"/>
          <p:cNvSpPr>
            <a:spLocks noGrp="1"/>
          </p:cNvSpPr>
          <p:nvPr>
            <p:ph idx="4294967295"/>
          </p:nvPr>
        </p:nvSpPr>
        <p:spPr/>
        <p:txBody>
          <a:bodyPr/>
          <a:lstStyle/>
          <a:p>
            <a:pPr marL="457200" indent="-457200" eaLnBrk="1" hangingPunct="1">
              <a:buFont typeface="Wingdings" panose="05000000000000000000" pitchFamily="2" charset="2"/>
              <a:buChar char="Ø"/>
            </a:pPr>
            <a:r>
              <a:rPr lang="zh-CN" altLang="en-US" sz="2800" dirty="0">
                <a:latin typeface="宋体" pitchFamily="2" charset="-122"/>
              </a:rPr>
              <a:t>每个体系结构风格都描述了一种系统类别，包括：</a:t>
            </a:r>
            <a:endParaRPr lang="en-US" altLang="zh-CN" sz="2800" dirty="0">
              <a:latin typeface="宋体" pitchFamily="2" charset="-122"/>
            </a:endParaRPr>
          </a:p>
          <a:p>
            <a:pPr marL="857250" lvl="1" indent="-457200" eaLnBrk="1" hangingPunct="1">
              <a:buAutoNum type="arabicParenBoth"/>
            </a:pPr>
            <a:r>
              <a:rPr lang="zh-CN" altLang="en-US" sz="2400" dirty="0">
                <a:latin typeface="宋体" pitchFamily="2" charset="-122"/>
              </a:rPr>
              <a:t>一组执行系统所需功能的构件（例如，数据库、计算模块）； </a:t>
            </a:r>
            <a:endParaRPr lang="en-US" altLang="zh-CN" sz="2400" dirty="0">
              <a:latin typeface="宋体" pitchFamily="2" charset="-122"/>
            </a:endParaRPr>
          </a:p>
          <a:p>
            <a:pPr marL="857250" lvl="1" indent="-457200" eaLnBrk="1" hangingPunct="1">
              <a:buAutoNum type="arabicParenBoth"/>
            </a:pPr>
            <a:r>
              <a:rPr lang="zh-CN" altLang="en-US" sz="2400" dirty="0">
                <a:latin typeface="宋体" pitchFamily="2" charset="-122"/>
              </a:rPr>
              <a:t>一组实现构件间“通信、合作和协调”的连接件；</a:t>
            </a:r>
            <a:endParaRPr lang="en-US" altLang="zh-CN" sz="2400" dirty="0">
              <a:latin typeface="宋体" pitchFamily="2" charset="-122"/>
            </a:endParaRPr>
          </a:p>
          <a:p>
            <a:pPr marL="857250" lvl="1" indent="-457200" eaLnBrk="1" hangingPunct="1">
              <a:buAutoNum type="arabicParenBoth"/>
            </a:pPr>
            <a:r>
              <a:rPr lang="zh-CN" altLang="en-US" sz="2400" dirty="0">
                <a:latin typeface="宋体" pitchFamily="2" charset="-122"/>
              </a:rPr>
              <a:t>定义构件如何集成为系统的约束；</a:t>
            </a:r>
            <a:endParaRPr lang="en-US" altLang="zh-CN" sz="2400" dirty="0">
              <a:latin typeface="宋体" pitchFamily="2" charset="-122"/>
            </a:endParaRPr>
          </a:p>
          <a:p>
            <a:pPr marL="857250" lvl="1" indent="-457200" eaLnBrk="1" hangingPunct="1">
              <a:buAutoNum type="arabicParenBoth"/>
            </a:pPr>
            <a:r>
              <a:rPr lang="zh-CN" altLang="en-US" sz="2400" dirty="0">
                <a:latin typeface="宋体" pitchFamily="2" charset="-122"/>
              </a:rPr>
              <a:t>能够使设计者通过分析系统组成元素的已知属性来理解系统整体性质的语义模型。</a:t>
            </a:r>
            <a:endParaRPr lang="zh-CN"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17411" name="内容占位符 2"/>
          <p:cNvSpPr>
            <a:spLocks noGrp="1"/>
          </p:cNvSpPr>
          <p:nvPr>
            <p:ph idx="4294967295"/>
          </p:nvPr>
        </p:nvSpPr>
        <p:spPr/>
        <p:txBody>
          <a:bodyPr/>
          <a:lstStyle/>
          <a:p>
            <a:pPr marL="457200" indent="-457200" eaLnBrk="1" hangingPunct="1">
              <a:buFontTx/>
              <a:buAutoNum type="arabicPeriod"/>
            </a:pPr>
            <a:r>
              <a:rPr lang="zh-CN" altLang="zh-CN" dirty="0">
                <a:solidFill>
                  <a:srgbClr val="FF0000"/>
                </a:solidFill>
                <a:latin typeface="宋体" pitchFamily="2" charset="-122"/>
              </a:rPr>
              <a:t>以数据为中心的体系结构</a:t>
            </a:r>
            <a:endParaRPr lang="en-US" altLang="zh-CN" dirty="0">
              <a:solidFill>
                <a:srgbClr val="FF0000"/>
              </a:solidFill>
              <a:latin typeface="宋体" pitchFamily="2" charset="-122"/>
            </a:endParaRPr>
          </a:p>
          <a:p>
            <a:pPr marL="857250" lvl="1" indent="-457200" eaLnBrk="1" hangingPunct="1"/>
            <a:r>
              <a:rPr lang="zh-CN" altLang="zh-CN" dirty="0">
                <a:solidFill>
                  <a:srgbClr val="0070C0"/>
                </a:solidFill>
                <a:latin typeface="宋体" pitchFamily="2" charset="-122"/>
              </a:rPr>
              <a:t>数据存储</a:t>
            </a:r>
            <a:r>
              <a:rPr lang="zh-CN" altLang="zh-CN" dirty="0">
                <a:latin typeface="宋体" pitchFamily="2" charset="-122"/>
              </a:rPr>
              <a:t>驻留在这种体系结构的中心，其他构件经常访问（增删改查）数据存储</a:t>
            </a:r>
            <a:endParaRPr lang="en-US" altLang="zh-CN" dirty="0">
              <a:latin typeface="宋体" pitchFamily="2" charset="-122"/>
            </a:endParaRPr>
          </a:p>
          <a:p>
            <a:pPr marL="857250" lvl="1" indent="-457200" eaLnBrk="1" hangingPunct="1"/>
            <a:r>
              <a:rPr lang="zh-CN" altLang="zh-CN" dirty="0">
                <a:latin typeface="宋体" pitchFamily="2" charset="-122"/>
              </a:rPr>
              <a:t>提高了可</a:t>
            </a:r>
            <a:r>
              <a:rPr lang="zh-CN" altLang="zh-CN" dirty="0">
                <a:solidFill>
                  <a:srgbClr val="0070C0"/>
                </a:solidFill>
                <a:latin typeface="宋体" pitchFamily="2" charset="-122"/>
              </a:rPr>
              <a:t>集成性</a:t>
            </a:r>
            <a:r>
              <a:rPr lang="zh-CN" altLang="zh-CN" dirty="0">
                <a:latin typeface="宋体" pitchFamily="2" charset="-122"/>
              </a:rPr>
              <a:t>，便于现有构件修改和新构件加入</a:t>
            </a:r>
            <a:endParaRPr lang="en-US" altLang="zh-CN" dirty="0">
              <a:latin typeface="宋体" pitchFamily="2" charset="-122"/>
            </a:endParaRPr>
          </a:p>
          <a:p>
            <a:pPr marL="457200" indent="-457200" eaLnBrk="1" hangingPunct="1">
              <a:buFont typeface="Wingdings" panose="05000000000000000000" pitchFamily="2" charset="2"/>
              <a:buChar char="Ø"/>
            </a:pPr>
            <a:endParaRPr lang="en-US" altLang="zh-CN" sz="2800" dirty="0">
              <a:latin typeface="宋体" pitchFamily="2" charset="-122"/>
            </a:endParaRPr>
          </a:p>
          <a:p>
            <a:pPr marL="457200" indent="-457200" eaLnBrk="1" hangingPunct="1"/>
            <a:endParaRPr lang="zh-CN"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3"/>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18435" name="内容占位符 2"/>
          <p:cNvSpPr>
            <a:spLocks noGrp="1"/>
          </p:cNvSpPr>
          <p:nvPr>
            <p:ph idx="4294967295"/>
          </p:nvPr>
        </p:nvSpPr>
        <p:spPr>
          <a:xfrm>
            <a:off x="395288" y="1341438"/>
            <a:ext cx="8229600" cy="4525962"/>
          </a:xfrm>
        </p:spPr>
        <p:txBody>
          <a:bodyPr/>
          <a:lstStyle/>
          <a:p>
            <a:pPr marL="457200" indent="-457200" eaLnBrk="1" hangingPunct="1">
              <a:buFontTx/>
              <a:buAutoNum type="arabicPeriod"/>
            </a:pPr>
            <a:r>
              <a:rPr lang="zh-CN" altLang="zh-CN" sz="3000">
                <a:solidFill>
                  <a:srgbClr val="FF0000"/>
                </a:solidFill>
                <a:latin typeface="宋体" pitchFamily="2" charset="-122"/>
              </a:rPr>
              <a:t>以数据为中心的体系结构</a:t>
            </a:r>
            <a:endParaRPr lang="en-US" altLang="zh-CN" sz="3000">
              <a:solidFill>
                <a:srgbClr val="FF0000"/>
              </a:solidFill>
              <a:latin typeface="宋体" pitchFamily="2" charset="-122"/>
            </a:endParaRPr>
          </a:p>
          <a:p>
            <a:pPr marL="457200" indent="-457200" eaLnBrk="1" hangingPunct="1">
              <a:buFont typeface="Wingdings" panose="05000000000000000000" pitchFamily="2" charset="2"/>
              <a:buChar char="Ø"/>
            </a:pPr>
            <a:endParaRPr lang="en-US" altLang="zh-CN" sz="2400">
              <a:latin typeface="宋体" pitchFamily="2" charset="-122"/>
            </a:endParaRPr>
          </a:p>
        </p:txBody>
      </p:sp>
      <p:pic>
        <p:nvPicPr>
          <p:cNvPr id="1843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109788"/>
            <a:ext cx="6630988"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19459" name="内容占位符 2"/>
          <p:cNvSpPr>
            <a:spLocks noGrp="1"/>
          </p:cNvSpPr>
          <p:nvPr>
            <p:ph idx="4294967295"/>
          </p:nvPr>
        </p:nvSpPr>
        <p:spPr/>
        <p:txBody>
          <a:bodyPr/>
          <a:lstStyle/>
          <a:p>
            <a:pPr eaLnBrk="1" hangingPunct="1">
              <a:buFontTx/>
              <a:buNone/>
            </a:pPr>
            <a:r>
              <a:rPr lang="en-US" altLang="zh-CN" dirty="0">
                <a:solidFill>
                  <a:srgbClr val="FF0000"/>
                </a:solidFill>
                <a:latin typeface="宋体" pitchFamily="2" charset="-122"/>
              </a:rPr>
              <a:t>2. </a:t>
            </a:r>
            <a:r>
              <a:rPr lang="zh-CN" altLang="zh-CN" dirty="0">
                <a:solidFill>
                  <a:srgbClr val="FF0000"/>
                </a:solidFill>
                <a:latin typeface="宋体" pitchFamily="2" charset="-122"/>
              </a:rPr>
              <a:t>数据流体系结构</a:t>
            </a:r>
            <a:endParaRPr lang="en-US" altLang="zh-CN" dirty="0">
              <a:solidFill>
                <a:srgbClr val="FF0000"/>
              </a:solidFill>
              <a:latin typeface="宋体" pitchFamily="2" charset="-122"/>
            </a:endParaRPr>
          </a:p>
          <a:p>
            <a:pPr lvl="1" eaLnBrk="1" hangingPunct="1"/>
            <a:r>
              <a:rPr lang="zh-CN" altLang="zh-CN" dirty="0">
                <a:latin typeface="宋体" pitchFamily="2" charset="-122"/>
              </a:rPr>
              <a:t>数据服从输入</a:t>
            </a:r>
            <a:r>
              <a:rPr lang="en-US" altLang="zh-CN" dirty="0">
                <a:latin typeface="宋体" pitchFamily="2" charset="-122"/>
              </a:rPr>
              <a:t>—</a:t>
            </a:r>
            <a:r>
              <a:rPr lang="zh-CN" altLang="zh-CN" dirty="0">
                <a:latin typeface="宋体" pitchFamily="2" charset="-122"/>
              </a:rPr>
              <a:t>变换</a:t>
            </a:r>
            <a:r>
              <a:rPr lang="en-US" altLang="zh-CN" dirty="0">
                <a:latin typeface="宋体" pitchFamily="2" charset="-122"/>
              </a:rPr>
              <a:t>---</a:t>
            </a:r>
            <a:r>
              <a:rPr lang="zh-CN" altLang="zh-CN" dirty="0">
                <a:latin typeface="宋体" pitchFamily="2" charset="-122"/>
              </a:rPr>
              <a:t>输出的简单流程</a:t>
            </a:r>
            <a:endParaRPr lang="en-US" altLang="zh-CN" dirty="0">
              <a:latin typeface="宋体" pitchFamily="2" charset="-122"/>
            </a:endParaRPr>
          </a:p>
          <a:p>
            <a:pPr lvl="1" eaLnBrk="1" hangingPunct="1"/>
            <a:r>
              <a:rPr lang="zh-CN" altLang="zh-CN" dirty="0">
                <a:latin typeface="宋体" pitchFamily="2" charset="-122"/>
              </a:rPr>
              <a:t>管道和过滤器结构拥有一组被称为过滤器的构件，每个构件独立于上游和下游而工作。</a:t>
            </a:r>
            <a:endParaRPr lang="en-US" altLang="zh-CN" dirty="0">
              <a:latin typeface="宋体" pitchFamily="2" charset="-122"/>
            </a:endParaRPr>
          </a:p>
          <a:p>
            <a:pPr eaLnBrk="1" hangingPunct="1">
              <a:buFontTx/>
              <a:buNone/>
            </a:pPr>
            <a:endParaRPr lang="zh-CN" altLang="zh-CN" dirty="0">
              <a:solidFill>
                <a:srgbClr val="0070C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idx="4294967295"/>
          </p:nvPr>
        </p:nvSpPr>
        <p:spPr/>
        <p:txBody>
          <a:bodyPr/>
          <a:lstStyle/>
          <a:p>
            <a:pPr eaLnBrk="1" hangingPunct="1"/>
            <a:r>
              <a:rPr lang="zh-CN" altLang="zh-CN">
                <a:solidFill>
                  <a:srgbClr val="FF0000"/>
                </a:solidFill>
                <a:latin typeface="宋体" pitchFamily="2" charset="-122"/>
              </a:rPr>
              <a:t>数据流体系结构</a:t>
            </a:r>
            <a:endParaRPr lang="zh-CN" altLang="zh-CN"/>
          </a:p>
        </p:txBody>
      </p:sp>
      <p:sp>
        <p:nvSpPr>
          <p:cNvPr id="20483" name="内容占位符 2"/>
          <p:cNvSpPr>
            <a:spLocks noGrp="1"/>
          </p:cNvSpPr>
          <p:nvPr>
            <p:ph idx="4294967295"/>
          </p:nvPr>
        </p:nvSpPr>
        <p:spPr/>
        <p:txBody>
          <a:bodyPr/>
          <a:lstStyle/>
          <a:p>
            <a:pPr eaLnBrk="1" hangingPunct="1"/>
            <a:r>
              <a:rPr lang="zh-CN" altLang="zh-CN" dirty="0"/>
              <a:t>两种典型的数据流风格：</a:t>
            </a:r>
            <a:endParaRPr lang="en-US" altLang="zh-CN" dirty="0"/>
          </a:p>
          <a:p>
            <a:pPr lvl="1" eaLnBrk="1" hangingPunct="1"/>
            <a:r>
              <a:rPr lang="zh-CN" altLang="zh-CN" dirty="0"/>
              <a:t>管道</a:t>
            </a:r>
            <a:r>
              <a:rPr lang="en-US" altLang="zh-CN" dirty="0"/>
              <a:t>-</a:t>
            </a:r>
            <a:r>
              <a:rPr lang="zh-CN" altLang="zh-CN" dirty="0"/>
              <a:t>过滤器（</a:t>
            </a:r>
            <a:r>
              <a:rPr lang="en-US" altLang="zh-CN" dirty="0"/>
              <a:t>Pipe-And-Filter</a:t>
            </a:r>
            <a:r>
              <a:rPr lang="zh-CN" altLang="zh-CN" dirty="0"/>
              <a:t>）</a:t>
            </a:r>
            <a:endParaRPr lang="en-US" altLang="zh-CN" dirty="0"/>
          </a:p>
          <a:p>
            <a:pPr lvl="1" eaLnBrk="1" hangingPunct="1"/>
            <a:r>
              <a:rPr lang="zh-CN" altLang="zh-CN" dirty="0"/>
              <a:t>批处理（</a:t>
            </a:r>
            <a:r>
              <a:rPr lang="en-US" altLang="zh-CN" dirty="0"/>
              <a:t>Batch Sequential)</a:t>
            </a:r>
            <a:endParaRPr lang="zh-CN" altLang="zh-C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196975"/>
            <a:ext cx="5905500" cy="288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标题 4"/>
          <p:cNvSpPr>
            <a:spLocks noGrp="1"/>
          </p:cNvSpPr>
          <p:nvPr>
            <p:ph type="title" idx="4294967295"/>
          </p:nvPr>
        </p:nvSpPr>
        <p:spPr>
          <a:xfrm>
            <a:off x="468313" y="333375"/>
            <a:ext cx="8229600" cy="1143000"/>
          </a:xfrm>
        </p:spPr>
        <p:txBody>
          <a:bodyPr/>
          <a:lstStyle/>
          <a:p>
            <a:pPr algn="l" eaLnBrk="1" hangingPunct="1"/>
            <a:r>
              <a:rPr lang="zh-CN" altLang="zh-CN" sz="3500"/>
              <a:t>从</a:t>
            </a:r>
            <a:r>
              <a:rPr lang="en-US" altLang="zh-CN" sz="3500"/>
              <a:t>”</a:t>
            </a:r>
            <a:r>
              <a:rPr lang="zh-CN" altLang="zh-CN" sz="3500"/>
              <a:t>自来水管道系统</a:t>
            </a:r>
            <a:r>
              <a:rPr lang="en-US" altLang="zh-CN" sz="3500"/>
              <a:t>”</a:t>
            </a:r>
            <a:r>
              <a:rPr lang="zh-CN" altLang="zh-CN" sz="3500"/>
              <a:t>看管道</a:t>
            </a:r>
            <a:r>
              <a:rPr lang="en-US" altLang="zh-CN" sz="3500"/>
              <a:t>-</a:t>
            </a:r>
            <a:r>
              <a:rPr lang="zh-CN" altLang="zh-CN" sz="3500"/>
              <a:t>过滤器风格</a:t>
            </a:r>
            <a:endParaRPr lang="zh-CN" altLang="zh-CN"/>
          </a:p>
        </p:txBody>
      </p:sp>
      <p:pic>
        <p:nvPicPr>
          <p:cNvPr id="2150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4149725"/>
            <a:ext cx="646747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509" name="直接连接符 8"/>
          <p:cNvCxnSpPr>
            <a:cxnSpLocks noChangeShapeType="1"/>
          </p:cNvCxnSpPr>
          <p:nvPr/>
        </p:nvCxnSpPr>
        <p:spPr bwMode="auto">
          <a:xfrm flipV="1">
            <a:off x="323850" y="4076700"/>
            <a:ext cx="8351838" cy="73025"/>
          </a:xfrm>
          <a:prstGeom prst="line">
            <a:avLst/>
          </a:prstGeom>
          <a:noFill/>
          <a:ln w="76200">
            <a:solidFill>
              <a:srgbClr val="B6DCDF"/>
            </a:solidFill>
            <a:round/>
          </a:ln>
          <a:extLst>
            <a:ext uri="{909E8E84-426E-40DD-AFC4-6F175D3DCCD1}">
              <a14:hiddenFill xmlns:a14="http://schemas.microsoft.com/office/drawing/2010/main">
                <a:noFill/>
              </a14:hiddenFill>
            </a:ext>
          </a:extLst>
        </p:spPr>
      </p:cxnSp>
      <p:sp>
        <p:nvSpPr>
          <p:cNvPr id="21510" name="TextBox 9"/>
          <p:cNvSpPr txBox="1">
            <a:spLocks noChangeArrowheads="1"/>
          </p:cNvSpPr>
          <p:nvPr/>
        </p:nvSpPr>
        <p:spPr bwMode="auto">
          <a:xfrm>
            <a:off x="0" y="5805488"/>
            <a:ext cx="38782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a:t>管道负责数据传输</a:t>
            </a:r>
            <a:endParaRPr lang="en-US" altLang="zh-CN" sz="2400"/>
          </a:p>
          <a:p>
            <a:pPr eaLnBrk="1" hangingPunct="1">
              <a:lnSpc>
                <a:spcPct val="100000"/>
              </a:lnSpc>
              <a:spcBef>
                <a:spcPct val="0"/>
              </a:spcBef>
              <a:buFontTx/>
              <a:buNone/>
            </a:pPr>
            <a:r>
              <a:rPr lang="zh-CN" altLang="zh-CN" sz="2400"/>
              <a:t>每个处理步骤由过滤器实现</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p:cNvSpPr>
            <a:spLocks noGrp="1"/>
          </p:cNvSpPr>
          <p:nvPr>
            <p:ph idx="1"/>
          </p:nvPr>
        </p:nvSpPr>
        <p:spPr>
          <a:xfrm>
            <a:off x="179512" y="404664"/>
            <a:ext cx="8229600" cy="2262981"/>
          </a:xfrm>
        </p:spPr>
        <p:txBody>
          <a:bodyPr/>
          <a:lstStyle/>
          <a:p>
            <a:r>
              <a:rPr lang="zh-CN" altLang="zh-CN" sz="2400" dirty="0"/>
              <a:t>管道</a:t>
            </a:r>
            <a:r>
              <a:rPr lang="en-US" altLang="zh-CN" sz="2400" dirty="0"/>
              <a:t>-</a:t>
            </a:r>
            <a:r>
              <a:rPr lang="zh-CN" altLang="zh-CN" sz="2400" dirty="0"/>
              <a:t>过滤器风格</a:t>
            </a:r>
            <a:r>
              <a:rPr lang="zh-CN" altLang="en-US" sz="2400" dirty="0"/>
              <a:t>优点：</a:t>
            </a:r>
            <a:endParaRPr lang="en-US" altLang="zh-CN" sz="2400" dirty="0"/>
          </a:p>
          <a:p>
            <a:pPr lvl="1"/>
            <a:r>
              <a:rPr lang="zh-CN" altLang="en-US" sz="2000" dirty="0"/>
              <a:t> </a:t>
            </a:r>
            <a:r>
              <a:rPr lang="zh-CN" altLang="en-US" sz="1600" dirty="0"/>
              <a:t>使得软件构件具有良好的隐蔽性和高内聚、低耦合的特点；</a:t>
            </a:r>
          </a:p>
          <a:p>
            <a:pPr lvl="1"/>
            <a:r>
              <a:rPr lang="zh-CN" altLang="en-US" sz="1600" dirty="0"/>
              <a:t>允许设计者将整个系统的输入</a:t>
            </a:r>
            <a:r>
              <a:rPr lang="en-US" altLang="zh-CN" sz="1600" dirty="0"/>
              <a:t>/</a:t>
            </a:r>
            <a:r>
              <a:rPr lang="zh-CN" altLang="en-US" sz="1600" dirty="0"/>
              <a:t>输出行为看成是多个过滤器的行为的简单合成；</a:t>
            </a:r>
          </a:p>
          <a:p>
            <a:pPr lvl="1"/>
            <a:r>
              <a:rPr lang="zh-CN" altLang="en-US" sz="1600" dirty="0"/>
              <a:t>支持软件重用。只要提供适合在两个过滤器之间传递的数据，任何两个过滤器都可被连接起来；</a:t>
            </a:r>
          </a:p>
          <a:p>
            <a:pPr lvl="1"/>
            <a:endParaRPr lang="zh-CN" altLang="en-US" sz="1600" dirty="0"/>
          </a:p>
        </p:txBody>
      </p:sp>
      <p:pic>
        <p:nvPicPr>
          <p:cNvPr id="3" name="图片 2">
            <a:extLst>
              <a:ext uri="{FF2B5EF4-FFF2-40B4-BE49-F238E27FC236}">
                <a16:creationId xmlns:a16="http://schemas.microsoft.com/office/drawing/2014/main" id="{03AE2863-8C1C-0279-222A-323C2E8B02DC}"/>
              </a:ext>
            </a:extLst>
          </p:cNvPr>
          <p:cNvPicPr>
            <a:picLocks noChangeAspect="1"/>
          </p:cNvPicPr>
          <p:nvPr/>
        </p:nvPicPr>
        <p:blipFill>
          <a:blip r:embed="rId3"/>
          <a:stretch>
            <a:fillRect/>
          </a:stretch>
        </p:blipFill>
        <p:spPr>
          <a:xfrm>
            <a:off x="3626743" y="2345890"/>
            <a:ext cx="5112569" cy="4492291"/>
          </a:xfrm>
          <a:prstGeom prst="rect">
            <a:avLst/>
          </a:prstGeom>
        </p:spPr>
      </p:pic>
      <p:sp>
        <p:nvSpPr>
          <p:cNvPr id="4" name="内容占位符 2">
            <a:extLst>
              <a:ext uri="{FF2B5EF4-FFF2-40B4-BE49-F238E27FC236}">
                <a16:creationId xmlns:a16="http://schemas.microsoft.com/office/drawing/2014/main" id="{E2C3316C-B16C-E238-C28A-BBD5A2D294E8}"/>
              </a:ext>
            </a:extLst>
          </p:cNvPr>
          <p:cNvSpPr txBox="1">
            <a:spLocks/>
          </p:cNvSpPr>
          <p:nvPr/>
        </p:nvSpPr>
        <p:spPr bwMode="auto">
          <a:xfrm>
            <a:off x="175345" y="2667645"/>
            <a:ext cx="3459782"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0" fontAlgn="base" hangingPunct="0">
              <a:lnSpc>
                <a:spcPct val="150000"/>
              </a:lnSpc>
              <a:spcBef>
                <a:spcPct val="20000"/>
              </a:spcBef>
              <a:spcAft>
                <a:spcPct val="0"/>
              </a:spcAft>
              <a:buChar char="»"/>
              <a:defRPr sz="2000">
                <a:solidFill>
                  <a:schemeClr val="tx1"/>
                </a:solidFill>
                <a:latin typeface="+mn-lt"/>
                <a:ea typeface="+mn-ea"/>
              </a:defRPr>
            </a:lvl6pPr>
            <a:lvl7pPr marL="2971800" indent="-228600" algn="l" rtl="0" eaLnBrk="0" fontAlgn="base" hangingPunct="0">
              <a:lnSpc>
                <a:spcPct val="150000"/>
              </a:lnSpc>
              <a:spcBef>
                <a:spcPct val="20000"/>
              </a:spcBef>
              <a:spcAft>
                <a:spcPct val="0"/>
              </a:spcAft>
              <a:buChar char="»"/>
              <a:defRPr sz="2000">
                <a:solidFill>
                  <a:schemeClr val="tx1"/>
                </a:solidFill>
                <a:latin typeface="+mn-lt"/>
                <a:ea typeface="+mn-ea"/>
              </a:defRPr>
            </a:lvl7pPr>
            <a:lvl8pPr marL="3429000" indent="-228600" algn="l" rtl="0" eaLnBrk="0" fontAlgn="base" hangingPunct="0">
              <a:lnSpc>
                <a:spcPct val="150000"/>
              </a:lnSpc>
              <a:spcBef>
                <a:spcPct val="20000"/>
              </a:spcBef>
              <a:spcAft>
                <a:spcPct val="0"/>
              </a:spcAft>
              <a:buChar char="»"/>
              <a:defRPr sz="2000">
                <a:solidFill>
                  <a:schemeClr val="tx1"/>
                </a:solidFill>
                <a:latin typeface="+mn-lt"/>
                <a:ea typeface="+mn-ea"/>
              </a:defRPr>
            </a:lvl8pPr>
            <a:lvl9pPr marL="3886200" indent="-228600" algn="l" rtl="0" eaLnBrk="0" fontAlgn="base" hangingPunct="0">
              <a:lnSpc>
                <a:spcPct val="150000"/>
              </a:lnSpc>
              <a:spcBef>
                <a:spcPct val="20000"/>
              </a:spcBef>
              <a:spcAft>
                <a:spcPct val="0"/>
              </a:spcAft>
              <a:buChar char="»"/>
              <a:defRPr sz="2000">
                <a:solidFill>
                  <a:schemeClr val="tx1"/>
                </a:solidFill>
                <a:latin typeface="+mn-lt"/>
                <a:ea typeface="+mn-ea"/>
              </a:defRPr>
            </a:lvl9pPr>
          </a:lstStyle>
          <a:p>
            <a:pPr lvl="1"/>
            <a:r>
              <a:rPr lang="zh-CN" altLang="en-US" sz="1600" kern="0" dirty="0"/>
              <a:t>系统维护和系统增强简单。新的过滤器可以添加到现有系统中来；旧的可以被改进的过滤器替换掉；</a:t>
            </a:r>
          </a:p>
          <a:p>
            <a:pPr lvl="1"/>
            <a:r>
              <a:rPr lang="zh-CN" altLang="en-US" sz="1600" kern="0" dirty="0"/>
              <a:t>允许对一些如吞吐量、</a:t>
            </a:r>
            <a:r>
              <a:rPr lang="zh-CN" altLang="en-US" sz="1600" b="1" kern="0" dirty="0">
                <a:solidFill>
                  <a:srgbClr val="FF0000"/>
                </a:solidFill>
              </a:rPr>
              <a:t>死锁</a:t>
            </a:r>
            <a:r>
              <a:rPr lang="zh-CN" altLang="en-US" sz="1600" kern="0" dirty="0"/>
              <a:t>等属性的分析；</a:t>
            </a:r>
          </a:p>
          <a:p>
            <a:pPr lvl="1"/>
            <a:r>
              <a:rPr lang="zh-CN" altLang="en-US" sz="1600" kern="0" dirty="0"/>
              <a:t>支持</a:t>
            </a:r>
            <a:r>
              <a:rPr lang="zh-CN" altLang="en-US" sz="1600" b="1" kern="0" dirty="0">
                <a:solidFill>
                  <a:srgbClr val="FF0000"/>
                </a:solidFill>
              </a:rPr>
              <a:t>并行</a:t>
            </a:r>
            <a:r>
              <a:rPr lang="zh-CN" altLang="en-US" sz="1600" kern="0" dirty="0"/>
              <a:t>执行。每个过滤器是作为一个单独的任务完成，因此可与其他任务并行执行。</a:t>
            </a:r>
          </a:p>
          <a:p>
            <a:pPr lvl="1"/>
            <a:endParaRPr lang="zh-CN" altLang="en-US" sz="1600" kern="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a:xfrm>
            <a:off x="468313" y="404813"/>
            <a:ext cx="8229600" cy="4525962"/>
          </a:xfrm>
        </p:spPr>
        <p:txBody>
          <a:bodyPr/>
          <a:lstStyle/>
          <a:p>
            <a:r>
              <a:rPr lang="zh-CN" altLang="zh-CN" dirty="0"/>
              <a:t>管道</a:t>
            </a:r>
            <a:r>
              <a:rPr lang="en-US" altLang="zh-CN" dirty="0"/>
              <a:t>-</a:t>
            </a:r>
            <a:r>
              <a:rPr lang="zh-CN" altLang="zh-CN" dirty="0"/>
              <a:t>过滤器风格</a:t>
            </a:r>
            <a:r>
              <a:rPr lang="zh-CN" altLang="en-US" dirty="0"/>
              <a:t>缺点：</a:t>
            </a:r>
            <a:endParaRPr lang="en-US" altLang="zh-CN" dirty="0"/>
          </a:p>
          <a:p>
            <a:pPr lvl="1"/>
            <a:r>
              <a:rPr lang="zh-CN" altLang="en-US" sz="2000" dirty="0"/>
              <a:t>通常导致进程成为</a:t>
            </a:r>
            <a:r>
              <a:rPr lang="zh-CN" altLang="en-US" sz="2000" dirty="0">
                <a:solidFill>
                  <a:srgbClr val="FF0000"/>
                </a:solidFill>
              </a:rPr>
              <a:t>批处理</a:t>
            </a:r>
            <a:r>
              <a:rPr lang="zh-CN" altLang="en-US" sz="2000" dirty="0"/>
              <a:t>的结构。这是因为虽然过滤器可增量式地处理数据，但它们是独立的，所以设计者必须将每个过滤器看成一个完整的输入到输出的转换；</a:t>
            </a:r>
          </a:p>
          <a:p>
            <a:pPr lvl="1"/>
            <a:r>
              <a:rPr lang="zh-CN" altLang="en-US" sz="2000" dirty="0"/>
              <a:t>不适合处理交互的应用。当需要增量地显示改变时，这个问题尤为严重；</a:t>
            </a:r>
          </a:p>
          <a:p>
            <a:pPr lvl="1"/>
            <a:r>
              <a:rPr lang="zh-CN" altLang="en-US" sz="2000" dirty="0"/>
              <a:t>因为在数据传输上没有通用的标准，每个过滤器都增加了解析和合成数据的工作，这样就导致了系统性能下降，并增加了编写过滤器的复杂性。</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0" y="908050"/>
            <a:ext cx="9191625" cy="4897438"/>
          </a:xfrm>
        </p:spPr>
      </p:pic>
      <p:sp>
        <p:nvSpPr>
          <p:cNvPr id="24579" name="标题 1"/>
          <p:cNvSpPr>
            <a:spLocks noGrp="1"/>
          </p:cNvSpPr>
          <p:nvPr>
            <p:ph type="title" idx="4294967295"/>
          </p:nvPr>
        </p:nvSpPr>
        <p:spPr/>
        <p:txBody>
          <a:bodyPr/>
          <a:lstStyle/>
          <a:p>
            <a:pPr eaLnBrk="1" hangingPunct="1"/>
            <a:r>
              <a:rPr lang="zh-CN" altLang="zh-CN"/>
              <a:t>批处理风格的直观结构</a:t>
            </a:r>
          </a:p>
        </p:txBody>
      </p:sp>
      <p:sp>
        <p:nvSpPr>
          <p:cNvPr id="24580" name="TextBox 4"/>
          <p:cNvSpPr txBox="1">
            <a:spLocks noChangeArrowheads="1"/>
          </p:cNvSpPr>
          <p:nvPr/>
        </p:nvSpPr>
        <p:spPr bwMode="auto">
          <a:xfrm>
            <a:off x="539750" y="5732463"/>
            <a:ext cx="79930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50000"/>
              </a:lnSpc>
              <a:spcBef>
                <a:spcPct val="20000"/>
              </a:spcBef>
              <a:buChar char="•"/>
              <a:defRPr sz="3200">
                <a:solidFill>
                  <a:schemeClr val="tx1"/>
                </a:solidFill>
                <a:latin typeface="Arial" panose="020B0604020202090204" pitchFamily="34" charset="0"/>
                <a:ea typeface="宋体" pitchFamily="2" charset="-122"/>
              </a:defRPr>
            </a:lvl1pPr>
            <a:lvl2pPr marL="742950" indent="-285750">
              <a:lnSpc>
                <a:spcPct val="150000"/>
              </a:lnSpc>
              <a:spcBef>
                <a:spcPct val="20000"/>
              </a:spcBef>
              <a:buChar char="–"/>
              <a:defRPr sz="2800">
                <a:solidFill>
                  <a:schemeClr val="tx1"/>
                </a:solidFill>
                <a:latin typeface="Arial" panose="020B0604020202090204" pitchFamily="34" charset="0"/>
                <a:ea typeface="宋体" pitchFamily="2" charset="-122"/>
              </a:defRPr>
            </a:lvl2pPr>
            <a:lvl3pPr marL="1143000" indent="-228600">
              <a:lnSpc>
                <a:spcPct val="150000"/>
              </a:lnSpc>
              <a:spcBef>
                <a:spcPct val="20000"/>
              </a:spcBef>
              <a:buChar char="•"/>
              <a:defRPr sz="2400">
                <a:solidFill>
                  <a:schemeClr val="tx1"/>
                </a:solidFill>
                <a:latin typeface="Arial" panose="020B0604020202090204" pitchFamily="34" charset="0"/>
                <a:ea typeface="宋体" pitchFamily="2" charset="-122"/>
              </a:defRPr>
            </a:lvl3pPr>
            <a:lvl4pPr marL="1600200" indent="-228600">
              <a:lnSpc>
                <a:spcPct val="150000"/>
              </a:lnSpc>
              <a:spcBef>
                <a:spcPct val="20000"/>
              </a:spcBef>
              <a:buChar char="–"/>
              <a:defRPr sz="2000">
                <a:solidFill>
                  <a:schemeClr val="tx1"/>
                </a:solidFill>
                <a:latin typeface="Arial" panose="020B0604020202090204" pitchFamily="34" charset="0"/>
                <a:ea typeface="宋体" pitchFamily="2" charset="-122"/>
              </a:defRPr>
            </a:lvl4pPr>
            <a:lvl5pPr marL="2057400" indent="-228600">
              <a:lnSpc>
                <a:spcPct val="150000"/>
              </a:lnSpc>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lnSpc>
                <a:spcPct val="150000"/>
              </a:lnSpc>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00000"/>
              </a:lnSpc>
              <a:spcBef>
                <a:spcPct val="0"/>
              </a:spcBef>
              <a:buFontTx/>
              <a:buNone/>
            </a:pPr>
            <a:r>
              <a:rPr lang="zh-CN" altLang="zh-CN" sz="2400"/>
              <a:t>每一步必须在前一步结束后完成；每个处理步骤是一个独立的程序；数据必须是完整的，以整体的方式传递</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25603" name="内容占位符 2"/>
          <p:cNvSpPr>
            <a:spLocks noGrp="1"/>
          </p:cNvSpPr>
          <p:nvPr>
            <p:ph idx="4294967295"/>
          </p:nvPr>
        </p:nvSpPr>
        <p:spPr/>
        <p:txBody>
          <a:bodyPr/>
          <a:lstStyle/>
          <a:p>
            <a:pPr eaLnBrk="1" hangingPunct="1">
              <a:buFontTx/>
              <a:buNone/>
            </a:pPr>
            <a:r>
              <a:rPr lang="en-US" altLang="zh-CN" dirty="0">
                <a:solidFill>
                  <a:srgbClr val="FF0000"/>
                </a:solidFill>
              </a:rPr>
              <a:t>3. </a:t>
            </a:r>
            <a:r>
              <a:rPr lang="zh-CN" altLang="zh-CN" dirty="0">
                <a:solidFill>
                  <a:srgbClr val="FF0000"/>
                </a:solidFill>
                <a:latin typeface="宋体" pitchFamily="2" charset="-122"/>
              </a:rPr>
              <a:t>调用和返回体系结构</a:t>
            </a:r>
            <a:endParaRPr lang="en-US" altLang="zh-CN" dirty="0">
              <a:solidFill>
                <a:srgbClr val="FF0000"/>
              </a:solidFill>
              <a:latin typeface="宋体" pitchFamily="2" charset="-122"/>
            </a:endParaRPr>
          </a:p>
          <a:p>
            <a:pPr marL="971550" lvl="1" indent="-514350" eaLnBrk="1" hangingPunct="1">
              <a:buFontTx/>
              <a:buAutoNum type="arabicPeriod"/>
            </a:pPr>
            <a:r>
              <a:rPr lang="zh-CN" altLang="zh-CN" dirty="0">
                <a:solidFill>
                  <a:srgbClr val="0070C0"/>
                </a:solidFill>
                <a:latin typeface="宋体" pitchFamily="2" charset="-122"/>
              </a:rPr>
              <a:t>主程序</a:t>
            </a:r>
            <a:r>
              <a:rPr lang="en-US" altLang="zh-CN" dirty="0">
                <a:solidFill>
                  <a:srgbClr val="0070C0"/>
                </a:solidFill>
                <a:latin typeface="宋体" pitchFamily="2" charset="-122"/>
              </a:rPr>
              <a:t>/</a:t>
            </a:r>
            <a:r>
              <a:rPr lang="zh-CN" altLang="zh-CN" dirty="0">
                <a:solidFill>
                  <a:srgbClr val="0070C0"/>
                </a:solidFill>
                <a:latin typeface="宋体" pitchFamily="2" charset="-122"/>
              </a:rPr>
              <a:t>子程序体系结构</a:t>
            </a:r>
            <a:endParaRPr lang="en-US" altLang="zh-CN" dirty="0">
              <a:solidFill>
                <a:srgbClr val="0070C0"/>
              </a:solidFill>
              <a:latin typeface="宋体" pitchFamily="2" charset="-122"/>
            </a:endParaRPr>
          </a:p>
          <a:p>
            <a:pPr lvl="2" eaLnBrk="1" hangingPunct="1"/>
            <a:r>
              <a:rPr lang="zh-CN" altLang="zh-CN" dirty="0">
                <a:latin typeface="宋体" pitchFamily="2" charset="-122"/>
              </a:rPr>
              <a:t>主程序调用一组程序构件，这组程序构件又去调用其程序构件</a:t>
            </a:r>
            <a:endParaRPr lang="en-US" altLang="zh-CN" dirty="0">
              <a:latin typeface="宋体" pitchFamily="2" charset="-122"/>
            </a:endParaRPr>
          </a:p>
          <a:p>
            <a:pPr marL="971550" lvl="1" indent="-514350" eaLnBrk="1" hangingPunct="1">
              <a:buFontTx/>
              <a:buAutoNum type="arabicPeriod"/>
            </a:pPr>
            <a:r>
              <a:rPr lang="zh-CN" altLang="zh-CN" dirty="0">
                <a:solidFill>
                  <a:srgbClr val="0070C0"/>
                </a:solidFill>
                <a:latin typeface="宋体" pitchFamily="2" charset="-122"/>
              </a:rPr>
              <a:t>远程过程调用体系结构。</a:t>
            </a:r>
            <a:endParaRPr lang="en-US" altLang="zh-CN" dirty="0">
              <a:solidFill>
                <a:srgbClr val="0070C0"/>
              </a:solidFill>
              <a:latin typeface="宋体" pitchFamily="2" charset="-122"/>
            </a:endParaRPr>
          </a:p>
          <a:p>
            <a:pPr lvl="2" eaLnBrk="1" hangingPunct="1"/>
            <a:r>
              <a:rPr lang="zh-CN" altLang="zh-CN" dirty="0">
                <a:latin typeface="宋体" pitchFamily="2" charset="-122"/>
              </a:rPr>
              <a:t>主程序</a:t>
            </a:r>
            <a:r>
              <a:rPr lang="en-US" altLang="zh-CN" dirty="0">
                <a:latin typeface="宋体" pitchFamily="2" charset="-122"/>
              </a:rPr>
              <a:t>/</a:t>
            </a:r>
            <a:r>
              <a:rPr lang="zh-CN" altLang="zh-CN" dirty="0">
                <a:latin typeface="宋体" pitchFamily="2" charset="-122"/>
              </a:rPr>
              <a:t>子程序的构件分布在多个计算机上。</a:t>
            </a:r>
            <a:endParaRPr lang="zh-CN" altLang="zh-C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26627" name="内容占位符 2"/>
          <p:cNvSpPr>
            <a:spLocks noGrp="1"/>
          </p:cNvSpPr>
          <p:nvPr>
            <p:ph idx="4294967295"/>
          </p:nvPr>
        </p:nvSpPr>
        <p:spPr>
          <a:xfrm>
            <a:off x="468313" y="1484313"/>
            <a:ext cx="8229600" cy="4525962"/>
          </a:xfrm>
        </p:spPr>
        <p:txBody>
          <a:bodyPr/>
          <a:lstStyle/>
          <a:p>
            <a:pPr eaLnBrk="1" hangingPunct="1">
              <a:buFontTx/>
              <a:buNone/>
            </a:pPr>
            <a:r>
              <a:rPr lang="en-US" altLang="zh-CN"/>
              <a:t> </a:t>
            </a:r>
            <a:endParaRPr lang="zh-CN" altLang="zh-CN"/>
          </a:p>
        </p:txBody>
      </p:sp>
      <p:pic>
        <p:nvPicPr>
          <p:cNvPr id="2662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00213"/>
            <a:ext cx="9009063"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27651" name="内容占位符 2"/>
          <p:cNvSpPr>
            <a:spLocks noGrp="1"/>
          </p:cNvSpPr>
          <p:nvPr>
            <p:ph idx="4294967295"/>
          </p:nvPr>
        </p:nvSpPr>
        <p:spPr/>
        <p:txBody>
          <a:bodyPr/>
          <a:lstStyle/>
          <a:p>
            <a:pPr eaLnBrk="1" hangingPunct="1">
              <a:buFontTx/>
              <a:buNone/>
            </a:pPr>
            <a:r>
              <a:rPr lang="en-US" altLang="zh-CN" dirty="0">
                <a:solidFill>
                  <a:srgbClr val="FF0000"/>
                </a:solidFill>
              </a:rPr>
              <a:t>4. </a:t>
            </a:r>
            <a:r>
              <a:rPr lang="zh-CN" altLang="zh-CN" dirty="0">
                <a:solidFill>
                  <a:srgbClr val="FF0000"/>
                </a:solidFill>
                <a:latin typeface="宋体" pitchFamily="2" charset="-122"/>
              </a:rPr>
              <a:t>面向对象体系结构</a:t>
            </a:r>
            <a:endParaRPr lang="en-US" altLang="zh-CN" dirty="0">
              <a:solidFill>
                <a:srgbClr val="FF0000"/>
              </a:solidFill>
              <a:latin typeface="宋体" pitchFamily="2" charset="-122"/>
            </a:endParaRPr>
          </a:p>
          <a:p>
            <a:pPr marL="914400" lvl="1" indent="-514350" eaLnBrk="1" hangingPunct="1"/>
            <a:r>
              <a:rPr lang="zh-CN" altLang="zh-CN" dirty="0">
                <a:latin typeface="宋体" pitchFamily="2" charset="-122"/>
              </a:rPr>
              <a:t>封装了数据和必须应用到该数据上的操作，构件间通过信息传递进行通信和合作。</a:t>
            </a:r>
            <a:endParaRPr lang="en-US" altLang="zh-CN" dirty="0">
              <a:latin typeface="宋体" pitchFamily="2" charset="-122"/>
            </a:endParaRPr>
          </a:p>
        </p:txBody>
      </p:sp>
      <p:pic>
        <p:nvPicPr>
          <p:cNvPr id="2765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3602150"/>
            <a:ext cx="2896617" cy="189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文本框 2"/>
          <p:cNvSpPr txBox="1">
            <a:spLocks noChangeArrowheads="1"/>
          </p:cNvSpPr>
          <p:nvPr/>
        </p:nvSpPr>
        <p:spPr bwMode="auto">
          <a:xfrm>
            <a:off x="251520" y="5493686"/>
            <a:ext cx="453456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lang="zh-CN" altLang="en-US" dirty="0"/>
              <a:t>优点：对象隐藏；可以将数据存取操作分解成一些交互的代理程序的集合。</a:t>
            </a:r>
            <a:endParaRPr lang="en-US" altLang="zh-CN" dirty="0"/>
          </a:p>
          <a:p>
            <a:pPr eaLnBrk="1" hangingPunct="1"/>
            <a:r>
              <a:rPr lang="zh-CN" altLang="en-US" dirty="0"/>
              <a:t>缺点：对象调用必须有对象的标识；对象循环调用等问题。</a:t>
            </a:r>
          </a:p>
        </p:txBody>
      </p:sp>
      <p:pic>
        <p:nvPicPr>
          <p:cNvPr id="2" name="图片 1"/>
          <p:cNvPicPr>
            <a:picLocks noChangeAspect="1"/>
          </p:cNvPicPr>
          <p:nvPr/>
        </p:nvPicPr>
        <p:blipFill>
          <a:blip r:embed="rId3"/>
          <a:stretch>
            <a:fillRect/>
          </a:stretch>
        </p:blipFill>
        <p:spPr>
          <a:xfrm rot="16200000">
            <a:off x="4366359" y="2811763"/>
            <a:ext cx="3119882" cy="4868840"/>
          </a:xfrm>
          <a:prstGeom prst="rect">
            <a:avLst/>
          </a:prstGeom>
        </p:spPr>
      </p:pic>
      <p:sp>
        <p:nvSpPr>
          <p:cNvPr id="3" name="文本框 2"/>
          <p:cNvSpPr txBox="1"/>
          <p:nvPr/>
        </p:nvSpPr>
        <p:spPr>
          <a:xfrm>
            <a:off x="8172400" y="5013176"/>
            <a:ext cx="877163" cy="646331"/>
          </a:xfrm>
          <a:prstGeom prst="rect">
            <a:avLst/>
          </a:prstGeom>
          <a:noFill/>
        </p:spPr>
        <p:txBody>
          <a:bodyPr wrap="none" rtlCol="0">
            <a:spAutoFit/>
          </a:bodyPr>
          <a:lstStyle/>
          <a:p>
            <a:r>
              <a:rPr kumimoji="1" lang="zh-CN" altLang="en-US" dirty="0"/>
              <a:t>登陆</a:t>
            </a:r>
            <a:endParaRPr kumimoji="1" lang="en-US" altLang="zh-CN" dirty="0"/>
          </a:p>
          <a:p>
            <a:r>
              <a:rPr kumimoji="1" lang="zh-CN" altLang="en-US" dirty="0"/>
              <a:t>通讯图</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28675" name="内容占位符 2"/>
          <p:cNvSpPr>
            <a:spLocks noGrp="1"/>
          </p:cNvSpPr>
          <p:nvPr>
            <p:ph idx="4294967295"/>
          </p:nvPr>
        </p:nvSpPr>
        <p:spPr>
          <a:xfrm>
            <a:off x="457200" y="1600201"/>
            <a:ext cx="3106688" cy="2764904"/>
          </a:xfrm>
        </p:spPr>
        <p:txBody>
          <a:bodyPr/>
          <a:lstStyle/>
          <a:p>
            <a:pPr eaLnBrk="1" hangingPunct="1">
              <a:buFontTx/>
              <a:buNone/>
            </a:pPr>
            <a:r>
              <a:rPr lang="en-US" altLang="zh-CN" sz="2800" dirty="0">
                <a:solidFill>
                  <a:srgbClr val="FF0000"/>
                </a:solidFill>
              </a:rPr>
              <a:t>5. </a:t>
            </a:r>
            <a:r>
              <a:rPr lang="zh-CN" altLang="zh-CN" sz="2800" dirty="0">
                <a:solidFill>
                  <a:srgbClr val="FF0000"/>
                </a:solidFill>
              </a:rPr>
              <a:t>层次体系结构</a:t>
            </a:r>
            <a:endParaRPr lang="en-US" altLang="zh-CN" sz="2800" dirty="0">
              <a:solidFill>
                <a:srgbClr val="FF0000"/>
              </a:solidFill>
            </a:endParaRPr>
          </a:p>
          <a:p>
            <a:pPr lvl="1" eaLnBrk="1" hangingPunct="1"/>
            <a:r>
              <a:rPr lang="zh-CN" altLang="zh-CN" sz="2400" dirty="0">
                <a:latin typeface="宋体" pitchFamily="2" charset="-122"/>
              </a:rPr>
              <a:t>各模块实现功能的层次不一样</a:t>
            </a:r>
          </a:p>
          <a:p>
            <a:pPr lvl="1" eaLnBrk="1" hangingPunct="1"/>
            <a:endParaRPr lang="zh-CN" altLang="zh-CN" sz="2400" dirty="0"/>
          </a:p>
        </p:txBody>
      </p:sp>
      <p:pic>
        <p:nvPicPr>
          <p:cNvPr id="2867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838" y="1412875"/>
            <a:ext cx="5113337" cy="481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文本框 1"/>
          <p:cNvSpPr txBox="1">
            <a:spLocks noChangeArrowheads="1"/>
          </p:cNvSpPr>
          <p:nvPr/>
        </p:nvSpPr>
        <p:spPr bwMode="auto">
          <a:xfrm>
            <a:off x="287338" y="4275137"/>
            <a:ext cx="4284662"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eaLnBrk="1" hangingPunct="1"/>
            <a:r>
              <a:rPr lang="zh-CN" altLang="en-US" dirty="0"/>
              <a:t>每一层为上层服务，并作为下层服务</a:t>
            </a:r>
            <a:endParaRPr lang="en-US" altLang="zh-CN" dirty="0"/>
          </a:p>
          <a:p>
            <a:pPr eaLnBrk="1" hangingPunct="1"/>
            <a:r>
              <a:rPr lang="zh-CN" altLang="en-US" dirty="0"/>
              <a:t>这样的设计允许将一个复杂问题分解为一个增量步骤序列的实现。由于每一层最多只影响两层，同时只给相邻层提供相同的接口，允许每层用不同的方法实现，同样为软件重用提供了强调的支持。</a:t>
            </a:r>
            <a:endParaRPr lang="en-US" altLang="zh-CN" dirty="0"/>
          </a:p>
          <a:p>
            <a:pPr eaLnBrk="1" hangingPunct="1"/>
            <a:r>
              <a:rPr lang="zh-CN" altLang="en-US" dirty="0"/>
              <a:t>缺点：很难找到一个合适的、正确的层次抽象方法。</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rcRect l="18539"/>
          <a:stretch/>
        </p:blipFill>
        <p:spPr>
          <a:xfrm rot="16200000">
            <a:off x="2027128" y="-310394"/>
            <a:ext cx="3870253" cy="7412996"/>
          </a:xfrm>
          <a:prstGeom prst="rect">
            <a:avLst/>
          </a:prstGeom>
        </p:spPr>
      </p:pic>
      <p:sp>
        <p:nvSpPr>
          <p:cNvPr id="3" name="文本框 2"/>
          <p:cNvSpPr txBox="1"/>
          <p:nvPr/>
        </p:nvSpPr>
        <p:spPr>
          <a:xfrm>
            <a:off x="539552" y="260648"/>
            <a:ext cx="7776488" cy="1200329"/>
          </a:xfrm>
          <a:prstGeom prst="rect">
            <a:avLst/>
          </a:prstGeom>
          <a:noFill/>
        </p:spPr>
        <p:txBody>
          <a:bodyPr wrap="none" rtlCol="0">
            <a:spAutoFit/>
          </a:bodyPr>
          <a:lstStyle/>
          <a:p>
            <a:r>
              <a:rPr kumimoji="1" lang="zh-CN" altLang="en-US" dirty="0"/>
              <a:t>模型</a:t>
            </a:r>
            <a:r>
              <a:rPr kumimoji="1" lang="en-US" altLang="zh-CN" dirty="0"/>
              <a:t>-</a:t>
            </a:r>
            <a:r>
              <a:rPr kumimoji="1" lang="zh-CN" altLang="en-US" dirty="0"/>
              <a:t>视图</a:t>
            </a:r>
            <a:r>
              <a:rPr kumimoji="1" lang="en-US" altLang="zh-CN" dirty="0"/>
              <a:t>-</a:t>
            </a:r>
            <a:r>
              <a:rPr kumimoji="1" lang="zh-CN" altLang="en-US" dirty="0"/>
              <a:t>控制器（</a:t>
            </a:r>
            <a:r>
              <a:rPr kumimoji="1" lang="en-US" altLang="zh-CN" dirty="0"/>
              <a:t>Model-View-Controller,</a:t>
            </a:r>
            <a:r>
              <a:rPr kumimoji="1" lang="zh-CN" altLang="en-US" dirty="0"/>
              <a:t> </a:t>
            </a:r>
            <a:r>
              <a:rPr kumimoji="1" lang="en-US" altLang="zh-CN" dirty="0"/>
              <a:t>MVC)</a:t>
            </a:r>
          </a:p>
          <a:p>
            <a:r>
              <a:rPr kumimoji="1" lang="zh-CN" altLang="en-US" dirty="0">
                <a:solidFill>
                  <a:srgbClr val="FF0000"/>
                </a:solidFill>
              </a:rPr>
              <a:t>模型</a:t>
            </a:r>
            <a:r>
              <a:rPr kumimoji="1" lang="zh-CN" altLang="en-US" dirty="0"/>
              <a:t>：包含所有应用特定内容和处理逻辑；</a:t>
            </a:r>
            <a:endParaRPr kumimoji="1" lang="en-US" altLang="zh-CN" dirty="0"/>
          </a:p>
          <a:p>
            <a:r>
              <a:rPr kumimoji="1" lang="zh-CN" altLang="en-US" dirty="0">
                <a:solidFill>
                  <a:srgbClr val="FF0000"/>
                </a:solidFill>
              </a:rPr>
              <a:t>视图</a:t>
            </a:r>
            <a:r>
              <a:rPr kumimoji="1" lang="zh-CN" altLang="en-US" dirty="0"/>
              <a:t>：包含所有接口特定功能并能够显示终端用户所需的内容和操作逻辑；</a:t>
            </a:r>
            <a:endParaRPr kumimoji="1" lang="en-US" altLang="zh-CN" dirty="0"/>
          </a:p>
          <a:p>
            <a:r>
              <a:rPr kumimoji="1" lang="zh-CN" altLang="en-US" dirty="0">
                <a:solidFill>
                  <a:srgbClr val="FF0000"/>
                </a:solidFill>
              </a:rPr>
              <a:t>控制器</a:t>
            </a:r>
            <a:r>
              <a:rPr kumimoji="1" lang="zh-CN" altLang="en-US" dirty="0"/>
              <a:t>：管理对模型和视图的访问并协调它们之间的数据流。</a:t>
            </a:r>
            <a:endParaRPr kumimoji="1" lang="en-US" altLang="zh-CN" dirty="0"/>
          </a:p>
        </p:txBody>
      </p:sp>
      <p:pic>
        <p:nvPicPr>
          <p:cNvPr id="2050" name="Picture 2">
            <a:extLst>
              <a:ext uri="{FF2B5EF4-FFF2-40B4-BE49-F238E27FC236}">
                <a16:creationId xmlns:a16="http://schemas.microsoft.com/office/drawing/2014/main" id="{E641E2C6-E4AF-8E0E-65F8-5C640C665C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4208" y="4581128"/>
            <a:ext cx="2491755" cy="21130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756EEE88-3364-8EC6-67F1-64951E2744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286769"/>
            <a:ext cx="5400600" cy="255661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E9685F1F-2076-CD77-CB7F-301BD4C71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3068960"/>
            <a:ext cx="4103286" cy="2315716"/>
          </a:xfrm>
          <a:prstGeom prst="rect">
            <a:avLst/>
          </a:prstGeom>
          <a:noFill/>
          <a:extLst>
            <a:ext uri="{909E8E84-426E-40DD-AFC4-6F175D3DCCD1}">
              <a14:hiddenFill xmlns:a14="http://schemas.microsoft.com/office/drawing/2010/main">
                <a:solidFill>
                  <a:srgbClr val="FFFFFF"/>
                </a:solidFill>
              </a14:hiddenFill>
            </a:ext>
          </a:extLst>
        </p:spPr>
      </p:pic>
      <p:sp>
        <p:nvSpPr>
          <p:cNvPr id="31746" name="标题 1"/>
          <p:cNvSpPr>
            <a:spLocks noGrp="1"/>
          </p:cNvSpPr>
          <p:nvPr>
            <p:ph type="title" idx="4294967295"/>
          </p:nvPr>
        </p:nvSpPr>
        <p:spPr/>
        <p:txBody>
          <a:bodyPr/>
          <a:lstStyle/>
          <a:p>
            <a:pPr eaLnBrk="1" hangingPunct="1"/>
            <a:r>
              <a:rPr lang="en-US" altLang="zh-CN">
                <a:latin typeface="宋体" pitchFamily="2" charset="-122"/>
              </a:rPr>
              <a:t>8.3.1 </a:t>
            </a:r>
            <a:r>
              <a:rPr lang="zh-CN" altLang="zh-CN">
                <a:latin typeface="宋体" pitchFamily="2" charset="-122"/>
              </a:rPr>
              <a:t>体系结构风格的分类</a:t>
            </a:r>
            <a:endParaRPr lang="zh-CN" altLang="zh-CN"/>
          </a:p>
        </p:txBody>
      </p:sp>
      <p:sp>
        <p:nvSpPr>
          <p:cNvPr id="31747" name="内容占位符 2"/>
          <p:cNvSpPr>
            <a:spLocks noGrp="1"/>
          </p:cNvSpPr>
          <p:nvPr>
            <p:ph idx="4294967295"/>
          </p:nvPr>
        </p:nvSpPr>
        <p:spPr>
          <a:xfrm>
            <a:off x="457200" y="1600201"/>
            <a:ext cx="8003232" cy="676671"/>
          </a:xfrm>
        </p:spPr>
        <p:txBody>
          <a:bodyPr/>
          <a:lstStyle/>
          <a:p>
            <a:pPr marL="0" indent="0" eaLnBrk="1" hangingPunct="1">
              <a:buNone/>
            </a:pPr>
            <a:r>
              <a:rPr lang="en-US" altLang="zh-CN" sz="2800" dirty="0">
                <a:solidFill>
                  <a:srgbClr val="FF0000"/>
                </a:solidFill>
              </a:rPr>
              <a:t>6.SOA </a:t>
            </a:r>
            <a:r>
              <a:rPr lang="zh-CN" altLang="en-US" sz="2000" dirty="0">
                <a:latin typeface="宋体" pitchFamily="2" charset="-122"/>
              </a:rPr>
              <a:t>整个应用程序被设计和实现为一组相互交互的服务</a:t>
            </a:r>
            <a:endParaRPr lang="zh-CN" altLang="zh-CN" sz="2000" dirty="0">
              <a:latin typeface="宋体" pitchFamily="2" charset="-122"/>
            </a:endParaRPr>
          </a:p>
        </p:txBody>
      </p:sp>
      <p:pic>
        <p:nvPicPr>
          <p:cNvPr id="3076" name="Picture 4">
            <a:extLst>
              <a:ext uri="{FF2B5EF4-FFF2-40B4-BE49-F238E27FC236}">
                <a16:creationId xmlns:a16="http://schemas.microsoft.com/office/drawing/2014/main" id="{0793C0A9-3506-2CC0-8A4C-477926B1D6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29" y="5013176"/>
            <a:ext cx="5655299" cy="17236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3"/>
          <p:cNvSpPr>
            <a:spLocks noGrp="1"/>
          </p:cNvSpPr>
          <p:nvPr>
            <p:ph type="title" idx="4294967295"/>
          </p:nvPr>
        </p:nvSpPr>
        <p:spPr/>
        <p:txBody>
          <a:bodyPr/>
          <a:lstStyle/>
          <a:p>
            <a:pPr eaLnBrk="1" hangingPunct="1"/>
            <a:r>
              <a:rPr lang="en-US" altLang="zh-CN">
                <a:latin typeface="宋体" pitchFamily="2" charset="-122"/>
              </a:rPr>
              <a:t>8.3.2 </a:t>
            </a:r>
            <a:r>
              <a:rPr lang="zh-CN" altLang="zh-CN">
                <a:latin typeface="宋体" pitchFamily="2" charset="-122"/>
              </a:rPr>
              <a:t>体系结构模式</a:t>
            </a:r>
            <a:endParaRPr lang="zh-CN" altLang="zh-CN"/>
          </a:p>
        </p:txBody>
      </p:sp>
      <p:sp>
        <p:nvSpPr>
          <p:cNvPr id="32771" name="内容占位符 2"/>
          <p:cNvSpPr>
            <a:spLocks noGrp="1"/>
          </p:cNvSpPr>
          <p:nvPr>
            <p:ph idx="4294967295"/>
          </p:nvPr>
        </p:nvSpPr>
        <p:spPr>
          <a:xfrm>
            <a:off x="457200" y="1196752"/>
            <a:ext cx="8229600" cy="4525963"/>
          </a:xfrm>
        </p:spPr>
        <p:txBody>
          <a:bodyPr/>
          <a:lstStyle/>
          <a:p>
            <a:pPr eaLnBrk="1" hangingPunct="1"/>
            <a:r>
              <a:rPr lang="zh-CN" altLang="zh-CN" dirty="0">
                <a:latin typeface="宋体" pitchFamily="2" charset="-122"/>
              </a:rPr>
              <a:t>不同模式操作下的一些特征：</a:t>
            </a:r>
            <a:endParaRPr lang="en-US" altLang="zh-CN" dirty="0">
              <a:latin typeface="宋体" pitchFamily="2" charset="-122"/>
            </a:endParaRPr>
          </a:p>
          <a:p>
            <a:pPr lvl="1" eaLnBrk="1" hangingPunct="1"/>
            <a:r>
              <a:rPr lang="zh-CN" altLang="zh-CN" dirty="0">
                <a:solidFill>
                  <a:srgbClr val="FF0000"/>
                </a:solidFill>
                <a:latin typeface="宋体" pitchFamily="2" charset="-122"/>
              </a:rPr>
              <a:t>并发性</a:t>
            </a:r>
            <a:r>
              <a:rPr lang="zh-CN" altLang="en-US" dirty="0">
                <a:solidFill>
                  <a:srgbClr val="FF0000"/>
                </a:solidFill>
                <a:latin typeface="宋体" pitchFamily="2" charset="-122"/>
              </a:rPr>
              <a:t> </a:t>
            </a:r>
            <a:endParaRPr lang="en-US" altLang="zh-CN" dirty="0">
              <a:solidFill>
                <a:srgbClr val="FF0000"/>
              </a:solidFill>
              <a:latin typeface="宋体" pitchFamily="2" charset="-122"/>
            </a:endParaRPr>
          </a:p>
          <a:p>
            <a:pPr lvl="2" eaLnBrk="1" hangingPunct="1"/>
            <a:r>
              <a:rPr lang="zh-CN" altLang="zh-CN" dirty="0">
                <a:latin typeface="宋体" pitchFamily="2" charset="-122"/>
              </a:rPr>
              <a:t>“</a:t>
            </a:r>
            <a:r>
              <a:rPr lang="zh-CN" altLang="zh-CN" dirty="0">
                <a:solidFill>
                  <a:srgbClr val="0070C0"/>
                </a:solidFill>
                <a:latin typeface="宋体" pitchFamily="2" charset="-122"/>
              </a:rPr>
              <a:t>操作系统进程管理</a:t>
            </a:r>
            <a:r>
              <a:rPr lang="zh-CN" altLang="zh-CN" dirty="0">
                <a:latin typeface="宋体" pitchFamily="2" charset="-122"/>
              </a:rPr>
              <a:t>”模式</a:t>
            </a:r>
            <a:endParaRPr lang="en-US" altLang="zh-CN" dirty="0">
              <a:latin typeface="宋体" pitchFamily="2" charset="-122"/>
            </a:endParaRPr>
          </a:p>
          <a:p>
            <a:pPr lvl="2" eaLnBrk="1" hangingPunct="1"/>
            <a:r>
              <a:rPr lang="zh-CN" altLang="zh-CN" dirty="0">
                <a:latin typeface="宋体" pitchFamily="2" charset="-122"/>
              </a:rPr>
              <a:t>“</a:t>
            </a:r>
            <a:r>
              <a:rPr lang="zh-CN" altLang="zh-CN" dirty="0">
                <a:solidFill>
                  <a:srgbClr val="0070C0"/>
                </a:solidFill>
                <a:latin typeface="宋体" pitchFamily="2" charset="-122"/>
              </a:rPr>
              <a:t>任务调度器</a:t>
            </a:r>
            <a:r>
              <a:rPr lang="zh-CN" altLang="zh-CN" dirty="0">
                <a:latin typeface="宋体" pitchFamily="2" charset="-122"/>
              </a:rPr>
              <a:t>”模式</a:t>
            </a:r>
            <a:endParaRPr lang="en-US" altLang="zh-CN" dirty="0">
              <a:latin typeface="宋体" pitchFamily="2" charset="-122"/>
            </a:endParaRPr>
          </a:p>
          <a:p>
            <a:pPr eaLnBrk="1" hangingPunct="1">
              <a:buFontTx/>
              <a:buNone/>
            </a:pPr>
            <a:endParaRPr lang="en-US" altLang="zh-CN" sz="2400" dirty="0">
              <a:latin typeface="宋体" pitchFamily="2" charset="-122"/>
            </a:endParaRPr>
          </a:p>
          <a:p>
            <a:pPr eaLnBrk="1" hangingPunct="1">
              <a:buFontTx/>
              <a:buNone/>
            </a:pPr>
            <a:endParaRPr lang="en-US" altLang="zh-CN" sz="2400" dirty="0">
              <a:latin typeface="宋体" pitchFamily="2" charset="-122"/>
            </a:endParaRPr>
          </a:p>
          <a:p>
            <a:pPr eaLnBrk="1" hangingPunct="1">
              <a:buFontTx/>
              <a:buNone/>
            </a:pPr>
            <a:endParaRPr lang="zh-CN" altLang="zh-CN" sz="2400" dirty="0">
              <a:latin typeface="宋体"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539552" y="1052736"/>
            <a:ext cx="8015692" cy="472070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idx="4294967295"/>
          </p:nvPr>
        </p:nvSpPr>
        <p:spPr/>
        <p:txBody>
          <a:bodyPr/>
          <a:lstStyle/>
          <a:p>
            <a:pPr eaLnBrk="1" hangingPunct="1"/>
            <a:r>
              <a:rPr lang="en-US" altLang="zh-CN">
                <a:latin typeface="宋体" pitchFamily="2" charset="-122"/>
              </a:rPr>
              <a:t>8.3.2 </a:t>
            </a:r>
            <a:r>
              <a:rPr lang="zh-CN" altLang="zh-CN">
                <a:latin typeface="宋体" pitchFamily="2" charset="-122"/>
              </a:rPr>
              <a:t>体系结构模式（续）</a:t>
            </a:r>
            <a:endParaRPr lang="zh-CN" altLang="zh-CN"/>
          </a:p>
        </p:txBody>
      </p:sp>
      <p:sp>
        <p:nvSpPr>
          <p:cNvPr id="33795" name="内容占位符 2"/>
          <p:cNvSpPr>
            <a:spLocks noGrp="1"/>
          </p:cNvSpPr>
          <p:nvPr>
            <p:ph idx="4294967295"/>
          </p:nvPr>
        </p:nvSpPr>
        <p:spPr>
          <a:xfrm>
            <a:off x="-256044" y="1561396"/>
            <a:ext cx="5338936" cy="1612775"/>
          </a:xfrm>
        </p:spPr>
        <p:txBody>
          <a:bodyPr/>
          <a:lstStyle/>
          <a:p>
            <a:pPr lvl="1" eaLnBrk="1" hangingPunct="1"/>
            <a:r>
              <a:rPr lang="zh-CN" altLang="zh-CN" sz="2000" dirty="0">
                <a:solidFill>
                  <a:srgbClr val="FF0000"/>
                </a:solidFill>
              </a:rPr>
              <a:t>持久性</a:t>
            </a:r>
            <a:endParaRPr lang="en-US" altLang="zh-CN" sz="2000" dirty="0">
              <a:solidFill>
                <a:srgbClr val="FF0000"/>
              </a:solidFill>
            </a:endParaRPr>
          </a:p>
          <a:p>
            <a:pPr lvl="2" eaLnBrk="1" hangingPunct="1"/>
            <a:r>
              <a:rPr lang="zh-CN" altLang="zh-CN" sz="1800" dirty="0"/>
              <a:t>“</a:t>
            </a:r>
            <a:r>
              <a:rPr lang="zh-CN" altLang="zh-CN" sz="1800" dirty="0">
                <a:solidFill>
                  <a:srgbClr val="0070C0"/>
                </a:solidFill>
              </a:rPr>
              <a:t>数据库管理系统</a:t>
            </a:r>
            <a:r>
              <a:rPr lang="zh-CN" altLang="zh-CN" sz="1800" dirty="0"/>
              <a:t>”模式</a:t>
            </a:r>
            <a:endParaRPr lang="en-US" altLang="zh-CN" sz="1800" dirty="0"/>
          </a:p>
          <a:p>
            <a:pPr lvl="1" eaLnBrk="1" hangingPunct="1"/>
            <a:r>
              <a:rPr lang="zh-CN" altLang="zh-CN" sz="2000" dirty="0">
                <a:solidFill>
                  <a:srgbClr val="FF0000"/>
                </a:solidFill>
              </a:rPr>
              <a:t>分布性</a:t>
            </a:r>
            <a:endParaRPr lang="en-US" altLang="zh-CN" sz="2000" dirty="0">
              <a:solidFill>
                <a:srgbClr val="FF0000"/>
              </a:solidFill>
            </a:endParaRPr>
          </a:p>
        </p:txBody>
      </p:sp>
      <p:pic>
        <p:nvPicPr>
          <p:cNvPr id="4098" name="Picture 2" descr="代理模式">
            <a:extLst>
              <a:ext uri="{FF2B5EF4-FFF2-40B4-BE49-F238E27FC236}">
                <a16:creationId xmlns:a16="http://schemas.microsoft.com/office/drawing/2014/main" id="{6258DD6C-37C1-1915-6EAB-75BC2560C5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0989" y="1542147"/>
            <a:ext cx="2301172" cy="95157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代理模式">
            <a:extLst>
              <a:ext uri="{FF2B5EF4-FFF2-40B4-BE49-F238E27FC236}">
                <a16:creationId xmlns:a16="http://schemas.microsoft.com/office/drawing/2014/main" id="{563B7305-FEB7-6AB6-5054-3451E3E21B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176" y="1574650"/>
            <a:ext cx="3224443" cy="113461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代理模式">
            <a:extLst>
              <a:ext uri="{FF2B5EF4-FFF2-40B4-BE49-F238E27FC236}">
                <a16:creationId xmlns:a16="http://schemas.microsoft.com/office/drawing/2014/main" id="{C0CDDAB3-48AC-DE84-2439-D647024A0F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0360" y="3362015"/>
            <a:ext cx="5983601" cy="2918472"/>
          </a:xfrm>
          <a:prstGeom prst="rect">
            <a:avLst/>
          </a:prstGeom>
          <a:noFill/>
          <a:extLst>
            <a:ext uri="{909E8E84-426E-40DD-AFC4-6F175D3DCCD1}">
              <a14:hiddenFill xmlns:a14="http://schemas.microsoft.com/office/drawing/2010/main">
                <a:solidFill>
                  <a:srgbClr val="FFFFFF"/>
                </a:solidFill>
              </a14:hiddenFill>
            </a:ext>
          </a:extLst>
        </p:spPr>
      </p:pic>
      <p:sp>
        <p:nvSpPr>
          <p:cNvPr id="2" name="内容占位符 2">
            <a:extLst>
              <a:ext uri="{FF2B5EF4-FFF2-40B4-BE49-F238E27FC236}">
                <a16:creationId xmlns:a16="http://schemas.microsoft.com/office/drawing/2014/main" id="{F122A35F-C6B0-8C5A-FDBB-627492187B96}"/>
              </a:ext>
            </a:extLst>
          </p:cNvPr>
          <p:cNvSpPr txBox="1">
            <a:spLocks/>
          </p:cNvSpPr>
          <p:nvPr/>
        </p:nvSpPr>
        <p:spPr bwMode="auto">
          <a:xfrm>
            <a:off x="-283475" y="3680890"/>
            <a:ext cx="3394720" cy="291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lnSpc>
                <a:spcPct val="150000"/>
              </a:lnSpc>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lnSpc>
                <a:spcPct val="150000"/>
              </a:lnSpc>
              <a:spcBef>
                <a:spcPct val="20000"/>
              </a:spcBef>
              <a:spcAft>
                <a:spcPct val="0"/>
              </a:spcAft>
              <a:buChar char="–"/>
              <a:defRPr sz="2800">
                <a:solidFill>
                  <a:schemeClr val="tx1"/>
                </a:solidFill>
                <a:latin typeface="+mn-lt"/>
                <a:ea typeface="+mn-ea"/>
              </a:defRPr>
            </a:lvl2pPr>
            <a:lvl3pPr marL="1143000" indent="-228600" algn="l" rtl="0" eaLnBrk="0" fontAlgn="base" hangingPunct="0">
              <a:lnSpc>
                <a:spcPct val="150000"/>
              </a:lnSpc>
              <a:spcBef>
                <a:spcPct val="20000"/>
              </a:spcBef>
              <a:spcAft>
                <a:spcPct val="0"/>
              </a:spcAft>
              <a:buChar char="•"/>
              <a:defRPr sz="2400">
                <a:solidFill>
                  <a:schemeClr val="tx1"/>
                </a:solidFill>
                <a:latin typeface="+mn-lt"/>
                <a:ea typeface="+mn-ea"/>
              </a:defRPr>
            </a:lvl3pPr>
            <a:lvl4pPr marL="1600200" indent="-228600" algn="l" rtl="0" eaLnBrk="0" fontAlgn="base" hangingPunct="0">
              <a:lnSpc>
                <a:spcPct val="150000"/>
              </a:lnSpc>
              <a:spcBef>
                <a:spcPct val="20000"/>
              </a:spcBef>
              <a:spcAft>
                <a:spcPct val="0"/>
              </a:spcAft>
              <a:buChar char="–"/>
              <a:defRPr sz="2000">
                <a:solidFill>
                  <a:schemeClr val="tx1"/>
                </a:solidFill>
                <a:latin typeface="+mn-lt"/>
                <a:ea typeface="+mn-ea"/>
              </a:defRPr>
            </a:lvl4pPr>
            <a:lvl5pPr marL="2057400" indent="-228600" algn="l" rtl="0" eaLnBrk="0" fontAlgn="base" hangingPunct="0">
              <a:lnSpc>
                <a:spcPct val="150000"/>
              </a:lnSpc>
              <a:spcBef>
                <a:spcPct val="20000"/>
              </a:spcBef>
              <a:spcAft>
                <a:spcPct val="0"/>
              </a:spcAft>
              <a:buChar char="»"/>
              <a:defRPr sz="2000">
                <a:solidFill>
                  <a:schemeClr val="tx1"/>
                </a:solidFill>
                <a:latin typeface="+mn-lt"/>
                <a:ea typeface="+mn-ea"/>
              </a:defRPr>
            </a:lvl5pPr>
            <a:lvl6pPr marL="2514600" indent="-228600" algn="l" rtl="0" eaLnBrk="0" fontAlgn="base" hangingPunct="0">
              <a:lnSpc>
                <a:spcPct val="150000"/>
              </a:lnSpc>
              <a:spcBef>
                <a:spcPct val="20000"/>
              </a:spcBef>
              <a:spcAft>
                <a:spcPct val="0"/>
              </a:spcAft>
              <a:buChar char="»"/>
              <a:defRPr sz="2000">
                <a:solidFill>
                  <a:schemeClr val="tx1"/>
                </a:solidFill>
                <a:latin typeface="+mn-lt"/>
                <a:ea typeface="+mn-ea"/>
              </a:defRPr>
            </a:lvl6pPr>
            <a:lvl7pPr marL="2971800" indent="-228600" algn="l" rtl="0" eaLnBrk="0" fontAlgn="base" hangingPunct="0">
              <a:lnSpc>
                <a:spcPct val="150000"/>
              </a:lnSpc>
              <a:spcBef>
                <a:spcPct val="20000"/>
              </a:spcBef>
              <a:spcAft>
                <a:spcPct val="0"/>
              </a:spcAft>
              <a:buChar char="»"/>
              <a:defRPr sz="2000">
                <a:solidFill>
                  <a:schemeClr val="tx1"/>
                </a:solidFill>
                <a:latin typeface="+mn-lt"/>
                <a:ea typeface="+mn-ea"/>
              </a:defRPr>
            </a:lvl7pPr>
            <a:lvl8pPr marL="3429000" indent="-228600" algn="l" rtl="0" eaLnBrk="0" fontAlgn="base" hangingPunct="0">
              <a:lnSpc>
                <a:spcPct val="150000"/>
              </a:lnSpc>
              <a:spcBef>
                <a:spcPct val="20000"/>
              </a:spcBef>
              <a:spcAft>
                <a:spcPct val="0"/>
              </a:spcAft>
              <a:buChar char="»"/>
              <a:defRPr sz="2000">
                <a:solidFill>
                  <a:schemeClr val="tx1"/>
                </a:solidFill>
                <a:latin typeface="+mn-lt"/>
                <a:ea typeface="+mn-ea"/>
              </a:defRPr>
            </a:lvl8pPr>
            <a:lvl9pPr marL="3886200" indent="-228600" algn="l" rtl="0" eaLnBrk="0" fontAlgn="base" hangingPunct="0">
              <a:lnSpc>
                <a:spcPct val="150000"/>
              </a:lnSpc>
              <a:spcBef>
                <a:spcPct val="20000"/>
              </a:spcBef>
              <a:spcAft>
                <a:spcPct val="0"/>
              </a:spcAft>
              <a:buChar char="»"/>
              <a:defRPr sz="2000">
                <a:solidFill>
                  <a:schemeClr val="tx1"/>
                </a:solidFill>
                <a:latin typeface="+mn-lt"/>
                <a:ea typeface="+mn-ea"/>
              </a:defRPr>
            </a:lvl9pPr>
          </a:lstStyle>
          <a:p>
            <a:pPr lvl="1" eaLnBrk="1" hangingPunct="1"/>
            <a:r>
              <a:rPr lang="zh-CN" altLang="zh-CN" sz="1800" kern="0" dirty="0"/>
              <a:t>分布性问题有两个元</a:t>
            </a:r>
            <a:endParaRPr lang="en-US" altLang="zh-CN" sz="1800" kern="0" dirty="0"/>
          </a:p>
          <a:p>
            <a:pPr lvl="1" eaLnBrk="1" hangingPunct="1"/>
            <a:r>
              <a:rPr lang="zh-CN" altLang="zh-CN" sz="1800" kern="0" dirty="0">
                <a:sym typeface="Wingdings" panose="05000000000000000000" pitchFamily="2" charset="2"/>
              </a:rPr>
              <a:t>（</a:t>
            </a:r>
            <a:r>
              <a:rPr lang="en-US" altLang="zh-CN" sz="1800" kern="0" dirty="0">
                <a:sym typeface="Wingdings" panose="05000000000000000000" pitchFamily="2" charset="2"/>
              </a:rPr>
              <a:t>1</a:t>
            </a:r>
            <a:r>
              <a:rPr lang="zh-CN" altLang="zh-CN" sz="1800" kern="0" dirty="0">
                <a:sym typeface="Wingdings" panose="05000000000000000000" pitchFamily="2" charset="2"/>
              </a:rPr>
              <a:t>）实体间连接方式；（</a:t>
            </a:r>
            <a:r>
              <a:rPr lang="en-US" altLang="zh-CN" sz="1800" kern="0" dirty="0">
                <a:sym typeface="Wingdings" panose="05000000000000000000" pitchFamily="2" charset="2"/>
              </a:rPr>
              <a:t>2</a:t>
            </a:r>
            <a:r>
              <a:rPr lang="zh-CN" altLang="zh-CN" sz="1800" kern="0" dirty="0">
                <a:sym typeface="Wingdings" panose="05000000000000000000" pitchFamily="2" charset="2"/>
              </a:rPr>
              <a:t>）实体间通信的特性。</a:t>
            </a:r>
            <a:endParaRPr lang="en-US" altLang="zh-CN" sz="1800" kern="0" dirty="0"/>
          </a:p>
          <a:p>
            <a:pPr lvl="2" eaLnBrk="1" hangingPunct="1"/>
            <a:r>
              <a:rPr lang="zh-CN" altLang="zh-CN" sz="1800" kern="0" dirty="0"/>
              <a:t>典型模式：</a:t>
            </a:r>
            <a:r>
              <a:rPr lang="zh-CN" altLang="zh-CN" sz="1800" kern="0" dirty="0">
                <a:solidFill>
                  <a:srgbClr val="0070C0"/>
                </a:solidFill>
              </a:rPr>
              <a:t>代理</a:t>
            </a:r>
            <a:r>
              <a:rPr lang="zh-CN" altLang="zh-CN" sz="1800" kern="0" dirty="0"/>
              <a:t>模式</a:t>
            </a:r>
            <a:endParaRPr lang="en-US" altLang="zh-CN" sz="1800" kern="0" dirty="0"/>
          </a:p>
          <a:p>
            <a:pPr lvl="2" eaLnBrk="1" hangingPunct="1"/>
            <a:endParaRPr lang="zh-CN" altLang="zh-CN" sz="1800" kern="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95536" y="548680"/>
            <a:ext cx="7992888" cy="551621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idx="4294967295"/>
          </p:nvPr>
        </p:nvSpPr>
        <p:spPr/>
        <p:txBody>
          <a:bodyPr/>
          <a:lstStyle/>
          <a:p>
            <a:pPr eaLnBrk="1" hangingPunct="1"/>
            <a:r>
              <a:rPr lang="en-US" altLang="zh-CN"/>
              <a:t>8.3.3 </a:t>
            </a:r>
            <a:r>
              <a:rPr lang="zh-CN" altLang="zh-CN"/>
              <a:t>组织和求精</a:t>
            </a:r>
          </a:p>
        </p:txBody>
      </p:sp>
      <p:sp>
        <p:nvSpPr>
          <p:cNvPr id="34819" name="内容占位符 2"/>
          <p:cNvSpPr>
            <a:spLocks noGrp="1"/>
          </p:cNvSpPr>
          <p:nvPr>
            <p:ph idx="4294967295"/>
          </p:nvPr>
        </p:nvSpPr>
        <p:spPr/>
        <p:txBody>
          <a:bodyPr/>
          <a:lstStyle/>
          <a:p>
            <a:pPr eaLnBrk="1" hangingPunct="1"/>
            <a:r>
              <a:rPr lang="zh-CN" altLang="zh-CN" dirty="0"/>
              <a:t>对导出的体系结构设计进行评估的标准：</a:t>
            </a:r>
            <a:endParaRPr lang="en-US" altLang="zh-CN" dirty="0"/>
          </a:p>
          <a:p>
            <a:pPr lvl="1" eaLnBrk="1" hangingPunct="1"/>
            <a:r>
              <a:rPr lang="zh-CN" altLang="zh-CN" dirty="0">
                <a:solidFill>
                  <a:srgbClr val="FF0000"/>
                </a:solidFill>
              </a:rPr>
              <a:t>控制</a:t>
            </a:r>
            <a:r>
              <a:rPr lang="zh-CN" altLang="zh-CN" dirty="0"/>
              <a:t>：在体系结构中如何管理控制？是否存在一个不同的控制层次？如果是，构件在控制层次中担当什么角色？构件如何在系统中传递控制</a:t>
            </a:r>
            <a:r>
              <a:rPr lang="en-US" altLang="zh-CN" dirty="0"/>
              <a:t>?</a:t>
            </a:r>
            <a:r>
              <a:rPr lang="zh-CN" altLang="zh-CN" dirty="0"/>
              <a:t>构件间如何共享控制？控制拓扑结构是什么样？控件是否同步或构件是否异步操作</a:t>
            </a:r>
            <a:r>
              <a:rPr lang="en-US" altLang="zh-CN" dirty="0"/>
              <a:t>?</a:t>
            </a:r>
            <a:endParaRPr lang="zh-CN" altLang="zh-C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idx="4294967295"/>
          </p:nvPr>
        </p:nvSpPr>
        <p:spPr/>
        <p:txBody>
          <a:bodyPr/>
          <a:lstStyle/>
          <a:p>
            <a:pPr eaLnBrk="1" hangingPunct="1"/>
            <a:r>
              <a:rPr lang="en-US" altLang="zh-CN"/>
              <a:t>8.3.3 </a:t>
            </a:r>
            <a:r>
              <a:rPr lang="zh-CN" altLang="zh-CN"/>
              <a:t>组织和求精（续）</a:t>
            </a:r>
          </a:p>
        </p:txBody>
      </p:sp>
      <p:sp>
        <p:nvSpPr>
          <p:cNvPr id="35843" name="内容占位符 2"/>
          <p:cNvSpPr>
            <a:spLocks noGrp="1"/>
          </p:cNvSpPr>
          <p:nvPr>
            <p:ph idx="4294967295"/>
          </p:nvPr>
        </p:nvSpPr>
        <p:spPr>
          <a:xfrm>
            <a:off x="214313" y="1600200"/>
            <a:ext cx="8472487" cy="4525963"/>
          </a:xfrm>
        </p:spPr>
        <p:txBody>
          <a:bodyPr/>
          <a:lstStyle/>
          <a:p>
            <a:pPr lvl="1" eaLnBrk="1" hangingPunct="1"/>
            <a:r>
              <a:rPr lang="zh-CN" altLang="zh-CN" sz="2400" dirty="0">
                <a:solidFill>
                  <a:srgbClr val="FF0000"/>
                </a:solidFill>
              </a:rPr>
              <a:t>数据</a:t>
            </a:r>
            <a:r>
              <a:rPr lang="zh-CN" altLang="zh-CN" sz="2400" dirty="0"/>
              <a:t>：构件间如何进行数据通信？数据流是否是连续的，或数据对象是否是零散地传递给系统？数据传递的模式是什么（也就是说，数据是从一个构件传递到另一个构件，还是系统中构件可以全局共享数据？）是否存在数据构件（如黑板或中心存储库）？如果存在，他们的角色是什么？功能构件如何和数据构件交互？数据构件是被动的还是主动的（即数据构件使否主动地和系统中其他构件交互）？数据和控制如何在系统中交互？</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idx="4294967295"/>
          </p:nvPr>
        </p:nvSpPr>
        <p:spPr/>
        <p:txBody>
          <a:bodyPr/>
          <a:lstStyle/>
          <a:p>
            <a:pPr eaLnBrk="1" hangingPunct="1"/>
            <a:r>
              <a:rPr lang="en-US" altLang="zh-CN"/>
              <a:t>8.4 </a:t>
            </a:r>
            <a:r>
              <a:rPr lang="zh-CN" altLang="zh-CN"/>
              <a:t>体系结构设计</a:t>
            </a:r>
          </a:p>
        </p:txBody>
      </p:sp>
      <p:sp>
        <p:nvSpPr>
          <p:cNvPr id="36867" name="内容占位符 2"/>
          <p:cNvSpPr>
            <a:spLocks noGrp="1"/>
          </p:cNvSpPr>
          <p:nvPr>
            <p:ph idx="4294967295"/>
          </p:nvPr>
        </p:nvSpPr>
        <p:spPr/>
        <p:txBody>
          <a:bodyPr/>
          <a:lstStyle/>
          <a:p>
            <a:pPr eaLnBrk="1" hangingPunct="1"/>
            <a:r>
              <a:rPr lang="zh-CN" altLang="zh-CN"/>
              <a:t>设计应该定义与</a:t>
            </a:r>
            <a:r>
              <a:rPr lang="zh-CN" altLang="zh-CN">
                <a:solidFill>
                  <a:srgbClr val="FF0000"/>
                </a:solidFill>
              </a:rPr>
              <a:t>软件交互的外部实体（其它系统、设备、人）和交互的特性</a:t>
            </a:r>
            <a:r>
              <a:rPr lang="zh-CN" altLang="zh-CN"/>
              <a:t>。</a:t>
            </a:r>
            <a:endParaRPr lang="en-US" altLang="zh-CN"/>
          </a:p>
          <a:p>
            <a:pPr eaLnBrk="1" hangingPunct="1"/>
            <a:r>
              <a:rPr lang="zh-CN" altLang="zh-CN"/>
              <a:t>需要信息在需求工程阶段获取。</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idx="4294967295"/>
          </p:nvPr>
        </p:nvSpPr>
        <p:spPr/>
        <p:txBody>
          <a:bodyPr/>
          <a:lstStyle/>
          <a:p>
            <a:pPr eaLnBrk="1" hangingPunct="1"/>
            <a:r>
              <a:rPr lang="en-US" altLang="zh-CN"/>
              <a:t>8.4.1 </a:t>
            </a:r>
            <a:r>
              <a:rPr lang="zh-CN" altLang="zh-CN"/>
              <a:t>系统的环境表示</a:t>
            </a:r>
          </a:p>
        </p:txBody>
      </p:sp>
      <p:sp>
        <p:nvSpPr>
          <p:cNvPr id="37891" name="内容占位符 4"/>
          <p:cNvSpPr>
            <a:spLocks noGrp="1"/>
          </p:cNvSpPr>
          <p:nvPr>
            <p:ph idx="4294967295"/>
          </p:nvPr>
        </p:nvSpPr>
        <p:spPr>
          <a:xfrm>
            <a:off x="457200" y="1600200"/>
            <a:ext cx="8362950" cy="4525963"/>
          </a:xfrm>
        </p:spPr>
        <p:txBody>
          <a:bodyPr/>
          <a:lstStyle/>
          <a:p>
            <a:pPr eaLnBrk="1" hangingPunct="1"/>
            <a:r>
              <a:rPr lang="zh-CN" altLang="zh-CN">
                <a:solidFill>
                  <a:srgbClr val="FF0000"/>
                </a:solidFill>
              </a:rPr>
              <a:t>系统环境图</a:t>
            </a:r>
            <a:r>
              <a:rPr lang="zh-CN" altLang="zh-CN"/>
              <a:t>通过描述系统的出入信息流、用户界面和相关的支持处理等来对环境建模。</a:t>
            </a:r>
            <a:endParaRPr lang="en-US" altLang="zh-CN"/>
          </a:p>
          <a:p>
            <a:pPr eaLnBrk="1" hangingPunct="1"/>
            <a:r>
              <a:rPr lang="zh-CN" altLang="zh-CN"/>
              <a:t>在体系结构层，软件架构师用体系结构环境图对软件与外部实体交互方式进行建模。</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idx="4294967295"/>
          </p:nvPr>
        </p:nvSpPr>
        <p:spPr/>
        <p:txBody>
          <a:bodyPr/>
          <a:lstStyle/>
          <a:p>
            <a:pPr eaLnBrk="1" hangingPunct="1"/>
            <a:r>
              <a:rPr lang="en-US" altLang="zh-CN"/>
              <a:t>8.4.1 </a:t>
            </a:r>
            <a:r>
              <a:rPr lang="zh-CN" altLang="zh-CN"/>
              <a:t>系统的环境表示（续）</a:t>
            </a:r>
          </a:p>
        </p:txBody>
      </p:sp>
      <p:pic>
        <p:nvPicPr>
          <p:cNvPr id="38915" name="Picture 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857250" y="1217613"/>
            <a:ext cx="7286625" cy="5640387"/>
          </a:xfr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idx="4294967295"/>
          </p:nvPr>
        </p:nvSpPr>
        <p:spPr/>
        <p:txBody>
          <a:bodyPr/>
          <a:lstStyle/>
          <a:p>
            <a:pPr eaLnBrk="1" hangingPunct="1"/>
            <a:r>
              <a:rPr lang="en-US" altLang="zh-CN"/>
              <a:t>8.4.1 </a:t>
            </a:r>
            <a:r>
              <a:rPr lang="zh-CN" altLang="zh-CN"/>
              <a:t>系统的环境表示（续）</a:t>
            </a:r>
          </a:p>
        </p:txBody>
      </p:sp>
      <p:pic>
        <p:nvPicPr>
          <p:cNvPr id="39939"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691680" y="2124898"/>
            <a:ext cx="7452320" cy="4447352"/>
          </a:xfrm>
        </p:spPr>
      </p:pic>
      <p:sp>
        <p:nvSpPr>
          <p:cNvPr id="2" name="文本框 1"/>
          <p:cNvSpPr txBox="1"/>
          <p:nvPr/>
        </p:nvSpPr>
        <p:spPr>
          <a:xfrm>
            <a:off x="611560" y="1417638"/>
            <a:ext cx="7704856" cy="955903"/>
          </a:xfrm>
          <a:prstGeom prst="rect">
            <a:avLst/>
          </a:prstGeom>
          <a:noFill/>
        </p:spPr>
        <p:txBody>
          <a:bodyPr wrap="square" rtlCol="0">
            <a:spAutoFit/>
          </a:bodyPr>
          <a:lstStyle/>
          <a:p>
            <a:pPr>
              <a:lnSpc>
                <a:spcPct val="150000"/>
              </a:lnSpc>
            </a:pPr>
            <a:r>
              <a:rPr kumimoji="1" lang="zh-CN" altLang="en-US" sz="2000" dirty="0"/>
              <a:t>与目标系统交互的系统可以表示为上级系统、下级系统、同级系统和参与者。</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idx="4294967295"/>
          </p:nvPr>
        </p:nvSpPr>
        <p:spPr/>
        <p:txBody>
          <a:bodyPr/>
          <a:lstStyle/>
          <a:p>
            <a:pPr eaLnBrk="1" hangingPunct="1"/>
            <a:r>
              <a:rPr lang="en-US" altLang="zh-CN"/>
              <a:t>8.4.2 </a:t>
            </a:r>
            <a:r>
              <a:rPr lang="zh-CN" altLang="zh-CN"/>
              <a:t>定义原始模型</a:t>
            </a:r>
          </a:p>
        </p:txBody>
      </p:sp>
      <p:sp>
        <p:nvSpPr>
          <p:cNvPr id="40963" name="内容占位符 2"/>
          <p:cNvSpPr>
            <a:spLocks noGrp="1"/>
          </p:cNvSpPr>
          <p:nvPr>
            <p:ph idx="4294967295"/>
          </p:nvPr>
        </p:nvSpPr>
        <p:spPr/>
        <p:txBody>
          <a:bodyPr/>
          <a:lstStyle/>
          <a:p>
            <a:pPr eaLnBrk="1" hangingPunct="1"/>
            <a:r>
              <a:rPr lang="zh-CN" altLang="zh-CN" dirty="0"/>
              <a:t>将目标系统用</a:t>
            </a:r>
            <a:r>
              <a:rPr lang="zh-CN" altLang="zh-CN" dirty="0">
                <a:solidFill>
                  <a:srgbClr val="FF0000"/>
                </a:solidFill>
              </a:rPr>
              <a:t>初略的功能框图</a:t>
            </a:r>
            <a:r>
              <a:rPr lang="zh-CN" altLang="zh-CN" dirty="0"/>
              <a:t>表示出来</a:t>
            </a:r>
            <a:endParaRPr lang="en-US" altLang="zh-CN" dirty="0"/>
          </a:p>
          <a:p>
            <a:pPr eaLnBrk="1" hangingPunct="1"/>
            <a:r>
              <a:rPr lang="zh-CN" altLang="en-US" dirty="0"/>
              <a:t>是表示核心</a:t>
            </a:r>
            <a:r>
              <a:rPr lang="zh-CN" altLang="en-US" dirty="0">
                <a:solidFill>
                  <a:srgbClr val="FF0000"/>
                </a:solidFill>
              </a:rPr>
              <a:t>抽象</a:t>
            </a:r>
            <a:r>
              <a:rPr lang="zh-CN" altLang="en-US" dirty="0"/>
              <a:t>的类</a:t>
            </a:r>
            <a:r>
              <a:rPr lang="zh-CN" altLang="zh-CN" dirty="0"/>
              <a:t>或者模式，</a:t>
            </a:r>
            <a:r>
              <a:rPr lang="zh-CN" altLang="en-US" dirty="0"/>
              <a:t>该抽象对于目标系统体系结构的设计非常关键。</a:t>
            </a:r>
            <a:endParaRPr lang="en-US" altLang="zh-CN" dirty="0">
              <a:solidFill>
                <a:srgbClr val="FF0000"/>
              </a:solidFill>
            </a:endParaRPr>
          </a:p>
          <a:p>
            <a:pPr eaLnBrk="1" hangingPunct="1"/>
            <a:r>
              <a:rPr lang="zh-CN" altLang="zh-CN" dirty="0"/>
              <a:t>目标系统的体系结构由这些原始模型组成</a:t>
            </a:r>
            <a:endParaRPr lang="en-US" altLang="zh-C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idx="4294967295"/>
          </p:nvPr>
        </p:nvSpPr>
        <p:spPr/>
        <p:txBody>
          <a:bodyPr/>
          <a:lstStyle/>
          <a:p>
            <a:pPr eaLnBrk="1" hangingPunct="1"/>
            <a:r>
              <a:rPr lang="en-US" altLang="zh-CN"/>
              <a:t>8.4.2 </a:t>
            </a:r>
            <a:r>
              <a:rPr lang="zh-CN" altLang="zh-CN"/>
              <a:t>定义原始模型（续）</a:t>
            </a:r>
          </a:p>
        </p:txBody>
      </p:sp>
      <p:pic>
        <p:nvPicPr>
          <p:cNvPr id="41987" name="Picture 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3006725" y="1600200"/>
            <a:ext cx="3636963" cy="5257800"/>
          </a:xfr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idx="4294967295"/>
          </p:nvPr>
        </p:nvSpPr>
        <p:spPr/>
        <p:txBody>
          <a:bodyPr/>
          <a:lstStyle/>
          <a:p>
            <a:pPr eaLnBrk="1" hangingPunct="1"/>
            <a:r>
              <a:rPr lang="en-US" altLang="zh-CN" dirty="0"/>
              <a:t>8.4.3 </a:t>
            </a:r>
            <a:r>
              <a:rPr lang="zh-CN" altLang="zh-CN" dirty="0"/>
              <a:t>将体系结构精化为构件</a:t>
            </a:r>
          </a:p>
        </p:txBody>
      </p:sp>
      <p:sp>
        <p:nvSpPr>
          <p:cNvPr id="43011" name="内容占位符 2"/>
          <p:cNvSpPr>
            <a:spLocks noGrp="1"/>
          </p:cNvSpPr>
          <p:nvPr>
            <p:ph idx="4294967295"/>
          </p:nvPr>
        </p:nvSpPr>
        <p:spPr/>
        <p:txBody>
          <a:bodyPr/>
          <a:lstStyle/>
          <a:p>
            <a:pPr eaLnBrk="1" hangingPunct="1"/>
            <a:r>
              <a:rPr lang="zh-CN" altLang="zh-CN" dirty="0">
                <a:solidFill>
                  <a:srgbClr val="002060"/>
                </a:solidFill>
              </a:rPr>
              <a:t>导出和精化构件：</a:t>
            </a:r>
            <a:endParaRPr lang="en-US" altLang="zh-CN" dirty="0">
              <a:solidFill>
                <a:srgbClr val="002060"/>
              </a:solidFill>
            </a:endParaRPr>
          </a:p>
          <a:p>
            <a:pPr lvl="1" eaLnBrk="1" hangingPunct="1"/>
            <a:r>
              <a:rPr lang="zh-CN" altLang="zh-CN" dirty="0">
                <a:solidFill>
                  <a:srgbClr val="FF0000"/>
                </a:solidFill>
              </a:rPr>
              <a:t>应用领域</a:t>
            </a:r>
            <a:r>
              <a:rPr lang="zh-CN" altLang="zh-CN" dirty="0"/>
              <a:t>是导出和精化构件的一个源泉。</a:t>
            </a:r>
            <a:endParaRPr lang="en-US" altLang="zh-CN" dirty="0"/>
          </a:p>
          <a:p>
            <a:pPr lvl="2" eaLnBrk="1" hangingPunct="1"/>
            <a:r>
              <a:rPr lang="zh-CN" altLang="zh-CN" dirty="0"/>
              <a:t>体系结构从分析模型中所描述的类开始</a:t>
            </a:r>
            <a:endParaRPr lang="en-US" altLang="zh-CN" dirty="0"/>
          </a:p>
          <a:p>
            <a:pPr lvl="1" eaLnBrk="1" hangingPunct="1"/>
            <a:r>
              <a:rPr lang="zh-CN" altLang="zh-CN" dirty="0"/>
              <a:t>另一源泉：</a:t>
            </a:r>
            <a:r>
              <a:rPr lang="zh-CN" altLang="zh-CN" dirty="0">
                <a:solidFill>
                  <a:srgbClr val="FF0000"/>
                </a:solidFill>
              </a:rPr>
              <a:t>基础设施域</a:t>
            </a:r>
            <a:endParaRPr lang="en-US" altLang="zh-CN" dirty="0">
              <a:solidFill>
                <a:srgbClr val="FF0000"/>
              </a:solidFill>
            </a:endParaRPr>
          </a:p>
          <a:p>
            <a:pPr lvl="2" eaLnBrk="1" hangingPunct="1"/>
            <a:r>
              <a:rPr lang="zh-CN" altLang="zh-CN" dirty="0"/>
              <a:t>与应用领域没有业务联系，但体系结构必须容纳很多基础设施构件使应用构件能够运作，如内存管理构件、通信构件、数据库构件</a:t>
            </a:r>
            <a:r>
              <a:rPr lang="en-US" altLang="zh-CN" dirty="0"/>
              <a:t>……</a:t>
            </a:r>
          </a:p>
          <a:p>
            <a:pPr lvl="1" eaLnBrk="1" hangingPunct="1"/>
            <a:endParaRPr lang="zh-CN" altLang="zh-C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idx="4294967295"/>
          </p:nvPr>
        </p:nvSpPr>
        <p:spPr/>
        <p:txBody>
          <a:bodyPr/>
          <a:lstStyle/>
          <a:p>
            <a:pPr eaLnBrk="1" hangingPunct="1"/>
            <a:r>
              <a:rPr lang="en-US" altLang="zh-CN" sz="4000" dirty="0"/>
              <a:t>8.4.3 </a:t>
            </a:r>
            <a:r>
              <a:rPr lang="zh-CN" altLang="zh-CN" sz="4000" dirty="0"/>
              <a:t>将体系结构精化为构件（续）</a:t>
            </a:r>
          </a:p>
        </p:txBody>
      </p:sp>
      <p:pic>
        <p:nvPicPr>
          <p:cNvPr id="44035" name="Picture 3"/>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4288" y="1643063"/>
            <a:ext cx="9158288" cy="4714875"/>
          </a:xfr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idx="4294967295"/>
          </p:nvPr>
        </p:nvSpPr>
        <p:spPr/>
        <p:txBody>
          <a:bodyPr/>
          <a:lstStyle/>
          <a:p>
            <a:pPr eaLnBrk="1" hangingPunct="1"/>
            <a:r>
              <a:rPr lang="en-US" altLang="zh-CN"/>
              <a:t>8.4.4 </a:t>
            </a:r>
            <a:r>
              <a:rPr lang="zh-CN" altLang="zh-CN"/>
              <a:t>描述系统实例</a:t>
            </a:r>
            <a:r>
              <a:rPr lang="en-US" altLang="zh-CN"/>
              <a:t> </a:t>
            </a:r>
            <a:endParaRPr lang="zh-CN" altLang="zh-CN"/>
          </a:p>
        </p:txBody>
      </p:sp>
      <p:sp>
        <p:nvSpPr>
          <p:cNvPr id="45059" name="内容占位符 2"/>
          <p:cNvSpPr>
            <a:spLocks noGrp="1"/>
          </p:cNvSpPr>
          <p:nvPr>
            <p:ph idx="4294967295"/>
          </p:nvPr>
        </p:nvSpPr>
        <p:spPr/>
        <p:txBody>
          <a:bodyPr/>
          <a:lstStyle/>
          <a:p>
            <a:pPr eaLnBrk="1" hangingPunct="1"/>
            <a:r>
              <a:rPr lang="zh-CN" altLang="zh-CN">
                <a:solidFill>
                  <a:srgbClr val="FF0000"/>
                </a:solidFill>
              </a:rPr>
              <a:t>结合一个具体的实例</a:t>
            </a:r>
            <a:r>
              <a:rPr lang="zh-CN" altLang="zh-CN"/>
              <a:t>进一步精化模型，目的是证明结构和构件都是合理的。</a:t>
            </a:r>
          </a:p>
          <a:p>
            <a:pPr eaLnBrk="1" hangingPunct="1"/>
            <a:endParaRPr lang="zh-CN"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idx="4294967295"/>
          </p:nvPr>
        </p:nvSpPr>
        <p:spPr/>
        <p:txBody>
          <a:bodyPr/>
          <a:lstStyle/>
          <a:p>
            <a:pPr eaLnBrk="1" hangingPunct="1"/>
            <a:endParaRPr lang="zh-CN" altLang="zh-CN"/>
          </a:p>
        </p:txBody>
      </p:sp>
      <p:pic>
        <p:nvPicPr>
          <p:cNvPr id="46083" name="Picture 2"/>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0" y="285750"/>
            <a:ext cx="9170988" cy="6572250"/>
          </a:xfr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idx="4294967295"/>
          </p:nvPr>
        </p:nvSpPr>
        <p:spPr/>
        <p:txBody>
          <a:bodyPr/>
          <a:lstStyle/>
          <a:p>
            <a:pPr eaLnBrk="1" hangingPunct="1"/>
            <a:r>
              <a:rPr lang="en-US" altLang="zh-CN" dirty="0"/>
              <a:t>8.5 </a:t>
            </a:r>
            <a:r>
              <a:rPr lang="zh-CN" altLang="zh-CN" dirty="0"/>
              <a:t>评估可选的体系结构设计</a:t>
            </a:r>
          </a:p>
        </p:txBody>
      </p:sp>
      <p:sp>
        <p:nvSpPr>
          <p:cNvPr id="47107" name="内容占位符 2"/>
          <p:cNvSpPr>
            <a:spLocks noGrp="1"/>
          </p:cNvSpPr>
          <p:nvPr>
            <p:ph idx="4294967295"/>
          </p:nvPr>
        </p:nvSpPr>
        <p:spPr/>
        <p:txBody>
          <a:bodyPr/>
          <a:lstStyle/>
          <a:p>
            <a:pPr eaLnBrk="1" hangingPunct="1"/>
            <a:r>
              <a:rPr lang="zh-CN" altLang="zh-CN"/>
              <a:t>设计可能导致多种可选的体系结构</a:t>
            </a:r>
            <a:endParaRPr lang="en-US" altLang="zh-CN"/>
          </a:p>
          <a:p>
            <a:pPr eaLnBrk="1" hangingPunct="1"/>
            <a:r>
              <a:rPr lang="zh-CN" altLang="zh-CN"/>
              <a:t>每种体系结构均需要评估，以确定哪种体系结构最适合要解决的问题</a:t>
            </a:r>
            <a:endParaRPr lang="en-US"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idx="4294967295"/>
          </p:nvPr>
        </p:nvSpPr>
        <p:spPr/>
        <p:txBody>
          <a:bodyPr/>
          <a:lstStyle/>
          <a:p>
            <a:pPr eaLnBrk="1" hangingPunct="1"/>
            <a:r>
              <a:rPr lang="en-US" altLang="zh-CN"/>
              <a:t>8.5.1 </a:t>
            </a:r>
            <a:r>
              <a:rPr lang="zh-CN" altLang="zh-CN"/>
              <a:t>体系结构权衡分析方法</a:t>
            </a:r>
          </a:p>
        </p:txBody>
      </p:sp>
      <p:sp>
        <p:nvSpPr>
          <p:cNvPr id="41987" name="内容占位符 2"/>
          <p:cNvSpPr>
            <a:spLocks noGrp="1"/>
          </p:cNvSpPr>
          <p:nvPr>
            <p:ph idx="4294967295"/>
          </p:nvPr>
        </p:nvSpPr>
        <p:spPr/>
        <p:txBody>
          <a:bodyPr/>
          <a:lstStyle/>
          <a:p>
            <a:pPr eaLnBrk="1" hangingPunct="1"/>
            <a:r>
              <a:rPr lang="zh-CN" altLang="zh-CN"/>
              <a:t>下面的设计分析活动是迭代进行的：</a:t>
            </a:r>
            <a:endParaRPr lang="en-US" altLang="zh-CN"/>
          </a:p>
          <a:p>
            <a:pPr marL="971550" lvl="1" indent="-514350" eaLnBrk="1" hangingPunct="1">
              <a:buFontTx/>
              <a:buAutoNum type="arabicPeriod"/>
            </a:pPr>
            <a:r>
              <a:rPr lang="zh-CN" altLang="zh-CN">
                <a:solidFill>
                  <a:srgbClr val="FF0000"/>
                </a:solidFill>
              </a:rPr>
              <a:t>收集场景</a:t>
            </a:r>
            <a:r>
              <a:rPr lang="zh-CN" altLang="zh-CN"/>
              <a:t>。开发一系列用例</a:t>
            </a:r>
            <a:endParaRPr lang="en-US" altLang="zh-CN"/>
          </a:p>
          <a:p>
            <a:pPr marL="971550" lvl="1" indent="-514350" eaLnBrk="1" hangingPunct="1">
              <a:buFontTx/>
              <a:buAutoNum type="arabicPeriod"/>
            </a:pPr>
            <a:r>
              <a:rPr lang="zh-CN" altLang="zh-CN">
                <a:solidFill>
                  <a:srgbClr val="FF0000"/>
                </a:solidFill>
              </a:rPr>
              <a:t>诱导需求、约束和环境描述</a:t>
            </a:r>
            <a:r>
              <a:rPr lang="zh-CN" altLang="zh-CN"/>
              <a:t>。确保所有共利益者的关注点</a:t>
            </a:r>
            <a:endParaRPr lang="en-US" altLang="zh-CN"/>
          </a:p>
          <a:p>
            <a:pPr marL="971550" lvl="1" indent="-514350" eaLnBrk="1" hangingPunct="1">
              <a:buFontTx/>
              <a:buAutoNum type="arabicPeriod"/>
            </a:pPr>
            <a:r>
              <a:rPr lang="zh-CN" altLang="zh-CN"/>
              <a:t>描述那些已经被选用于解决场景和需求的体系结构风格</a:t>
            </a:r>
            <a:r>
              <a:rPr lang="en-US" altLang="zh-CN"/>
              <a:t>/</a:t>
            </a:r>
            <a:r>
              <a:rPr lang="zh-CN" altLang="zh-CN"/>
              <a:t>模式</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animEffect transition="in" filter="blinds(horizontal)">
                                      <p:cBhvr>
                                        <p:cTn id="7" dur="500"/>
                                        <p:tgtEl>
                                          <p:spTgt spid="4198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987">
                                            <p:txEl>
                                              <p:pRg st="2" end="2"/>
                                            </p:txEl>
                                          </p:spTgt>
                                        </p:tgtEl>
                                        <p:attrNameLst>
                                          <p:attrName>style.visibility</p:attrName>
                                        </p:attrNameLst>
                                      </p:cBhvr>
                                      <p:to>
                                        <p:strVal val="visible"/>
                                      </p:to>
                                    </p:set>
                                    <p:animEffect transition="in" filter="blinds(horizontal)">
                                      <p:cBhvr>
                                        <p:cTn id="12" dur="500"/>
                                        <p:tgtEl>
                                          <p:spTgt spid="4198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987">
                                            <p:txEl>
                                              <p:pRg st="3" end="3"/>
                                            </p:txEl>
                                          </p:spTgt>
                                        </p:tgtEl>
                                        <p:attrNameLst>
                                          <p:attrName>style.visibility</p:attrName>
                                        </p:attrNameLst>
                                      </p:cBhvr>
                                      <p:to>
                                        <p:strVal val="visible"/>
                                      </p:to>
                                    </p:set>
                                    <p:animEffect transition="in" filter="blinds(horizontal)">
                                      <p:cBhvr>
                                        <p:cTn id="17" dur="500"/>
                                        <p:tgtEl>
                                          <p:spTgt spid="419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idx="4294967295"/>
          </p:nvPr>
        </p:nvSpPr>
        <p:spPr/>
        <p:txBody>
          <a:bodyPr/>
          <a:lstStyle/>
          <a:p>
            <a:pPr eaLnBrk="1" hangingPunct="1"/>
            <a:r>
              <a:rPr lang="en-US" altLang="zh-CN" sz="4000"/>
              <a:t>8.5.1 </a:t>
            </a:r>
            <a:r>
              <a:rPr lang="zh-CN" altLang="zh-CN" sz="4000"/>
              <a:t>体系结构权衡分析方法（续）</a:t>
            </a:r>
          </a:p>
        </p:txBody>
      </p:sp>
      <p:sp>
        <p:nvSpPr>
          <p:cNvPr id="43011" name="内容占位符 2"/>
          <p:cNvSpPr>
            <a:spLocks noGrp="1"/>
          </p:cNvSpPr>
          <p:nvPr>
            <p:ph idx="4294967295"/>
          </p:nvPr>
        </p:nvSpPr>
        <p:spPr/>
        <p:txBody>
          <a:bodyPr/>
          <a:lstStyle/>
          <a:p>
            <a:pPr marL="857250" lvl="2" indent="-457200" eaLnBrk="1" hangingPunct="1">
              <a:buFontTx/>
              <a:buAutoNum type="arabicPeriod" startAt="4"/>
            </a:pPr>
            <a:r>
              <a:rPr lang="zh-CN" altLang="zh-CN" sz="2500" dirty="0">
                <a:solidFill>
                  <a:srgbClr val="FF0000"/>
                </a:solidFill>
              </a:rPr>
              <a:t>通过孤立地考虑每个属性来评估质量属性</a:t>
            </a:r>
            <a:r>
              <a:rPr lang="zh-CN" altLang="zh-CN" sz="2500" dirty="0"/>
              <a:t>。包括：可靠性、性能、安全性、可维护性、灵活性、可测试性、可移植性、可复用性和可操作性。</a:t>
            </a:r>
            <a:endParaRPr lang="en-US" altLang="zh-CN" sz="2500" dirty="0"/>
          </a:p>
          <a:p>
            <a:pPr marL="857250" lvl="2" indent="-457200" eaLnBrk="1" hangingPunct="1">
              <a:buFontTx/>
              <a:buAutoNum type="arabicPeriod" startAt="4"/>
            </a:pPr>
            <a:r>
              <a:rPr lang="zh-CN" altLang="zh-CN" sz="2500" dirty="0">
                <a:solidFill>
                  <a:srgbClr val="FF0000"/>
                </a:solidFill>
              </a:rPr>
              <a:t>针对特定的体系结构风格，弄清质量属性对每种体系结构属性的</a:t>
            </a:r>
            <a:r>
              <a:rPr lang="zh-CN" altLang="zh-CN" sz="2500" dirty="0">
                <a:solidFill>
                  <a:srgbClr val="0070C0"/>
                </a:solidFill>
              </a:rPr>
              <a:t>敏感性</a:t>
            </a:r>
            <a:r>
              <a:rPr lang="zh-CN" altLang="zh-CN" sz="2500" dirty="0"/>
              <a:t>。</a:t>
            </a:r>
            <a:endParaRPr lang="en-US" altLang="zh-CN" sz="2500" dirty="0"/>
          </a:p>
          <a:p>
            <a:pPr marL="857250" lvl="2" indent="-457200" eaLnBrk="1" hangingPunct="1">
              <a:buFontTx/>
              <a:buAutoNum type="arabicPeriod" startAt="4"/>
            </a:pPr>
            <a:r>
              <a:rPr lang="zh-CN" altLang="zh-CN" sz="2500" dirty="0">
                <a:solidFill>
                  <a:srgbClr val="FF0000"/>
                </a:solidFill>
              </a:rPr>
              <a:t>使用在第</a:t>
            </a:r>
            <a:r>
              <a:rPr lang="en-US" altLang="zh-CN" sz="2500" dirty="0">
                <a:solidFill>
                  <a:srgbClr val="FF0000"/>
                </a:solidFill>
              </a:rPr>
              <a:t>5</a:t>
            </a:r>
            <a:r>
              <a:rPr lang="zh-CN" altLang="zh-CN" sz="2500" dirty="0">
                <a:solidFill>
                  <a:srgbClr val="FF0000"/>
                </a:solidFill>
              </a:rPr>
              <a:t>中进行的敏感性分析鉴定候选体系结构</a:t>
            </a:r>
            <a:r>
              <a:rPr lang="zh-CN" altLang="zh-CN" sz="25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blinds(horizontal)">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blinds(horizontal)">
                                      <p:cBhvr>
                                        <p:cTn id="12" dur="500"/>
                                        <p:tgtEl>
                                          <p:spTgt spid="43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blinds(horizontal)">
                                      <p:cBhvr>
                                        <p:cTn id="17" dur="500"/>
                                        <p:tgtEl>
                                          <p:spTgt spid="430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idx="4294967295"/>
          </p:nvPr>
        </p:nvSpPr>
        <p:spPr/>
        <p:txBody>
          <a:bodyPr/>
          <a:lstStyle/>
          <a:p>
            <a:pPr eaLnBrk="1" hangingPunct="1"/>
            <a:r>
              <a:rPr lang="en-US" altLang="zh-CN" sz="4000"/>
              <a:t>8.5.1 </a:t>
            </a:r>
            <a:r>
              <a:rPr lang="zh-CN" altLang="zh-CN" sz="4000"/>
              <a:t>体系结构权衡分析方法（续）</a:t>
            </a:r>
          </a:p>
        </p:txBody>
      </p:sp>
      <p:sp>
        <p:nvSpPr>
          <p:cNvPr id="44035" name="内容占位符 2"/>
          <p:cNvSpPr>
            <a:spLocks noGrp="1"/>
          </p:cNvSpPr>
          <p:nvPr>
            <p:ph idx="4294967295"/>
          </p:nvPr>
        </p:nvSpPr>
        <p:spPr/>
        <p:txBody>
          <a:bodyPr/>
          <a:lstStyle/>
          <a:p>
            <a:pPr eaLnBrk="1" hangingPunct="1"/>
            <a:r>
              <a:rPr lang="en-US" altLang="zh-CN" sz="2800" dirty="0" err="1"/>
              <a:t>SafeHome</a:t>
            </a:r>
            <a:r>
              <a:rPr lang="zh-CN" altLang="zh-CN" sz="2800" dirty="0"/>
              <a:t>体系结构选择？</a:t>
            </a:r>
            <a:endParaRPr lang="en-US" altLang="zh-CN" sz="2800" dirty="0"/>
          </a:p>
          <a:p>
            <a:pPr lvl="1" eaLnBrk="1" hangingPunct="1"/>
            <a:r>
              <a:rPr lang="zh-CN" altLang="zh-CN" sz="2400" dirty="0">
                <a:solidFill>
                  <a:srgbClr val="FF0000"/>
                </a:solidFill>
              </a:rPr>
              <a:t>调用和返回风格？      面向对象？</a:t>
            </a:r>
            <a:endParaRPr lang="en-US" altLang="zh-CN" sz="2400" dirty="0">
              <a:solidFill>
                <a:srgbClr val="FF0000"/>
              </a:solidFill>
            </a:endParaRPr>
          </a:p>
          <a:p>
            <a:pPr lvl="1" eaLnBrk="1" hangingPunct="1"/>
            <a:r>
              <a:rPr lang="zh-CN" altLang="zh-CN" sz="2400" dirty="0"/>
              <a:t>已有完整的用例集合，将每个用例用于这两个体系结构中，查看系统的反应，即构件和连接器是如何工作的。</a:t>
            </a:r>
            <a:endParaRPr lang="en-US" altLang="zh-CN" sz="2400" dirty="0"/>
          </a:p>
          <a:p>
            <a:pPr lvl="1" eaLnBrk="1" hangingPunct="1"/>
            <a:r>
              <a:rPr lang="zh-CN" altLang="zh-CN" sz="2400" dirty="0"/>
              <a:t>考虑变化场景、质量场景，并将其运行到体系结构中</a:t>
            </a:r>
            <a:endParaRPr lang="en-US" altLang="zh-CN" sz="2400" dirty="0"/>
          </a:p>
          <a:p>
            <a:pPr lvl="1" eaLnBrk="1" hangingPunct="1"/>
            <a:r>
              <a:rPr lang="zh-CN" altLang="zh-CN" sz="2400" dirty="0"/>
              <a:t>能更好适合用例和场景的体系结构就是最佳的选择。</a:t>
            </a:r>
            <a:endParaRPr lang="en-US" altLang="zh-CN" sz="2400" dirty="0"/>
          </a:p>
          <a:p>
            <a:pPr lvl="1" eaLnBrk="1" hangingPunct="1"/>
            <a:endParaRPr lang="en-US" altLang="zh-CN" sz="2400" dirty="0"/>
          </a:p>
          <a:p>
            <a:pPr lvl="1" eaLnBrk="1" hangingPunct="1"/>
            <a:endParaRPr lang="en-US" altLang="zh-CN"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8" presetClass="entr" presetSubtype="0" accel="50000" fill="hold" nodeType="clickEffect">
                                  <p:stCondLst>
                                    <p:cond delay="0"/>
                                  </p:stCondLst>
                                  <p:iterate type="lt">
                                    <p:tmPct val="50000"/>
                                  </p:iterate>
                                  <p:childTnLst>
                                    <p:set>
                                      <p:cBhvr>
                                        <p:cTn id="6" dur="1" fill="hold">
                                          <p:stCondLst>
                                            <p:cond delay="0"/>
                                          </p:stCondLst>
                                        </p:cTn>
                                        <p:tgtEl>
                                          <p:spTgt spid="44035">
                                            <p:txEl>
                                              <p:pRg st="1" end="1"/>
                                            </p:txEl>
                                          </p:spTgt>
                                        </p:tgtEl>
                                        <p:attrNameLst>
                                          <p:attrName>style.visibility</p:attrName>
                                        </p:attrNameLst>
                                      </p:cBhvr>
                                      <p:to>
                                        <p:strVal val="visible"/>
                                      </p:to>
                                    </p:set>
                                    <p:set>
                                      <p:cBhvr>
                                        <p:cTn id="7" dur="455" fill="hold">
                                          <p:stCondLst>
                                            <p:cond delay="0"/>
                                          </p:stCondLst>
                                        </p:cTn>
                                        <p:tgtEl>
                                          <p:spTgt spid="44035">
                                            <p:txEl>
                                              <p:pRg st="1" end="1"/>
                                            </p:txEl>
                                          </p:spTgt>
                                        </p:tgtEl>
                                        <p:attrNameLst>
                                          <p:attrName>style.rotation</p:attrName>
                                        </p:attrNameLst>
                                      </p:cBhvr>
                                      <p:to>
                                        <p:strVal val="-45.0"/>
                                      </p:to>
                                    </p:set>
                                    <p:anim calcmode="lin" valueType="num">
                                      <p:cBhvr>
                                        <p:cTn id="8" dur="455" fill="hold">
                                          <p:stCondLst>
                                            <p:cond delay="455"/>
                                          </p:stCondLst>
                                        </p:cTn>
                                        <p:tgtEl>
                                          <p:spTgt spid="44035">
                                            <p:txEl>
                                              <p:pRg st="1" end="1"/>
                                            </p:txEl>
                                          </p:spTgt>
                                        </p:tgtEl>
                                        <p:attrNameLst>
                                          <p:attrName>style.rotation</p:attrName>
                                        </p:attrNameLst>
                                      </p:cBhvr>
                                      <p:tavLst>
                                        <p:tav tm="0">
                                          <p:val>
                                            <p:fltVal val="-45"/>
                                          </p:val>
                                        </p:tav>
                                        <p:tav tm="69900">
                                          <p:val>
                                            <p:fltVal val="45"/>
                                          </p:val>
                                        </p:tav>
                                        <p:tav tm="100000">
                                          <p:val>
                                            <p:fltVal val="0"/>
                                          </p:val>
                                        </p:tav>
                                      </p:tavLst>
                                    </p:anim>
                                    <p:anim calcmode="lin" valueType="num">
                                      <p:cBhvr>
                                        <p:cTn id="9" dur="455" fill="hold">
                                          <p:stCondLst>
                                            <p:cond delay="0"/>
                                          </p:stCondLst>
                                        </p:cTn>
                                        <p:tgtEl>
                                          <p:spTgt spid="44035">
                                            <p:txEl>
                                              <p:pRg st="1" end="1"/>
                                            </p:txEl>
                                          </p:spTgt>
                                        </p:tgtEl>
                                        <p:attrNameLst>
                                          <p:attrName>ppt_y</p:attrName>
                                        </p:attrNameLst>
                                      </p:cBhvr>
                                      <p:tavLst>
                                        <p:tav tm="0">
                                          <p:val>
                                            <p:strVal val="#ppt_y-1"/>
                                          </p:val>
                                        </p:tav>
                                        <p:tav tm="100000">
                                          <p:val>
                                            <p:strVal val="#ppt_y-(0.354*#ppt_w-0.172*#ppt_h)"/>
                                          </p:val>
                                        </p:tav>
                                      </p:tavLst>
                                    </p:anim>
                                    <p:anim calcmode="lin" valueType="num">
                                      <p:cBhvr>
                                        <p:cTn id="10" dur="156" decel="50000" autoRev="1" fill="hold">
                                          <p:stCondLst>
                                            <p:cond delay="455"/>
                                          </p:stCondLst>
                                        </p:cTn>
                                        <p:tgtEl>
                                          <p:spTgt spid="44035">
                                            <p:txEl>
                                              <p:pRg st="1" end="1"/>
                                            </p:txEl>
                                          </p:spTgt>
                                        </p:tgtEl>
                                        <p:attrNameLst>
                                          <p:attrName>ppt_y</p:attrName>
                                        </p:attrNameLst>
                                      </p:cBhvr>
                                      <p:tavLst>
                                        <p:tav tm="0">
                                          <p:val>
                                            <p:strVal val="#ppt_y-(0.354*#ppt_w-0.172*#ppt_h)"/>
                                          </p:val>
                                        </p:tav>
                                        <p:tav tm="100000">
                                          <p:val>
                                            <p:strVal val="#ppt_y-(0.354*#ppt_w-0.172*#ppt_h)-#ppt_h/2"/>
                                          </p:val>
                                        </p:tav>
                                      </p:tavLst>
                                    </p:anim>
                                    <p:anim calcmode="lin" valueType="num">
                                      <p:cBhvr>
                                        <p:cTn id="11" dur="136" fill="hold">
                                          <p:stCondLst>
                                            <p:cond delay="864"/>
                                          </p:stCondLst>
                                        </p:cTn>
                                        <p:tgtEl>
                                          <p:spTgt spid="44035">
                                            <p:txEl>
                                              <p:pRg st="1" end="1"/>
                                            </p:txEl>
                                          </p:spTgt>
                                        </p:tgtEl>
                                        <p:attrNameLst>
                                          <p:attrName>ppt_y</p:attrName>
                                        </p:attrNameLst>
                                      </p:cBhvr>
                                      <p:tavLst>
                                        <p:tav tm="0">
                                          <p:val>
                                            <p:strVal val="#ppt_y-(0.354*#ppt_w-0.172*#ppt_h)"/>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44035">
                                            <p:txEl>
                                              <p:pRg st="2" end="2"/>
                                            </p:txEl>
                                          </p:spTgt>
                                        </p:tgtEl>
                                        <p:attrNameLst>
                                          <p:attrName>style.visibility</p:attrName>
                                        </p:attrNameLst>
                                      </p:cBhvr>
                                      <p:to>
                                        <p:strVal val="visible"/>
                                      </p:to>
                                    </p:set>
                                    <p:animEffect transition="in" filter="blinds(horizontal)">
                                      <p:cBhvr>
                                        <p:cTn id="16" dur="500"/>
                                        <p:tgtEl>
                                          <p:spTgt spid="4403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4035">
                                            <p:txEl>
                                              <p:pRg st="3" end="3"/>
                                            </p:txEl>
                                          </p:spTgt>
                                        </p:tgtEl>
                                        <p:attrNameLst>
                                          <p:attrName>style.visibility</p:attrName>
                                        </p:attrNameLst>
                                      </p:cBhvr>
                                      <p:to>
                                        <p:strVal val="visible"/>
                                      </p:to>
                                    </p:set>
                                    <p:animEffect transition="in" filter="blinds(horizontal)">
                                      <p:cBhvr>
                                        <p:cTn id="21" dur="500"/>
                                        <p:tgtEl>
                                          <p:spTgt spid="4403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4035">
                                            <p:txEl>
                                              <p:pRg st="4" end="4"/>
                                            </p:txEl>
                                          </p:spTgt>
                                        </p:tgtEl>
                                        <p:attrNameLst>
                                          <p:attrName>style.visibility</p:attrName>
                                        </p:attrNameLst>
                                      </p:cBhvr>
                                      <p:to>
                                        <p:strVal val="visible"/>
                                      </p:to>
                                    </p:set>
                                    <p:animEffect transition="in" filter="blinds(horizontal)">
                                      <p:cBhvr>
                                        <p:cTn id="26" dur="500"/>
                                        <p:tgtEl>
                                          <p:spTgt spid="440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idx="4294967295"/>
          </p:nvPr>
        </p:nvSpPr>
        <p:spPr/>
        <p:txBody>
          <a:bodyPr/>
          <a:lstStyle/>
          <a:p>
            <a:pPr eaLnBrk="1" hangingPunct="1"/>
            <a:r>
              <a:rPr lang="en-US" altLang="zh-CN"/>
              <a:t>8.5.2 </a:t>
            </a:r>
            <a:r>
              <a:rPr lang="zh-CN" altLang="zh-CN"/>
              <a:t>体系结构复杂性</a:t>
            </a:r>
          </a:p>
        </p:txBody>
      </p:sp>
      <p:sp>
        <p:nvSpPr>
          <p:cNvPr id="51203" name="内容占位符 2"/>
          <p:cNvSpPr>
            <a:spLocks noGrp="1"/>
          </p:cNvSpPr>
          <p:nvPr>
            <p:ph idx="4294967295"/>
          </p:nvPr>
        </p:nvSpPr>
        <p:spPr/>
        <p:txBody>
          <a:bodyPr/>
          <a:lstStyle/>
          <a:p>
            <a:pPr eaLnBrk="1" hangingPunct="1">
              <a:lnSpc>
                <a:spcPts val="4000"/>
              </a:lnSpc>
            </a:pPr>
            <a:r>
              <a:rPr lang="zh-CN" altLang="zh-CN" sz="2800" dirty="0"/>
              <a:t>评估体系结构复杂性的一种有用技术：考虑体系结构中构件间的由系统中的信息</a:t>
            </a:r>
            <a:r>
              <a:rPr lang="en-US" altLang="zh-CN" sz="2800" dirty="0"/>
              <a:t>/</a:t>
            </a:r>
            <a:r>
              <a:rPr lang="zh-CN" altLang="zh-CN" sz="2800" dirty="0"/>
              <a:t>控制流驱动的</a:t>
            </a:r>
            <a:r>
              <a:rPr lang="zh-CN" altLang="zh-CN" sz="2800" dirty="0">
                <a:solidFill>
                  <a:srgbClr val="FF0000"/>
                </a:solidFill>
              </a:rPr>
              <a:t>依赖关系。建议三种类型的依赖：</a:t>
            </a:r>
            <a:endParaRPr lang="en-US" altLang="zh-CN" sz="2800" dirty="0">
              <a:solidFill>
                <a:srgbClr val="FF0000"/>
              </a:solidFill>
            </a:endParaRPr>
          </a:p>
          <a:p>
            <a:pPr lvl="1" eaLnBrk="1" hangingPunct="1">
              <a:lnSpc>
                <a:spcPts val="4000"/>
              </a:lnSpc>
            </a:pPr>
            <a:r>
              <a:rPr lang="zh-CN" altLang="zh-CN" sz="2400" dirty="0">
                <a:solidFill>
                  <a:srgbClr val="FF0000"/>
                </a:solidFill>
              </a:rPr>
              <a:t>共享依赖：</a:t>
            </a:r>
            <a:r>
              <a:rPr lang="zh-CN" altLang="zh-CN" sz="2400" dirty="0"/>
              <a:t>使用相同资源的消费者或为相同消费者生产的生产者之间的依赖关系。</a:t>
            </a:r>
            <a:endParaRPr lang="en-US" altLang="zh-CN" sz="2400" dirty="0"/>
          </a:p>
          <a:p>
            <a:pPr lvl="1" eaLnBrk="1" hangingPunct="1">
              <a:lnSpc>
                <a:spcPts val="4000"/>
              </a:lnSpc>
            </a:pPr>
            <a:r>
              <a:rPr lang="zh-CN" altLang="zh-CN" sz="2400" dirty="0">
                <a:solidFill>
                  <a:srgbClr val="FF0000"/>
                </a:solidFill>
              </a:rPr>
              <a:t>流依赖：</a:t>
            </a:r>
            <a:r>
              <a:rPr lang="zh-CN" altLang="zh-CN" sz="2400" dirty="0"/>
              <a:t>表示资源的生产者和消费者的依赖关系。</a:t>
            </a:r>
            <a:endParaRPr lang="en-US" altLang="zh-CN" sz="2400" dirty="0"/>
          </a:p>
          <a:p>
            <a:pPr lvl="1" eaLnBrk="1" hangingPunct="1">
              <a:lnSpc>
                <a:spcPts val="4000"/>
              </a:lnSpc>
            </a:pPr>
            <a:r>
              <a:rPr lang="zh-CN" altLang="zh-CN" sz="2400" dirty="0">
                <a:solidFill>
                  <a:srgbClr val="FF0000"/>
                </a:solidFill>
              </a:rPr>
              <a:t>约束依赖：</a:t>
            </a:r>
            <a:r>
              <a:rPr lang="zh-CN" altLang="zh-CN" sz="2400" dirty="0"/>
              <a:t>在一组活动间相关控制流上的约束，如构件互斥。</a:t>
            </a:r>
            <a:endParaRPr lang="en-US" altLang="zh-CN" sz="2400" dirty="0"/>
          </a:p>
          <a:p>
            <a:pPr lvl="1" eaLnBrk="1" hangingPunct="1">
              <a:lnSpc>
                <a:spcPts val="4000"/>
              </a:lnSpc>
            </a:pPr>
            <a:endParaRPr lang="zh-CN" altLang="zh-CN"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idx="4294967295"/>
          </p:nvPr>
        </p:nvSpPr>
        <p:spPr/>
        <p:txBody>
          <a:bodyPr/>
          <a:lstStyle/>
          <a:p>
            <a:pPr eaLnBrk="1" hangingPunct="1"/>
            <a:r>
              <a:rPr lang="en-US" altLang="zh-CN"/>
              <a:t>8.5.3 </a:t>
            </a:r>
            <a:r>
              <a:rPr lang="zh-CN" altLang="zh-CN"/>
              <a:t>体系结构描述语言</a:t>
            </a:r>
          </a:p>
        </p:txBody>
      </p:sp>
      <p:sp>
        <p:nvSpPr>
          <p:cNvPr id="46083" name="内容占位符 2"/>
          <p:cNvSpPr>
            <a:spLocks noGrp="1"/>
          </p:cNvSpPr>
          <p:nvPr>
            <p:ph idx="4294967295"/>
          </p:nvPr>
        </p:nvSpPr>
        <p:spPr/>
        <p:txBody>
          <a:bodyPr/>
          <a:lstStyle/>
          <a:p>
            <a:pPr eaLnBrk="1" hangingPunct="1"/>
            <a:r>
              <a:rPr lang="zh-CN" altLang="zh-CN" dirty="0">
                <a:solidFill>
                  <a:srgbClr val="FF0000"/>
                </a:solidFill>
              </a:rPr>
              <a:t>体系结构描述语言</a:t>
            </a:r>
            <a:r>
              <a:rPr lang="zh-CN" altLang="zh-CN" dirty="0"/>
              <a:t>（</a:t>
            </a:r>
            <a:r>
              <a:rPr lang="en-US" altLang="zh-CN" dirty="0"/>
              <a:t>architectural description language, ADL</a:t>
            </a:r>
            <a:r>
              <a:rPr lang="zh-CN" altLang="zh-CN" dirty="0"/>
              <a:t>）为描述软件体系结构提供一套语义和语法。</a:t>
            </a:r>
            <a:endParaRPr lang="en-US" altLang="zh-CN" dirty="0"/>
          </a:p>
          <a:p>
            <a:pPr lvl="1" eaLnBrk="1" hangingPunct="1"/>
            <a:r>
              <a:rPr lang="zh-CN" altLang="en-US" dirty="0"/>
              <a:t>主要的体系结构描述语言有：</a:t>
            </a:r>
            <a:r>
              <a:rPr lang="en-US" altLang="zh-CN" dirty="0" err="1"/>
              <a:t>Rapide</a:t>
            </a:r>
            <a:r>
              <a:rPr lang="zh-CN" altLang="en-US" dirty="0"/>
              <a:t>、</a:t>
            </a:r>
            <a:r>
              <a:rPr lang="en-US" altLang="zh-CN" dirty="0" err="1"/>
              <a:t>MetaH</a:t>
            </a:r>
            <a:r>
              <a:rPr lang="zh-CN" altLang="en-US" dirty="0"/>
              <a:t>、</a:t>
            </a:r>
            <a:r>
              <a:rPr lang="en-US" altLang="zh-CN" dirty="0" err="1"/>
              <a:t>UniCon</a:t>
            </a:r>
            <a:r>
              <a:rPr lang="zh-CN" altLang="en-US" dirty="0"/>
              <a:t>、</a:t>
            </a:r>
            <a:r>
              <a:rPr lang="en-US" altLang="zh-CN" dirty="0"/>
              <a:t>Aesop</a:t>
            </a:r>
            <a:r>
              <a:rPr lang="zh-CN" altLang="en-US" dirty="0"/>
              <a:t>、</a:t>
            </a:r>
            <a:r>
              <a:rPr lang="en-US" altLang="zh-CN" dirty="0"/>
              <a:t>Wright</a:t>
            </a:r>
            <a:r>
              <a:rPr lang="zh-CN" altLang="en-US" dirty="0"/>
              <a:t>、</a:t>
            </a:r>
            <a:r>
              <a:rPr lang="en-US" altLang="zh-CN" dirty="0"/>
              <a:t>Acme</a:t>
            </a:r>
            <a:r>
              <a:rPr lang="zh-CN" altLang="en-US" dirty="0"/>
              <a:t>、</a:t>
            </a:r>
            <a:r>
              <a:rPr lang="en-US" altLang="zh-CN" dirty="0"/>
              <a:t>UML</a:t>
            </a:r>
            <a:endParaRPr lang="zh-CN"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animEffect transition="in" filter="blinds(horizontal)">
                                      <p:cBhvr>
                                        <p:cTn id="7" dur="500"/>
                                        <p:tgtEl>
                                          <p:spTgt spid="460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idx="4294967295"/>
          </p:nvPr>
        </p:nvSpPr>
        <p:spPr/>
        <p:txBody>
          <a:bodyPr/>
          <a:lstStyle/>
          <a:p>
            <a:pPr eaLnBrk="1" hangingPunct="1"/>
            <a:r>
              <a:rPr lang="en-US" altLang="zh-CN" dirty="0"/>
              <a:t>8.5.4 </a:t>
            </a:r>
            <a:r>
              <a:rPr lang="zh-CN" altLang="zh-CN" dirty="0"/>
              <a:t>精化体系结构设计</a:t>
            </a:r>
          </a:p>
        </p:txBody>
      </p:sp>
      <p:sp>
        <p:nvSpPr>
          <p:cNvPr id="89091" name="内容占位符 2"/>
          <p:cNvSpPr>
            <a:spLocks noGrp="1"/>
          </p:cNvSpPr>
          <p:nvPr>
            <p:ph idx="4294967295"/>
          </p:nvPr>
        </p:nvSpPr>
        <p:spPr/>
        <p:txBody>
          <a:bodyPr/>
          <a:lstStyle/>
          <a:p>
            <a:pPr eaLnBrk="1" hangingPunct="1"/>
            <a:r>
              <a:rPr lang="zh-CN" altLang="zh-CN" dirty="0"/>
              <a:t>结构上的简单往往反映出程序的优雅和高效。</a:t>
            </a:r>
            <a:endParaRPr lang="en-US" altLang="zh-CN" dirty="0"/>
          </a:p>
          <a:p>
            <a:pPr eaLnBrk="1" hangingPunct="1"/>
            <a:r>
              <a:rPr lang="zh-CN" altLang="zh-CN" dirty="0"/>
              <a:t>设计求精应在满足模块化要求的前提下尽量减少构件的数量，在满足信息需求的前提下尽量减少复杂的数据结构。</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idx="4294967295"/>
          </p:nvPr>
        </p:nvSpPr>
        <p:spPr/>
        <p:txBody>
          <a:bodyPr/>
          <a:lstStyle/>
          <a:p>
            <a:pPr eaLnBrk="1" hangingPunct="1"/>
            <a:r>
              <a:rPr lang="en-US" altLang="zh-CN" dirty="0"/>
              <a:t>8.6 </a:t>
            </a:r>
            <a:r>
              <a:rPr lang="zh-CN" altLang="en-US" dirty="0"/>
              <a:t>敏捷性与体系结构</a:t>
            </a:r>
            <a:endParaRPr lang="zh-CN" altLang="zh-CN" dirty="0"/>
          </a:p>
        </p:txBody>
      </p:sp>
      <p:sp>
        <p:nvSpPr>
          <p:cNvPr id="89091" name="内容占位符 2"/>
          <p:cNvSpPr>
            <a:spLocks noGrp="1"/>
          </p:cNvSpPr>
          <p:nvPr>
            <p:ph idx="4294967295"/>
          </p:nvPr>
        </p:nvSpPr>
        <p:spPr/>
        <p:txBody>
          <a:bodyPr/>
          <a:lstStyle/>
          <a:p>
            <a:pPr eaLnBrk="1" hangingPunct="1"/>
            <a:r>
              <a:rPr lang="zh-CN" altLang="en-US" sz="2400" dirty="0"/>
              <a:t>敏捷团队可以通过建立一个体系结构原型（如一个可以运行的系统骨架）并开发清晰的体系结构工作产品，与必要的利益相关者进行沟通，以满足体系结构设计的需要。</a:t>
            </a:r>
            <a:endParaRPr lang="en-US" altLang="zh-CN" sz="2400" dirty="0"/>
          </a:p>
          <a:p>
            <a:pPr eaLnBrk="1" hangingPunct="1"/>
            <a:r>
              <a:rPr lang="zh-CN" altLang="en-US" sz="2400" dirty="0"/>
              <a:t>冲刺中，体系结构故事连通业务用户故事排序优先次序。</a:t>
            </a:r>
            <a:endParaRPr lang="en-US" altLang="zh-CN" sz="2400" dirty="0"/>
          </a:p>
          <a:p>
            <a:pPr eaLnBrk="1" hangingPunct="1"/>
            <a:r>
              <a:rPr lang="zh-CN" altLang="en-US" sz="2400" dirty="0"/>
              <a:t>体系结构设计师要确保的是体系结构的重要部分已经经过斟酌，并且开发者也征求了利益相关者的意见。</a:t>
            </a:r>
            <a:endParaRPr lang="en-US" altLang="zh-CN" sz="2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概要设计说明书举例</a:t>
            </a:r>
          </a:p>
        </p:txBody>
      </p:sp>
      <p:sp>
        <p:nvSpPr>
          <p:cNvPr id="3" name="内容占位符 2"/>
          <p:cNvSpPr>
            <a:spLocks noGrp="1"/>
          </p:cNvSpPr>
          <p:nvPr>
            <p:ph idx="1"/>
          </p:nvPr>
        </p:nvSpPr>
        <p:spPr/>
        <p:txBody>
          <a:bodyPr/>
          <a:lstStyle/>
          <a:p>
            <a:r>
              <a:rPr lang="zh-CN" altLang="en-US" dirty="0">
                <a:hlinkClick r:id="rId3"/>
              </a:rPr>
              <a:t>概要设计说明书模版</a:t>
            </a:r>
            <a:endParaRPr lang="en-US" altLang="zh-CN" dirty="0"/>
          </a:p>
          <a:p>
            <a:r>
              <a:rPr lang="zh-CN" altLang="en-US" dirty="0">
                <a:hlinkClick r:id="rId4"/>
              </a:rPr>
              <a:t>概要设计说明书举例</a:t>
            </a:r>
            <a:endParaRPr lang="en-US" altLang="zh-CN" dirty="0"/>
          </a:p>
          <a:p>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idx="4294967295"/>
          </p:nvPr>
        </p:nvSpPr>
        <p:spPr/>
        <p:txBody>
          <a:bodyPr/>
          <a:lstStyle/>
          <a:p>
            <a:pPr eaLnBrk="1" hangingPunct="1"/>
            <a:r>
              <a:rPr lang="zh-CN" altLang="zh-CN" dirty="0"/>
              <a:t>作业</a:t>
            </a:r>
          </a:p>
        </p:txBody>
      </p:sp>
      <p:sp>
        <p:nvSpPr>
          <p:cNvPr id="90115" name="内容占位符 2"/>
          <p:cNvSpPr>
            <a:spLocks noGrp="1"/>
          </p:cNvSpPr>
          <p:nvPr>
            <p:ph idx="4294967295"/>
          </p:nvPr>
        </p:nvSpPr>
        <p:spPr>
          <a:xfrm>
            <a:off x="323528" y="1268760"/>
            <a:ext cx="8640960" cy="4525963"/>
          </a:xfrm>
        </p:spPr>
        <p:txBody>
          <a:bodyPr/>
          <a:lstStyle/>
          <a:p>
            <a:pPr hangingPunct="1"/>
            <a:r>
              <a:rPr lang="zh-CN" altLang="en-US" sz="2800" dirty="0">
                <a:effectLst/>
              </a:rPr>
              <a:t>（理解）在软件体系结构讨论中，经常会遇到体系结构风格、体系结构模式及架构等术语。研究并描述这些术语之间的关系。</a:t>
            </a:r>
            <a:endParaRPr lang="en-US" altLang="zh-CN" sz="2800" dirty="0"/>
          </a:p>
          <a:p>
            <a:pPr hangingPunct="1"/>
            <a:r>
              <a:rPr lang="zh-CN" altLang="en-US" sz="2800" dirty="0"/>
              <a:t>（交）以组为单位画出项目作业的软件体系结构图、功能结构图、技术架构图、物理架构图。</a:t>
            </a:r>
            <a:endParaRPr lang="en-US" altLang="zh-CN" sz="2800" dirty="0"/>
          </a:p>
          <a:p>
            <a:pPr hangingPunct="1"/>
            <a:r>
              <a:rPr lang="zh-CN" altLang="en-US" sz="2800" dirty="0">
                <a:effectLst/>
              </a:rPr>
              <a:t>（交）画出一个物联网项目的体系结构图</a:t>
            </a:r>
            <a:r>
              <a:rPr lang="en-US" altLang="zh-CN" sz="2800" dirty="0">
                <a:effectLst/>
              </a:rPr>
              <a:t>&lt;</a:t>
            </a:r>
            <a:r>
              <a:rPr lang="zh-CN" altLang="en-US" sz="2800">
                <a:effectLst/>
              </a:rPr>
              <a:t>如：充电</a:t>
            </a:r>
            <a:r>
              <a:rPr lang="zh-CN" altLang="en-US" sz="2800" dirty="0">
                <a:effectLst/>
              </a:rPr>
              <a:t>桩监控项目（包含充电、设备状态监控、统计、用户管理、账单管理）</a:t>
            </a:r>
            <a:r>
              <a:rPr lang="en-US" altLang="zh-CN" sz="2800" dirty="0">
                <a:effectLst/>
              </a:rPr>
              <a:t>&gt;</a:t>
            </a:r>
            <a:r>
              <a:rPr lang="zh-CN" altLang="en-US" sz="2800" dirty="0">
                <a:effectLst/>
              </a:rPr>
              <a:t>。</a:t>
            </a:r>
            <a:endParaRPr lang="en-US" altLang="zh-CN" sz="2800" dirty="0">
              <a:effectLst/>
            </a:endParaRPr>
          </a:p>
        </p:txBody>
      </p:sp>
    </p:spTree>
  </p:cSld>
  <p:clrMapOvr>
    <a:masterClrMapping/>
  </p:clrMapOvr>
</p:sld>
</file>

<file path=ppt/theme/theme1.xml><?xml version="1.0" encoding="utf-8"?>
<a:theme xmlns:a="http://schemas.openxmlformats.org/drawingml/2006/main" name="软件工程模板">
  <a:themeElements>
    <a:clrScheme name="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软件工程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软件工程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软件工程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软件工程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软件工程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软件工程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软件工程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软件工程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软件工程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软件工程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软件工程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软件工程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软件工程模板">
  <a:themeElements>
    <a:clrScheme name="1_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软件工程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软件工程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软件工程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软件工程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软件工程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软件工程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软件工程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软件工程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软件工程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软件工程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软件工程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软件工程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软件工程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软件工程模板</Template>
  <TotalTime>470</TotalTime>
  <Words>4145</Words>
  <Application>Microsoft Office PowerPoint</Application>
  <PresentationFormat>全屏显示(4:3)</PresentationFormat>
  <Paragraphs>380</Paragraphs>
  <Slides>69</Slides>
  <Notes>9</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69</vt:i4>
      </vt:variant>
    </vt:vector>
  </HeadingPairs>
  <TitlesOfParts>
    <vt:vector size="81" baseType="lpstr">
      <vt:lpstr>Arial Unicode MS</vt:lpstr>
      <vt:lpstr>Helvetica Neue</vt:lpstr>
      <vt:lpstr>quote-cjk-patch</vt:lpstr>
      <vt:lpstr>var(--ds-font-family-code)</vt:lpstr>
      <vt:lpstr>黑体</vt:lpstr>
      <vt:lpstr>华文新魏</vt:lpstr>
      <vt:lpstr>宋体</vt:lpstr>
      <vt:lpstr>Arial</vt:lpstr>
      <vt:lpstr>Calibri</vt:lpstr>
      <vt:lpstr>Wingdings</vt:lpstr>
      <vt:lpstr>软件工程模板</vt:lpstr>
      <vt:lpstr>1_软件工程模板</vt:lpstr>
      <vt:lpstr>第八章 体系结构设计</vt:lpstr>
      <vt:lpstr>PowerPoint 演示文稿</vt:lpstr>
      <vt:lpstr>主要内容</vt:lpstr>
      <vt:lpstr>8.1 软件体系结构 </vt:lpstr>
      <vt:lpstr>8.1 软件体系结构（续）</vt:lpstr>
      <vt:lpstr>8.1 软件体系结构（续）</vt:lpstr>
      <vt:lpstr>8.1 软件体系结构（续）</vt:lpstr>
      <vt:lpstr>8.1 软件体系结构（续）</vt:lpstr>
      <vt:lpstr>PowerPoint 演示文稿</vt:lpstr>
      <vt:lpstr>8.1 软件体系结构（续）</vt:lpstr>
      <vt:lpstr>8.1 软件体系结构（续）</vt:lpstr>
      <vt:lpstr>8.1 软件体系结构（续）</vt:lpstr>
      <vt:lpstr>PowerPoint 演示文稿</vt:lpstr>
      <vt:lpstr>PowerPoint 演示文稿</vt:lpstr>
      <vt:lpstr>PowerPoint 演示文稿</vt:lpstr>
      <vt:lpstr>8.2 数据设计</vt:lpstr>
      <vt:lpstr>8.2.1 体系结构级的数据设计</vt:lpstr>
      <vt:lpstr>PowerPoint 演示文稿</vt:lpstr>
      <vt:lpstr>PowerPoint 演示文稿</vt:lpstr>
      <vt:lpstr>PowerPoint 演示文稿</vt:lpstr>
      <vt:lpstr>8.2.2 构件级的数据设计</vt:lpstr>
      <vt:lpstr>PowerPoint 演示文稿</vt:lpstr>
      <vt:lpstr>PowerPoint 演示文稿</vt:lpstr>
      <vt:lpstr>PowerPoint 演示文稿</vt:lpstr>
      <vt:lpstr>PowerPoint 演示文稿</vt:lpstr>
      <vt:lpstr>PowerPoint 演示文稿</vt:lpstr>
      <vt:lpstr>PowerPoint 演示文稿</vt:lpstr>
      <vt:lpstr>8.3 体系结构风格和模式</vt:lpstr>
      <vt:lpstr>8.3.1 体系结构风格的分类</vt:lpstr>
      <vt:lpstr>8.3.1 体系结构风格的分类</vt:lpstr>
      <vt:lpstr>8.3.1 体系结构风格的分类</vt:lpstr>
      <vt:lpstr>8.3.1 体系结构风格的分类</vt:lpstr>
      <vt:lpstr>数据流体系结构</vt:lpstr>
      <vt:lpstr>从”自来水管道系统”看管道-过滤器风格</vt:lpstr>
      <vt:lpstr>PowerPoint 演示文稿</vt:lpstr>
      <vt:lpstr>PowerPoint 演示文稿</vt:lpstr>
      <vt:lpstr>批处理风格的直观结构</vt:lpstr>
      <vt:lpstr>8.3.1 体系结构风格的分类</vt:lpstr>
      <vt:lpstr>8.3.1 体系结构风格的分类</vt:lpstr>
      <vt:lpstr>8.3.1 体系结构风格的分类</vt:lpstr>
      <vt:lpstr>8.3.1 体系结构风格的分类</vt:lpstr>
      <vt:lpstr>PowerPoint 演示文稿</vt:lpstr>
      <vt:lpstr>8.3.1 体系结构风格的分类</vt:lpstr>
      <vt:lpstr>8.3.2 体系结构模式</vt:lpstr>
      <vt:lpstr>PowerPoint 演示文稿</vt:lpstr>
      <vt:lpstr>8.3.2 体系结构模式（续）</vt:lpstr>
      <vt:lpstr>PowerPoint 演示文稿</vt:lpstr>
      <vt:lpstr>8.3.3 组织和求精</vt:lpstr>
      <vt:lpstr>8.3.3 组织和求精（续）</vt:lpstr>
      <vt:lpstr>8.4 体系结构设计</vt:lpstr>
      <vt:lpstr>8.4.1 系统的环境表示</vt:lpstr>
      <vt:lpstr>8.4.1 系统的环境表示（续）</vt:lpstr>
      <vt:lpstr>8.4.1 系统的环境表示（续）</vt:lpstr>
      <vt:lpstr>8.4.2 定义原始模型</vt:lpstr>
      <vt:lpstr>8.4.2 定义原始模型（续）</vt:lpstr>
      <vt:lpstr>8.4.3 将体系结构精化为构件</vt:lpstr>
      <vt:lpstr>8.4.3 将体系结构精化为构件（续）</vt:lpstr>
      <vt:lpstr>8.4.4 描述系统实例 </vt:lpstr>
      <vt:lpstr>PowerPoint 演示文稿</vt:lpstr>
      <vt:lpstr>8.5 评估可选的体系结构设计</vt:lpstr>
      <vt:lpstr>8.5.1 体系结构权衡分析方法</vt:lpstr>
      <vt:lpstr>8.5.1 体系结构权衡分析方法（续）</vt:lpstr>
      <vt:lpstr>8.5.1 体系结构权衡分析方法（续）</vt:lpstr>
      <vt:lpstr>8.5.2 体系结构复杂性</vt:lpstr>
      <vt:lpstr>8.5.3 体系结构描述语言</vt:lpstr>
      <vt:lpstr>8.5.4 精化体系结构设计</vt:lpstr>
      <vt:lpstr>8.6 敏捷性与体系结构</vt:lpstr>
      <vt:lpstr>概要设计说明书举例</vt:lpstr>
      <vt:lpstr>作业</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第九章 进行体系结构设计</dc:title>
  <dc:creator>User</dc:creator>
  <cp:lastModifiedBy>wuqq</cp:lastModifiedBy>
  <cp:revision>290</cp:revision>
  <cp:lastPrinted>2024-10-21T10:07:06Z</cp:lastPrinted>
  <dcterms:created xsi:type="dcterms:W3CDTF">2024-10-21T10:07:06Z</dcterms:created>
  <dcterms:modified xsi:type="dcterms:W3CDTF">2025-11-10T08:57:14Z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2052-6.7.0.8823</vt:lpwstr>
  </property>
  <property fmtid="{D5CDD505-2E9C-101B-9397-08002B2CF9AE}" pid="3" name="ICV">
    <vt:lpwstr>C3CF828F5E92720BC9271667EC21B57D_42</vt:lpwstr>
  </property>
</Properties>
</file>