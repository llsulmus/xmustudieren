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7"/>
  </p:notesMasterIdLst>
  <p:sldIdLst>
    <p:sldId id="1115" r:id="rId2"/>
    <p:sldId id="1732" r:id="rId3"/>
    <p:sldId id="1756" r:id="rId4"/>
    <p:sldId id="1120" r:id="rId5"/>
    <p:sldId id="1764" r:id="rId6"/>
    <p:sldId id="270" r:id="rId7"/>
    <p:sldId id="256" r:id="rId8"/>
    <p:sldId id="257" r:id="rId9"/>
    <p:sldId id="259" r:id="rId10"/>
    <p:sldId id="260" r:id="rId11"/>
    <p:sldId id="464" r:id="rId12"/>
    <p:sldId id="1733" r:id="rId13"/>
    <p:sldId id="261" r:id="rId14"/>
    <p:sldId id="276" r:id="rId15"/>
    <p:sldId id="263" r:id="rId16"/>
    <p:sldId id="265" r:id="rId17"/>
    <p:sldId id="266" r:id="rId18"/>
    <p:sldId id="267" r:id="rId19"/>
    <p:sldId id="268" r:id="rId20"/>
    <p:sldId id="271" r:id="rId21"/>
    <p:sldId id="1128" r:id="rId22"/>
    <p:sldId id="272" r:id="rId23"/>
    <p:sldId id="273" r:id="rId24"/>
    <p:sldId id="274" r:id="rId25"/>
    <p:sldId id="275" r:id="rId26"/>
    <p:sldId id="277" r:id="rId27"/>
    <p:sldId id="278" r:id="rId28"/>
    <p:sldId id="279" r:id="rId29"/>
    <p:sldId id="280" r:id="rId30"/>
    <p:sldId id="281" r:id="rId31"/>
    <p:sldId id="1121" r:id="rId32"/>
    <p:sldId id="466" r:id="rId33"/>
    <p:sldId id="1122" r:id="rId34"/>
    <p:sldId id="1123" r:id="rId35"/>
    <p:sldId id="1124" r:id="rId36"/>
    <p:sldId id="1125" r:id="rId37"/>
    <p:sldId id="1126" r:id="rId38"/>
    <p:sldId id="282" r:id="rId39"/>
    <p:sldId id="283" r:id="rId40"/>
    <p:sldId id="285" r:id="rId41"/>
    <p:sldId id="1127" r:id="rId42"/>
    <p:sldId id="465" r:id="rId43"/>
    <p:sldId id="1129" r:id="rId44"/>
    <p:sldId id="1757" r:id="rId45"/>
    <p:sldId id="468" r:id="rId46"/>
    <p:sldId id="300" r:id="rId47"/>
    <p:sldId id="467" r:id="rId48"/>
    <p:sldId id="469" r:id="rId49"/>
    <p:sldId id="471" r:id="rId50"/>
    <p:sldId id="1734" r:id="rId51"/>
    <p:sldId id="312" r:id="rId52"/>
    <p:sldId id="1758" r:id="rId53"/>
    <p:sldId id="1130" r:id="rId54"/>
    <p:sldId id="1131" r:id="rId55"/>
    <p:sldId id="376" r:id="rId56"/>
    <p:sldId id="377" r:id="rId57"/>
    <p:sldId id="379" r:id="rId58"/>
    <p:sldId id="380" r:id="rId59"/>
    <p:sldId id="1134" r:id="rId60"/>
    <p:sldId id="378" r:id="rId61"/>
    <p:sldId id="473" r:id="rId62"/>
    <p:sldId id="1560" r:id="rId63"/>
    <p:sldId id="1759" r:id="rId64"/>
    <p:sldId id="382" r:id="rId65"/>
    <p:sldId id="381" r:id="rId66"/>
    <p:sldId id="383" r:id="rId67"/>
    <p:sldId id="384" r:id="rId68"/>
    <p:sldId id="385" r:id="rId69"/>
    <p:sldId id="1132" r:id="rId70"/>
    <p:sldId id="313" r:id="rId71"/>
    <p:sldId id="1760" r:id="rId72"/>
    <p:sldId id="1761" r:id="rId73"/>
    <p:sldId id="314" r:id="rId74"/>
    <p:sldId id="1133" r:id="rId75"/>
    <p:sldId id="315" r:id="rId76"/>
    <p:sldId id="316" r:id="rId77"/>
    <p:sldId id="317" r:id="rId78"/>
    <p:sldId id="474" r:id="rId79"/>
    <p:sldId id="1561" r:id="rId80"/>
    <p:sldId id="1188" r:id="rId81"/>
    <p:sldId id="1185" r:id="rId82"/>
    <p:sldId id="1186" r:id="rId83"/>
    <p:sldId id="1187" r:id="rId84"/>
    <p:sldId id="1189" r:id="rId85"/>
    <p:sldId id="318" r:id="rId86"/>
    <p:sldId id="319" r:id="rId87"/>
    <p:sldId id="321" r:id="rId88"/>
    <p:sldId id="320" r:id="rId89"/>
    <p:sldId id="475" r:id="rId90"/>
    <p:sldId id="1562" r:id="rId91"/>
    <p:sldId id="1190" r:id="rId92"/>
    <p:sldId id="1191" r:id="rId93"/>
    <p:sldId id="1192" r:id="rId94"/>
    <p:sldId id="1194" r:id="rId95"/>
    <p:sldId id="1193" r:id="rId96"/>
    <p:sldId id="1195" r:id="rId97"/>
    <p:sldId id="322" r:id="rId98"/>
    <p:sldId id="323" r:id="rId99"/>
    <p:sldId id="324" r:id="rId100"/>
    <p:sldId id="325" r:id="rId101"/>
    <p:sldId id="327" r:id="rId102"/>
    <p:sldId id="328" r:id="rId103"/>
    <p:sldId id="326" r:id="rId104"/>
    <p:sldId id="329" r:id="rId105"/>
    <p:sldId id="330" r:id="rId106"/>
    <p:sldId id="331" r:id="rId107"/>
    <p:sldId id="476" r:id="rId108"/>
    <p:sldId id="1563" r:id="rId109"/>
    <p:sldId id="1204" r:id="rId110"/>
    <p:sldId id="1196" r:id="rId111"/>
    <p:sldId id="1197" r:id="rId112"/>
    <p:sldId id="1198" r:id="rId113"/>
    <p:sldId id="1202" r:id="rId114"/>
    <p:sldId id="1200" r:id="rId115"/>
    <p:sldId id="1201" r:id="rId116"/>
    <p:sldId id="1203" r:id="rId117"/>
    <p:sldId id="332" r:id="rId118"/>
    <p:sldId id="333" r:id="rId119"/>
    <p:sldId id="1135" r:id="rId120"/>
    <p:sldId id="334" r:id="rId121"/>
    <p:sldId id="477" r:id="rId122"/>
    <p:sldId id="1564" r:id="rId123"/>
    <p:sldId id="1205" r:id="rId124"/>
    <p:sldId id="1206" r:id="rId125"/>
    <p:sldId id="1207" r:id="rId126"/>
    <p:sldId id="1208" r:id="rId127"/>
    <p:sldId id="1209" r:id="rId128"/>
    <p:sldId id="1210" r:id="rId129"/>
    <p:sldId id="1211" r:id="rId130"/>
    <p:sldId id="1212" r:id="rId131"/>
    <p:sldId id="1213" r:id="rId132"/>
    <p:sldId id="1214" r:id="rId133"/>
    <p:sldId id="335" r:id="rId134"/>
    <p:sldId id="1762" r:id="rId135"/>
    <p:sldId id="336" r:id="rId136"/>
    <p:sldId id="1136" r:id="rId137"/>
    <p:sldId id="337" r:id="rId138"/>
    <p:sldId id="338" r:id="rId139"/>
    <p:sldId id="1137" r:id="rId140"/>
    <p:sldId id="349" r:id="rId141"/>
    <p:sldId id="339" r:id="rId142"/>
    <p:sldId id="340" r:id="rId143"/>
    <p:sldId id="478" r:id="rId144"/>
    <p:sldId id="1565" r:id="rId145"/>
    <p:sldId id="1568" r:id="rId146"/>
    <p:sldId id="1569" r:id="rId147"/>
    <p:sldId id="1570" r:id="rId148"/>
    <p:sldId id="1577" r:id="rId149"/>
    <p:sldId id="1578" r:id="rId150"/>
    <p:sldId id="1579" r:id="rId151"/>
    <p:sldId id="1580" r:id="rId152"/>
    <p:sldId id="1581" r:id="rId153"/>
    <p:sldId id="341" r:id="rId154"/>
    <p:sldId id="1763" r:id="rId155"/>
    <p:sldId id="1138" r:id="rId156"/>
    <p:sldId id="1139" r:id="rId157"/>
    <p:sldId id="1140" r:id="rId158"/>
    <p:sldId id="1141" r:id="rId159"/>
    <p:sldId id="1142" r:id="rId160"/>
    <p:sldId id="1143" r:id="rId161"/>
    <p:sldId id="342" r:id="rId162"/>
    <p:sldId id="343" r:id="rId163"/>
    <p:sldId id="479" r:id="rId164"/>
    <p:sldId id="1566" r:id="rId165"/>
    <p:sldId id="1582" r:id="rId166"/>
    <p:sldId id="1583" r:id="rId167"/>
    <p:sldId id="1584" r:id="rId168"/>
    <p:sldId id="1585" r:id="rId169"/>
    <p:sldId id="1586" r:id="rId170"/>
    <p:sldId id="1587" r:id="rId171"/>
    <p:sldId id="1588" r:id="rId172"/>
    <p:sldId id="1589" r:id="rId173"/>
    <p:sldId id="344" r:id="rId174"/>
    <p:sldId id="1144" r:id="rId175"/>
    <p:sldId id="1145" r:id="rId176"/>
    <p:sldId id="345" r:id="rId177"/>
    <p:sldId id="480" r:id="rId178"/>
    <p:sldId id="1567" r:id="rId179"/>
    <p:sldId id="1590" r:id="rId180"/>
    <p:sldId id="1591" r:id="rId181"/>
    <p:sldId id="1592" r:id="rId182"/>
    <p:sldId id="1593" r:id="rId183"/>
    <p:sldId id="1146" r:id="rId184"/>
    <p:sldId id="386" r:id="rId185"/>
    <p:sldId id="348" r:id="rId186"/>
    <p:sldId id="389" r:id="rId187"/>
    <p:sldId id="1147" r:id="rId188"/>
    <p:sldId id="390" r:id="rId189"/>
    <p:sldId id="393" r:id="rId190"/>
    <p:sldId id="1148" r:id="rId191"/>
    <p:sldId id="391" r:id="rId192"/>
    <p:sldId id="353" r:id="rId193"/>
    <p:sldId id="394" r:id="rId194"/>
    <p:sldId id="395" r:id="rId195"/>
    <p:sldId id="396" r:id="rId196"/>
    <p:sldId id="355" r:id="rId197"/>
    <p:sldId id="399" r:id="rId198"/>
    <p:sldId id="1439" r:id="rId199"/>
    <p:sldId id="358" r:id="rId200"/>
    <p:sldId id="359" r:id="rId201"/>
    <p:sldId id="1149" r:id="rId202"/>
    <p:sldId id="1150" r:id="rId203"/>
    <p:sldId id="360" r:id="rId204"/>
    <p:sldId id="361" r:id="rId205"/>
    <p:sldId id="1151" r:id="rId206"/>
    <p:sldId id="482" r:id="rId207"/>
    <p:sldId id="481" r:id="rId208"/>
    <p:sldId id="483" r:id="rId209"/>
    <p:sldId id="484" r:id="rId210"/>
    <p:sldId id="362" r:id="rId211"/>
    <p:sldId id="363" r:id="rId212"/>
    <p:sldId id="364" r:id="rId213"/>
    <p:sldId id="1171" r:id="rId214"/>
    <p:sldId id="1442" r:id="rId215"/>
    <p:sldId id="487" r:id="rId216"/>
    <p:sldId id="420" r:id="rId217"/>
    <p:sldId id="421" r:id="rId218"/>
    <p:sldId id="422" r:id="rId219"/>
    <p:sldId id="1735" r:id="rId220"/>
    <p:sldId id="1158" r:id="rId221"/>
    <p:sldId id="488" r:id="rId222"/>
    <p:sldId id="1159" r:id="rId223"/>
    <p:sldId id="437" r:id="rId224"/>
    <p:sldId id="1165" r:id="rId225"/>
    <p:sldId id="1172" r:id="rId226"/>
    <p:sldId id="1173" r:id="rId227"/>
    <p:sldId id="454" r:id="rId228"/>
    <p:sldId id="1505" r:id="rId229"/>
    <p:sldId id="453" r:id="rId230"/>
    <p:sldId id="1495" r:id="rId231"/>
    <p:sldId id="451" r:id="rId232"/>
    <p:sldId id="1485" r:id="rId233"/>
    <p:sldId id="449" r:id="rId234"/>
    <p:sldId id="1476" r:id="rId235"/>
    <p:sldId id="1454" r:id="rId2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0" autoAdjust="0"/>
    <p:restoredTop sz="94639" autoAdjust="0"/>
  </p:normalViewPr>
  <p:slideViewPr>
    <p:cSldViewPr snapToGrid="0">
      <p:cViewPr varScale="1">
        <p:scale>
          <a:sx n="89" d="100"/>
          <a:sy n="89" d="100"/>
        </p:scale>
        <p:origin x="206" y="72"/>
      </p:cViewPr>
      <p:guideLst/>
    </p:cSldViewPr>
  </p:slideViewPr>
  <p:outlineViewPr>
    <p:cViewPr>
      <p:scale>
        <a:sx n="33" d="100"/>
        <a:sy n="33" d="100"/>
      </p:scale>
      <p:origin x="0" y="-12273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presProps" Target="presProps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viewProps" Target="viewProps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theme" Target="theme/theme1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1F130D-541C-42B6-93A6-D92B0F5A99D4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B47947-4969-4908-B811-BBC27D6243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123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47947-4969-4908-B811-BBC27D624331}" type="slidenum">
              <a:rPr lang="zh-CN" altLang="en-US" smtClean="0"/>
              <a:t>136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9495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876020-357A-02CC-2EC8-F879CBCD5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7F7753-0CDB-9FF0-5B74-B551B238F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F8B730-8F14-187F-F4EF-95FA7E588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1C1E-0CB1-4C40-B3FB-826DCF3D8583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853BA1-AB00-855A-DC52-AC9D4F2AD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4EEA8C-1998-27FC-6BF8-94FBB86C7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F855-56CF-42DF-A138-C48FB8E705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451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5D2F95-1B7C-0C3C-E31B-441A83644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3386CF-CCA3-1414-B147-C73956ECD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0F2C6E-328C-3457-84F5-F24F21ABA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1C1E-0CB1-4C40-B3FB-826DCF3D8583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F097D5-39E8-A201-271B-0B5D52441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80036C-448E-C682-0AF1-08B2266F1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F855-56CF-42DF-A138-C48FB8E705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281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A80BB9-E3FE-286E-DF68-053A60277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93EE65-552C-1446-E012-4B3C2B4E4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E4C324-EFA6-3F85-DE96-1D07D893D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1C1E-0CB1-4C40-B3FB-826DCF3D8583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DC4838-369D-F4E4-814F-59F8FA7CD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25B64D-9EFF-5B7D-CAC4-BC95E3CB9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F855-56CF-42DF-A138-C48FB8E705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0734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3C2285-4A5E-3041-B040-D80DEAE1F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5B4D49-9CBC-D500-01CB-277C7CF31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6053FE-9970-8824-F602-9DC736BC4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E67E35-BC40-E48E-9AAB-969D1A085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1C1E-0CB1-4C40-B3FB-826DCF3D8583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A61D98-BA4D-8409-43D8-21F766D3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3D0B6A-1850-0CF3-CBFA-296573F52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F855-56CF-42DF-A138-C48FB8E705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29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902B93-CB63-DC0D-FC45-672C31114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07985F-9EA6-52BC-E96A-3F7FAB700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AF8FDF-4792-DFF6-8679-4C353BBD0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A9C38A0-B5CB-1FE3-4BCB-1BAFD330C3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497BF2-1E87-A9FF-9A2A-7EABC921A6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DA9B1EA-21EA-E535-D291-B814C73CF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1C1E-0CB1-4C40-B3FB-826DCF3D8583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9C39BF1-F88A-E014-9E90-578DAB33D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80A2375-E541-AC7E-9EC3-8A9A9E26C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F855-56CF-42DF-A138-C48FB8E705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449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9424E-5949-97A0-1D14-36294AAA3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34F696E-AD97-94CB-6E7D-239764D2E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1C1E-0CB1-4C40-B3FB-826DCF3D8583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DB3F00-0475-2D7B-0253-4DBE657DF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E033D79-A657-9070-D555-890B7EE0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F855-56CF-42DF-A138-C48FB8E705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167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802200-F4B3-6525-F936-820E1F9E7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1C1E-0CB1-4C40-B3FB-826DCF3D8583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7FA0DCE-E8AF-1331-5597-62876AB80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1C6845-0575-FA49-FC60-ADC8FD96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F855-56CF-42DF-A138-C48FB8E705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168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471EAA-44B0-1DAE-BAD0-B485798CD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8CC0FC-48CF-2CD5-4309-6B7979481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B72F24-AC68-753E-2160-1B374C4A0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A34599-8945-041B-360E-8D8452CC0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1C1E-0CB1-4C40-B3FB-826DCF3D8583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F925B4-3125-1934-91BA-A622141FA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DC942B-6F13-E8C4-8F78-DF2B9E62E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F855-56CF-42DF-A138-C48FB8E705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198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E0F2CB-9557-676C-6FDE-25E802FCA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79FC47B-2F73-2BAE-7229-CE48BA517B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B66B6F-F518-E8EB-5091-B9117B3E8E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ECDF19-AA29-1EF9-9FEE-53B684E8E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1C1E-0CB1-4C40-B3FB-826DCF3D8583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A01830-8E41-11DA-8DD4-CE0F9E27C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0EE3DC-699C-F761-C783-1F3F0EE36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F855-56CF-42DF-A138-C48FB8E705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574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0FB3C9-5BCC-433E-224E-4F2DA4724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684248-6270-8099-75F8-D24B602EF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AB010D-FD1F-2053-041C-F9FDAB967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1C1E-0CB1-4C40-B3FB-826DCF3D8583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74AD13-42D5-4078-4EDC-C80A0C77E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1B0FEF-FE13-8A85-2112-E4A4C3675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F855-56CF-42DF-A138-C48FB8E705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269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C6C96FB-4428-2876-3CFC-154CD07204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049261-4786-9AE5-F4AE-FE6C3DAE0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2235A2-09E5-C152-702D-C4A6D317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1C1E-0CB1-4C40-B3FB-826DCF3D8583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E03653-17C1-53AF-3DF0-4E1905B79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E59A27-5F16-8633-C317-F91C88EC4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F855-56CF-42DF-A138-C48FB8E705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40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54073CB-2E49-4A89-2D73-56804A72E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449AE1-521B-7F6A-92A5-3F6D085B9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ADAAEE-606A-501B-64DF-BFC996C8A0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41C1E-0CB1-4C40-B3FB-826DCF3D8583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D42A29-4183-A979-06E6-823FBE91B7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1C8BA9-B9B1-B9B5-CB6F-731EC04647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8F855-56CF-42DF-A138-C48FB8E705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766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2.png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.png"/><Relationship Id="rId5" Type="http://schemas.openxmlformats.org/officeDocument/2006/relationships/image" Target="../media/image165.png"/><Relationship Id="rId4" Type="http://schemas.openxmlformats.org/officeDocument/2006/relationships/image" Target="../media/image164.png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7.png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5" Type="http://schemas.openxmlformats.org/officeDocument/2006/relationships/image" Target="../media/image190.png"/><Relationship Id="rId4" Type="http://schemas.openxmlformats.org/officeDocument/2006/relationships/image" Target="../media/image189.png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png"/><Relationship Id="rId2" Type="http://schemas.openxmlformats.org/officeDocument/2006/relationships/image" Target="../media/image236.png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2.png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5.png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png"/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1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png"/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3.png"/><Relationship Id="rId4" Type="http://schemas.openxmlformats.org/officeDocument/2006/relationships/image" Target="../media/image252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png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6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png"/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9.png"/><Relationship Id="rId4" Type="http://schemas.openxmlformats.org/officeDocument/2006/relationships/image" Target="../media/image258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6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png"/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3.png"/><Relationship Id="rId4" Type="http://schemas.openxmlformats.org/officeDocument/2006/relationships/image" Target="../media/image262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png"/><Relationship Id="rId2" Type="http://schemas.openxmlformats.org/officeDocument/2006/relationships/image" Target="../media/image2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6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png"/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8.png"/><Relationship Id="rId4" Type="http://schemas.openxmlformats.org/officeDocument/2006/relationships/image" Target="../media/image267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6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png"/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2.png"/><Relationship Id="rId4" Type="http://schemas.openxmlformats.org/officeDocument/2006/relationships/image" Target="../media/image271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4.png"/><Relationship Id="rId2" Type="http://schemas.openxmlformats.org/officeDocument/2006/relationships/image" Target="../media/image2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6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png"/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6.png"/><Relationship Id="rId4" Type="http://schemas.openxmlformats.org/officeDocument/2006/relationships/image" Target="../media/image275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8.png"/><Relationship Id="rId2" Type="http://schemas.openxmlformats.org/officeDocument/2006/relationships/image" Target="../media/image2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6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png"/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0.png"/><Relationship Id="rId4" Type="http://schemas.openxmlformats.org/officeDocument/2006/relationships/image" Target="../media/image279.png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295215EF-3CBC-4710-B012-4A2768D0A7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923978"/>
            <a:ext cx="12192000" cy="14700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z="8800" b="1" dirty="0">
                <a:solidFill>
                  <a:srgbClr val="0070C0"/>
                </a:solidFill>
              </a:rPr>
              <a:t>《</a:t>
            </a:r>
            <a:r>
              <a:rPr lang="zh-CN" altLang="en-US" sz="8800" b="1" dirty="0">
                <a:solidFill>
                  <a:srgbClr val="0070C0"/>
                </a:solidFill>
              </a:rPr>
              <a:t>嵌入式系统</a:t>
            </a:r>
            <a:r>
              <a:rPr lang="en-US" altLang="zh-CN" sz="8800" b="1" dirty="0">
                <a:solidFill>
                  <a:srgbClr val="0070C0"/>
                </a:solidFill>
              </a:rPr>
              <a:t>》</a:t>
            </a:r>
            <a:br>
              <a:rPr lang="en-US" altLang="zh-CN" sz="7200" b="1" dirty="0"/>
            </a:br>
            <a:br>
              <a:rPr lang="en-US" altLang="zh-CN" sz="1800" b="1" dirty="0"/>
            </a:br>
            <a:r>
              <a:rPr lang="zh-CN" altLang="en-US" sz="4800" b="1" dirty="0">
                <a:solidFill>
                  <a:srgbClr val="0070C0"/>
                </a:solidFill>
              </a:rPr>
              <a:t>（实验六    </a:t>
            </a:r>
            <a:r>
              <a:rPr lang="en-US" altLang="zh-CN" sz="4800" b="1" dirty="0">
                <a:solidFill>
                  <a:srgbClr val="0070C0"/>
                </a:solidFill>
              </a:rPr>
              <a:t>Qt</a:t>
            </a:r>
            <a:r>
              <a:rPr lang="zh-CN" altLang="en-US" sz="4800" b="1" dirty="0">
                <a:solidFill>
                  <a:srgbClr val="0070C0"/>
                </a:solidFill>
              </a:rPr>
              <a:t>实验）</a:t>
            </a:r>
            <a:br>
              <a:rPr lang="en-US" altLang="zh-CN" sz="4800" b="1" dirty="0">
                <a:solidFill>
                  <a:srgbClr val="0070C0"/>
                </a:solidFill>
              </a:rPr>
            </a:br>
            <a:r>
              <a:rPr lang="zh-CN" altLang="en-US" sz="4800" b="1" dirty="0">
                <a:solidFill>
                  <a:srgbClr val="0070C0"/>
                </a:solidFill>
              </a:rPr>
              <a:t>（第一部分   在电脑上运行</a:t>
            </a:r>
            <a:r>
              <a:rPr lang="en-US" altLang="zh-CN" sz="4800" b="1" dirty="0">
                <a:solidFill>
                  <a:srgbClr val="0070C0"/>
                </a:solidFill>
              </a:rPr>
              <a:t>Qt</a:t>
            </a:r>
            <a:r>
              <a:rPr lang="zh-CN" altLang="en-US" sz="4800" b="1" dirty="0">
                <a:solidFill>
                  <a:srgbClr val="0070C0"/>
                </a:solidFill>
              </a:rPr>
              <a:t>程序）</a:t>
            </a:r>
          </a:p>
        </p:txBody>
      </p:sp>
      <p:sp>
        <p:nvSpPr>
          <p:cNvPr id="4099" name="副标题 2">
            <a:extLst>
              <a:ext uri="{FF2B5EF4-FFF2-40B4-BE49-F238E27FC236}">
                <a16:creationId xmlns:a16="http://schemas.microsoft.com/office/drawing/2014/main" id="{2DA7DAB7-E8C0-4043-8A20-FF892A4D1E0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24000" y="4813996"/>
            <a:ext cx="9144000" cy="1752600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002060"/>
                </a:solidFill>
              </a:rPr>
              <a:t>厦门大学信息学院软件工程系   </a:t>
            </a:r>
            <a:endParaRPr lang="en-US" altLang="zh-CN" sz="2800" b="1" dirty="0">
              <a:solidFill>
                <a:srgbClr val="002060"/>
              </a:solidFill>
            </a:endParaRPr>
          </a:p>
          <a:p>
            <a:pPr eaLnBrk="1" hangingPunct="1"/>
            <a:endParaRPr lang="en-US" altLang="zh-CN" sz="2800" b="1" dirty="0">
              <a:solidFill>
                <a:srgbClr val="002060"/>
              </a:solidFill>
            </a:endParaRPr>
          </a:p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</a:rPr>
              <a:t>2025</a:t>
            </a:r>
            <a:r>
              <a:rPr lang="zh-CN" altLang="en-US" sz="2800" b="1" dirty="0">
                <a:solidFill>
                  <a:srgbClr val="002060"/>
                </a:solidFill>
              </a:rPr>
              <a:t>年</a:t>
            </a:r>
            <a:r>
              <a:rPr lang="en-US" altLang="zh-CN" sz="2800" b="1" dirty="0">
                <a:solidFill>
                  <a:srgbClr val="002060"/>
                </a:solidFill>
              </a:rPr>
              <a:t>11</a:t>
            </a:r>
            <a:r>
              <a:rPr lang="zh-CN" altLang="en-US" sz="2800" b="1" dirty="0">
                <a:solidFill>
                  <a:srgbClr val="002060"/>
                </a:solidFill>
              </a:rPr>
              <a:t>月</a:t>
            </a:r>
            <a:r>
              <a:rPr lang="en-US" altLang="zh-CN" sz="2800" b="1" dirty="0">
                <a:solidFill>
                  <a:srgbClr val="002060"/>
                </a:solidFill>
              </a:rPr>
              <a:t> </a:t>
            </a:r>
            <a:endParaRPr lang="zh-CN" altLang="en-US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D47002-A31B-F129-FCA8-EFD005C49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6BB45A-EA2A-296B-F279-26CD7EE71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" y="1825624"/>
            <a:ext cx="4785360" cy="4758055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sz="2400" b="1" dirty="0"/>
              <a:t>一、安装 </a:t>
            </a:r>
            <a:r>
              <a:rPr lang="en-US" altLang="zh-CN" sz="2400" b="1" dirty="0"/>
              <a:t>Qt  Creator</a:t>
            </a:r>
          </a:p>
          <a:p>
            <a:endParaRPr lang="en-US" altLang="zh-CN" sz="2400" b="1" dirty="0"/>
          </a:p>
          <a:p>
            <a:r>
              <a:rPr lang="zh-CN" altLang="en-US" sz="2400" b="1" dirty="0"/>
              <a:t>二、配置 </a:t>
            </a:r>
            <a:r>
              <a:rPr lang="en-US" altLang="zh-CN" sz="2400" b="1" dirty="0"/>
              <a:t>Qt  Creator </a:t>
            </a:r>
            <a:r>
              <a:rPr lang="zh-CN" altLang="en-US" sz="2400" b="1" dirty="0"/>
              <a:t>参数</a:t>
            </a:r>
          </a:p>
          <a:p>
            <a:endParaRPr lang="en-US" altLang="zh-CN" sz="2400" b="1" dirty="0"/>
          </a:p>
          <a:p>
            <a:r>
              <a:rPr lang="zh-CN" altLang="en-US" sz="2400" b="1" dirty="0"/>
              <a:t>三、新建 </a:t>
            </a:r>
            <a:r>
              <a:rPr lang="en-US" altLang="zh-CN" sz="2400" b="1" dirty="0"/>
              <a:t>Qt </a:t>
            </a:r>
            <a:r>
              <a:rPr lang="zh-CN" altLang="en-US" sz="2400" b="1" dirty="0"/>
              <a:t>工程（</a:t>
            </a:r>
            <a:r>
              <a:rPr lang="en-US" altLang="zh-CN" sz="2400" b="1" dirty="0" err="1"/>
              <a:t>helloworld</a:t>
            </a:r>
            <a:r>
              <a:rPr lang="zh-CN" altLang="en-US" sz="2400" b="1" dirty="0"/>
              <a:t>）</a:t>
            </a:r>
          </a:p>
          <a:p>
            <a:endParaRPr lang="en-US" altLang="zh-CN" sz="2400" b="1" dirty="0"/>
          </a:p>
          <a:p>
            <a:r>
              <a:rPr lang="zh-CN" altLang="en-US" sz="2400" b="1" dirty="0"/>
              <a:t>四、运行已有的 </a:t>
            </a:r>
            <a:r>
              <a:rPr lang="en-US" altLang="zh-CN" sz="2400" b="1" dirty="0"/>
              <a:t>Qt </a:t>
            </a:r>
            <a:r>
              <a:rPr lang="zh-CN" altLang="en-US" sz="2400" b="1" dirty="0"/>
              <a:t>工程</a:t>
            </a:r>
          </a:p>
          <a:p>
            <a:pPr lvl="1"/>
            <a:r>
              <a:rPr lang="en-US" altLang="zh-CN" sz="1900" b="1" dirty="0"/>
              <a:t>1</a:t>
            </a:r>
            <a:r>
              <a:rPr lang="zh-CN" altLang="en-US" sz="1900" b="1" dirty="0"/>
              <a:t>、自定义控件</a:t>
            </a:r>
          </a:p>
          <a:p>
            <a:pPr lvl="1"/>
            <a:r>
              <a:rPr lang="en-US" altLang="zh-CN" sz="1900" b="1" dirty="0"/>
              <a:t>2</a:t>
            </a:r>
            <a:r>
              <a:rPr lang="zh-CN" altLang="en-US" sz="1900" b="1" dirty="0"/>
              <a:t>、信号与槽</a:t>
            </a:r>
          </a:p>
          <a:p>
            <a:pPr lvl="1"/>
            <a:r>
              <a:rPr lang="en-US" altLang="zh-CN" sz="1900" b="1" dirty="0"/>
              <a:t>3</a:t>
            </a:r>
            <a:r>
              <a:rPr lang="zh-CN" altLang="en-US" sz="1900" b="1" dirty="0"/>
              <a:t>、信号与槽的应用（秒表）</a:t>
            </a:r>
          </a:p>
          <a:p>
            <a:pPr lvl="1"/>
            <a:r>
              <a:rPr lang="en-US" altLang="zh-CN" sz="1900" b="1" dirty="0"/>
              <a:t>4</a:t>
            </a:r>
            <a:r>
              <a:rPr lang="zh-CN" altLang="en-US" sz="1900" b="1" dirty="0"/>
              <a:t>、文件操作</a:t>
            </a:r>
          </a:p>
          <a:p>
            <a:pPr lvl="1"/>
            <a:r>
              <a:rPr lang="en-US" altLang="zh-CN" sz="1900" b="1" dirty="0"/>
              <a:t>5</a:t>
            </a:r>
            <a:r>
              <a:rPr lang="zh-CN" altLang="en-US" sz="1900" b="1" dirty="0"/>
              <a:t>、数据库管理</a:t>
            </a:r>
          </a:p>
          <a:p>
            <a:pPr lvl="1"/>
            <a:r>
              <a:rPr lang="en-US" altLang="zh-CN" sz="1900" b="1" dirty="0"/>
              <a:t>6</a:t>
            </a:r>
            <a:r>
              <a:rPr lang="zh-CN" altLang="en-US" sz="1900" b="1" dirty="0"/>
              <a:t>、网络编程（</a:t>
            </a:r>
            <a:r>
              <a:rPr lang="en-US" altLang="zh-CN" sz="1900" b="1" dirty="0"/>
              <a:t>TCP</a:t>
            </a:r>
            <a:r>
              <a:rPr lang="zh-CN" altLang="en-US" sz="1900" b="1" dirty="0"/>
              <a:t>）</a:t>
            </a:r>
          </a:p>
          <a:p>
            <a:pPr lvl="1"/>
            <a:r>
              <a:rPr lang="en-US" altLang="zh-CN" sz="1900" b="1" dirty="0"/>
              <a:t>7</a:t>
            </a:r>
            <a:r>
              <a:rPr lang="zh-CN" altLang="en-US" sz="1900" b="1" dirty="0"/>
              <a:t>、网络编程（</a:t>
            </a:r>
            <a:r>
              <a:rPr lang="en-US" altLang="zh-CN" sz="1900" b="1" dirty="0"/>
              <a:t>UDP</a:t>
            </a:r>
            <a:r>
              <a:rPr lang="zh-CN" altLang="en-US" sz="1900" b="1" dirty="0"/>
              <a:t>）</a:t>
            </a:r>
          </a:p>
          <a:p>
            <a:pPr lvl="1"/>
            <a:r>
              <a:rPr lang="en-US" altLang="zh-CN" sz="1900" b="1" dirty="0"/>
              <a:t>8</a:t>
            </a:r>
            <a:r>
              <a:rPr lang="zh-CN" altLang="en-US" sz="1900" b="1" dirty="0"/>
              <a:t>、程序引用</a:t>
            </a:r>
            <a:endParaRPr lang="zh-CN" altLang="en-US" sz="2000" b="1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8F909AE-7113-F682-5D12-3A4CDFB9E6F9}"/>
              </a:ext>
            </a:extLst>
          </p:cNvPr>
          <p:cNvSpPr txBox="1">
            <a:spLocks/>
          </p:cNvSpPr>
          <p:nvPr/>
        </p:nvSpPr>
        <p:spPr>
          <a:xfrm>
            <a:off x="5852160" y="1825625"/>
            <a:ext cx="59055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200" b="1" dirty="0"/>
              <a:t>五、配置 </a:t>
            </a:r>
            <a:r>
              <a:rPr lang="en-US" altLang="zh-CN" sz="2200" b="1" dirty="0"/>
              <a:t>Qt Creator </a:t>
            </a:r>
            <a:r>
              <a:rPr lang="zh-CN" altLang="en-US" sz="2200" b="1" dirty="0"/>
              <a:t>参数（实验箱用）</a:t>
            </a:r>
          </a:p>
          <a:p>
            <a:endParaRPr lang="zh-CN" altLang="en-US" sz="2200" b="1" dirty="0"/>
          </a:p>
          <a:p>
            <a:r>
              <a:rPr lang="zh-CN" altLang="en-US" sz="2200" b="1" dirty="0"/>
              <a:t>六、创建实验箱上的 </a:t>
            </a:r>
            <a:r>
              <a:rPr lang="en-US" altLang="zh-CN" sz="2200" b="1" dirty="0"/>
              <a:t>Qt </a:t>
            </a:r>
            <a:r>
              <a:rPr lang="zh-CN" altLang="en-US" sz="2200" b="1" dirty="0"/>
              <a:t>工程（</a:t>
            </a:r>
            <a:r>
              <a:rPr lang="en-US" altLang="zh-CN" sz="2200" b="1" dirty="0"/>
              <a:t>hello</a:t>
            </a:r>
            <a:r>
              <a:rPr lang="zh-CN" altLang="en-US" sz="2200" b="1" dirty="0"/>
              <a:t>）</a:t>
            </a:r>
          </a:p>
          <a:p>
            <a:endParaRPr lang="zh-CN" altLang="en-US" sz="2200" b="1" dirty="0"/>
          </a:p>
          <a:p>
            <a:r>
              <a:rPr lang="zh-CN" altLang="en-US" sz="2200" b="1" dirty="0"/>
              <a:t>七、编译实验箱上的 </a:t>
            </a:r>
            <a:r>
              <a:rPr lang="en-US" altLang="zh-CN" sz="2200" b="1" dirty="0"/>
              <a:t>Qt </a:t>
            </a:r>
            <a:r>
              <a:rPr lang="zh-CN" altLang="en-US" sz="2200" b="1" dirty="0"/>
              <a:t>工程样例</a:t>
            </a:r>
          </a:p>
        </p:txBody>
      </p:sp>
    </p:spTree>
    <p:extLst>
      <p:ext uri="{BB962C8B-B14F-4D97-AF65-F5344CB8AC3E}">
        <p14:creationId xmlns:p14="http://schemas.microsoft.com/office/powerpoint/2010/main" val="1751485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DB75EB-ACC8-4049-83F8-B4B48620B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Qt </a:t>
            </a:r>
            <a:r>
              <a:rPr lang="zh-CN" altLang="en-US" b="1" dirty="0"/>
              <a:t>简介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B539F3-B48F-46E3-97A0-2005F34A2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2712"/>
            <a:ext cx="10515600" cy="4644186"/>
          </a:xfrm>
        </p:spPr>
        <p:txBody>
          <a:bodyPr>
            <a:normAutofit fontScale="92500"/>
          </a:bodyPr>
          <a:lstStyle/>
          <a:p>
            <a:pPr>
              <a:lnSpc>
                <a:spcPct val="160000"/>
              </a:lnSpc>
            </a:pPr>
            <a:r>
              <a:rPr lang="en-US" altLang="zh-CN" sz="2400" b="1" dirty="0">
                <a:solidFill>
                  <a:srgbClr val="C00000"/>
                </a:solidFill>
              </a:rPr>
              <a:t>Qt</a:t>
            </a:r>
            <a:r>
              <a:rPr lang="zh-CN" altLang="en-US" sz="2400" b="1" dirty="0"/>
              <a:t>是一个跨平台</a:t>
            </a:r>
            <a:r>
              <a:rPr lang="en-US" altLang="zh-CN" sz="2400" b="1" dirty="0"/>
              <a:t>C++</a:t>
            </a:r>
            <a:r>
              <a:rPr lang="zh-CN" altLang="en-US" sz="2400" b="1" dirty="0"/>
              <a:t>图形用户界面应用程序开发框架（</a:t>
            </a:r>
            <a:r>
              <a:rPr lang="en-US" altLang="zh-CN" sz="2400" b="1" dirty="0"/>
              <a:t>1991</a:t>
            </a:r>
            <a:r>
              <a:rPr lang="zh-CN" altLang="en-US" sz="2400" b="1" dirty="0"/>
              <a:t>年）</a:t>
            </a:r>
            <a:endParaRPr lang="en-US" altLang="zh-CN" sz="2400" b="1" dirty="0"/>
          </a:p>
          <a:p>
            <a:pPr>
              <a:lnSpc>
                <a:spcPct val="160000"/>
              </a:lnSpc>
            </a:pPr>
            <a:r>
              <a:rPr lang="zh-CN" altLang="en-US" sz="2400" b="1" dirty="0"/>
              <a:t>既可以开发</a:t>
            </a:r>
            <a:r>
              <a:rPr lang="en-US" altLang="zh-CN" sz="2400" b="1" dirty="0"/>
              <a:t>GUI</a:t>
            </a:r>
            <a:r>
              <a:rPr lang="zh-CN" altLang="en-US" sz="2400" b="1" dirty="0"/>
              <a:t>程序，也可以开发非</a:t>
            </a:r>
            <a:r>
              <a:rPr lang="en-US" altLang="zh-CN" sz="2400" b="1" dirty="0"/>
              <a:t>GUI</a:t>
            </a:r>
            <a:r>
              <a:rPr lang="zh-CN" altLang="en-US" sz="2400" b="1" dirty="0"/>
              <a:t>程序</a:t>
            </a:r>
            <a:endParaRPr lang="en-US" altLang="zh-CN" sz="2400" b="1" dirty="0"/>
          </a:p>
          <a:p>
            <a:pPr>
              <a:lnSpc>
                <a:spcPct val="160000"/>
              </a:lnSpc>
            </a:pPr>
            <a:r>
              <a:rPr lang="en-US" altLang="zh-CN" sz="2400" b="1" dirty="0"/>
              <a:t>Qt</a:t>
            </a:r>
            <a:r>
              <a:rPr lang="zh-CN" altLang="en-US" sz="2400" b="1" dirty="0"/>
              <a:t>是面向对象的框架，使用特殊的代码生成扩展（元对象编译器（</a:t>
            </a:r>
            <a:r>
              <a:rPr lang="en-US" altLang="zh-CN" sz="2400" b="1" dirty="0"/>
              <a:t>Meta Object Compiler</a:t>
            </a:r>
            <a:r>
              <a:rPr lang="zh-CN" altLang="en-US" sz="2400" b="1" dirty="0"/>
              <a:t>，</a:t>
            </a:r>
            <a:r>
              <a:rPr lang="en-US" altLang="zh-CN" sz="2400" b="1" dirty="0" err="1"/>
              <a:t>moc</a:t>
            </a:r>
            <a:r>
              <a:rPr lang="zh-CN" altLang="en-US" sz="2400" b="1" dirty="0"/>
              <a:t>））以及一些宏，易于扩展，允许组件编程。</a:t>
            </a:r>
            <a:endParaRPr lang="en-US" altLang="zh-CN" sz="2400" b="1" dirty="0"/>
          </a:p>
          <a:p>
            <a:pPr>
              <a:lnSpc>
                <a:spcPct val="160000"/>
              </a:lnSpc>
            </a:pPr>
            <a:r>
              <a:rPr lang="en-US" altLang="zh-CN" sz="2400" b="1" dirty="0">
                <a:solidFill>
                  <a:srgbClr val="C00000"/>
                </a:solidFill>
              </a:rPr>
              <a:t>Qt Creator</a:t>
            </a:r>
            <a:r>
              <a:rPr lang="zh-CN" altLang="en-US" sz="2400" b="1" dirty="0"/>
              <a:t>是一个用于</a:t>
            </a:r>
            <a:r>
              <a:rPr lang="en-US" altLang="zh-CN" sz="2400" b="1" dirty="0"/>
              <a:t>Qt</a:t>
            </a:r>
            <a:r>
              <a:rPr lang="zh-CN" altLang="en-US" sz="2400" b="1" dirty="0"/>
              <a:t>开发的轻量级跨平台</a:t>
            </a:r>
            <a:r>
              <a:rPr lang="en-US" altLang="zh-CN" sz="2400" b="1" dirty="0"/>
              <a:t>IDE</a:t>
            </a:r>
          </a:p>
          <a:p>
            <a:pPr>
              <a:lnSpc>
                <a:spcPct val="160000"/>
              </a:lnSpc>
            </a:pPr>
            <a:r>
              <a:rPr lang="zh-CN" altLang="en-US" sz="2400" b="1" dirty="0"/>
              <a:t>本次实验主要基于</a:t>
            </a:r>
            <a:r>
              <a:rPr lang="en-US" altLang="zh-CN" sz="2400" b="1" dirty="0"/>
              <a:t>FS3399</a:t>
            </a:r>
            <a:r>
              <a:rPr lang="zh-CN" altLang="en-US" sz="2400" b="1" dirty="0"/>
              <a:t>的</a:t>
            </a:r>
            <a:r>
              <a:rPr lang="en-US" altLang="zh-CN" sz="2400" b="1" dirty="0"/>
              <a:t>Qt</a:t>
            </a:r>
            <a:r>
              <a:rPr lang="zh-CN" altLang="en-US" sz="2400" b="1" dirty="0"/>
              <a:t>开发，包括</a:t>
            </a:r>
            <a:r>
              <a:rPr lang="en-US" altLang="zh-CN" sz="2400" b="1" dirty="0"/>
              <a:t>LED</a:t>
            </a:r>
            <a:r>
              <a:rPr lang="zh-CN" altLang="en-US" sz="2400" b="1" dirty="0"/>
              <a:t>、蜂鸣器、风扇、按键检测、</a:t>
            </a:r>
            <a:r>
              <a:rPr lang="en-US" altLang="zh-CN" sz="2400" b="1" dirty="0"/>
              <a:t>ADC</a:t>
            </a:r>
            <a:r>
              <a:rPr lang="zh-CN" altLang="en-US" sz="2400" b="1" dirty="0"/>
              <a:t>检测、温度传感器、</a:t>
            </a:r>
            <a:r>
              <a:rPr lang="en-US" altLang="zh-CN" sz="2400" b="1" dirty="0" err="1"/>
              <a:t>wifi</a:t>
            </a:r>
            <a:r>
              <a:rPr lang="zh-CN" altLang="en-US" sz="2400" b="1" dirty="0"/>
              <a:t>、蓝牙、</a:t>
            </a:r>
            <a:r>
              <a:rPr lang="en-US" altLang="zh-CN" sz="2400" b="1" dirty="0"/>
              <a:t>LCD</a:t>
            </a:r>
            <a:r>
              <a:rPr lang="zh-CN" altLang="en-US" sz="2400" b="1" dirty="0"/>
              <a:t>背光控制、音量控制等</a:t>
            </a:r>
            <a:r>
              <a:rPr lang="en-US" altLang="zh-CN" sz="2400" b="1" dirty="0"/>
              <a:t>10</a:t>
            </a:r>
            <a:r>
              <a:rPr lang="zh-CN" altLang="en-US" sz="2400" b="1" dirty="0"/>
              <a:t>多种</a:t>
            </a:r>
            <a:r>
              <a:rPr lang="en-US" altLang="zh-CN" sz="2400" b="1" dirty="0"/>
              <a:t>Qt</a:t>
            </a:r>
            <a:r>
              <a:rPr lang="zh-CN" altLang="en-US" sz="2400" b="1" dirty="0"/>
              <a:t>外设控制实验</a:t>
            </a:r>
          </a:p>
        </p:txBody>
      </p:sp>
    </p:spTree>
    <p:extLst>
      <p:ext uri="{BB962C8B-B14F-4D97-AF65-F5344CB8AC3E}">
        <p14:creationId xmlns:p14="http://schemas.microsoft.com/office/powerpoint/2010/main" val="1398273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55C09-30BD-E123-81BD-75056E677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7B08FE-CD4B-54BF-3B38-EBF69A2E3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4445"/>
            <a:ext cx="10515600" cy="1325563"/>
          </a:xfrm>
        </p:spPr>
        <p:txBody>
          <a:bodyPr/>
          <a:lstStyle/>
          <a:p>
            <a:pPr algn="ctr"/>
            <a:r>
              <a:rPr lang="zh-CN" altLang="en-US" b="1" dirty="0"/>
              <a:t>一、安装 </a:t>
            </a:r>
            <a:r>
              <a:rPr lang="en-US" altLang="zh-CN" b="1" dirty="0"/>
              <a:t>Qt  Creator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600233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41F219-E21B-4A21-88F7-8A3A58F61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>
                <a:latin typeface="+mn-lt"/>
                <a:ea typeface="+mn-ea"/>
                <a:cs typeface="+mn-cs"/>
              </a:rPr>
              <a:t>实验用软件路径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BD9E147-5345-47AC-9BED-7A7E29037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898" y="1565150"/>
            <a:ext cx="8811404" cy="218527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287C452-184E-41F3-97ED-C8B6248E04E6}"/>
              </a:ext>
            </a:extLst>
          </p:cNvPr>
          <p:cNvSpPr txBox="1"/>
          <p:nvPr/>
        </p:nvSpPr>
        <p:spPr>
          <a:xfrm>
            <a:off x="1224951" y="4369520"/>
            <a:ext cx="5029200" cy="1430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FTP</a:t>
            </a:r>
            <a:r>
              <a:rPr lang="zh-CN" altLang="en-US" sz="2000" b="1" dirty="0"/>
              <a:t>：</a:t>
            </a:r>
            <a:r>
              <a:rPr lang="en-US" altLang="zh-CN" sz="2000" b="1" dirty="0"/>
              <a:t>121.192.180.236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err="1"/>
              <a:t>user:student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en-US" altLang="zh-CN" sz="2000" b="1" dirty="0"/>
              <a:t>Key: </a:t>
            </a:r>
            <a:r>
              <a:rPr lang="en-US" altLang="zh-CN" sz="2000" b="1" dirty="0" err="1"/>
              <a:t>ILoveSoftware</a:t>
            </a:r>
            <a:r>
              <a:rPr lang="en-US" altLang="zh-CN" sz="2000" b="1" dirty="0"/>
              <a:t>!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232158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1B1E73-6150-CAFA-9C44-36B2ECC00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884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运行虚拟机，打开</a:t>
            </a:r>
            <a:r>
              <a:rPr lang="en-US" altLang="zh-CN" sz="2000" b="1" dirty="0"/>
              <a:t>Ubuntu</a:t>
            </a:r>
            <a:r>
              <a:rPr lang="zh-CN" altLang="en-US" sz="2000" b="1" dirty="0"/>
              <a:t>，将“</a:t>
            </a:r>
            <a:r>
              <a:rPr lang="zh-CN" altLang="en-US" sz="2000" b="1" dirty="0">
                <a:solidFill>
                  <a:srgbClr val="FF0000"/>
                </a:solidFill>
              </a:rPr>
              <a:t>第</a:t>
            </a:r>
            <a:r>
              <a:rPr lang="en-US" altLang="zh-CN" sz="2000" b="1" dirty="0">
                <a:solidFill>
                  <a:srgbClr val="FF0000"/>
                </a:solidFill>
              </a:rPr>
              <a:t>6</a:t>
            </a:r>
            <a:r>
              <a:rPr lang="zh-CN" altLang="en-US" sz="2000" b="1" dirty="0">
                <a:solidFill>
                  <a:srgbClr val="FF0000"/>
                </a:solidFill>
              </a:rPr>
              <a:t>次实验文档</a:t>
            </a:r>
            <a:r>
              <a:rPr lang="en-US" altLang="zh-CN" sz="2000" b="1" dirty="0">
                <a:solidFill>
                  <a:srgbClr val="FF0000"/>
                </a:solidFill>
              </a:rPr>
              <a:t>.zip</a:t>
            </a:r>
            <a:r>
              <a:rPr lang="zh-CN" altLang="en-US" sz="2000" b="1" dirty="0"/>
              <a:t>”中的“</a:t>
            </a:r>
            <a:r>
              <a:rPr lang="en-US" altLang="zh-CN" sz="2000" b="1" dirty="0">
                <a:solidFill>
                  <a:srgbClr val="FF0000"/>
                </a:solidFill>
              </a:rPr>
              <a:t>qt-opensource-linux-x64-5.14.2.run</a:t>
            </a:r>
            <a:r>
              <a:rPr lang="zh-CN" altLang="en-US" sz="2000" b="1" dirty="0"/>
              <a:t>”文件拷贝到</a:t>
            </a:r>
            <a:r>
              <a:rPr lang="en-US" altLang="zh-CN" sz="2000" b="1" dirty="0"/>
              <a:t>Ubuntu</a:t>
            </a:r>
            <a:r>
              <a:rPr lang="zh-CN" altLang="en-US" sz="2000" b="1" dirty="0"/>
              <a:t>的</a:t>
            </a:r>
            <a:r>
              <a:rPr lang="en-US" altLang="zh-CN" sz="2000" b="1" dirty="0"/>
              <a:t>/home/</a:t>
            </a:r>
            <a:r>
              <a:rPr lang="en-US" altLang="zh-CN" sz="2000" b="1" dirty="0" err="1"/>
              <a:t>linux</a:t>
            </a:r>
            <a:r>
              <a:rPr lang="en-US" altLang="zh-CN" sz="2000" b="1" dirty="0"/>
              <a:t>/Downloads</a:t>
            </a:r>
            <a:r>
              <a:rPr lang="zh-CN" altLang="en-US" sz="2000" b="1" dirty="0"/>
              <a:t>目录下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b="1" dirty="0"/>
              <a:t>在</a:t>
            </a:r>
            <a:r>
              <a:rPr lang="en-US" altLang="zh-CN" sz="2000" b="1" dirty="0"/>
              <a:t>Ubuntu</a:t>
            </a:r>
            <a:r>
              <a:rPr lang="zh-CN" altLang="en-US" sz="2000" b="1" dirty="0"/>
              <a:t>的“终端”上执行：</a:t>
            </a:r>
            <a:endParaRPr lang="en-US" altLang="zh-CN" sz="2000" b="1" dirty="0"/>
          </a:p>
          <a:p>
            <a:pPr lvl="1"/>
            <a:r>
              <a:rPr lang="en-US" altLang="zh-CN" sz="1800" b="1" dirty="0"/>
              <a:t>cd /home/</a:t>
            </a:r>
            <a:r>
              <a:rPr lang="en-US" altLang="zh-CN" sz="1800" b="1" dirty="0" err="1"/>
              <a:t>linux</a:t>
            </a:r>
            <a:r>
              <a:rPr lang="en-US" altLang="zh-CN" sz="1800" b="1" dirty="0"/>
              <a:t>/Downloads</a:t>
            </a:r>
          </a:p>
          <a:p>
            <a:pPr lvl="1"/>
            <a:r>
              <a:rPr lang="en-US" altLang="zh-CN" sz="1800" b="1" dirty="0" err="1"/>
              <a:t>chmod</a:t>
            </a:r>
            <a:r>
              <a:rPr lang="en-US" altLang="zh-CN" sz="1800" b="1" dirty="0"/>
              <a:t> </a:t>
            </a:r>
            <a:r>
              <a:rPr lang="en-US" altLang="zh-CN" sz="1800" b="1" dirty="0" err="1"/>
              <a:t>a+x</a:t>
            </a:r>
            <a:r>
              <a:rPr lang="en-US" altLang="zh-CN" sz="1800" b="1" dirty="0"/>
              <a:t> qt-opensource-linux-x64-5.14.2.run</a:t>
            </a:r>
          </a:p>
          <a:p>
            <a:pPr lvl="1"/>
            <a:endParaRPr lang="en-US" altLang="zh-CN" sz="1800" b="1" dirty="0"/>
          </a:p>
          <a:p>
            <a:r>
              <a:rPr lang="zh-CN" altLang="en-US" sz="2000" b="1" dirty="0"/>
              <a:t>点击</a:t>
            </a:r>
            <a:r>
              <a:rPr lang="en-US" altLang="zh-CN" sz="2000" b="1" dirty="0"/>
              <a:t>/home/</a:t>
            </a:r>
            <a:r>
              <a:rPr lang="en-US" altLang="zh-CN" sz="2000" b="1" dirty="0" err="1"/>
              <a:t>linux</a:t>
            </a:r>
            <a:r>
              <a:rPr lang="en-US" altLang="zh-CN" sz="2000" b="1" dirty="0"/>
              <a:t>/Downloads</a:t>
            </a:r>
            <a:r>
              <a:rPr lang="zh-CN" altLang="en-US" sz="2000" b="1" dirty="0"/>
              <a:t>目录下的“</a:t>
            </a:r>
            <a:r>
              <a:rPr lang="en-US" altLang="zh-CN" sz="2000" b="1" dirty="0">
                <a:solidFill>
                  <a:srgbClr val="FF0000"/>
                </a:solidFill>
              </a:rPr>
              <a:t>qt-opensource-linux-x64-5.14.2.run</a:t>
            </a:r>
            <a:r>
              <a:rPr lang="zh-CN" altLang="en-US" sz="2000" b="1" dirty="0"/>
              <a:t>”图标，安装</a:t>
            </a:r>
            <a:r>
              <a:rPr lang="en-US" altLang="zh-CN" sz="2000" b="1" dirty="0"/>
              <a:t>Qt Creator</a:t>
            </a:r>
            <a:endParaRPr lang="zh-CN" altLang="en-US" sz="20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C4C9AB-561A-3790-3D30-E0F5882AD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449" y="4195036"/>
            <a:ext cx="4841945" cy="1478330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8E85EBB5-98D1-E4EA-300D-08EE7A44E2E1}"/>
              </a:ext>
            </a:extLst>
          </p:cNvPr>
          <p:cNvCxnSpPr>
            <a:cxnSpLocks/>
          </p:cNvCxnSpPr>
          <p:nvPr/>
        </p:nvCxnSpPr>
        <p:spPr>
          <a:xfrm>
            <a:off x="5909572" y="4130777"/>
            <a:ext cx="0" cy="4724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317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7AE615D-11E9-E65A-70AB-1D93A16A4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128" y="823549"/>
            <a:ext cx="4791744" cy="5210902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BE3C7BEA-6C3F-5D8C-7C35-377479E673D7}"/>
              </a:ext>
            </a:extLst>
          </p:cNvPr>
          <p:cNvCxnSpPr>
            <a:cxnSpLocks/>
          </p:cNvCxnSpPr>
          <p:nvPr/>
        </p:nvCxnSpPr>
        <p:spPr>
          <a:xfrm flipH="1">
            <a:off x="5706753" y="2103329"/>
            <a:ext cx="527033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376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DA3F3F9-2BB7-1480-B19E-2D51DD85C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654" y="809259"/>
            <a:ext cx="4772691" cy="5239481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3B59232E-6D66-7D11-BA37-44F06D7C2B0E}"/>
              </a:ext>
            </a:extLst>
          </p:cNvPr>
          <p:cNvCxnSpPr>
            <a:cxnSpLocks/>
          </p:cNvCxnSpPr>
          <p:nvPr/>
        </p:nvCxnSpPr>
        <p:spPr>
          <a:xfrm>
            <a:off x="3407079" y="2372638"/>
            <a:ext cx="49592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2468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DF2B511-722B-CE83-DEF9-E8C1A482E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312" y="818785"/>
            <a:ext cx="4839375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895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DD33FBA-2170-9E18-0866-07E704AE0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5" y="0"/>
            <a:ext cx="11871050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06C2F5E-B4AE-1E72-8E91-3A879AA478C7}"/>
              </a:ext>
            </a:extLst>
          </p:cNvPr>
          <p:cNvSpPr txBox="1"/>
          <p:nvPr/>
        </p:nvSpPr>
        <p:spPr>
          <a:xfrm>
            <a:off x="4352092" y="426720"/>
            <a:ext cx="3332964" cy="52322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安装后的</a:t>
            </a:r>
            <a:r>
              <a:rPr lang="en-US" altLang="zh-CN" sz="2800" b="1" dirty="0"/>
              <a:t>Qt Creator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136299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B68E068-0325-FA44-AEF2-1D1FE298A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715" y="0"/>
            <a:ext cx="2430570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3A33541-B549-8BC5-FBD4-D4305D95B3F6}"/>
              </a:ext>
            </a:extLst>
          </p:cNvPr>
          <p:cNvSpPr txBox="1"/>
          <p:nvPr/>
        </p:nvSpPr>
        <p:spPr>
          <a:xfrm>
            <a:off x="2260948" y="5736921"/>
            <a:ext cx="2669320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安装后的</a:t>
            </a:r>
            <a:r>
              <a:rPr lang="en-US" altLang="zh-CN" b="1" dirty="0"/>
              <a:t>Qt Creator</a:t>
            </a:r>
            <a:r>
              <a:rPr lang="zh-CN" altLang="en-US" b="1" dirty="0"/>
              <a:t>图标</a:t>
            </a:r>
          </a:p>
        </p:txBody>
      </p:sp>
    </p:spTree>
    <p:extLst>
      <p:ext uri="{BB962C8B-B14F-4D97-AF65-F5344CB8AC3E}">
        <p14:creationId xmlns:p14="http://schemas.microsoft.com/office/powerpoint/2010/main" val="1562814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B2A63-CD38-27FA-6F0E-A3A902B5D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33E4D0-908D-7A6A-9B49-26EDB706E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4445"/>
            <a:ext cx="10515600" cy="1325563"/>
          </a:xfrm>
        </p:spPr>
        <p:txBody>
          <a:bodyPr/>
          <a:lstStyle/>
          <a:p>
            <a:pPr algn="ctr"/>
            <a:r>
              <a:rPr lang="zh-CN" altLang="en-US" b="1" dirty="0"/>
              <a:t>二、配置 </a:t>
            </a:r>
            <a:r>
              <a:rPr lang="en-US" altLang="zh-CN" b="1" dirty="0"/>
              <a:t>Qt  Creator </a:t>
            </a:r>
            <a:r>
              <a:rPr lang="zh-CN" altLang="en-US" b="1" dirty="0"/>
              <a:t>参数</a:t>
            </a:r>
          </a:p>
        </p:txBody>
      </p:sp>
    </p:spTree>
    <p:extLst>
      <p:ext uri="{BB962C8B-B14F-4D97-AF65-F5344CB8AC3E}">
        <p14:creationId xmlns:p14="http://schemas.microsoft.com/office/powerpoint/2010/main" val="3186882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608BDB0-AB12-F9B7-61D8-61DCCD126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792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在</a:t>
            </a:r>
            <a:r>
              <a:rPr lang="en-US" altLang="zh-CN" sz="2000" b="1" dirty="0"/>
              <a:t>Qt Creator</a:t>
            </a:r>
            <a:r>
              <a:rPr lang="zh-CN" altLang="en-US" sz="2000" b="1" dirty="0"/>
              <a:t>中，点击：工具</a:t>
            </a:r>
            <a:r>
              <a:rPr lang="en-US" altLang="zh-CN" sz="2000" b="1" dirty="0"/>
              <a:t> -&gt; </a:t>
            </a:r>
            <a:r>
              <a:rPr lang="zh-CN" altLang="en-US" sz="2000" b="1" dirty="0"/>
              <a:t>选项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F4D370D-C1FB-6040-90FD-7EADC8D93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301" y="2263989"/>
            <a:ext cx="7288183" cy="3416086"/>
          </a:xfrm>
          <a:prstGeom prst="rect">
            <a:avLst/>
          </a:prstGeom>
        </p:spPr>
      </p:pic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0B98E399-AA1E-80A3-2811-78C9F439EF5E}"/>
              </a:ext>
            </a:extLst>
          </p:cNvPr>
          <p:cNvCxnSpPr>
            <a:cxnSpLocks/>
          </p:cNvCxnSpPr>
          <p:nvPr/>
        </p:nvCxnSpPr>
        <p:spPr>
          <a:xfrm flipH="1">
            <a:off x="5601875" y="5259296"/>
            <a:ext cx="527033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8CADB32D-2692-A004-847C-1ECA635566C1}"/>
              </a:ext>
            </a:extLst>
          </p:cNvPr>
          <p:cNvCxnSpPr>
            <a:cxnSpLocks/>
          </p:cNvCxnSpPr>
          <p:nvPr/>
        </p:nvCxnSpPr>
        <p:spPr>
          <a:xfrm>
            <a:off x="4997732" y="1835747"/>
            <a:ext cx="0" cy="52505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118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608BDB0-AB12-F9B7-61D8-61DCCD126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646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2000" b="1" dirty="0"/>
              <a:t>Kits -&gt;Compilers -&gt;Add</a:t>
            </a:r>
            <a:endParaRPr lang="zh-CN" altLang="en-US" sz="20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DCBE4BB-0312-4DAB-D881-4822DB4B6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62" y="1580197"/>
            <a:ext cx="11252755" cy="3026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901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421349F-1CDB-F990-2908-E95385519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896" y="237061"/>
            <a:ext cx="2769374" cy="1958343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D01EACE-4645-2BE9-0278-48A4EFFED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450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2000" b="1" dirty="0"/>
              <a:t>Add -&gt; GCC -&gt; C</a:t>
            </a:r>
            <a:endParaRPr lang="zh-CN" altLang="en-US" sz="2000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6F14B09-C5D5-6973-D0E0-498554A9F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070" y="2442848"/>
            <a:ext cx="9888330" cy="2838846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6C21AB2-53E4-9945-63DA-7A86E9564F1A}"/>
              </a:ext>
            </a:extLst>
          </p:cNvPr>
          <p:cNvCxnSpPr>
            <a:cxnSpLocks/>
          </p:cNvCxnSpPr>
          <p:nvPr/>
        </p:nvCxnSpPr>
        <p:spPr>
          <a:xfrm>
            <a:off x="8757049" y="4363403"/>
            <a:ext cx="0" cy="4724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24AC7248-BE12-50A2-D79F-D631038638B6}"/>
              </a:ext>
            </a:extLst>
          </p:cNvPr>
          <p:cNvCxnSpPr>
            <a:cxnSpLocks/>
          </p:cNvCxnSpPr>
          <p:nvPr/>
        </p:nvCxnSpPr>
        <p:spPr>
          <a:xfrm flipH="1">
            <a:off x="3579389" y="3161685"/>
            <a:ext cx="58131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9158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31A95102-1EDD-123D-10F3-0B3E32F2A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690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2000" b="1" dirty="0"/>
              <a:t>Add -&gt; GCC -&gt; C++</a:t>
            </a:r>
            <a:endParaRPr lang="zh-CN" altLang="en-US" sz="20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45B06F3-2D10-FF7D-319F-90FDE93A8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912" y="636905"/>
            <a:ext cx="3016488" cy="19833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CA4090D-EC82-1579-5E6A-18C11DCA7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12" y="3142330"/>
            <a:ext cx="10174120" cy="2734057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36235CC-0BA9-E17E-2383-19F27B3711E2}"/>
              </a:ext>
            </a:extLst>
          </p:cNvPr>
          <p:cNvCxnSpPr>
            <a:cxnSpLocks/>
          </p:cNvCxnSpPr>
          <p:nvPr/>
        </p:nvCxnSpPr>
        <p:spPr>
          <a:xfrm>
            <a:off x="8700042" y="5100599"/>
            <a:ext cx="0" cy="4724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B6188958-EBA1-7354-A551-655D8CBAE024}"/>
              </a:ext>
            </a:extLst>
          </p:cNvPr>
          <p:cNvCxnSpPr>
            <a:cxnSpLocks/>
          </p:cNvCxnSpPr>
          <p:nvPr/>
        </p:nvCxnSpPr>
        <p:spPr>
          <a:xfrm flipH="1">
            <a:off x="3547552" y="3867097"/>
            <a:ext cx="58131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223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E9D748D-F510-8BC7-79B8-3EC87B42C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91" y="2090550"/>
            <a:ext cx="11946017" cy="2676899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3E07B2C-8794-7F44-3178-FC1BDDAB82B6}"/>
              </a:ext>
            </a:extLst>
          </p:cNvPr>
          <p:cNvCxnSpPr>
            <a:cxnSpLocks/>
          </p:cNvCxnSpPr>
          <p:nvPr/>
        </p:nvCxnSpPr>
        <p:spPr>
          <a:xfrm>
            <a:off x="2941320" y="2377440"/>
            <a:ext cx="0" cy="51816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F5A678F5-CD91-8E7F-565A-09F7A7AD902B}"/>
              </a:ext>
            </a:extLst>
          </p:cNvPr>
          <p:cNvSpPr txBox="1"/>
          <p:nvPr/>
        </p:nvSpPr>
        <p:spPr>
          <a:xfrm>
            <a:off x="2386208" y="1346548"/>
            <a:ext cx="133882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不需要修改</a:t>
            </a:r>
          </a:p>
        </p:txBody>
      </p:sp>
    </p:spTree>
    <p:extLst>
      <p:ext uri="{BB962C8B-B14F-4D97-AF65-F5344CB8AC3E}">
        <p14:creationId xmlns:p14="http://schemas.microsoft.com/office/powerpoint/2010/main" val="1104684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80E4017-80AC-4B7D-5465-18E63691F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3" y="2000050"/>
            <a:ext cx="11879333" cy="2857899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9873AC9D-6C60-D28F-8EC2-9B54117F6A80}"/>
              </a:ext>
            </a:extLst>
          </p:cNvPr>
          <p:cNvCxnSpPr>
            <a:cxnSpLocks/>
          </p:cNvCxnSpPr>
          <p:nvPr/>
        </p:nvCxnSpPr>
        <p:spPr>
          <a:xfrm>
            <a:off x="2186940" y="2232660"/>
            <a:ext cx="0" cy="51816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6204C48C-4C6F-27D7-07FA-97C4D1108610}"/>
              </a:ext>
            </a:extLst>
          </p:cNvPr>
          <p:cNvSpPr txBox="1"/>
          <p:nvPr/>
        </p:nvSpPr>
        <p:spPr>
          <a:xfrm>
            <a:off x="1572016" y="1271392"/>
            <a:ext cx="133882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不需要修改</a:t>
            </a:r>
          </a:p>
        </p:txBody>
      </p:sp>
    </p:spTree>
    <p:extLst>
      <p:ext uri="{BB962C8B-B14F-4D97-AF65-F5344CB8AC3E}">
        <p14:creationId xmlns:p14="http://schemas.microsoft.com/office/powerpoint/2010/main" val="1115703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803555C-515B-6193-4BC4-2059A5A09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70" y="1842866"/>
            <a:ext cx="11888859" cy="3172268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ADDF4297-B8D0-A295-A094-C8E0106AFEEB}"/>
              </a:ext>
            </a:extLst>
          </p:cNvPr>
          <p:cNvCxnSpPr>
            <a:cxnSpLocks/>
          </p:cNvCxnSpPr>
          <p:nvPr/>
        </p:nvCxnSpPr>
        <p:spPr>
          <a:xfrm flipH="1">
            <a:off x="1706880" y="3017520"/>
            <a:ext cx="52578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6C03DC87-9259-3397-1E35-BED9347EB2FB}"/>
              </a:ext>
            </a:extLst>
          </p:cNvPr>
          <p:cNvCxnSpPr>
            <a:cxnSpLocks/>
          </p:cNvCxnSpPr>
          <p:nvPr/>
        </p:nvCxnSpPr>
        <p:spPr>
          <a:xfrm>
            <a:off x="2423160" y="2034540"/>
            <a:ext cx="0" cy="51816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B57C461-4944-FDB3-A7FB-B8FAB5710C2B}"/>
              </a:ext>
            </a:extLst>
          </p:cNvPr>
          <p:cNvCxnSpPr>
            <a:cxnSpLocks/>
          </p:cNvCxnSpPr>
          <p:nvPr/>
        </p:nvCxnSpPr>
        <p:spPr>
          <a:xfrm flipH="1">
            <a:off x="5623560" y="3947160"/>
            <a:ext cx="6096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B3729424-73B5-0F2C-F9E0-56742EBEEBBF}"/>
              </a:ext>
            </a:extLst>
          </p:cNvPr>
          <p:cNvSpPr txBox="1"/>
          <p:nvPr/>
        </p:nvSpPr>
        <p:spPr>
          <a:xfrm>
            <a:off x="7622190" y="3762494"/>
            <a:ext cx="1569660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设置中文环境</a:t>
            </a:r>
          </a:p>
        </p:txBody>
      </p:sp>
    </p:spTree>
    <p:extLst>
      <p:ext uri="{BB962C8B-B14F-4D97-AF65-F5344CB8AC3E}">
        <p14:creationId xmlns:p14="http://schemas.microsoft.com/office/powerpoint/2010/main" val="1641463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19304EE-FEFA-FA82-741D-2BA0C5F25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3" y="199574"/>
            <a:ext cx="11850754" cy="645885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085D7B3-BA83-FCC5-C191-27E8F7A88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944" y="4048041"/>
            <a:ext cx="4020111" cy="1200318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80B75D0-8678-859D-C2F4-E17C586354EF}"/>
              </a:ext>
            </a:extLst>
          </p:cNvPr>
          <p:cNvCxnSpPr>
            <a:cxnSpLocks/>
          </p:cNvCxnSpPr>
          <p:nvPr/>
        </p:nvCxnSpPr>
        <p:spPr>
          <a:xfrm flipH="1">
            <a:off x="5486400" y="2301240"/>
            <a:ext cx="6096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F7FEE66-7558-508F-9EC1-2263FACFF4B4}"/>
              </a:ext>
            </a:extLst>
          </p:cNvPr>
          <p:cNvCxnSpPr>
            <a:cxnSpLocks/>
          </p:cNvCxnSpPr>
          <p:nvPr/>
        </p:nvCxnSpPr>
        <p:spPr>
          <a:xfrm flipV="1">
            <a:off x="7650480" y="5248359"/>
            <a:ext cx="0" cy="54102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8BAEB17-30EE-78F8-10A2-75B0553A26AD}"/>
              </a:ext>
            </a:extLst>
          </p:cNvPr>
          <p:cNvCxnSpPr>
            <a:cxnSpLocks/>
          </p:cNvCxnSpPr>
          <p:nvPr/>
        </p:nvCxnSpPr>
        <p:spPr>
          <a:xfrm>
            <a:off x="11554320" y="5789379"/>
            <a:ext cx="0" cy="4724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9089C515-1D2F-71ED-922F-DF24289BD1D8}"/>
              </a:ext>
            </a:extLst>
          </p:cNvPr>
          <p:cNvSpPr txBox="1"/>
          <p:nvPr/>
        </p:nvSpPr>
        <p:spPr>
          <a:xfrm>
            <a:off x="6704198" y="2116574"/>
            <a:ext cx="1569660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设置中文环境</a:t>
            </a:r>
          </a:p>
        </p:txBody>
      </p:sp>
    </p:spTree>
    <p:extLst>
      <p:ext uri="{BB962C8B-B14F-4D97-AF65-F5344CB8AC3E}">
        <p14:creationId xmlns:p14="http://schemas.microsoft.com/office/powerpoint/2010/main" val="784420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A046D-F602-D437-6932-B9259A560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081C6A-6378-E373-1084-74DB595CE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4445"/>
            <a:ext cx="10515600" cy="1325563"/>
          </a:xfrm>
        </p:spPr>
        <p:txBody>
          <a:bodyPr/>
          <a:lstStyle/>
          <a:p>
            <a:pPr algn="ctr"/>
            <a:r>
              <a:rPr lang="zh-CN" altLang="en-US" b="1" dirty="0"/>
              <a:t>三、新建 </a:t>
            </a:r>
            <a:r>
              <a:rPr lang="en-US" altLang="zh-CN" b="1" dirty="0"/>
              <a:t>Qt </a:t>
            </a:r>
            <a:r>
              <a:rPr lang="zh-CN" altLang="en-US" b="1" dirty="0"/>
              <a:t>工程（</a:t>
            </a:r>
            <a:r>
              <a:rPr lang="en-US" altLang="zh-CN" b="1" dirty="0" err="1"/>
              <a:t>Helloworld</a:t>
            </a:r>
            <a:r>
              <a:rPr lang="zh-CN" altLang="en-US" b="1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738028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B35DA9D-EEAE-5728-951C-28152FAA5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458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在</a:t>
            </a:r>
            <a:r>
              <a:rPr lang="en-US" altLang="zh-CN" sz="2000" b="1" dirty="0"/>
              <a:t>Ubuntu</a:t>
            </a:r>
            <a:r>
              <a:rPr lang="zh-CN" altLang="en-US" sz="2000" b="1" dirty="0"/>
              <a:t>的</a:t>
            </a:r>
            <a:r>
              <a:rPr lang="en-US" altLang="zh-CN" sz="2000" b="1" dirty="0"/>
              <a:t>/home/</a:t>
            </a:r>
            <a:r>
              <a:rPr lang="en-US" altLang="zh-CN" sz="2000" b="1" dirty="0" err="1"/>
              <a:t>linux</a:t>
            </a:r>
            <a:r>
              <a:rPr lang="zh-CN" altLang="en-US" sz="2000" b="1" dirty="0"/>
              <a:t>目录下创建一个“</a:t>
            </a:r>
            <a:r>
              <a:rPr lang="en-US" altLang="zh-CN" sz="2000" b="1" dirty="0"/>
              <a:t>qt</a:t>
            </a:r>
            <a:r>
              <a:rPr lang="zh-CN" altLang="en-US" sz="2000" b="1" dirty="0"/>
              <a:t>”目录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3916ED3-D52F-B29B-6EF6-ACF7F1F2B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117" y="2360311"/>
            <a:ext cx="9840698" cy="3658111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9469B849-5E9E-1702-D8E1-EBC20CE35768}"/>
              </a:ext>
            </a:extLst>
          </p:cNvPr>
          <p:cNvCxnSpPr>
            <a:cxnSpLocks/>
          </p:cNvCxnSpPr>
          <p:nvPr/>
        </p:nvCxnSpPr>
        <p:spPr>
          <a:xfrm>
            <a:off x="10431429" y="2132698"/>
            <a:ext cx="0" cy="50626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963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855CB18-FA7B-3AF4-5D1A-9A73EB88E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334" y="1741063"/>
            <a:ext cx="9240540" cy="4201111"/>
          </a:xfrm>
          <a:prstGeom prst="rect">
            <a:avLst/>
          </a:prstGeom>
        </p:spPr>
      </p:pic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84D7B9D-1603-2B1A-CDE0-F2E61ECF6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550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在</a:t>
            </a:r>
            <a:r>
              <a:rPr lang="en-US" altLang="zh-CN" sz="2000" b="1" dirty="0"/>
              <a:t>Qt Creator</a:t>
            </a:r>
            <a:r>
              <a:rPr lang="zh-CN" altLang="en-US" sz="2000" b="1" dirty="0"/>
              <a:t>中点击“</a:t>
            </a:r>
            <a:r>
              <a:rPr lang="en-US" altLang="zh-CN" sz="2000" b="1" dirty="0"/>
              <a:t>New</a:t>
            </a:r>
            <a:r>
              <a:rPr lang="zh-CN" altLang="en-US" sz="2000" b="1" dirty="0"/>
              <a:t>”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044A2C83-898E-AA8A-93E0-44345DC7663F}"/>
              </a:ext>
            </a:extLst>
          </p:cNvPr>
          <p:cNvCxnSpPr>
            <a:cxnSpLocks/>
          </p:cNvCxnSpPr>
          <p:nvPr/>
        </p:nvCxnSpPr>
        <p:spPr>
          <a:xfrm>
            <a:off x="8150668" y="1935768"/>
            <a:ext cx="0" cy="4724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098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4E0D022-28D4-773A-921A-6D57789FC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62" y="780680"/>
            <a:ext cx="8421275" cy="5296639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5D0CB78F-3023-3D04-BF37-0F0A0B71EE6A}"/>
              </a:ext>
            </a:extLst>
          </p:cNvPr>
          <p:cNvCxnSpPr>
            <a:cxnSpLocks/>
          </p:cNvCxnSpPr>
          <p:nvPr/>
        </p:nvCxnSpPr>
        <p:spPr>
          <a:xfrm>
            <a:off x="1478280" y="1844040"/>
            <a:ext cx="48006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CBA5878-07AF-7A0F-D17D-9BFB2B2ABF8A}"/>
              </a:ext>
            </a:extLst>
          </p:cNvPr>
          <p:cNvCxnSpPr>
            <a:cxnSpLocks/>
          </p:cNvCxnSpPr>
          <p:nvPr/>
        </p:nvCxnSpPr>
        <p:spPr>
          <a:xfrm>
            <a:off x="4724400" y="1767840"/>
            <a:ext cx="48006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6244B57-E872-ED7E-AAF3-362E36A16B08}"/>
              </a:ext>
            </a:extLst>
          </p:cNvPr>
          <p:cNvCxnSpPr>
            <a:cxnSpLocks/>
          </p:cNvCxnSpPr>
          <p:nvPr/>
        </p:nvCxnSpPr>
        <p:spPr>
          <a:xfrm>
            <a:off x="9776460" y="5196840"/>
            <a:ext cx="0" cy="4953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280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5E7798E-AF8F-A9CF-7914-B2620AC66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547" y="880707"/>
            <a:ext cx="7744906" cy="5096586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3E601BFA-8582-B44A-FB01-2B1EF9EF1F07}"/>
              </a:ext>
            </a:extLst>
          </p:cNvPr>
          <p:cNvCxnSpPr>
            <a:cxnSpLocks/>
          </p:cNvCxnSpPr>
          <p:nvPr/>
        </p:nvCxnSpPr>
        <p:spPr>
          <a:xfrm flipH="1">
            <a:off x="5550178" y="3875762"/>
            <a:ext cx="54582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9D45128-A02A-09B1-1906-FDE47C7D98DB}"/>
              </a:ext>
            </a:extLst>
          </p:cNvPr>
          <p:cNvCxnSpPr>
            <a:cxnSpLocks/>
          </p:cNvCxnSpPr>
          <p:nvPr/>
        </p:nvCxnSpPr>
        <p:spPr>
          <a:xfrm flipH="1">
            <a:off x="5961450" y="4433170"/>
            <a:ext cx="59592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3045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0D77678-BBAB-B0FB-8ACE-6DC4933CC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468" y="890233"/>
            <a:ext cx="7621064" cy="5077534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897331F8-284D-1AAD-714B-02D91D11FD95}"/>
              </a:ext>
            </a:extLst>
          </p:cNvPr>
          <p:cNvCxnSpPr>
            <a:cxnSpLocks/>
          </p:cNvCxnSpPr>
          <p:nvPr/>
        </p:nvCxnSpPr>
        <p:spPr>
          <a:xfrm flipH="1">
            <a:off x="5556441" y="1771389"/>
            <a:ext cx="53955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6657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5ACAEED-8B85-6FA4-F8CA-1562F42FA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705" y="890233"/>
            <a:ext cx="7630590" cy="5077534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E12A7006-42E2-CF41-C947-E664929B5D5F}"/>
              </a:ext>
            </a:extLst>
          </p:cNvPr>
          <p:cNvCxnSpPr>
            <a:cxnSpLocks/>
          </p:cNvCxnSpPr>
          <p:nvPr/>
        </p:nvCxnSpPr>
        <p:spPr>
          <a:xfrm>
            <a:off x="2857500" y="3066789"/>
            <a:ext cx="54102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50491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83BA6A2-D8E3-5E1B-BDB7-6E655ED82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468" y="875943"/>
            <a:ext cx="7621064" cy="5106113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5D4923E2-808E-0E93-9BDE-6838D654E3A3}"/>
              </a:ext>
            </a:extLst>
          </p:cNvPr>
          <p:cNvCxnSpPr>
            <a:cxnSpLocks/>
          </p:cNvCxnSpPr>
          <p:nvPr/>
        </p:nvCxnSpPr>
        <p:spPr>
          <a:xfrm flipH="1">
            <a:off x="6836601" y="2342889"/>
            <a:ext cx="53955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8936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CEF513C-3EA9-E20E-9FC1-0F1B5BE18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232" y="980722"/>
            <a:ext cx="7668695" cy="5048955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199D8C3-6A77-7EF1-51C7-F974FAA1FA82}"/>
              </a:ext>
            </a:extLst>
          </p:cNvPr>
          <p:cNvCxnSpPr>
            <a:cxnSpLocks/>
          </p:cNvCxnSpPr>
          <p:nvPr/>
        </p:nvCxnSpPr>
        <p:spPr>
          <a:xfrm>
            <a:off x="3569917" y="3280775"/>
            <a:ext cx="50636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9138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E45D9C4-A184-BFD0-D60C-10B278F00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652" y="894996"/>
            <a:ext cx="7668695" cy="5068007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B79E8689-E152-E74D-4947-1C708EAA65B6}"/>
              </a:ext>
            </a:extLst>
          </p:cNvPr>
          <p:cNvCxnSpPr>
            <a:cxnSpLocks/>
          </p:cNvCxnSpPr>
          <p:nvPr/>
        </p:nvCxnSpPr>
        <p:spPr>
          <a:xfrm flipH="1">
            <a:off x="5983161" y="4621269"/>
            <a:ext cx="53955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5500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1C216D0-18FC-6948-3973-4E6D48A7D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277" y="1729900"/>
            <a:ext cx="4001058" cy="3886742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3EA425C-6250-E7B3-8157-B825EEC18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9372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新建的“</a:t>
            </a:r>
            <a:r>
              <a:rPr lang="en-US" altLang="zh-CN" sz="2000" b="1" dirty="0" err="1">
                <a:solidFill>
                  <a:srgbClr val="C00000"/>
                </a:solidFill>
              </a:rPr>
              <a:t>helloworld</a:t>
            </a:r>
            <a:r>
              <a:rPr lang="zh-CN" altLang="en-US" sz="2000" b="1" dirty="0"/>
              <a:t>”工程</a:t>
            </a:r>
          </a:p>
        </p:txBody>
      </p:sp>
    </p:spTree>
    <p:extLst>
      <p:ext uri="{BB962C8B-B14F-4D97-AF65-F5344CB8AC3E}">
        <p14:creationId xmlns:p14="http://schemas.microsoft.com/office/powerpoint/2010/main" val="19897712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AACDCC-753F-D646-6737-4DCAC20DA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9372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新建的“</a:t>
            </a:r>
            <a:r>
              <a:rPr lang="en-US" altLang="zh-CN" sz="2000" b="1" dirty="0" err="1">
                <a:solidFill>
                  <a:srgbClr val="C00000"/>
                </a:solidFill>
              </a:rPr>
              <a:t>helloworld</a:t>
            </a:r>
            <a:r>
              <a:rPr lang="zh-CN" altLang="en-US" sz="2000" b="1" dirty="0"/>
              <a:t>”工程文件夹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1AAFEC8-3A2B-5C7E-E63E-D198BEF2A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969" y="2690709"/>
            <a:ext cx="6354062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5920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12EE8DC-674E-3D92-80F6-A6BDE2EA9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337" y="0"/>
            <a:ext cx="7941325" cy="6858000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9E9CBB6-FCBE-C40C-5463-012DEDCC2B17}"/>
              </a:ext>
            </a:extLst>
          </p:cNvPr>
          <p:cNvCxnSpPr>
            <a:cxnSpLocks/>
          </p:cNvCxnSpPr>
          <p:nvPr/>
        </p:nvCxnSpPr>
        <p:spPr>
          <a:xfrm>
            <a:off x="1797677" y="2514600"/>
            <a:ext cx="1052203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41EC02A7-C7B1-7119-F0CD-8387E4B351D8}"/>
              </a:ext>
            </a:extLst>
          </p:cNvPr>
          <p:cNvSpPr txBox="1"/>
          <p:nvPr/>
        </p:nvSpPr>
        <p:spPr>
          <a:xfrm>
            <a:off x="525851" y="2329934"/>
            <a:ext cx="110799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编辑模式</a:t>
            </a: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DC03F645-052E-7AD1-7008-55FF528368E6}"/>
              </a:ext>
            </a:extLst>
          </p:cNvPr>
          <p:cNvCxnSpPr>
            <a:cxnSpLocks/>
          </p:cNvCxnSpPr>
          <p:nvPr/>
        </p:nvCxnSpPr>
        <p:spPr>
          <a:xfrm flipH="1">
            <a:off x="5442141" y="3272529"/>
            <a:ext cx="53955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4146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86380C4-735D-DB0B-3346-2D283FFDD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28254" y="0"/>
            <a:ext cx="6935492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6BA43D8-4FD7-1EFE-05EF-65434B762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254" y="0"/>
            <a:ext cx="6935492" cy="6858000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1F770B2-1BD4-5336-239E-6551083A9C94}"/>
              </a:ext>
            </a:extLst>
          </p:cNvPr>
          <p:cNvCxnSpPr>
            <a:cxnSpLocks/>
          </p:cNvCxnSpPr>
          <p:nvPr/>
        </p:nvCxnSpPr>
        <p:spPr>
          <a:xfrm>
            <a:off x="1896737" y="1379220"/>
            <a:ext cx="1052203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BE1F04F-4BBC-6A5D-3284-85285C0E608D}"/>
              </a:ext>
            </a:extLst>
          </p:cNvPr>
          <p:cNvSpPr txBox="1"/>
          <p:nvPr/>
        </p:nvSpPr>
        <p:spPr>
          <a:xfrm>
            <a:off x="624911" y="1194554"/>
            <a:ext cx="110799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设计模式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15B2409-1F0E-6D82-CD21-CB892F648BA0}"/>
              </a:ext>
            </a:extLst>
          </p:cNvPr>
          <p:cNvCxnSpPr/>
          <p:nvPr/>
        </p:nvCxnSpPr>
        <p:spPr>
          <a:xfrm flipV="1">
            <a:off x="3619500" y="2225040"/>
            <a:ext cx="2301240" cy="40995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0D25ACE7-B9BE-CAF2-C795-6B82ED73B6E0}"/>
              </a:ext>
            </a:extLst>
          </p:cNvPr>
          <p:cNvSpPr txBox="1"/>
          <p:nvPr/>
        </p:nvSpPr>
        <p:spPr>
          <a:xfrm>
            <a:off x="6202680" y="2040374"/>
            <a:ext cx="209384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将“</a:t>
            </a:r>
            <a:r>
              <a:rPr lang="en-US" altLang="zh-CN" b="1" dirty="0"/>
              <a:t>Label</a:t>
            </a:r>
            <a:r>
              <a:rPr lang="zh-CN" altLang="en-US" b="1" dirty="0"/>
              <a:t>”拖到这里</a:t>
            </a:r>
          </a:p>
        </p:txBody>
      </p:sp>
    </p:spTree>
    <p:extLst>
      <p:ext uri="{BB962C8B-B14F-4D97-AF65-F5344CB8AC3E}">
        <p14:creationId xmlns:p14="http://schemas.microsoft.com/office/powerpoint/2010/main" val="21325019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5BE8C44-1BBE-69A6-EFB8-02C06DC5E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31" y="0"/>
            <a:ext cx="10336937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2CBB63D-770A-162D-2FE2-812D4B1B60FD}"/>
              </a:ext>
            </a:extLst>
          </p:cNvPr>
          <p:cNvSpPr txBox="1"/>
          <p:nvPr/>
        </p:nvSpPr>
        <p:spPr>
          <a:xfrm>
            <a:off x="7071360" y="4646414"/>
            <a:ext cx="110799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输入文字</a:t>
            </a:r>
          </a:p>
        </p:txBody>
      </p:sp>
    </p:spTree>
    <p:extLst>
      <p:ext uri="{BB962C8B-B14F-4D97-AF65-F5344CB8AC3E}">
        <p14:creationId xmlns:p14="http://schemas.microsoft.com/office/powerpoint/2010/main" val="39592976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72590F4-2951-48E2-17A7-4175432C1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809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A264F39-9C1C-5558-6C12-7EFFC3403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286" y="256732"/>
            <a:ext cx="5039428" cy="6344535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487B788-9379-C99C-DE9A-C44CE7249DC9}"/>
              </a:ext>
            </a:extLst>
          </p:cNvPr>
          <p:cNvCxnSpPr>
            <a:cxnSpLocks/>
          </p:cNvCxnSpPr>
          <p:nvPr/>
        </p:nvCxnSpPr>
        <p:spPr>
          <a:xfrm flipH="1">
            <a:off x="5718810" y="4655820"/>
            <a:ext cx="75438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4743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504E348-E3EF-C717-D54F-66C894C21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967" y="1504681"/>
            <a:ext cx="8526065" cy="3848637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E80A4B80-B2F4-C226-4D6F-71BEB8D3FFF1}"/>
              </a:ext>
            </a:extLst>
          </p:cNvPr>
          <p:cNvCxnSpPr>
            <a:cxnSpLocks/>
          </p:cNvCxnSpPr>
          <p:nvPr/>
        </p:nvCxnSpPr>
        <p:spPr>
          <a:xfrm>
            <a:off x="1586048" y="4351752"/>
            <a:ext cx="4938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1D0DE29C-27D5-AE3D-879C-E10F640A18F8}"/>
              </a:ext>
            </a:extLst>
          </p:cNvPr>
          <p:cNvSpPr txBox="1"/>
          <p:nvPr/>
        </p:nvSpPr>
        <p:spPr>
          <a:xfrm>
            <a:off x="2805077" y="4167086"/>
            <a:ext cx="1569660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查看项目信息</a:t>
            </a:r>
          </a:p>
        </p:txBody>
      </p:sp>
    </p:spTree>
    <p:extLst>
      <p:ext uri="{BB962C8B-B14F-4D97-AF65-F5344CB8AC3E}">
        <p14:creationId xmlns:p14="http://schemas.microsoft.com/office/powerpoint/2010/main" val="6100881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0DCF0FC-8C6A-A4BF-7847-9C7871031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986"/>
            <a:ext cx="12192000" cy="655402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2DCCA89-C168-15A4-8BC1-ABB885DCA9DD}"/>
              </a:ext>
            </a:extLst>
          </p:cNvPr>
          <p:cNvSpPr txBox="1"/>
          <p:nvPr/>
        </p:nvSpPr>
        <p:spPr>
          <a:xfrm>
            <a:off x="6234077" y="1698206"/>
            <a:ext cx="1826141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项目信息</a:t>
            </a:r>
          </a:p>
        </p:txBody>
      </p:sp>
    </p:spTree>
    <p:extLst>
      <p:ext uri="{BB962C8B-B14F-4D97-AF65-F5344CB8AC3E}">
        <p14:creationId xmlns:p14="http://schemas.microsoft.com/office/powerpoint/2010/main" val="5009243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EF26DE2-C4DA-FCA1-5755-36A421ABD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102" y="1771418"/>
            <a:ext cx="4267796" cy="3315163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684645F9-6BCA-318E-D7DE-729FE833F646}"/>
              </a:ext>
            </a:extLst>
          </p:cNvPr>
          <p:cNvCxnSpPr>
            <a:cxnSpLocks/>
          </p:cNvCxnSpPr>
          <p:nvPr/>
        </p:nvCxnSpPr>
        <p:spPr>
          <a:xfrm>
            <a:off x="4316722" y="4094968"/>
            <a:ext cx="4938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BCE10CB1-DFDB-8984-C15C-91A8179CFDA8}"/>
              </a:ext>
            </a:extLst>
          </p:cNvPr>
          <p:cNvSpPr txBox="1"/>
          <p:nvPr/>
        </p:nvSpPr>
        <p:spPr>
          <a:xfrm>
            <a:off x="2068141" y="3910302"/>
            <a:ext cx="110799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运行工程</a:t>
            </a:r>
          </a:p>
        </p:txBody>
      </p:sp>
    </p:spTree>
    <p:extLst>
      <p:ext uri="{BB962C8B-B14F-4D97-AF65-F5344CB8AC3E}">
        <p14:creationId xmlns:p14="http://schemas.microsoft.com/office/powerpoint/2010/main" val="32526526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F389119-74DE-1103-DF58-4BE909750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603" y="0"/>
            <a:ext cx="7960794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952C165-C7A9-F140-E563-2074AF074D64}"/>
              </a:ext>
            </a:extLst>
          </p:cNvPr>
          <p:cNvSpPr txBox="1"/>
          <p:nvPr/>
        </p:nvSpPr>
        <p:spPr>
          <a:xfrm>
            <a:off x="5022184" y="2582335"/>
            <a:ext cx="321113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b="1" dirty="0" err="1"/>
              <a:t>helloworld</a:t>
            </a:r>
            <a:r>
              <a:rPr lang="en-US" altLang="zh-CN" b="1" dirty="0"/>
              <a:t> </a:t>
            </a:r>
            <a:r>
              <a:rPr lang="zh-CN" altLang="en-US" b="1" dirty="0"/>
              <a:t>工程运行后的界面</a:t>
            </a:r>
          </a:p>
        </p:txBody>
      </p:sp>
    </p:spTree>
    <p:extLst>
      <p:ext uri="{BB962C8B-B14F-4D97-AF65-F5344CB8AC3E}">
        <p14:creationId xmlns:p14="http://schemas.microsoft.com/office/powerpoint/2010/main" val="17780652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511DAC7-DCCD-D09B-2761-99B31598F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1232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编译（运行）后得到的工程文件夹“</a:t>
            </a:r>
            <a:r>
              <a:rPr lang="en-US" altLang="zh-CN" sz="2000" b="1" dirty="0">
                <a:solidFill>
                  <a:srgbClr val="FF0000"/>
                </a:solidFill>
              </a:rPr>
              <a:t>build-helloworld-Desktop_Qt_5_14_2_GCC_64bit-Debug</a:t>
            </a:r>
            <a:r>
              <a:rPr lang="zh-CN" altLang="en-US" sz="2000" b="1" dirty="0"/>
              <a:t>”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78EA829-1B10-C1AD-1B71-B6ABE9BA4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96" y="2735348"/>
            <a:ext cx="8087854" cy="154326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792E978-265E-AEED-3505-E3E24B70B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5422" y="1590391"/>
            <a:ext cx="3422860" cy="677794"/>
          </a:xfrm>
          <a:prstGeom prst="rect">
            <a:avLst/>
          </a:prstGeom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12ED957-601E-B4AA-B101-3A8EEE2B87B7}"/>
              </a:ext>
            </a:extLst>
          </p:cNvPr>
          <p:cNvCxnSpPr/>
          <p:nvPr/>
        </p:nvCxnSpPr>
        <p:spPr>
          <a:xfrm flipV="1">
            <a:off x="2933974" y="3998746"/>
            <a:ext cx="0" cy="4144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24E03117-69CB-1460-2DEE-C452933FD9A1}"/>
              </a:ext>
            </a:extLst>
          </p:cNvPr>
          <p:cNvSpPr txBox="1"/>
          <p:nvPr/>
        </p:nvSpPr>
        <p:spPr>
          <a:xfrm>
            <a:off x="2216926" y="4544013"/>
            <a:ext cx="133882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可执行文件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AE51A69-E593-412C-632B-4EC3E9DBF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5099" y="4993582"/>
            <a:ext cx="2279538" cy="1608218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73C17E34-922C-834E-B534-64925F02F189}"/>
              </a:ext>
            </a:extLst>
          </p:cNvPr>
          <p:cNvCxnSpPr>
            <a:cxnSpLocks/>
          </p:cNvCxnSpPr>
          <p:nvPr/>
        </p:nvCxnSpPr>
        <p:spPr>
          <a:xfrm>
            <a:off x="6096274" y="4913345"/>
            <a:ext cx="0" cy="51695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6267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3A37EA-A91C-A5D2-3DFD-602C00F80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548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Qt</a:t>
            </a:r>
            <a:r>
              <a:rPr lang="zh-CN" altLang="en-US" b="1" dirty="0">
                <a:solidFill>
                  <a:srgbClr val="C00000"/>
                </a:solidFill>
              </a:rPr>
              <a:t>程序运行的另一种方式</a:t>
            </a:r>
            <a:endParaRPr lang="en-US" altLang="zh-CN" b="1" dirty="0">
              <a:solidFill>
                <a:srgbClr val="C00000"/>
              </a:solidFill>
            </a:endParaRPr>
          </a:p>
          <a:p>
            <a:endParaRPr lang="en-US" altLang="zh-CN" sz="2000" b="1" dirty="0"/>
          </a:p>
          <a:p>
            <a:r>
              <a:rPr lang="zh-CN" altLang="en-US" sz="2000" b="1" dirty="0"/>
              <a:t>在</a:t>
            </a:r>
            <a:r>
              <a:rPr lang="en-US" altLang="zh-CN" sz="2000" b="1" dirty="0"/>
              <a:t>Ubuntu</a:t>
            </a:r>
            <a:r>
              <a:rPr lang="zh-CN" altLang="en-US" sz="2000" b="1" dirty="0"/>
              <a:t>的“终端”上执行：</a:t>
            </a:r>
            <a:endParaRPr lang="en-US" altLang="zh-CN" sz="2000" b="1" dirty="0"/>
          </a:p>
          <a:p>
            <a:endParaRPr lang="en-US" altLang="zh-CN" sz="2000" b="1" dirty="0"/>
          </a:p>
          <a:p>
            <a:pPr lvl="1"/>
            <a:r>
              <a:rPr lang="en-US" altLang="zh-CN" sz="1600" b="1" dirty="0"/>
              <a:t>cd /home/</a:t>
            </a:r>
            <a:r>
              <a:rPr lang="en-US" altLang="zh-CN" sz="1600" b="1" dirty="0" err="1"/>
              <a:t>linux</a:t>
            </a:r>
            <a:r>
              <a:rPr lang="en-US" altLang="zh-CN" sz="1600" b="1" dirty="0"/>
              <a:t>/qt/build-helloworld-Desktop_Qt_5_14_2_GCC_64bit-Debug</a:t>
            </a:r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./</a:t>
            </a:r>
            <a:r>
              <a:rPr lang="en-US" altLang="zh-CN" sz="1600" b="1" dirty="0" err="1"/>
              <a:t>helloworld</a:t>
            </a:r>
            <a:endParaRPr lang="en-US" altLang="zh-CN" sz="1600" b="1" dirty="0"/>
          </a:p>
          <a:p>
            <a:endParaRPr lang="zh-CN" altLang="en-US" sz="20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E300314-FC65-AC3B-2EB3-E9532E7BE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597" y="2972231"/>
            <a:ext cx="3832629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620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8008FA-D42B-4DA6-AC6B-23CF6BE51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619"/>
            <a:ext cx="10515600" cy="1325563"/>
          </a:xfrm>
        </p:spPr>
        <p:txBody>
          <a:bodyPr/>
          <a:lstStyle/>
          <a:p>
            <a:r>
              <a:rPr lang="en-US" altLang="zh-CN" b="1" dirty="0"/>
              <a:t>Qt creator</a:t>
            </a:r>
            <a:r>
              <a:rPr lang="zh-CN" altLang="en-US" b="1" dirty="0"/>
              <a:t>文件说明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F9EA86-207C-4B4C-84C1-537962BA1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442" y="1656182"/>
            <a:ext cx="3238500" cy="31527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1CBE08D-36B0-4546-863E-A8C24E8C364B}"/>
              </a:ext>
            </a:extLst>
          </p:cNvPr>
          <p:cNvSpPr txBox="1"/>
          <p:nvPr/>
        </p:nvSpPr>
        <p:spPr>
          <a:xfrm>
            <a:off x="4696158" y="1567850"/>
            <a:ext cx="63284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C00000"/>
                </a:solidFill>
              </a:rPr>
              <a:t>.pro </a:t>
            </a:r>
            <a:r>
              <a:rPr lang="en-US" altLang="zh-CN" sz="2000" b="1" dirty="0"/>
              <a:t>: </a:t>
            </a:r>
            <a:r>
              <a:rPr lang="zh-CN" altLang="en-US" sz="2000" b="1" dirty="0"/>
              <a:t>为</a:t>
            </a:r>
            <a:r>
              <a:rPr lang="en-US" altLang="zh-CN" sz="2000" b="1" dirty="0"/>
              <a:t>qt</a:t>
            </a:r>
            <a:r>
              <a:rPr lang="zh-CN" altLang="en-US" sz="2000" b="1" dirty="0"/>
              <a:t>的项目管理文件，存储项目设置的文件</a:t>
            </a:r>
            <a:endParaRPr lang="en-US" altLang="zh-CN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b="1" dirty="0"/>
              <a:t>helloworld.pro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文件夹</a:t>
            </a:r>
            <a:r>
              <a:rPr lang="en-US" altLang="zh-CN" sz="2000" b="1" dirty="0">
                <a:solidFill>
                  <a:srgbClr val="C00000"/>
                </a:solidFill>
              </a:rPr>
              <a:t>headers</a:t>
            </a:r>
            <a:r>
              <a:rPr lang="zh-CN" altLang="en-US" sz="2000" b="1" dirty="0"/>
              <a:t>中存放所设计的窗体类头文件</a:t>
            </a:r>
            <a:endParaRPr lang="en-US" altLang="zh-C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文件夹</a:t>
            </a:r>
            <a:r>
              <a:rPr lang="en-US" altLang="zh-CN" sz="2000" b="1" dirty="0">
                <a:solidFill>
                  <a:srgbClr val="C00000"/>
                </a:solidFill>
              </a:rPr>
              <a:t>sources</a:t>
            </a:r>
            <a:r>
              <a:rPr lang="zh-CN" altLang="en-US" sz="2000" b="1" dirty="0"/>
              <a:t>中存放源码文件</a:t>
            </a:r>
            <a:endParaRPr lang="en-US" altLang="zh-CN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b="1" dirty="0"/>
              <a:t>main.cpp </a:t>
            </a:r>
            <a:r>
              <a:rPr lang="zh-CN" altLang="en-US" sz="2000" b="1" dirty="0"/>
              <a:t>是实现</a:t>
            </a:r>
            <a:r>
              <a:rPr lang="en-US" altLang="zh-CN" sz="2000" b="1" dirty="0"/>
              <a:t>,main()</a:t>
            </a:r>
            <a:r>
              <a:rPr lang="zh-CN" altLang="en-US" sz="2000" b="1" dirty="0"/>
              <a:t>函数的程序文件</a:t>
            </a:r>
            <a:endParaRPr lang="en-US" altLang="zh-CN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b="1" dirty="0"/>
              <a:t>mainwindow.cpp</a:t>
            </a:r>
            <a:r>
              <a:rPr lang="zh-CN" altLang="en-US" sz="2000" b="1" dirty="0"/>
              <a:t>是</a:t>
            </a:r>
            <a:r>
              <a:rPr lang="en-US" altLang="zh-CN" sz="2000" b="1" dirty="0" err="1"/>
              <a:t>mainwindow.h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里定义类的实现文件</a:t>
            </a:r>
            <a:endParaRPr lang="en-US" altLang="zh-CN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b="1" dirty="0"/>
              <a:t>C++</a:t>
            </a:r>
            <a:r>
              <a:rPr lang="zh-CN" altLang="en-US" sz="2000" b="1" dirty="0"/>
              <a:t>中，任何窗体或者界面组件都是用类封装的，一个类一般有一个头文件</a:t>
            </a:r>
            <a:r>
              <a:rPr lang="en-US" altLang="zh-CN" sz="2000" b="1" dirty="0"/>
              <a:t>.h</a:t>
            </a:r>
            <a:r>
              <a:rPr lang="zh-CN" altLang="en-US" sz="2000" b="1" dirty="0"/>
              <a:t>，和一个源文件</a:t>
            </a:r>
            <a:r>
              <a:rPr lang="en-US" altLang="zh-CN" sz="2000" b="1" dirty="0"/>
              <a:t>.</a:t>
            </a:r>
            <a:r>
              <a:rPr lang="en-US" altLang="zh-CN" sz="2000" b="1" dirty="0" err="1"/>
              <a:t>cpp</a:t>
            </a:r>
            <a:endParaRPr lang="en-US" altLang="zh-C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文件夹</a:t>
            </a:r>
            <a:r>
              <a:rPr lang="en-US" altLang="zh-CN" sz="2000" b="1" dirty="0">
                <a:solidFill>
                  <a:srgbClr val="C00000"/>
                </a:solidFill>
              </a:rPr>
              <a:t>forms</a:t>
            </a:r>
            <a:r>
              <a:rPr lang="zh-CN" altLang="en-US" sz="2000" b="1" dirty="0"/>
              <a:t>中，存放界面设计文件</a:t>
            </a:r>
            <a:endParaRPr lang="en-US" altLang="zh-CN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b="1" dirty="0"/>
              <a:t>.</a:t>
            </a:r>
            <a:r>
              <a:rPr lang="en-US" altLang="zh-CN" sz="2000" b="1" dirty="0" err="1"/>
              <a:t>ui</a:t>
            </a:r>
            <a:r>
              <a:rPr lang="zh-CN" altLang="en-US" sz="2000" b="1" dirty="0"/>
              <a:t>是一个</a:t>
            </a:r>
            <a:r>
              <a:rPr lang="en-US" altLang="zh-CN" sz="2000" b="1" dirty="0"/>
              <a:t>XML</a:t>
            </a:r>
            <a:r>
              <a:rPr lang="zh-CN" altLang="en-US" sz="2000" b="1" dirty="0"/>
              <a:t>格式存储的窗体上的元件及其布局的文件</a:t>
            </a:r>
            <a:endParaRPr lang="en-US" altLang="zh-C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5052017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1EF8FE5-41C7-D838-2DB3-9E1B75F563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45332" y="0"/>
            <a:ext cx="8701335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C6CD654-C831-F1CB-FC85-8C0A114A5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818" y="94891"/>
            <a:ext cx="8701335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87C9033-E39A-6E19-56FF-4089DF49C84A}"/>
              </a:ext>
            </a:extLst>
          </p:cNvPr>
          <p:cNvSpPr txBox="1"/>
          <p:nvPr/>
        </p:nvSpPr>
        <p:spPr>
          <a:xfrm>
            <a:off x="5021580" y="213360"/>
            <a:ext cx="207781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helloworld.pro</a:t>
            </a:r>
            <a:endParaRPr lang="zh-CN" altLang="en-US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032621-6315-4C6F-923A-C49DCA0A08DD}"/>
              </a:ext>
            </a:extLst>
          </p:cNvPr>
          <p:cNvSpPr txBox="1"/>
          <p:nvPr/>
        </p:nvSpPr>
        <p:spPr>
          <a:xfrm>
            <a:off x="7344196" y="262818"/>
            <a:ext cx="3184072" cy="175432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Qt +=core </a:t>
            </a:r>
            <a:r>
              <a:rPr lang="en-US" altLang="zh-CN" b="1" dirty="0" err="1">
                <a:solidFill>
                  <a:srgbClr val="C00000"/>
                </a:solidFill>
              </a:rPr>
              <a:t>gui</a:t>
            </a:r>
            <a:r>
              <a:rPr lang="zh-CN" altLang="en-US" b="1" dirty="0"/>
              <a:t>，表示项目中加入</a:t>
            </a:r>
            <a:r>
              <a:rPr lang="en-US" altLang="zh-CN" b="1" dirty="0"/>
              <a:t>core </a:t>
            </a:r>
            <a:r>
              <a:rPr lang="en-US" altLang="zh-CN" b="1" dirty="0" err="1"/>
              <a:t>gui</a:t>
            </a:r>
            <a:r>
              <a:rPr lang="zh-CN" altLang="en-US" b="1" dirty="0"/>
              <a:t>模块，</a:t>
            </a:r>
            <a:r>
              <a:rPr lang="en-US" altLang="zh-CN" b="1" dirty="0"/>
              <a:t>core </a:t>
            </a:r>
            <a:r>
              <a:rPr lang="en-US" altLang="zh-CN" b="1" dirty="0" err="1"/>
              <a:t>gui</a:t>
            </a:r>
            <a:r>
              <a:rPr lang="zh-CN" altLang="en-US" b="1" dirty="0"/>
              <a:t>是</a:t>
            </a:r>
            <a:r>
              <a:rPr lang="en-US" altLang="zh-CN" b="1" dirty="0"/>
              <a:t>Qt</a:t>
            </a:r>
            <a:r>
              <a:rPr lang="zh-CN" altLang="en-US" b="1" dirty="0"/>
              <a:t>用于</a:t>
            </a:r>
            <a:r>
              <a:rPr lang="en-US" altLang="zh-CN" b="1" dirty="0"/>
              <a:t>GUI</a:t>
            </a:r>
            <a:r>
              <a:rPr lang="zh-CN" altLang="en-US" b="1" dirty="0"/>
              <a:t>设计的类库模块，如果创建的是控制台（</a:t>
            </a:r>
            <a:r>
              <a:rPr lang="en-US" altLang="zh-CN" b="1" dirty="0"/>
              <a:t>console</a:t>
            </a:r>
            <a:r>
              <a:rPr lang="zh-CN" altLang="en-US" b="1" dirty="0"/>
              <a:t>）应用程序，就不需要添加</a:t>
            </a:r>
            <a:r>
              <a:rPr lang="en-US" altLang="zh-CN" b="1" dirty="0"/>
              <a:t>core </a:t>
            </a:r>
            <a:r>
              <a:rPr lang="en-US" altLang="zh-CN" b="1" dirty="0" err="1"/>
              <a:t>gui</a:t>
            </a:r>
            <a:endParaRPr lang="zh-CN" alt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9891B5-0B0A-4096-8A8B-8B003D0D440E}"/>
              </a:ext>
            </a:extLst>
          </p:cNvPr>
          <p:cNvSpPr/>
          <p:nvPr/>
        </p:nvSpPr>
        <p:spPr>
          <a:xfrm>
            <a:off x="1663731" y="501543"/>
            <a:ext cx="1828800" cy="292087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755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2C35776-374F-AF89-6F00-436A511A6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360" y="0"/>
            <a:ext cx="5523280" cy="6858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C70C82C-AD79-7B39-0034-EA3A3FFBF852}"/>
              </a:ext>
            </a:extLst>
          </p:cNvPr>
          <p:cNvSpPr txBox="1"/>
          <p:nvPr/>
        </p:nvSpPr>
        <p:spPr>
          <a:xfrm>
            <a:off x="7353300" y="1619488"/>
            <a:ext cx="411052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b="1" dirty="0"/>
              <a:t>该文件中包含了与用户有关的项目信息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B4D654B-1603-A66B-76EC-423E571D5B1A}"/>
              </a:ext>
            </a:extLst>
          </p:cNvPr>
          <p:cNvSpPr txBox="1"/>
          <p:nvPr/>
        </p:nvSpPr>
        <p:spPr>
          <a:xfrm>
            <a:off x="7353300" y="213360"/>
            <a:ext cx="257634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lang="en-US" altLang="zh-CN" b="1" dirty="0" err="1"/>
              <a:t>helloworld.pro.user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0527825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5C66E4F-E87D-711C-65FA-8C0E22BBD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444" y="1428471"/>
            <a:ext cx="3839111" cy="400105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EDE7347-4D8A-E307-8CC2-FBD4F20D6AC7}"/>
              </a:ext>
            </a:extLst>
          </p:cNvPr>
          <p:cNvSpPr txBox="1"/>
          <p:nvPr/>
        </p:nvSpPr>
        <p:spPr>
          <a:xfrm>
            <a:off x="5021580" y="213360"/>
            <a:ext cx="150874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b="1" dirty="0"/>
              <a:t>3</a:t>
            </a:r>
            <a:r>
              <a:rPr lang="zh-CN" altLang="en-US" b="1" dirty="0"/>
              <a:t>、</a:t>
            </a:r>
            <a:r>
              <a:rPr lang="en-US" altLang="zh-CN" b="1" dirty="0"/>
              <a:t>main.cpp</a:t>
            </a:r>
            <a:endParaRPr lang="zh-CN" altLang="en-US" b="1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E2BA427-8CA1-4FC9-427C-10AFF8D8293D}"/>
              </a:ext>
            </a:extLst>
          </p:cNvPr>
          <p:cNvCxnSpPr/>
          <p:nvPr/>
        </p:nvCxnSpPr>
        <p:spPr>
          <a:xfrm>
            <a:off x="3940224" y="4251960"/>
            <a:ext cx="47244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41625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21C6A01-25AD-D549-130A-16F6F5FBD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86" y="956917"/>
            <a:ext cx="5506218" cy="494416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12BCF07-8D5D-3113-D778-96E3AC243056}"/>
              </a:ext>
            </a:extLst>
          </p:cNvPr>
          <p:cNvSpPr txBox="1"/>
          <p:nvPr/>
        </p:nvSpPr>
        <p:spPr>
          <a:xfrm>
            <a:off x="1182825" y="480779"/>
            <a:ext cx="2331087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b="1" dirty="0"/>
              <a:t>4</a:t>
            </a:r>
            <a:r>
              <a:rPr lang="zh-CN" altLang="en-US" b="1" dirty="0"/>
              <a:t>、</a:t>
            </a:r>
            <a:r>
              <a:rPr lang="en-US" altLang="zh-CN" b="1" dirty="0"/>
              <a:t>mainwindow.cpp</a:t>
            </a:r>
            <a:endParaRPr lang="zh-CN" altLang="en-US" b="1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E27900CB-9E3B-9C2B-9458-2D5261000FAB}"/>
              </a:ext>
            </a:extLst>
          </p:cNvPr>
          <p:cNvCxnSpPr/>
          <p:nvPr/>
        </p:nvCxnSpPr>
        <p:spPr>
          <a:xfrm>
            <a:off x="230831" y="2587781"/>
            <a:ext cx="47244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5733651A-211A-B619-0BAD-EC79F10F6A4B}"/>
              </a:ext>
            </a:extLst>
          </p:cNvPr>
          <p:cNvCxnSpPr/>
          <p:nvPr/>
        </p:nvCxnSpPr>
        <p:spPr>
          <a:xfrm>
            <a:off x="230831" y="4690326"/>
            <a:ext cx="47244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CA1ED520-908A-456F-BB66-B3BC59E61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965" y="172528"/>
            <a:ext cx="5022329" cy="668547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57911E-8B9E-4CA4-A033-DD1C26F38F7D}"/>
              </a:ext>
            </a:extLst>
          </p:cNvPr>
          <p:cNvSpPr txBox="1"/>
          <p:nvPr/>
        </p:nvSpPr>
        <p:spPr>
          <a:xfrm>
            <a:off x="9570955" y="111447"/>
            <a:ext cx="207781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en-US" altLang="zh-CN" b="1" dirty="0" err="1"/>
              <a:t>mainwindow.h</a:t>
            </a:r>
            <a:endParaRPr lang="zh-CN" altLang="en-US" b="1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E0CDA20-AC50-4D54-A708-B8468ADEB917}"/>
              </a:ext>
            </a:extLst>
          </p:cNvPr>
          <p:cNvCxnSpPr/>
          <p:nvPr/>
        </p:nvCxnSpPr>
        <p:spPr>
          <a:xfrm>
            <a:off x="5161132" y="3344173"/>
            <a:ext cx="58674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80557AB9-3C57-470B-AB40-B4EA6BBD023E}"/>
              </a:ext>
            </a:extLst>
          </p:cNvPr>
          <p:cNvSpPr txBox="1"/>
          <p:nvPr/>
        </p:nvSpPr>
        <p:spPr>
          <a:xfrm>
            <a:off x="164452" y="5871710"/>
            <a:ext cx="55358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</a:rPr>
              <a:t>mainwindow.cpp</a:t>
            </a:r>
            <a:r>
              <a:rPr lang="zh-CN" altLang="en-US" sz="1600" b="1" dirty="0">
                <a:solidFill>
                  <a:srgbClr val="C00000"/>
                </a:solidFill>
              </a:rPr>
              <a:t>是</a:t>
            </a:r>
            <a:r>
              <a:rPr lang="en-US" altLang="zh-CN" sz="1600" b="1" dirty="0" err="1">
                <a:solidFill>
                  <a:srgbClr val="C00000"/>
                </a:solidFill>
              </a:rPr>
              <a:t>mainwindow.h</a:t>
            </a:r>
            <a:r>
              <a:rPr lang="en-US" altLang="zh-CN" sz="1600" b="1" dirty="0">
                <a:solidFill>
                  <a:srgbClr val="C00000"/>
                </a:solidFill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</a:rPr>
              <a:t>里定义类的实现文件</a:t>
            </a:r>
            <a:endParaRPr lang="en-US" altLang="zh-CN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5632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073DADE-B93A-0A9E-5B50-759FAFAADA3B}"/>
              </a:ext>
            </a:extLst>
          </p:cNvPr>
          <p:cNvSpPr txBox="1"/>
          <p:nvPr/>
        </p:nvSpPr>
        <p:spPr>
          <a:xfrm>
            <a:off x="8420100" y="213360"/>
            <a:ext cx="2138727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b="1" dirty="0"/>
              <a:t>6</a:t>
            </a:r>
            <a:r>
              <a:rPr lang="zh-CN" altLang="en-US" b="1" dirty="0"/>
              <a:t>、</a:t>
            </a:r>
            <a:r>
              <a:rPr lang="en-US" altLang="zh-CN" b="1" dirty="0" err="1"/>
              <a:t>mainwindow.ui</a:t>
            </a:r>
            <a:endParaRPr lang="zh-CN" altLang="en-US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51BDB4E-5771-D35E-36B0-ABB3F1B8B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605" y="0"/>
            <a:ext cx="3232790" cy="6858000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538E0B6-888C-3080-B21B-B3D8947B5F77}"/>
              </a:ext>
            </a:extLst>
          </p:cNvPr>
          <p:cNvCxnSpPr/>
          <p:nvPr/>
        </p:nvCxnSpPr>
        <p:spPr>
          <a:xfrm>
            <a:off x="3999545" y="4114800"/>
            <a:ext cx="48006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18F5D9D-2AA5-9A73-9F76-F9C729B38274}"/>
              </a:ext>
            </a:extLst>
          </p:cNvPr>
          <p:cNvSpPr txBox="1"/>
          <p:nvPr/>
        </p:nvSpPr>
        <p:spPr>
          <a:xfrm>
            <a:off x="1775460" y="3930134"/>
            <a:ext cx="174278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b="1" dirty="0"/>
              <a:t>Hello World </a:t>
            </a:r>
            <a:r>
              <a:rPr lang="zh-CN" altLang="en-US" b="1" dirty="0"/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9372192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B24FD-3520-2168-7065-113DD908A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BBA0DB-11F0-6CE3-4590-0F87D2B48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4445"/>
            <a:ext cx="10515600" cy="1325563"/>
          </a:xfrm>
        </p:spPr>
        <p:txBody>
          <a:bodyPr/>
          <a:lstStyle/>
          <a:p>
            <a:pPr algn="ctr"/>
            <a:r>
              <a:rPr lang="zh-CN" altLang="en-US" b="1" dirty="0"/>
              <a:t>四、运行已有的 </a:t>
            </a:r>
            <a:r>
              <a:rPr lang="en-US" altLang="zh-CN" b="1" dirty="0"/>
              <a:t>Qt </a:t>
            </a:r>
            <a:r>
              <a:rPr lang="zh-CN" altLang="en-US" b="1" dirty="0"/>
              <a:t>工程</a:t>
            </a:r>
          </a:p>
        </p:txBody>
      </p:sp>
    </p:spTree>
    <p:extLst>
      <p:ext uri="{BB962C8B-B14F-4D97-AF65-F5344CB8AC3E}">
        <p14:creationId xmlns:p14="http://schemas.microsoft.com/office/powerpoint/2010/main" val="21899567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81A196-23B4-3626-36BA-503989C57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264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将“</a:t>
            </a:r>
            <a:r>
              <a:rPr lang="zh-CN" altLang="en-US" sz="2000" b="1" dirty="0">
                <a:solidFill>
                  <a:srgbClr val="C00000"/>
                </a:solidFill>
              </a:rPr>
              <a:t>第</a:t>
            </a:r>
            <a:r>
              <a:rPr lang="en-US" altLang="zh-CN" sz="2000" b="1" dirty="0">
                <a:solidFill>
                  <a:srgbClr val="C00000"/>
                </a:solidFill>
              </a:rPr>
              <a:t>6</a:t>
            </a:r>
            <a:r>
              <a:rPr lang="zh-CN" altLang="en-US" sz="2000" b="1" dirty="0">
                <a:solidFill>
                  <a:srgbClr val="C00000"/>
                </a:solidFill>
              </a:rPr>
              <a:t>次实验文档</a:t>
            </a:r>
            <a:r>
              <a:rPr lang="en-US" altLang="zh-CN" sz="2000" b="1" dirty="0">
                <a:solidFill>
                  <a:srgbClr val="C00000"/>
                </a:solidFill>
              </a:rPr>
              <a:t>.zip</a:t>
            </a:r>
            <a:r>
              <a:rPr lang="zh-CN" altLang="en-US" sz="2000" b="1" dirty="0"/>
              <a:t>”中的“</a:t>
            </a:r>
            <a:r>
              <a:rPr lang="en-US" altLang="zh-CN" sz="2000" b="1" dirty="0">
                <a:solidFill>
                  <a:srgbClr val="C00000"/>
                </a:solidFill>
              </a:rPr>
              <a:t>Qt</a:t>
            </a:r>
            <a:r>
              <a:rPr lang="zh-CN" altLang="en-US" sz="2000" b="1" dirty="0">
                <a:solidFill>
                  <a:srgbClr val="C00000"/>
                </a:solidFill>
              </a:rPr>
              <a:t>实验程序（第一部分）</a:t>
            </a:r>
            <a:r>
              <a:rPr lang="zh-CN" altLang="en-US" sz="2000" b="1" dirty="0"/>
              <a:t>”文件夹中的</a:t>
            </a:r>
            <a:r>
              <a:rPr lang="en-US" altLang="zh-CN" sz="2000" b="1" dirty="0"/>
              <a:t>8</a:t>
            </a:r>
            <a:r>
              <a:rPr lang="zh-CN" altLang="en-US" sz="2000" b="1" dirty="0"/>
              <a:t>个工程拷贝到</a:t>
            </a:r>
            <a:r>
              <a:rPr lang="en-US" altLang="zh-CN" sz="2000" b="1" dirty="0"/>
              <a:t>Ubuntu</a:t>
            </a:r>
            <a:r>
              <a:rPr lang="zh-CN" altLang="en-US" sz="2000" b="1" dirty="0"/>
              <a:t>的</a:t>
            </a:r>
            <a:r>
              <a:rPr lang="en-US" altLang="zh-CN" sz="2000" b="1" dirty="0"/>
              <a:t>/home/</a:t>
            </a:r>
            <a:r>
              <a:rPr lang="en-US" altLang="zh-CN" sz="2000" b="1" dirty="0" err="1"/>
              <a:t>linux</a:t>
            </a:r>
            <a:r>
              <a:rPr lang="en-US" altLang="zh-CN" sz="2000" b="1" dirty="0"/>
              <a:t>/qt</a:t>
            </a:r>
            <a:r>
              <a:rPr lang="zh-CN" altLang="en-US" sz="2000" b="1" dirty="0"/>
              <a:t>目录下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BC37FC1-4181-F69F-4237-EF0B83AC5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731" y="2076857"/>
            <a:ext cx="3172268" cy="35819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6D843B6-FD3C-6330-2C01-C4AB6727E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612" y="2446189"/>
            <a:ext cx="6734574" cy="145667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78EA0BD-1732-0792-CDAE-D43DD95B9E99}"/>
              </a:ext>
            </a:extLst>
          </p:cNvPr>
          <p:cNvSpPr txBox="1"/>
          <p:nvPr/>
        </p:nvSpPr>
        <p:spPr>
          <a:xfrm>
            <a:off x="919119" y="2076857"/>
            <a:ext cx="274145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b="1"/>
              <a:t>Qt</a:t>
            </a:r>
            <a:r>
              <a:rPr lang="zh-CN" altLang="en-US" b="1"/>
              <a:t>实验程序</a:t>
            </a:r>
            <a:r>
              <a:rPr lang="zh-CN" altLang="en-US" b="1" dirty="0"/>
              <a:t>（第一部分）</a:t>
            </a:r>
          </a:p>
        </p:txBody>
      </p:sp>
    </p:spTree>
    <p:extLst>
      <p:ext uri="{BB962C8B-B14F-4D97-AF65-F5344CB8AC3E}">
        <p14:creationId xmlns:p14="http://schemas.microsoft.com/office/powerpoint/2010/main" val="3859657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7FCF97-86DF-4A22-8DBA-A7D3C3D01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Qt</a:t>
            </a:r>
            <a:r>
              <a:rPr lang="zh-CN" altLang="en-US" b="1" dirty="0"/>
              <a:t>开发控件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F35C43-6DFE-4E20-BCE5-16F85EFA8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148" y="1348941"/>
            <a:ext cx="779675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Qt</a:t>
            </a:r>
            <a:r>
              <a:rPr lang="zh-CN" altLang="en-US" sz="2400" b="1" dirty="0"/>
              <a:t>提供了丰富的功能模块和控件，用于满足不同应用场景的需求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Qt</a:t>
            </a:r>
            <a:r>
              <a:rPr lang="zh-CN" altLang="en-US" sz="2400" b="1" dirty="0"/>
              <a:t>控件包括常见的标签、按钮、文本输入框、复选框、单选按钮、下拉列表框、滑动条、进度条、表格、树形视图、列表视图等。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控件其实就是封装好的</a:t>
            </a:r>
            <a:r>
              <a:rPr lang="en-US" altLang="zh-CN" sz="2400" b="1" dirty="0"/>
              <a:t>C++</a:t>
            </a:r>
            <a:r>
              <a:rPr lang="zh-CN" altLang="en-US" sz="2400" b="1" dirty="0"/>
              <a:t>类，利用这些类可以快速搭建一个程序</a:t>
            </a:r>
            <a:r>
              <a:rPr lang="en-US" altLang="zh-CN" sz="2400" b="1" dirty="0"/>
              <a:t>UI</a:t>
            </a:r>
            <a:r>
              <a:rPr lang="zh-CN" altLang="en-US" sz="2400" b="1" dirty="0"/>
              <a:t>，通常可以</a:t>
            </a:r>
            <a:r>
              <a:rPr lang="zh-CN" altLang="en-US" sz="2400" b="1" dirty="0">
                <a:solidFill>
                  <a:srgbClr val="C00000"/>
                </a:solidFill>
              </a:rPr>
              <a:t>双击</a:t>
            </a:r>
            <a:r>
              <a:rPr lang="en-US" altLang="zh-CN" sz="2400" b="1" dirty="0">
                <a:solidFill>
                  <a:srgbClr val="C00000"/>
                </a:solidFill>
              </a:rPr>
              <a:t>.</a:t>
            </a:r>
            <a:r>
              <a:rPr lang="en-US" altLang="zh-CN" sz="2400" b="1" dirty="0" err="1">
                <a:solidFill>
                  <a:srgbClr val="C00000"/>
                </a:solidFill>
              </a:rPr>
              <a:t>ui</a:t>
            </a:r>
            <a:r>
              <a:rPr lang="zh-CN" altLang="en-US" sz="2400" b="1" dirty="0"/>
              <a:t>文件进入设计模式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8A0D5AF-B89F-46C4-9D9D-B524CF70B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0858" y="3079631"/>
            <a:ext cx="3134983" cy="2440555"/>
          </a:xfrm>
          <a:prstGeom prst="rect">
            <a:avLst/>
          </a:prstGeom>
        </p:spPr>
      </p:pic>
      <p:sp>
        <p:nvSpPr>
          <p:cNvPr id="6" name="箭头: 右 5">
            <a:extLst>
              <a:ext uri="{FF2B5EF4-FFF2-40B4-BE49-F238E27FC236}">
                <a16:creationId xmlns:a16="http://schemas.microsoft.com/office/drawing/2014/main" id="{8B1EF38A-39BB-4D8A-96BA-3974E1EC442D}"/>
              </a:ext>
            </a:extLst>
          </p:cNvPr>
          <p:cNvSpPr/>
          <p:nvPr/>
        </p:nvSpPr>
        <p:spPr>
          <a:xfrm>
            <a:off x="8005313" y="5072332"/>
            <a:ext cx="365545" cy="25879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7371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73713-F99F-F791-23F0-187124C7F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7D8CB1-ECB0-C54D-C546-D8D4CE28E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/>
              <a:t>1</a:t>
            </a:r>
            <a:r>
              <a:rPr lang="zh-CN" altLang="en-US" b="1" dirty="0"/>
              <a:t>、自定义控件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4640179-DA9F-81A2-0600-9125848C0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577" y="2571996"/>
            <a:ext cx="3848637" cy="310558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617F953-610E-913D-EA3C-C23694B3906C}"/>
              </a:ext>
            </a:extLst>
          </p:cNvPr>
          <p:cNvSpPr txBox="1"/>
          <p:nvPr/>
        </p:nvSpPr>
        <p:spPr>
          <a:xfrm>
            <a:off x="6358984" y="1931287"/>
            <a:ext cx="3036409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Qt</a:t>
            </a:r>
            <a:r>
              <a:rPr lang="zh-CN" altLang="en-US" sz="2000" b="1" dirty="0"/>
              <a:t>实验程序（第一部分）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67CD511-D70E-436B-8ADC-35145D71BE90}"/>
              </a:ext>
            </a:extLst>
          </p:cNvPr>
          <p:cNvSpPr txBox="1"/>
          <p:nvPr/>
        </p:nvSpPr>
        <p:spPr>
          <a:xfrm>
            <a:off x="751730" y="1975723"/>
            <a:ext cx="5508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内容：创建一个圆环状的进度条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A1B8D9-745B-4F3F-8671-18E1580CD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60868"/>
            <a:ext cx="4803680" cy="280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7312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DFD6C-CFC2-DF83-66C6-9E5C494E2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C5BE8E7-FD3F-BD06-693B-A1D10FF01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227" y="863516"/>
            <a:ext cx="8983395" cy="5042505"/>
          </a:xfrm>
          <a:prstGeom prst="rect">
            <a:avLst/>
          </a:prstGeom>
        </p:spPr>
      </p:pic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49A88F6D-A23B-FA10-6DFD-4D409A374A63}"/>
              </a:ext>
            </a:extLst>
          </p:cNvPr>
          <p:cNvCxnSpPr/>
          <p:nvPr/>
        </p:nvCxnSpPr>
        <p:spPr>
          <a:xfrm>
            <a:off x="7505700" y="1767840"/>
            <a:ext cx="0" cy="5257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5971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8088E75-A7CB-0FE0-F3F5-7B29EDA34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836" y="2624025"/>
            <a:ext cx="8802328" cy="1609950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732B8EDB-C184-8DF0-E4D7-399C66B7C523}"/>
              </a:ext>
            </a:extLst>
          </p:cNvPr>
          <p:cNvCxnSpPr/>
          <p:nvPr/>
        </p:nvCxnSpPr>
        <p:spPr>
          <a:xfrm>
            <a:off x="10088880" y="2217420"/>
            <a:ext cx="0" cy="5257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91607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8BC8B30-F393-7233-23E0-2BA0638B2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943" y="1499918"/>
            <a:ext cx="6192114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063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9CEFE58-ED81-EC44-4372-4B234281C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655" y="2085787"/>
            <a:ext cx="3686689" cy="2686425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913A3085-973D-869C-0137-11499121E161}"/>
              </a:ext>
            </a:extLst>
          </p:cNvPr>
          <p:cNvCxnSpPr>
            <a:cxnSpLocks/>
          </p:cNvCxnSpPr>
          <p:nvPr/>
        </p:nvCxnSpPr>
        <p:spPr>
          <a:xfrm flipH="1">
            <a:off x="5417820" y="3749040"/>
            <a:ext cx="48768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8905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EC31342-0463-1E01-244F-A48749663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05" y="1302532"/>
            <a:ext cx="4706750" cy="374861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FE1B8B9-F442-F192-7972-07632B737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318" y="1302532"/>
            <a:ext cx="4778858" cy="382455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3C3B281-97E0-A12A-0207-43ADFB384C2C}"/>
              </a:ext>
            </a:extLst>
          </p:cNvPr>
          <p:cNvSpPr txBox="1"/>
          <p:nvPr/>
        </p:nvSpPr>
        <p:spPr>
          <a:xfrm>
            <a:off x="8025765" y="5457706"/>
            <a:ext cx="2492990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按电脑空格键后的情况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72B4D72-C597-D3B7-32CB-17031473090D}"/>
              </a:ext>
            </a:extLst>
          </p:cNvPr>
          <p:cNvSpPr txBox="1"/>
          <p:nvPr/>
        </p:nvSpPr>
        <p:spPr>
          <a:xfrm>
            <a:off x="1211580" y="5273040"/>
            <a:ext cx="203132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 dirty="0"/>
              <a:t>程序运行后的结果</a:t>
            </a:r>
          </a:p>
        </p:txBody>
      </p:sp>
    </p:spTree>
    <p:extLst>
      <p:ext uri="{BB962C8B-B14F-4D97-AF65-F5344CB8AC3E}">
        <p14:creationId xmlns:p14="http://schemas.microsoft.com/office/powerpoint/2010/main" val="23402219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235BBC6-0C45-E5DF-B3C1-263B2B352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759" y="251969"/>
            <a:ext cx="5058481" cy="6354062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894178E-1DFB-1569-77F8-5F3C8E7EB167}"/>
              </a:ext>
            </a:extLst>
          </p:cNvPr>
          <p:cNvCxnSpPr>
            <a:cxnSpLocks/>
          </p:cNvCxnSpPr>
          <p:nvPr/>
        </p:nvCxnSpPr>
        <p:spPr>
          <a:xfrm flipH="1">
            <a:off x="6096000" y="3916680"/>
            <a:ext cx="74676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5430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FAA8AAB-E3BC-F32A-CE0A-DF2303B04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974" y="2690709"/>
            <a:ext cx="6458851" cy="1476581"/>
          </a:xfrm>
          <a:prstGeom prst="rect">
            <a:avLst/>
          </a:prstGeom>
        </p:spPr>
      </p:pic>
      <p:sp>
        <p:nvSpPr>
          <p:cNvPr id="2" name="内容占位符 2">
            <a:extLst>
              <a:ext uri="{FF2B5EF4-FFF2-40B4-BE49-F238E27FC236}">
                <a16:creationId xmlns:a16="http://schemas.microsoft.com/office/drawing/2014/main" id="{E6E0DAB1-A590-DD29-CAA9-98D66295E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9372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自定义控件实验的工程文件夹 “</a:t>
            </a:r>
            <a:r>
              <a:rPr lang="en-US" altLang="zh-CN" sz="2000" b="1" dirty="0" err="1">
                <a:solidFill>
                  <a:srgbClr val="FF0000"/>
                </a:solidFill>
              </a:rPr>
              <a:t>Circularprogressbar</a:t>
            </a:r>
            <a:r>
              <a:rPr lang="zh-CN" altLang="en-US" sz="2000" b="1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28521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E6E0DAB1-A590-DD29-CAA9-98D66295E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9372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编译（运行）后得到的工程文件夹“</a:t>
            </a:r>
            <a:r>
              <a:rPr lang="en-US" altLang="zh-CN" sz="2000" b="1" dirty="0">
                <a:solidFill>
                  <a:srgbClr val="FF0000"/>
                </a:solidFill>
              </a:rPr>
              <a:t>build-Circularprogressbar-Desktop_Qt_5_14_2_GCC_64bit-Debug</a:t>
            </a:r>
            <a:r>
              <a:rPr lang="zh-CN" altLang="en-US" sz="2000" b="1" dirty="0"/>
              <a:t>”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5C0D2C9-E375-C3F0-3721-E025875B8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889" y="2533525"/>
            <a:ext cx="8040222" cy="1790950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55849B4-CDF0-A83C-D75C-7278A64FE07E}"/>
              </a:ext>
            </a:extLst>
          </p:cNvPr>
          <p:cNvCxnSpPr/>
          <p:nvPr/>
        </p:nvCxnSpPr>
        <p:spPr>
          <a:xfrm flipV="1">
            <a:off x="4124668" y="3999678"/>
            <a:ext cx="0" cy="4144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2F010A08-CC23-41B3-52D1-094961D219E5}"/>
              </a:ext>
            </a:extLst>
          </p:cNvPr>
          <p:cNvSpPr txBox="1"/>
          <p:nvPr/>
        </p:nvSpPr>
        <p:spPr>
          <a:xfrm>
            <a:off x="3407620" y="4544945"/>
            <a:ext cx="133882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可执行文件</a:t>
            </a:r>
          </a:p>
        </p:txBody>
      </p:sp>
    </p:spTree>
    <p:extLst>
      <p:ext uri="{BB962C8B-B14F-4D97-AF65-F5344CB8AC3E}">
        <p14:creationId xmlns:p14="http://schemas.microsoft.com/office/powerpoint/2010/main" val="4462824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67D072-AA26-0D36-2698-AA6A34EFE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66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也可以在</a:t>
            </a:r>
            <a:r>
              <a:rPr lang="en-US" altLang="zh-CN" sz="2000" b="1" dirty="0"/>
              <a:t>Ubuntu</a:t>
            </a:r>
            <a:r>
              <a:rPr lang="zh-CN" altLang="en-US" sz="2000" b="1" dirty="0"/>
              <a:t>的“终端”上运行编译好的可执行文件：</a:t>
            </a:r>
            <a:endParaRPr lang="en-US" altLang="zh-CN" sz="2000" b="1" dirty="0"/>
          </a:p>
          <a:p>
            <a:endParaRPr lang="en-US" altLang="zh-CN" sz="2000" b="1" dirty="0"/>
          </a:p>
          <a:p>
            <a:pPr lvl="1"/>
            <a:r>
              <a:rPr lang="en-US" altLang="zh-CN" sz="1800" b="1" dirty="0"/>
              <a:t>cd /home/</a:t>
            </a:r>
            <a:r>
              <a:rPr lang="en-US" altLang="zh-CN" sz="1800" b="1" dirty="0" err="1"/>
              <a:t>linux</a:t>
            </a:r>
            <a:r>
              <a:rPr lang="en-US" altLang="zh-CN" sz="1800" b="1" dirty="0"/>
              <a:t>/qt/build-Circularprogressbar-Desktop_Qt_5_14_2_GCC_64bit-Debug</a:t>
            </a:r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./</a:t>
            </a:r>
            <a:r>
              <a:rPr lang="en-US" altLang="zh-CN" sz="1800" b="1" dirty="0" err="1"/>
              <a:t>Circularprogressbar</a:t>
            </a:r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1259867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522B9-F972-4E97-AE5C-C8F6EAC16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705" y="236318"/>
            <a:ext cx="9901687" cy="972694"/>
          </a:xfrm>
        </p:spPr>
        <p:txBody>
          <a:bodyPr/>
          <a:lstStyle/>
          <a:p>
            <a:r>
              <a:rPr lang="zh-CN" altLang="en-US" b="1" dirty="0"/>
              <a:t>实现方法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002B2B4-C11C-4B4E-A1F1-D9F0235B7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770" y="1285336"/>
            <a:ext cx="8236052" cy="138581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86332FA-246A-4C29-AE0C-2A7687F98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805" y="2815706"/>
            <a:ext cx="7964706" cy="95968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400BD11-2AF6-4099-88F6-12FD88EDD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151" y="3775388"/>
            <a:ext cx="8590696" cy="103536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F70F9BC-A28C-44ED-AACE-C50AB842C3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9763" y="5006923"/>
            <a:ext cx="5513898" cy="34238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E589A50-2E8C-42FE-9528-AB6C87D82E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3805" y="5665234"/>
            <a:ext cx="8178053" cy="67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7214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63C5D38-4F8B-A353-7065-AC99201AE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187" y="0"/>
            <a:ext cx="8593626" cy="6858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FE0D4B1-0990-4BF8-0524-1241C1BCA5A3}"/>
              </a:ext>
            </a:extLst>
          </p:cNvPr>
          <p:cNvSpPr txBox="1"/>
          <p:nvPr/>
        </p:nvSpPr>
        <p:spPr>
          <a:xfrm>
            <a:off x="6682740" y="348734"/>
            <a:ext cx="304800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1</a:t>
            </a:r>
            <a:r>
              <a:rPr lang="zh-CN" altLang="en-US" b="1" dirty="0"/>
              <a:t>、Circularprogressbar.pro</a:t>
            </a:r>
          </a:p>
        </p:txBody>
      </p:sp>
    </p:spTree>
    <p:extLst>
      <p:ext uri="{BB962C8B-B14F-4D97-AF65-F5344CB8AC3E}">
        <p14:creationId xmlns:p14="http://schemas.microsoft.com/office/powerpoint/2010/main" val="9651492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65E1BF6-6E5A-259D-B456-9A3905989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418" y="1380839"/>
            <a:ext cx="3677163" cy="409632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15652C7-472C-B74A-3388-C4A102880482}"/>
              </a:ext>
            </a:extLst>
          </p:cNvPr>
          <p:cNvSpPr txBox="1"/>
          <p:nvPr/>
        </p:nvSpPr>
        <p:spPr>
          <a:xfrm>
            <a:off x="5196840" y="348734"/>
            <a:ext cx="159258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lang="en-US" altLang="zh-CN" b="1" dirty="0"/>
              <a:t>main</a:t>
            </a:r>
            <a:r>
              <a:rPr lang="zh-CN" altLang="en-US" b="1" dirty="0"/>
              <a:t>.</a:t>
            </a:r>
            <a:r>
              <a:rPr lang="en-US" altLang="zh-CN" b="1" dirty="0" err="1"/>
              <a:t>cpp</a:t>
            </a:r>
            <a:endParaRPr lang="zh-CN" altLang="en-US" b="1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64ABF97-5EF5-6698-3BCD-7D5B5043DC15}"/>
              </a:ext>
            </a:extLst>
          </p:cNvPr>
          <p:cNvCxnSpPr/>
          <p:nvPr/>
        </p:nvCxnSpPr>
        <p:spPr>
          <a:xfrm>
            <a:off x="3901440" y="421386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26491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0647CC0-D26F-E93B-1C68-0F2B97634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156" y="0"/>
            <a:ext cx="7443688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15E58B8-0C4B-E9C2-6671-CB51CD633BAF}"/>
              </a:ext>
            </a:extLst>
          </p:cNvPr>
          <p:cNvSpPr txBox="1"/>
          <p:nvPr/>
        </p:nvSpPr>
        <p:spPr>
          <a:xfrm>
            <a:off x="6682740" y="348734"/>
            <a:ext cx="30632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3</a:t>
            </a:r>
            <a:r>
              <a:rPr lang="zh-CN" altLang="en-US" b="1" dirty="0"/>
              <a:t>、</a:t>
            </a:r>
            <a:r>
              <a:rPr lang="en-US" altLang="zh-CN" b="1" dirty="0"/>
              <a:t>c</a:t>
            </a:r>
            <a:r>
              <a:rPr lang="zh-CN" altLang="en-US" b="1" dirty="0"/>
              <a:t>ircularprogressbar.</a:t>
            </a:r>
            <a:r>
              <a:rPr lang="en-US" altLang="zh-CN" b="1" dirty="0" err="1"/>
              <a:t>cpp</a:t>
            </a:r>
            <a:endParaRPr lang="zh-CN" altLang="en-US" b="1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FADF14A7-43A1-EF96-66FA-6141C794A1FD}"/>
              </a:ext>
            </a:extLst>
          </p:cNvPr>
          <p:cNvCxnSpPr/>
          <p:nvPr/>
        </p:nvCxnSpPr>
        <p:spPr>
          <a:xfrm>
            <a:off x="1562100" y="97536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E140F2DF-23EC-EAD8-97AC-468E46D216CA}"/>
              </a:ext>
            </a:extLst>
          </p:cNvPr>
          <p:cNvCxnSpPr/>
          <p:nvPr/>
        </p:nvCxnSpPr>
        <p:spPr>
          <a:xfrm>
            <a:off x="1638300" y="246888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285199BF-F3D7-C52B-B698-456722A1D1E1}"/>
              </a:ext>
            </a:extLst>
          </p:cNvPr>
          <p:cNvCxnSpPr/>
          <p:nvPr/>
        </p:nvCxnSpPr>
        <p:spPr>
          <a:xfrm>
            <a:off x="1638300" y="456438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8168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17ADE5F-B9E5-EEC6-A9B9-BFB1BD279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48" y="0"/>
            <a:ext cx="4177584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DFDF7B8-423D-F707-5581-9D03A7E7D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769" y="0"/>
            <a:ext cx="3650702" cy="6858000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B38176B-0A08-E516-B7E0-D359997A0CEE}"/>
              </a:ext>
            </a:extLst>
          </p:cNvPr>
          <p:cNvCxnSpPr>
            <a:cxnSpLocks/>
          </p:cNvCxnSpPr>
          <p:nvPr/>
        </p:nvCxnSpPr>
        <p:spPr>
          <a:xfrm flipH="1">
            <a:off x="9425940" y="2156460"/>
            <a:ext cx="50292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17804261-CD71-E4A3-B8BD-CB7743E436D2}"/>
              </a:ext>
            </a:extLst>
          </p:cNvPr>
          <p:cNvCxnSpPr>
            <a:cxnSpLocks/>
          </p:cNvCxnSpPr>
          <p:nvPr/>
        </p:nvCxnSpPr>
        <p:spPr>
          <a:xfrm flipH="1">
            <a:off x="9311640" y="449580"/>
            <a:ext cx="50292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9A27C363-D6C6-E159-EC5F-017F25E34CA0}"/>
              </a:ext>
            </a:extLst>
          </p:cNvPr>
          <p:cNvSpPr txBox="1"/>
          <p:nvPr/>
        </p:nvSpPr>
        <p:spPr>
          <a:xfrm>
            <a:off x="9968958" y="386133"/>
            <a:ext cx="203132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按下电脑的空格键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33E7757-D7D8-D6E3-B7DB-733EBFDD95A4}"/>
              </a:ext>
            </a:extLst>
          </p:cNvPr>
          <p:cNvSpPr txBox="1"/>
          <p:nvPr/>
        </p:nvSpPr>
        <p:spPr>
          <a:xfrm>
            <a:off x="10007058" y="2156460"/>
            <a:ext cx="203132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释放电脑的空格键</a:t>
            </a: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E531DAA3-0CF6-EB85-CB36-62B8E769FB29}"/>
              </a:ext>
            </a:extLst>
          </p:cNvPr>
          <p:cNvCxnSpPr/>
          <p:nvPr/>
        </p:nvCxnSpPr>
        <p:spPr>
          <a:xfrm>
            <a:off x="6370320" y="17526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0FD814B9-8199-997D-623C-F02988C1065F}"/>
              </a:ext>
            </a:extLst>
          </p:cNvPr>
          <p:cNvCxnSpPr/>
          <p:nvPr/>
        </p:nvCxnSpPr>
        <p:spPr>
          <a:xfrm>
            <a:off x="6370320" y="182880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4754930B-88F2-66C8-F75F-12EF24BB7763}"/>
              </a:ext>
            </a:extLst>
          </p:cNvPr>
          <p:cNvCxnSpPr/>
          <p:nvPr/>
        </p:nvCxnSpPr>
        <p:spPr>
          <a:xfrm>
            <a:off x="6370320" y="335280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CAD2D3B-1FC6-05CB-8A2D-23AEDD323C4A}"/>
              </a:ext>
            </a:extLst>
          </p:cNvPr>
          <p:cNvCxnSpPr/>
          <p:nvPr/>
        </p:nvCxnSpPr>
        <p:spPr>
          <a:xfrm>
            <a:off x="6438900" y="641604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86749B6-C0A0-FCF7-AF21-B2E2384C4A71}"/>
              </a:ext>
            </a:extLst>
          </p:cNvPr>
          <p:cNvCxnSpPr/>
          <p:nvPr/>
        </p:nvCxnSpPr>
        <p:spPr>
          <a:xfrm>
            <a:off x="762000" y="17526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495CFF9-5927-5D74-5B1C-D3CDF9045EC1}"/>
              </a:ext>
            </a:extLst>
          </p:cNvPr>
          <p:cNvCxnSpPr/>
          <p:nvPr/>
        </p:nvCxnSpPr>
        <p:spPr>
          <a:xfrm>
            <a:off x="818789" y="389382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40176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DFB1A43-7371-9B58-19C4-F7E9FB12C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431" y="0"/>
            <a:ext cx="3883138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B6E1BB9-08F9-7466-D778-4471357E6B3A}"/>
              </a:ext>
            </a:extLst>
          </p:cNvPr>
          <p:cNvSpPr txBox="1"/>
          <p:nvPr/>
        </p:nvSpPr>
        <p:spPr>
          <a:xfrm>
            <a:off x="6682740" y="348734"/>
            <a:ext cx="275082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4</a:t>
            </a:r>
            <a:r>
              <a:rPr lang="zh-CN" altLang="en-US" b="1" dirty="0"/>
              <a:t>、</a:t>
            </a:r>
            <a:r>
              <a:rPr lang="en-US" altLang="zh-CN" b="1" dirty="0"/>
              <a:t>c</a:t>
            </a:r>
            <a:r>
              <a:rPr lang="zh-CN" altLang="en-US" b="1" dirty="0"/>
              <a:t>ircularprogressbar.</a:t>
            </a:r>
            <a:r>
              <a:rPr lang="en-US" altLang="zh-CN" b="1" dirty="0"/>
              <a:t>h</a:t>
            </a:r>
            <a:endParaRPr lang="zh-CN" altLang="en-US" b="1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615FA13C-A7DD-7C18-E2BE-1576A85E6DF7}"/>
              </a:ext>
            </a:extLst>
          </p:cNvPr>
          <p:cNvCxnSpPr/>
          <p:nvPr/>
        </p:nvCxnSpPr>
        <p:spPr>
          <a:xfrm>
            <a:off x="3375660" y="169164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0407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C3A276F-CD8E-3654-E6F8-898D32119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734" y="0"/>
            <a:ext cx="6902532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069696C-8341-D41C-1EF9-5E4D6E8659BC}"/>
              </a:ext>
            </a:extLst>
          </p:cNvPr>
          <p:cNvSpPr txBox="1"/>
          <p:nvPr/>
        </p:nvSpPr>
        <p:spPr>
          <a:xfrm>
            <a:off x="7947660" y="348734"/>
            <a:ext cx="281178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en-US" altLang="zh-CN" b="1" dirty="0"/>
              <a:t>c</a:t>
            </a:r>
            <a:r>
              <a:rPr lang="zh-CN" altLang="en-US" b="1" dirty="0"/>
              <a:t>ircularprogressbar.</a:t>
            </a:r>
            <a:r>
              <a:rPr lang="en-US" altLang="zh-CN" b="1" dirty="0" err="1"/>
              <a:t>ui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09167238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752A0E-A6F1-AF8A-C160-B46879147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997" y="61616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/>
              <a:t>2</a:t>
            </a:r>
            <a:r>
              <a:rPr lang="zh-CN" altLang="en-US" b="1" dirty="0"/>
              <a:t>、信号与槽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A09BB46-DB36-4156-9157-8699D310B17C}"/>
              </a:ext>
            </a:extLst>
          </p:cNvPr>
          <p:cNvSpPr txBox="1"/>
          <p:nvPr/>
        </p:nvSpPr>
        <p:spPr>
          <a:xfrm>
            <a:off x="571864" y="1461163"/>
            <a:ext cx="59842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内容：熟悉</a:t>
            </a:r>
            <a:r>
              <a:rPr lang="en-US" altLang="zh-CN" sz="2400" b="1" dirty="0"/>
              <a:t>Qt</a:t>
            </a:r>
            <a:r>
              <a:rPr lang="zh-CN" altLang="en-US" sz="2400" b="1" dirty="0"/>
              <a:t>信号和槽的机制</a:t>
            </a:r>
            <a:endParaRPr lang="en-US" altLang="zh-CN" sz="2400" b="1" dirty="0"/>
          </a:p>
          <a:p>
            <a:endParaRPr lang="en-US" altLang="zh-C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/>
              <a:t>点击按键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，可以触发槽函数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，第一个</a:t>
            </a:r>
            <a:r>
              <a:rPr lang="en-US" altLang="zh-CN" sz="2400" b="1" dirty="0"/>
              <a:t>LCDNumber+1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/>
              <a:t>点击按键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，可以触发槽函数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，第二个</a:t>
            </a:r>
            <a:r>
              <a:rPr lang="en-US" altLang="zh-CN" sz="2400" b="1" dirty="0"/>
              <a:t>LCDNumber+1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/>
              <a:t>点击按键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，可以触发槽函数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，第三个</a:t>
            </a:r>
            <a:r>
              <a:rPr lang="en-US" altLang="zh-CN" sz="2400" b="1" dirty="0"/>
              <a:t>LCDNumber+1</a:t>
            </a:r>
            <a:endParaRPr lang="zh-CN" altLang="en-US" sz="24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77CD537-F752-470B-A309-E37CD841D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091" y="1601963"/>
            <a:ext cx="4497237" cy="350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1838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69759D-F958-4ECF-8A81-5D17D757B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89" y="235729"/>
            <a:ext cx="10515600" cy="1325563"/>
          </a:xfrm>
        </p:spPr>
        <p:txBody>
          <a:bodyPr/>
          <a:lstStyle/>
          <a:p>
            <a:r>
              <a:rPr lang="zh-CN" altLang="en-US" b="1" dirty="0"/>
              <a:t>信号和槽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790AF4-4E8D-4135-B264-E4D47B274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959"/>
            <a:ext cx="10515600" cy="489989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b="1" dirty="0"/>
              <a:t>信号与槽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C00000"/>
                </a:solidFill>
              </a:rPr>
              <a:t>signal &amp; slot</a:t>
            </a:r>
            <a:r>
              <a:rPr lang="en-US" altLang="zh-CN" b="1" dirty="0"/>
              <a:t>)</a:t>
            </a:r>
            <a:r>
              <a:rPr lang="zh-CN" altLang="en-US" b="1" dirty="0"/>
              <a:t>是</a:t>
            </a:r>
            <a:r>
              <a:rPr lang="en-US" altLang="zh-CN" b="1" dirty="0"/>
              <a:t>Qt</a:t>
            </a:r>
            <a:r>
              <a:rPr lang="zh-CN" altLang="en-US" b="1" dirty="0"/>
              <a:t>编程的基础，也是</a:t>
            </a:r>
            <a:r>
              <a:rPr lang="en-US" altLang="zh-CN" b="1" dirty="0"/>
              <a:t>Qt</a:t>
            </a:r>
            <a:r>
              <a:rPr lang="zh-CN" altLang="en-US" b="1" dirty="0"/>
              <a:t>的一个创新。因为有了信号和槽的编程机制，在</a:t>
            </a:r>
            <a:r>
              <a:rPr lang="en-US" altLang="zh-CN" b="1" dirty="0"/>
              <a:t>Qt</a:t>
            </a:r>
            <a:r>
              <a:rPr lang="zh-CN" altLang="en-US" b="1" dirty="0"/>
              <a:t>中处理界面各个组件的交互操作时变得更加直观和简单</a:t>
            </a: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信号</a:t>
            </a:r>
            <a:r>
              <a:rPr lang="zh-CN" altLang="en-US" b="1" dirty="0"/>
              <a:t>：特定情况下被发射的事件，例如</a:t>
            </a:r>
            <a:r>
              <a:rPr lang="en-US" altLang="zh-CN" b="1" dirty="0" err="1"/>
              <a:t>PushButton</a:t>
            </a:r>
            <a:r>
              <a:rPr lang="zh-CN" altLang="en-US" b="1" dirty="0"/>
              <a:t>最常见的信号就是鼠标单击时发射的</a:t>
            </a:r>
            <a:r>
              <a:rPr lang="en-US" altLang="zh-CN" b="1" dirty="0" err="1"/>
              <a:t>clicled</a:t>
            </a:r>
            <a:r>
              <a:rPr lang="en-US" altLang="zh-CN" b="1" dirty="0"/>
              <a:t>()</a:t>
            </a:r>
            <a:r>
              <a:rPr lang="zh-CN" altLang="en-US" b="1" dirty="0"/>
              <a:t>信号。</a:t>
            </a: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en-US" altLang="zh-CN" b="1" dirty="0"/>
              <a:t>GUI</a:t>
            </a:r>
            <a:r>
              <a:rPr lang="zh-CN" altLang="en-US" b="1" dirty="0"/>
              <a:t>程序设计的主要内容就是对界面上各组件的信号的相应，只要知道什么情况下发射哪些信号，合理进行响应</a:t>
            </a: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zh-CN" altLang="en-US" b="1" dirty="0"/>
              <a:t>槽（</a:t>
            </a:r>
            <a:r>
              <a:rPr lang="en-US" altLang="zh-CN" b="1" dirty="0">
                <a:solidFill>
                  <a:srgbClr val="C00000"/>
                </a:solidFill>
              </a:rPr>
              <a:t>Slot</a:t>
            </a:r>
            <a:r>
              <a:rPr lang="zh-CN" altLang="en-US" b="1" dirty="0"/>
              <a:t>）就是对信号响应的函数。槽就是一个函数，与一般的 </a:t>
            </a:r>
            <a:r>
              <a:rPr lang="en-US" altLang="zh-CN" b="1" dirty="0"/>
              <a:t>C++</a:t>
            </a:r>
            <a:r>
              <a:rPr lang="zh-CN" altLang="en-US" b="1" dirty="0"/>
              <a:t>函数是一样的，可以定义在类的任何部分（</a:t>
            </a:r>
            <a:r>
              <a:rPr lang="en-US" altLang="zh-CN" b="1" dirty="0"/>
              <a:t>public</a:t>
            </a:r>
            <a:r>
              <a:rPr lang="zh-CN" altLang="en-US" b="1" dirty="0"/>
              <a:t>、 </a:t>
            </a:r>
            <a:r>
              <a:rPr lang="en-US" altLang="zh-CN" b="1" dirty="0"/>
              <a:t>private </a:t>
            </a:r>
            <a:r>
              <a:rPr lang="zh-CN" altLang="en-US" b="1" dirty="0"/>
              <a:t>或 </a:t>
            </a:r>
            <a:r>
              <a:rPr lang="en-US" altLang="zh-CN" b="1" dirty="0"/>
              <a:t>protected</a:t>
            </a:r>
            <a:r>
              <a:rPr lang="zh-CN" altLang="en-US" b="1" dirty="0"/>
              <a:t>），可以具有任何参数，也可以被直接调用。槽函数与一般的函数不同的是：</a:t>
            </a:r>
            <a:r>
              <a:rPr lang="zh-CN" altLang="en-US" b="1" dirty="0">
                <a:solidFill>
                  <a:srgbClr val="C00000"/>
                </a:solidFill>
              </a:rPr>
              <a:t>槽函数可以与一个信号关联，当信号被发射时，关联的槽函数被自动执行 </a:t>
            </a:r>
            <a:br>
              <a:rPr lang="zh-CN" altLang="en-US" b="1" dirty="0"/>
            </a:b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25567836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63454E-EBD7-442C-9B0A-B483CAE31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信号与槽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D0EE129-2CCB-4201-98B7-5B5C39133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588" y="1417400"/>
            <a:ext cx="6209581" cy="168773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80BEAB0-9DB8-4A23-8DB7-F78E2D445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790" y="3533847"/>
            <a:ext cx="2923175" cy="101227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76170D1-458D-4535-8D3A-BB7D6807F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00" y="3406900"/>
            <a:ext cx="6611159" cy="70108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29FCD77-953F-4947-94E2-43A57BE90F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170" y="4220413"/>
            <a:ext cx="6721895" cy="171460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32DA9A2-6B63-47BD-9593-B05F687505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4595" y="5990824"/>
            <a:ext cx="6629878" cy="234626"/>
          </a:xfrm>
          <a:prstGeom prst="rect">
            <a:avLst/>
          </a:prstGeom>
        </p:spPr>
      </p:pic>
      <p:sp>
        <p:nvSpPr>
          <p:cNvPr id="14" name="箭头: 左 13">
            <a:extLst>
              <a:ext uri="{FF2B5EF4-FFF2-40B4-BE49-F238E27FC236}">
                <a16:creationId xmlns:a16="http://schemas.microsoft.com/office/drawing/2014/main" id="{B0ECE74E-6784-4C0D-9640-8C2601CA8541}"/>
              </a:ext>
            </a:extLst>
          </p:cNvPr>
          <p:cNvSpPr/>
          <p:nvPr/>
        </p:nvSpPr>
        <p:spPr>
          <a:xfrm>
            <a:off x="7579626" y="3713131"/>
            <a:ext cx="603850" cy="230197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左 14">
            <a:extLst>
              <a:ext uri="{FF2B5EF4-FFF2-40B4-BE49-F238E27FC236}">
                <a16:creationId xmlns:a16="http://schemas.microsoft.com/office/drawing/2014/main" id="{4F1C18C6-F9DE-4E00-90A7-DCAB76833098}"/>
              </a:ext>
            </a:extLst>
          </p:cNvPr>
          <p:cNvSpPr/>
          <p:nvPr/>
        </p:nvSpPr>
        <p:spPr>
          <a:xfrm rot="19162365">
            <a:off x="7544345" y="4316364"/>
            <a:ext cx="795778" cy="241020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箭头: 左 15">
            <a:extLst>
              <a:ext uri="{FF2B5EF4-FFF2-40B4-BE49-F238E27FC236}">
                <a16:creationId xmlns:a16="http://schemas.microsoft.com/office/drawing/2014/main" id="{2D6A19C3-4CCA-44B3-AC08-60F84A07FEC5}"/>
              </a:ext>
            </a:extLst>
          </p:cNvPr>
          <p:cNvSpPr/>
          <p:nvPr/>
        </p:nvSpPr>
        <p:spPr>
          <a:xfrm rot="16200000">
            <a:off x="8836975" y="5065697"/>
            <a:ext cx="1223945" cy="236673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704217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FB95A99-3380-4279-A722-675808EF0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330" y="676665"/>
            <a:ext cx="3934374" cy="299126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7309710-B0C8-0EA7-2C7C-56E1C5863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061" y="2552577"/>
            <a:ext cx="7354326" cy="1752845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1B72E00E-43A1-F048-15A3-8A6DECA282CC}"/>
              </a:ext>
            </a:extLst>
          </p:cNvPr>
          <p:cNvCxnSpPr>
            <a:cxnSpLocks/>
          </p:cNvCxnSpPr>
          <p:nvPr/>
        </p:nvCxnSpPr>
        <p:spPr>
          <a:xfrm>
            <a:off x="9785374" y="2098182"/>
            <a:ext cx="0" cy="5105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835093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6E5FE-2D32-D699-33F1-DAD37C51D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90FE2D-E3A3-5373-C04F-2C13187F0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E1F48C5-AA92-2A8A-E59D-5EAAA272E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88" y="0"/>
            <a:ext cx="11387823" cy="6858000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C9D90E4-7297-1A97-6597-8CB0034061BF}"/>
              </a:ext>
            </a:extLst>
          </p:cNvPr>
          <p:cNvCxnSpPr>
            <a:cxnSpLocks/>
          </p:cNvCxnSpPr>
          <p:nvPr/>
        </p:nvCxnSpPr>
        <p:spPr>
          <a:xfrm flipV="1">
            <a:off x="10645140" y="4762500"/>
            <a:ext cx="0" cy="65532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38739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2ECE9BB-5016-5CE5-0458-E2DD5A1C3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611" y="2257261"/>
            <a:ext cx="2133898" cy="234347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B943518-3BFA-9C0E-DF6E-926B7AF3A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292" y="1538022"/>
            <a:ext cx="4058216" cy="3781953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E1FDEF02-B452-2724-C0B8-B54ADBBDD5A6}"/>
              </a:ext>
            </a:extLst>
          </p:cNvPr>
          <p:cNvCxnSpPr>
            <a:cxnSpLocks/>
          </p:cNvCxnSpPr>
          <p:nvPr/>
        </p:nvCxnSpPr>
        <p:spPr>
          <a:xfrm flipH="1">
            <a:off x="9540240" y="3589020"/>
            <a:ext cx="50292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15434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3F65733-E5F8-6E77-04AC-CFBF9E236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889" y="437732"/>
            <a:ext cx="7678222" cy="598253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C3451DB-3C4F-5BBE-7321-8FE18CF8540E}"/>
              </a:ext>
            </a:extLst>
          </p:cNvPr>
          <p:cNvSpPr txBox="1"/>
          <p:nvPr/>
        </p:nvSpPr>
        <p:spPr>
          <a:xfrm>
            <a:off x="5021580" y="5318760"/>
            <a:ext cx="203132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 dirty="0"/>
              <a:t>程序运行后的结果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34AB12B6-9BAC-54FF-1A34-F401E2D1F433}"/>
              </a:ext>
            </a:extLst>
          </p:cNvPr>
          <p:cNvCxnSpPr>
            <a:cxnSpLocks/>
          </p:cNvCxnSpPr>
          <p:nvPr/>
        </p:nvCxnSpPr>
        <p:spPr>
          <a:xfrm flipV="1">
            <a:off x="3962400" y="3909060"/>
            <a:ext cx="0" cy="5715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02EE6D99-4F06-3585-2CA6-2328BF3DE674}"/>
              </a:ext>
            </a:extLst>
          </p:cNvPr>
          <p:cNvCxnSpPr>
            <a:cxnSpLocks/>
          </p:cNvCxnSpPr>
          <p:nvPr/>
        </p:nvCxnSpPr>
        <p:spPr>
          <a:xfrm flipV="1">
            <a:off x="5463540" y="3825240"/>
            <a:ext cx="0" cy="5715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89D957C-00AA-37EC-EC18-FEA5CF5F136A}"/>
              </a:ext>
            </a:extLst>
          </p:cNvPr>
          <p:cNvCxnSpPr>
            <a:cxnSpLocks/>
          </p:cNvCxnSpPr>
          <p:nvPr/>
        </p:nvCxnSpPr>
        <p:spPr>
          <a:xfrm flipV="1">
            <a:off x="6972300" y="3825240"/>
            <a:ext cx="0" cy="5715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48272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4E06CDE-C3EF-0DAE-2B0E-FBF907997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889" y="418680"/>
            <a:ext cx="7678222" cy="602064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15315C1-B18E-2126-95F5-9DBD93DE7A83}"/>
              </a:ext>
            </a:extLst>
          </p:cNvPr>
          <p:cNvSpPr txBox="1"/>
          <p:nvPr/>
        </p:nvSpPr>
        <p:spPr>
          <a:xfrm>
            <a:off x="5021580" y="5318760"/>
            <a:ext cx="203132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 dirty="0"/>
              <a:t>程序运行后的结果</a:t>
            </a:r>
          </a:p>
        </p:txBody>
      </p:sp>
    </p:spTree>
    <p:extLst>
      <p:ext uri="{BB962C8B-B14F-4D97-AF65-F5344CB8AC3E}">
        <p14:creationId xmlns:p14="http://schemas.microsoft.com/office/powerpoint/2010/main" val="23314638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70EAC89-6A3B-164C-56FA-E0FCE3608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595" y="986216"/>
            <a:ext cx="6401693" cy="143847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36A8293-C76A-C0B1-EE28-008ECE872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751" y="3623571"/>
            <a:ext cx="7916380" cy="1619476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F47B148-A40B-34F4-0FE7-9B54CCE84069}"/>
              </a:ext>
            </a:extLst>
          </p:cNvPr>
          <p:cNvCxnSpPr/>
          <p:nvPr/>
        </p:nvCxnSpPr>
        <p:spPr>
          <a:xfrm flipV="1">
            <a:off x="8762451" y="4854872"/>
            <a:ext cx="0" cy="4144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5DD16C5-CC6F-8F42-0CC8-F9CBBAFD351B}"/>
              </a:ext>
            </a:extLst>
          </p:cNvPr>
          <p:cNvSpPr txBox="1"/>
          <p:nvPr/>
        </p:nvSpPr>
        <p:spPr>
          <a:xfrm>
            <a:off x="8045403" y="5400139"/>
            <a:ext cx="133882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可执行文件</a:t>
            </a:r>
          </a:p>
        </p:txBody>
      </p:sp>
    </p:spTree>
    <p:extLst>
      <p:ext uri="{BB962C8B-B14F-4D97-AF65-F5344CB8AC3E}">
        <p14:creationId xmlns:p14="http://schemas.microsoft.com/office/powerpoint/2010/main" val="3746036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EE59E-5188-5F0B-B951-2217F9065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351F9D-9A8B-841D-E1FA-CE70E9F55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66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也可以在</a:t>
            </a:r>
            <a:r>
              <a:rPr lang="en-US" altLang="zh-CN" sz="2000" b="1" dirty="0"/>
              <a:t>Ubuntu</a:t>
            </a:r>
            <a:r>
              <a:rPr lang="zh-CN" altLang="en-US" sz="2000" b="1" dirty="0"/>
              <a:t>的“终端”上运行编译好的可执行文件：</a:t>
            </a:r>
            <a:endParaRPr lang="en-US" altLang="zh-CN" sz="2000" b="1" dirty="0"/>
          </a:p>
          <a:p>
            <a:endParaRPr lang="en-US" altLang="zh-CN" sz="2000" b="1" dirty="0"/>
          </a:p>
          <a:p>
            <a:pPr lvl="1"/>
            <a:r>
              <a:rPr lang="en-US" altLang="zh-CN" sz="1800" b="1" dirty="0"/>
              <a:t>cd /home/</a:t>
            </a:r>
            <a:r>
              <a:rPr lang="en-US" altLang="zh-CN" sz="1800" b="1" dirty="0" err="1"/>
              <a:t>linux</a:t>
            </a:r>
            <a:r>
              <a:rPr lang="en-US" altLang="zh-CN" sz="1800" b="1" dirty="0"/>
              <a:t>/qt/build-</a:t>
            </a:r>
            <a:r>
              <a:rPr lang="en-US" altLang="zh-CN" sz="1800" b="1" dirty="0" err="1"/>
              <a:t>SignalSlots</a:t>
            </a:r>
            <a:r>
              <a:rPr lang="en-US" altLang="zh-CN" sz="1800" b="1" dirty="0"/>
              <a:t>-Desktop-Debug</a:t>
            </a:r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./</a:t>
            </a:r>
            <a:r>
              <a:rPr lang="en-US" altLang="zh-CN" sz="1800" b="1" dirty="0" err="1"/>
              <a:t>SignalSlots</a:t>
            </a:r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5807723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64EA0-D185-124F-DD9F-7AEECF134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22000AC-6350-3D27-3022-3374E10B5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514" y="0"/>
            <a:ext cx="8672971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450DA77-9F72-DEF2-E62B-012E4767C115}"/>
              </a:ext>
            </a:extLst>
          </p:cNvPr>
          <p:cNvSpPr txBox="1"/>
          <p:nvPr/>
        </p:nvSpPr>
        <p:spPr>
          <a:xfrm>
            <a:off x="6682740" y="348734"/>
            <a:ext cx="219456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 err="1"/>
              <a:t>SignalSlots</a:t>
            </a:r>
            <a:r>
              <a:rPr lang="zh-CN" altLang="en-US" b="1" dirty="0"/>
              <a:t>.pro</a:t>
            </a:r>
          </a:p>
        </p:txBody>
      </p:sp>
    </p:spTree>
    <p:extLst>
      <p:ext uri="{BB962C8B-B14F-4D97-AF65-F5344CB8AC3E}">
        <p14:creationId xmlns:p14="http://schemas.microsoft.com/office/powerpoint/2010/main" val="240218652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FE15061-342C-D16D-0792-F7A28CD67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997" y="1380839"/>
            <a:ext cx="3620005" cy="409632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50684A9-7480-960A-04AC-796EDB495C9E}"/>
              </a:ext>
            </a:extLst>
          </p:cNvPr>
          <p:cNvSpPr txBox="1"/>
          <p:nvPr/>
        </p:nvSpPr>
        <p:spPr>
          <a:xfrm>
            <a:off x="6682740" y="348734"/>
            <a:ext cx="159258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lang="en-US" altLang="zh-CN" b="1" dirty="0"/>
              <a:t>main.cpp</a:t>
            </a:r>
            <a:endParaRPr lang="zh-CN" altLang="en-US" b="1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3AE66EB9-A109-1363-B7C6-3C1B47819E32}"/>
              </a:ext>
            </a:extLst>
          </p:cNvPr>
          <p:cNvCxnSpPr/>
          <p:nvPr/>
        </p:nvCxnSpPr>
        <p:spPr>
          <a:xfrm>
            <a:off x="3859169" y="422910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36510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AEE0B-9E47-54F6-A78C-90E5F8EC1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3C0CB18-ABF6-50FC-8856-E4F59DDBA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998" y="0"/>
            <a:ext cx="4402004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E8582BC-7BD5-263C-5D59-4AE39D2066A1}"/>
              </a:ext>
            </a:extLst>
          </p:cNvPr>
          <p:cNvSpPr txBox="1"/>
          <p:nvPr/>
        </p:nvSpPr>
        <p:spPr>
          <a:xfrm>
            <a:off x="6682740" y="348734"/>
            <a:ext cx="219456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3</a:t>
            </a:r>
            <a:r>
              <a:rPr lang="zh-CN" altLang="en-US" b="1" dirty="0"/>
              <a:t>、</a:t>
            </a:r>
            <a:r>
              <a:rPr lang="en-US" altLang="zh-CN" b="1" dirty="0" err="1"/>
              <a:t>signalslots</a:t>
            </a:r>
            <a:r>
              <a:rPr lang="zh-CN" altLang="en-US" b="1" dirty="0"/>
              <a:t>.</a:t>
            </a:r>
            <a:r>
              <a:rPr lang="en-US" altLang="zh-CN" b="1" dirty="0" err="1"/>
              <a:t>cpp</a:t>
            </a:r>
            <a:endParaRPr lang="zh-CN" altLang="en-US" b="1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4845D511-356E-B608-80AD-6079E57F848E}"/>
              </a:ext>
            </a:extLst>
          </p:cNvPr>
          <p:cNvCxnSpPr/>
          <p:nvPr/>
        </p:nvCxnSpPr>
        <p:spPr>
          <a:xfrm>
            <a:off x="3150509" y="78486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14836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BDA0D-D7CA-FD82-EF34-151D81F76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5C76315-812D-C269-632D-EA731FFCD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416" y="0"/>
            <a:ext cx="3843167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1C877C5-F557-17AE-0BD8-1350D0537047}"/>
              </a:ext>
            </a:extLst>
          </p:cNvPr>
          <p:cNvSpPr txBox="1"/>
          <p:nvPr/>
        </p:nvSpPr>
        <p:spPr>
          <a:xfrm>
            <a:off x="7581900" y="348734"/>
            <a:ext cx="194310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4</a:t>
            </a:r>
            <a:r>
              <a:rPr lang="zh-CN" altLang="en-US" b="1" dirty="0"/>
              <a:t>、</a:t>
            </a:r>
            <a:r>
              <a:rPr lang="en-US" altLang="zh-CN" b="1" dirty="0" err="1"/>
              <a:t>signalslots</a:t>
            </a:r>
            <a:r>
              <a:rPr lang="zh-CN" altLang="en-US" b="1" dirty="0"/>
              <a:t>.</a:t>
            </a:r>
            <a:r>
              <a:rPr lang="en-US" altLang="zh-CN" b="1" dirty="0"/>
              <a:t>h</a:t>
            </a:r>
            <a:endParaRPr lang="zh-CN" altLang="en-US" b="1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06299FC6-C22E-D3A8-CB65-818DA3BE94EF}"/>
              </a:ext>
            </a:extLst>
          </p:cNvPr>
          <p:cNvCxnSpPr/>
          <p:nvPr/>
        </p:nvCxnSpPr>
        <p:spPr>
          <a:xfrm>
            <a:off x="3478169" y="269748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626365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EA8AD-BB5C-FD30-5A5E-3E37EA2EA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000096-0634-D582-3AE2-AECB9502F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881" y="0"/>
            <a:ext cx="3534238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98D2AA5-025A-140A-6775-3CD181FAD77A}"/>
              </a:ext>
            </a:extLst>
          </p:cNvPr>
          <p:cNvSpPr txBox="1"/>
          <p:nvPr/>
        </p:nvSpPr>
        <p:spPr>
          <a:xfrm>
            <a:off x="7863119" y="333494"/>
            <a:ext cx="219456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en-US" altLang="zh-CN" b="1" dirty="0" err="1"/>
              <a:t>signalslots</a:t>
            </a:r>
            <a:r>
              <a:rPr lang="zh-CN" altLang="en-US" b="1" dirty="0"/>
              <a:t>.</a:t>
            </a:r>
            <a:r>
              <a:rPr lang="en-US" altLang="zh-CN" b="1" dirty="0" err="1"/>
              <a:t>ui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8973935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5D03A0-E173-3596-58B3-E92A7CD18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pPr algn="ctr"/>
            <a:r>
              <a:rPr lang="en-US" altLang="zh-CN" b="1" dirty="0"/>
              <a:t>3</a:t>
            </a:r>
            <a:r>
              <a:rPr lang="zh-CN" altLang="en-US" b="1" dirty="0"/>
              <a:t>、信号与槽的应用（秒表）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8268C95-4EC7-1B14-9753-6F6FBAB5E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889" y="2290496"/>
            <a:ext cx="3886742" cy="380100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5F0452B-F0F3-C121-B97F-2B8C930F59F1}"/>
              </a:ext>
            </a:extLst>
          </p:cNvPr>
          <p:cNvSpPr txBox="1"/>
          <p:nvPr/>
        </p:nvSpPr>
        <p:spPr>
          <a:xfrm>
            <a:off x="3592014" y="2320528"/>
            <a:ext cx="299928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Qt</a:t>
            </a:r>
            <a:r>
              <a:rPr lang="zh-CN" altLang="en-US" sz="1400" b="1" dirty="0"/>
              <a:t>实验程序（第一部分）</a:t>
            </a:r>
          </a:p>
        </p:txBody>
      </p:sp>
    </p:spTree>
    <p:extLst>
      <p:ext uri="{BB962C8B-B14F-4D97-AF65-F5344CB8AC3E}">
        <p14:creationId xmlns:p14="http://schemas.microsoft.com/office/powerpoint/2010/main" val="355569726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DA7947A-625C-655E-9953-4F9DA3A38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258" y="2685946"/>
            <a:ext cx="7049484" cy="1486107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731A8986-696A-42E9-B2E5-FE651A7EC6F7}"/>
              </a:ext>
            </a:extLst>
          </p:cNvPr>
          <p:cNvCxnSpPr>
            <a:cxnSpLocks/>
          </p:cNvCxnSpPr>
          <p:nvPr/>
        </p:nvCxnSpPr>
        <p:spPr>
          <a:xfrm>
            <a:off x="9235440" y="2175406"/>
            <a:ext cx="0" cy="5105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84467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F83E2C4-289C-4CBB-F9B6-D000B19A5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054" y="1152353"/>
            <a:ext cx="3572374" cy="421063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DD1B8D6-90DB-FAA0-7914-B36843786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151" y="2085934"/>
            <a:ext cx="2133898" cy="2343477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B5613BEC-8DC7-196B-CE7D-9341FE59E8D6}"/>
              </a:ext>
            </a:extLst>
          </p:cNvPr>
          <p:cNvCxnSpPr>
            <a:cxnSpLocks/>
          </p:cNvCxnSpPr>
          <p:nvPr/>
        </p:nvCxnSpPr>
        <p:spPr>
          <a:xfrm flipH="1">
            <a:off x="7450635" y="3429000"/>
            <a:ext cx="51054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287937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1EE63D-6612-D457-6895-D219CCED9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441" y="0"/>
            <a:ext cx="10597117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0460EB7-8FFD-E2DB-1F37-E5FFF11C93BC}"/>
              </a:ext>
            </a:extLst>
          </p:cNvPr>
          <p:cNvSpPr txBox="1"/>
          <p:nvPr/>
        </p:nvSpPr>
        <p:spPr>
          <a:xfrm>
            <a:off x="7132320" y="2308860"/>
            <a:ext cx="203132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 dirty="0"/>
              <a:t>程序运行后的结果</a:t>
            </a:r>
          </a:p>
        </p:txBody>
      </p:sp>
    </p:spTree>
    <p:extLst>
      <p:ext uri="{BB962C8B-B14F-4D97-AF65-F5344CB8AC3E}">
        <p14:creationId xmlns:p14="http://schemas.microsoft.com/office/powerpoint/2010/main" val="329353120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2410D47-1A53-9305-6EC4-444339A3E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493" y="1065390"/>
            <a:ext cx="9593014" cy="15432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68BEAFA-39C2-9CC9-D9DE-491A63208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39" y="3278686"/>
            <a:ext cx="11441122" cy="1524213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A51108F-9B98-C353-BD29-F8ED0AEFF8BB}"/>
              </a:ext>
            </a:extLst>
          </p:cNvPr>
          <p:cNvCxnSpPr/>
          <p:nvPr/>
        </p:nvCxnSpPr>
        <p:spPr>
          <a:xfrm flipV="1">
            <a:off x="8670354" y="4506216"/>
            <a:ext cx="0" cy="4144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83F4115-4663-C03B-5A01-5DD7B8267977}"/>
              </a:ext>
            </a:extLst>
          </p:cNvPr>
          <p:cNvSpPr txBox="1"/>
          <p:nvPr/>
        </p:nvSpPr>
        <p:spPr>
          <a:xfrm>
            <a:off x="7953306" y="5051483"/>
            <a:ext cx="133882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可执行文件</a:t>
            </a:r>
          </a:p>
        </p:txBody>
      </p:sp>
    </p:spTree>
    <p:extLst>
      <p:ext uri="{BB962C8B-B14F-4D97-AF65-F5344CB8AC3E}">
        <p14:creationId xmlns:p14="http://schemas.microsoft.com/office/powerpoint/2010/main" val="112499913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3F8D4-EDF1-9944-6F7E-6BE3AF61A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D11709-A2C9-758B-06CE-6ED339CB4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66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也可以在</a:t>
            </a:r>
            <a:r>
              <a:rPr lang="en-US" altLang="zh-CN" sz="2000" b="1" dirty="0"/>
              <a:t>Ubuntu</a:t>
            </a:r>
            <a:r>
              <a:rPr lang="zh-CN" altLang="en-US" sz="2000" b="1" dirty="0"/>
              <a:t>的“终端”上运行编译好的可执行文件：</a:t>
            </a:r>
            <a:endParaRPr lang="en-US" altLang="zh-CN" sz="2000" b="1" dirty="0"/>
          </a:p>
          <a:p>
            <a:pPr lvl="1"/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cd /home/</a:t>
            </a:r>
            <a:r>
              <a:rPr lang="en-US" altLang="zh-CN" sz="1800" b="1" dirty="0" err="1"/>
              <a:t>linux</a:t>
            </a:r>
            <a:r>
              <a:rPr lang="en-US" altLang="zh-CN" sz="1800" b="1" dirty="0"/>
              <a:t>/qt/build-stopwatch-Desktop-Debug</a:t>
            </a:r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./stopwatch</a:t>
            </a:r>
          </a:p>
          <a:p>
            <a:pPr lvl="1"/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48408520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1E3409E-AA75-71DE-3D91-3DD80B24D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366" y="0"/>
            <a:ext cx="7899267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EF83800-F183-4400-3ACB-F1CD22C6A9D9}"/>
              </a:ext>
            </a:extLst>
          </p:cNvPr>
          <p:cNvSpPr txBox="1"/>
          <p:nvPr/>
        </p:nvSpPr>
        <p:spPr>
          <a:xfrm>
            <a:off x="6682740" y="348734"/>
            <a:ext cx="20726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stopwatch</a:t>
            </a:r>
            <a:r>
              <a:rPr lang="zh-CN" altLang="en-US" b="1" dirty="0"/>
              <a:t>.pro</a:t>
            </a:r>
          </a:p>
        </p:txBody>
      </p:sp>
    </p:spTree>
    <p:extLst>
      <p:ext uri="{BB962C8B-B14F-4D97-AF65-F5344CB8AC3E}">
        <p14:creationId xmlns:p14="http://schemas.microsoft.com/office/powerpoint/2010/main" val="388214838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6FABB-A7CF-3556-2FB0-2CAA34830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60FBA24-E7CA-3DC8-AE06-C2D7D9AAA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681" y="1457050"/>
            <a:ext cx="3848637" cy="39439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7BB6E76-2712-EBF1-466A-0A78871ECB78}"/>
              </a:ext>
            </a:extLst>
          </p:cNvPr>
          <p:cNvSpPr txBox="1"/>
          <p:nvPr/>
        </p:nvSpPr>
        <p:spPr>
          <a:xfrm>
            <a:off x="6682740" y="348734"/>
            <a:ext cx="20726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lang="en-US" altLang="zh-CN" b="1" dirty="0"/>
              <a:t>main.cpp</a:t>
            </a:r>
            <a:endParaRPr lang="zh-CN" altLang="en-US" b="1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328706B-9327-43A0-1203-99B0BE1E763B}"/>
              </a:ext>
            </a:extLst>
          </p:cNvPr>
          <p:cNvCxnSpPr/>
          <p:nvPr/>
        </p:nvCxnSpPr>
        <p:spPr>
          <a:xfrm>
            <a:off x="3740790" y="429006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101006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EC81F-ED4D-2430-7A9F-C891BD56D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549927E-0DCF-1E33-E0E8-D9559F977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172" y="0"/>
            <a:ext cx="6173656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E7D2022-005E-7DFF-B1C2-625423691D24}"/>
              </a:ext>
            </a:extLst>
          </p:cNvPr>
          <p:cNvSpPr txBox="1"/>
          <p:nvPr/>
        </p:nvSpPr>
        <p:spPr>
          <a:xfrm>
            <a:off x="6682740" y="348734"/>
            <a:ext cx="176022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3</a:t>
            </a:r>
            <a:r>
              <a:rPr lang="zh-CN" altLang="en-US" b="1" dirty="0"/>
              <a:t>、</a:t>
            </a:r>
            <a:r>
              <a:rPr lang="en-US" altLang="zh-CN" b="1" dirty="0"/>
              <a:t>dialog.cpp</a:t>
            </a:r>
            <a:endParaRPr lang="zh-CN" altLang="en-US" b="1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A2B2BE2-5682-56A6-9453-1DE40DE9B073}"/>
              </a:ext>
            </a:extLst>
          </p:cNvPr>
          <p:cNvCxnSpPr/>
          <p:nvPr/>
        </p:nvCxnSpPr>
        <p:spPr>
          <a:xfrm>
            <a:off x="2319929" y="125730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42645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AEAFA-647B-2B33-6064-24A20A1BD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8AAD536-5BAD-9420-0A64-A11B7AD24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396" y="0"/>
            <a:ext cx="3551208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F1728FF-C3A3-C2F4-9FD6-29F9E6A3AF28}"/>
              </a:ext>
            </a:extLst>
          </p:cNvPr>
          <p:cNvSpPr txBox="1"/>
          <p:nvPr/>
        </p:nvSpPr>
        <p:spPr>
          <a:xfrm>
            <a:off x="8176260" y="348734"/>
            <a:ext cx="152400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4</a:t>
            </a:r>
            <a:r>
              <a:rPr lang="zh-CN" altLang="en-US" b="1" dirty="0"/>
              <a:t>、</a:t>
            </a:r>
            <a:r>
              <a:rPr lang="en-US" altLang="zh-CN" b="1" dirty="0" err="1"/>
              <a:t>dialog.h</a:t>
            </a:r>
            <a:endParaRPr lang="zh-CN" altLang="en-US" b="1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81300935-F813-77E5-50B0-3CDFE503CD7D}"/>
              </a:ext>
            </a:extLst>
          </p:cNvPr>
          <p:cNvCxnSpPr/>
          <p:nvPr/>
        </p:nvCxnSpPr>
        <p:spPr>
          <a:xfrm>
            <a:off x="3554369" y="283464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4619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B5717-8381-C6FE-B612-4B7178AF9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6E86754-80F0-6453-E5A1-D56BF501F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601" y="0"/>
            <a:ext cx="5218638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F2C90BB-8C82-4AE2-3479-5EE6FF939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666" y="258714"/>
            <a:ext cx="5417341" cy="496860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71B715A-D08A-4A3E-0B81-E30E8EA2BF0B}"/>
              </a:ext>
            </a:extLst>
          </p:cNvPr>
          <p:cNvSpPr txBox="1"/>
          <p:nvPr/>
        </p:nvSpPr>
        <p:spPr>
          <a:xfrm>
            <a:off x="3665220" y="348734"/>
            <a:ext cx="176022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en-US" altLang="zh-CN" b="1" dirty="0"/>
              <a:t>timerr.cpp</a:t>
            </a:r>
            <a:endParaRPr lang="zh-CN" altLang="en-US" b="1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237981D1-CAB4-D683-846C-9EDB512E4095}"/>
              </a:ext>
            </a:extLst>
          </p:cNvPr>
          <p:cNvCxnSpPr/>
          <p:nvPr/>
        </p:nvCxnSpPr>
        <p:spPr>
          <a:xfrm>
            <a:off x="247289" y="118110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54686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1468C-BCEB-19AE-256C-7EAED57CB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2C71769-4692-0D5E-CD76-48CD98D2D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264" y="0"/>
            <a:ext cx="3395472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D9B955E-E982-552C-54B2-20D7129E215B}"/>
              </a:ext>
            </a:extLst>
          </p:cNvPr>
          <p:cNvSpPr txBox="1"/>
          <p:nvPr/>
        </p:nvSpPr>
        <p:spPr>
          <a:xfrm>
            <a:off x="7513320" y="348734"/>
            <a:ext cx="137922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6</a:t>
            </a:r>
            <a:r>
              <a:rPr lang="zh-CN" altLang="en-US" b="1" dirty="0"/>
              <a:t>、</a:t>
            </a:r>
            <a:r>
              <a:rPr lang="en-US" altLang="zh-CN" b="1" dirty="0" err="1"/>
              <a:t>timerr.h</a:t>
            </a:r>
            <a:endParaRPr lang="zh-CN" altLang="en-US" b="1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E2FD4941-6EBF-042E-EA74-4FF0E621A787}"/>
              </a:ext>
            </a:extLst>
          </p:cNvPr>
          <p:cNvCxnSpPr/>
          <p:nvPr/>
        </p:nvCxnSpPr>
        <p:spPr>
          <a:xfrm>
            <a:off x="3630569" y="257556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70484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C3F8FD-944C-02F4-650A-E42660283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9246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/>
              <a:t>4</a:t>
            </a:r>
            <a:r>
              <a:rPr lang="zh-CN" altLang="en-US" b="1" dirty="0"/>
              <a:t>、文件操作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36B06EE-8BF9-3CA8-B9C8-F8F83FE90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959" y="2025281"/>
            <a:ext cx="3934374" cy="356284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E48E2E0-44B6-BAA5-0CA8-B1F1798B3D24}"/>
              </a:ext>
            </a:extLst>
          </p:cNvPr>
          <p:cNvSpPr txBox="1"/>
          <p:nvPr/>
        </p:nvSpPr>
        <p:spPr>
          <a:xfrm>
            <a:off x="4806860" y="2024742"/>
            <a:ext cx="299928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Qt</a:t>
            </a:r>
            <a:r>
              <a:rPr lang="zh-CN" altLang="en-US" sz="1400" b="1" dirty="0"/>
              <a:t>实验程序（第一部分）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A0725E7-4AE2-46F6-8AE3-BDC2A537CE37}"/>
              </a:ext>
            </a:extLst>
          </p:cNvPr>
          <p:cNvSpPr txBox="1"/>
          <p:nvPr/>
        </p:nvSpPr>
        <p:spPr>
          <a:xfrm>
            <a:off x="621102" y="1960044"/>
            <a:ext cx="470180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实验内容：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400" b="1" dirty="0"/>
              <a:t>熟悉</a:t>
            </a:r>
            <a:r>
              <a:rPr lang="en-US" altLang="zh-CN" sz="2400" b="1" dirty="0"/>
              <a:t>Qt</a:t>
            </a:r>
            <a:r>
              <a:rPr lang="zh-CN" altLang="en-US" sz="2400" b="1" dirty="0"/>
              <a:t>对文件进行操作的方法</a:t>
            </a:r>
            <a:endParaRPr lang="en-US" altLang="zh-CN" sz="2400" b="1" dirty="0"/>
          </a:p>
          <a:p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/>
              <a:t>Qt</a:t>
            </a:r>
            <a:r>
              <a:rPr lang="zh-CN" altLang="en-US" sz="2000" b="1" dirty="0"/>
              <a:t>提供两种读写纯文本文件的基本方法：</a:t>
            </a:r>
            <a:endParaRPr lang="en-US" altLang="zh-CN" sz="2000" b="1" dirty="0"/>
          </a:p>
          <a:p>
            <a:endParaRPr lang="en-US" altLang="zh-C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/>
              <a:t>用</a:t>
            </a:r>
            <a:r>
              <a:rPr lang="en-US" altLang="zh-CN" sz="2000" b="1" dirty="0" err="1"/>
              <a:t>Qfile</a:t>
            </a:r>
            <a:r>
              <a:rPr lang="zh-CN" altLang="en-US" sz="2000" b="1" dirty="0"/>
              <a:t>类的</a:t>
            </a:r>
            <a:r>
              <a:rPr lang="en-US" altLang="zh-CN" sz="2000" b="1" dirty="0" err="1"/>
              <a:t>IODevice</a:t>
            </a:r>
            <a:r>
              <a:rPr lang="zh-CN" altLang="en-US" sz="2000" b="1" dirty="0"/>
              <a:t>读写功能直接进行读写</a:t>
            </a:r>
            <a:endParaRPr lang="en-US" altLang="zh-C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/>
              <a:t>利用</a:t>
            </a:r>
            <a:r>
              <a:rPr lang="en-US" altLang="zh-CN" sz="2000" b="1" dirty="0" err="1"/>
              <a:t>Qfile</a:t>
            </a:r>
            <a:r>
              <a:rPr lang="zh-CN" altLang="en-US" sz="2000" b="1" dirty="0"/>
              <a:t>和</a:t>
            </a:r>
            <a:r>
              <a:rPr lang="en-US" altLang="zh-CN" sz="2000" b="1" dirty="0" err="1"/>
              <a:t>QTextStream</a:t>
            </a:r>
            <a:r>
              <a:rPr lang="zh-CN" altLang="en-US" sz="2000" b="1" dirty="0"/>
              <a:t>结合起来，用流</a:t>
            </a:r>
            <a:r>
              <a:rPr lang="en-US" altLang="zh-CN" sz="2000" b="1" dirty="0"/>
              <a:t>Stream</a:t>
            </a:r>
            <a:r>
              <a:rPr lang="zh-CN" altLang="en-US" sz="2000" b="1" dirty="0"/>
              <a:t>的方法进行文件读写</a:t>
            </a:r>
          </a:p>
        </p:txBody>
      </p:sp>
    </p:spTree>
    <p:extLst>
      <p:ext uri="{BB962C8B-B14F-4D97-AF65-F5344CB8AC3E}">
        <p14:creationId xmlns:p14="http://schemas.microsoft.com/office/powerpoint/2010/main" val="127388610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AEE6AB9-2F0B-7FA3-954D-14965204F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732" y="2633551"/>
            <a:ext cx="7068536" cy="1590897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3E00B5C6-D635-8FF3-0AAC-BE37922BF3FC}"/>
              </a:ext>
            </a:extLst>
          </p:cNvPr>
          <p:cNvCxnSpPr>
            <a:cxnSpLocks/>
          </p:cNvCxnSpPr>
          <p:nvPr/>
        </p:nvCxnSpPr>
        <p:spPr>
          <a:xfrm>
            <a:off x="9234234" y="2240280"/>
            <a:ext cx="0" cy="482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49248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9160931-3DCF-C20F-48BC-6494007E3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218" y="1186537"/>
            <a:ext cx="3496163" cy="398200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9062F14-DBC9-7B18-6E4D-8A1D1D63D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037" y="2094445"/>
            <a:ext cx="2133898" cy="2343477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04674F32-74DC-A746-41EE-6502F28E69B2}"/>
              </a:ext>
            </a:extLst>
          </p:cNvPr>
          <p:cNvCxnSpPr>
            <a:cxnSpLocks/>
          </p:cNvCxnSpPr>
          <p:nvPr/>
        </p:nvCxnSpPr>
        <p:spPr>
          <a:xfrm flipH="1">
            <a:off x="7435459" y="3429000"/>
            <a:ext cx="52698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64064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65F7F51-21C2-A1C9-2FEE-AAAE6D6C9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651" y="523469"/>
            <a:ext cx="9116697" cy="5811061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ED2C724B-9824-92D3-5A39-F4150EB0EFFE}"/>
              </a:ext>
            </a:extLst>
          </p:cNvPr>
          <p:cNvCxnSpPr/>
          <p:nvPr/>
        </p:nvCxnSpPr>
        <p:spPr>
          <a:xfrm flipV="1">
            <a:off x="3206814" y="4574796"/>
            <a:ext cx="0" cy="4144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E0DBFAF6-8C19-7813-381A-07624B23E942}"/>
              </a:ext>
            </a:extLst>
          </p:cNvPr>
          <p:cNvSpPr txBox="1"/>
          <p:nvPr/>
        </p:nvSpPr>
        <p:spPr>
          <a:xfrm>
            <a:off x="5196840" y="1082040"/>
            <a:ext cx="203132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 dirty="0"/>
              <a:t>程序运行后的结果</a:t>
            </a:r>
          </a:p>
        </p:txBody>
      </p:sp>
    </p:spTree>
    <p:extLst>
      <p:ext uri="{BB962C8B-B14F-4D97-AF65-F5344CB8AC3E}">
        <p14:creationId xmlns:p14="http://schemas.microsoft.com/office/powerpoint/2010/main" val="106618697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06F2E86-C82F-BE19-8F29-B31598B97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51" y="1152758"/>
            <a:ext cx="9050013" cy="3924848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C2EC4CBD-3376-C5D1-36CE-3BA9837FD111}"/>
              </a:ext>
            </a:extLst>
          </p:cNvPr>
          <p:cNvCxnSpPr>
            <a:cxnSpLocks/>
          </p:cNvCxnSpPr>
          <p:nvPr/>
        </p:nvCxnSpPr>
        <p:spPr>
          <a:xfrm>
            <a:off x="9283980" y="838940"/>
            <a:ext cx="0" cy="62763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980545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E7DD690-C175-2F7D-E276-1EE7F8062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125" y="504417"/>
            <a:ext cx="9135750" cy="584916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0FACB90-29C5-AFCB-E428-792DDD76A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888" y="475838"/>
            <a:ext cx="9126224" cy="5906324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8FD3BC4D-56B3-C3D0-9C1B-BDB67E6F55DC}"/>
              </a:ext>
            </a:extLst>
          </p:cNvPr>
          <p:cNvCxnSpPr/>
          <p:nvPr/>
        </p:nvCxnSpPr>
        <p:spPr>
          <a:xfrm flipV="1">
            <a:off x="5980494" y="4612896"/>
            <a:ext cx="0" cy="4144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5C26F5E5-BB21-B9AD-5046-529392B3E1F5}"/>
              </a:ext>
            </a:extLst>
          </p:cNvPr>
          <p:cNvCxnSpPr/>
          <p:nvPr/>
        </p:nvCxnSpPr>
        <p:spPr>
          <a:xfrm flipV="1">
            <a:off x="2719134" y="2601216"/>
            <a:ext cx="0" cy="4144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90497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DCECA50-F824-9133-E363-121E1C1B1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125" y="442495"/>
            <a:ext cx="9135750" cy="5973009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7EC72465-F624-2338-D1A6-46B9915520F8}"/>
              </a:ext>
            </a:extLst>
          </p:cNvPr>
          <p:cNvCxnSpPr/>
          <p:nvPr/>
        </p:nvCxnSpPr>
        <p:spPr>
          <a:xfrm flipV="1">
            <a:off x="4829874" y="1061976"/>
            <a:ext cx="0" cy="4144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0C0D2E53-1EA8-6613-B64F-14762D4345A5}"/>
              </a:ext>
            </a:extLst>
          </p:cNvPr>
          <p:cNvCxnSpPr/>
          <p:nvPr/>
        </p:nvCxnSpPr>
        <p:spPr>
          <a:xfrm flipV="1">
            <a:off x="6833934" y="1557276"/>
            <a:ext cx="0" cy="4144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718AEB6-47D4-F275-9C15-0323CCFD1B1F}"/>
              </a:ext>
            </a:extLst>
          </p:cNvPr>
          <p:cNvCxnSpPr/>
          <p:nvPr/>
        </p:nvCxnSpPr>
        <p:spPr>
          <a:xfrm flipV="1">
            <a:off x="9196134" y="1061976"/>
            <a:ext cx="0" cy="4144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57194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AF73C14-058F-8BB5-0B51-6CA1ECC99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809" y="447259"/>
            <a:ext cx="9002381" cy="5963482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92E719A-9856-3532-35D9-06EEFC65BF03}"/>
              </a:ext>
            </a:extLst>
          </p:cNvPr>
          <p:cNvCxnSpPr/>
          <p:nvPr/>
        </p:nvCxnSpPr>
        <p:spPr>
          <a:xfrm flipV="1">
            <a:off x="8784654" y="4620516"/>
            <a:ext cx="0" cy="4144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286177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5F99899-78B2-77E4-7309-3DCA930B0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19" y="490127"/>
            <a:ext cx="9211961" cy="587774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36CA219-FF03-7D14-3F74-98BEEF679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414" y="504417"/>
            <a:ext cx="9107171" cy="58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98152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30DEF69-2A0F-E82A-9EFD-6717B2BFD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891" y="1852392"/>
            <a:ext cx="5144218" cy="3153215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3670A72A-6097-6C4B-5C47-602FDAE89DE2}"/>
              </a:ext>
            </a:extLst>
          </p:cNvPr>
          <p:cNvCxnSpPr/>
          <p:nvPr/>
        </p:nvCxnSpPr>
        <p:spPr>
          <a:xfrm flipV="1">
            <a:off x="7458774" y="4026156"/>
            <a:ext cx="0" cy="4144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99658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8292714-449D-13CF-0711-746B8C547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479" y="788864"/>
            <a:ext cx="8116433" cy="143847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85F223E-05EC-CAC3-33FB-B244A115A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77" y="3279369"/>
            <a:ext cx="10650436" cy="1562318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704729B-709E-F030-6DB0-4A870C7B2CF5}"/>
              </a:ext>
            </a:extLst>
          </p:cNvPr>
          <p:cNvCxnSpPr/>
          <p:nvPr/>
        </p:nvCxnSpPr>
        <p:spPr>
          <a:xfrm flipV="1">
            <a:off x="2710308" y="4486481"/>
            <a:ext cx="0" cy="4144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2CBD51A-B341-8538-1B61-AF5C2869204B}"/>
              </a:ext>
            </a:extLst>
          </p:cNvPr>
          <p:cNvSpPr txBox="1"/>
          <p:nvPr/>
        </p:nvSpPr>
        <p:spPr>
          <a:xfrm>
            <a:off x="1993260" y="5031748"/>
            <a:ext cx="133882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可执行文件</a:t>
            </a:r>
          </a:p>
        </p:txBody>
      </p:sp>
    </p:spTree>
    <p:extLst>
      <p:ext uri="{BB962C8B-B14F-4D97-AF65-F5344CB8AC3E}">
        <p14:creationId xmlns:p14="http://schemas.microsoft.com/office/powerpoint/2010/main" val="98614694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08D51-EB15-0D17-09AE-C12D58EA6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43418D-F2CA-D6DD-1438-77997D4FF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66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也可以在</a:t>
            </a:r>
            <a:r>
              <a:rPr lang="en-US" altLang="zh-CN" sz="2000" b="1" dirty="0"/>
              <a:t>Ubuntu</a:t>
            </a:r>
            <a:r>
              <a:rPr lang="zh-CN" altLang="en-US" sz="2000" b="1" dirty="0"/>
              <a:t>的“终端”上运行编译好的可执行文件：</a:t>
            </a:r>
            <a:endParaRPr lang="en-US" altLang="zh-CN" sz="2000" b="1" dirty="0"/>
          </a:p>
          <a:p>
            <a:pPr lvl="1"/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cd /home/</a:t>
            </a:r>
            <a:r>
              <a:rPr lang="en-US" altLang="zh-CN" sz="1800" b="1" dirty="0" err="1"/>
              <a:t>linux</a:t>
            </a:r>
            <a:r>
              <a:rPr lang="en-US" altLang="zh-CN" sz="1800" b="1" dirty="0"/>
              <a:t>/qt/build-</a:t>
            </a:r>
            <a:r>
              <a:rPr lang="en-US" altLang="zh-CN" sz="1800" b="1" dirty="0" err="1"/>
              <a:t>FileDialog</a:t>
            </a:r>
            <a:r>
              <a:rPr lang="en-US" altLang="zh-CN" sz="1800" b="1" dirty="0"/>
              <a:t>-Desktop-Debug</a:t>
            </a:r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./</a:t>
            </a:r>
            <a:r>
              <a:rPr lang="en-US" altLang="zh-CN" sz="1800" b="1" dirty="0" err="1"/>
              <a:t>FileDialog</a:t>
            </a:r>
            <a:endParaRPr lang="en-US" altLang="zh-CN" sz="1800" b="1" dirty="0"/>
          </a:p>
          <a:p>
            <a:pPr lvl="1"/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29967363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A020285-0F1A-AFAF-3625-7D62502F3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342" y="0"/>
            <a:ext cx="8121316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AAFE956-BA5D-3025-BAA0-C827485BE704}"/>
              </a:ext>
            </a:extLst>
          </p:cNvPr>
          <p:cNvSpPr txBox="1"/>
          <p:nvPr/>
        </p:nvSpPr>
        <p:spPr>
          <a:xfrm>
            <a:off x="6682740" y="348734"/>
            <a:ext cx="20726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 err="1"/>
              <a:t>FileDialog</a:t>
            </a:r>
            <a:r>
              <a:rPr lang="zh-CN" altLang="en-US" b="1" dirty="0"/>
              <a:t>.pro</a:t>
            </a:r>
          </a:p>
        </p:txBody>
      </p:sp>
    </p:spTree>
    <p:extLst>
      <p:ext uri="{BB962C8B-B14F-4D97-AF65-F5344CB8AC3E}">
        <p14:creationId xmlns:p14="http://schemas.microsoft.com/office/powerpoint/2010/main" val="184539677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09E72FC-1D76-5CDF-F927-EF9328456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629" y="1604708"/>
            <a:ext cx="3886742" cy="364858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6842F83-425A-6C5B-D52E-06FD317C524B}"/>
              </a:ext>
            </a:extLst>
          </p:cNvPr>
          <p:cNvSpPr txBox="1"/>
          <p:nvPr/>
        </p:nvSpPr>
        <p:spPr>
          <a:xfrm>
            <a:off x="6682740" y="348734"/>
            <a:ext cx="160020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lang="en-US" altLang="zh-CN" b="1" dirty="0"/>
              <a:t>main.cpp</a:t>
            </a:r>
            <a:endParaRPr lang="zh-CN" altLang="en-US" b="1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49D1DD06-5532-5BF6-3D03-7CCC457425BC}"/>
              </a:ext>
            </a:extLst>
          </p:cNvPr>
          <p:cNvCxnSpPr/>
          <p:nvPr/>
        </p:nvCxnSpPr>
        <p:spPr>
          <a:xfrm>
            <a:off x="3706769" y="416052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32376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2C43F-B7C0-B667-20D8-B1E152530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A46D28C-F5C8-25D6-9840-140892CE9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374" y="0"/>
            <a:ext cx="5472452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DA35665-6E21-8710-2B9A-0DD6A4D9733B}"/>
              </a:ext>
            </a:extLst>
          </p:cNvPr>
          <p:cNvSpPr txBox="1"/>
          <p:nvPr/>
        </p:nvSpPr>
        <p:spPr>
          <a:xfrm>
            <a:off x="6682740" y="348734"/>
            <a:ext cx="17678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3</a:t>
            </a:r>
            <a:r>
              <a:rPr lang="zh-CN" altLang="en-US" b="1" dirty="0"/>
              <a:t>、</a:t>
            </a:r>
            <a:r>
              <a:rPr lang="en-US" altLang="zh-CN" b="1" dirty="0"/>
              <a:t>dialog.cpp</a:t>
            </a:r>
            <a:endParaRPr lang="zh-CN" altLang="en-US" b="1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14A3855-CCED-21C0-9BAC-25C5A0185840}"/>
              </a:ext>
            </a:extLst>
          </p:cNvPr>
          <p:cNvCxnSpPr/>
          <p:nvPr/>
        </p:nvCxnSpPr>
        <p:spPr>
          <a:xfrm>
            <a:off x="2518049" y="80010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18619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A18C5-D9B8-D337-BB0A-F291E0E4D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8593415-7598-6954-025D-AD71032A8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900" y="0"/>
            <a:ext cx="4993960" cy="6858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8CDC056-E184-CE64-7A24-732D28E82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689" y="553723"/>
            <a:ext cx="3758531" cy="170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3206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F51C875-6369-A92C-CCE7-569CEA6A3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478" y="0"/>
            <a:ext cx="2991044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7A4660B-BF24-C4B0-EB12-6F935F0A7B54}"/>
              </a:ext>
            </a:extLst>
          </p:cNvPr>
          <p:cNvSpPr txBox="1"/>
          <p:nvPr/>
        </p:nvSpPr>
        <p:spPr>
          <a:xfrm>
            <a:off x="7124700" y="348734"/>
            <a:ext cx="17678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4</a:t>
            </a:r>
            <a:r>
              <a:rPr lang="zh-CN" altLang="en-US" b="1" dirty="0"/>
              <a:t>、</a:t>
            </a:r>
            <a:r>
              <a:rPr lang="en-US" altLang="zh-CN" b="1" dirty="0" err="1"/>
              <a:t>dialog.h</a:t>
            </a:r>
            <a:endParaRPr lang="zh-CN" altLang="en-US" b="1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604D6061-7F97-DE2F-9A59-E020736860EA}"/>
              </a:ext>
            </a:extLst>
          </p:cNvPr>
          <p:cNvCxnSpPr/>
          <p:nvPr/>
        </p:nvCxnSpPr>
        <p:spPr>
          <a:xfrm>
            <a:off x="3790589" y="302514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23956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7B7B4-A3B0-D1E1-3844-4A3FCF141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FEFB443-D626-125D-1242-B03830E5D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234" y="1890498"/>
            <a:ext cx="8507012" cy="307700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041ADCC-4082-4FF8-EA15-0DC8359EE6EC}"/>
              </a:ext>
            </a:extLst>
          </p:cNvPr>
          <p:cNvSpPr txBox="1"/>
          <p:nvPr/>
        </p:nvSpPr>
        <p:spPr>
          <a:xfrm>
            <a:off x="6682740" y="348734"/>
            <a:ext cx="200406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en-US" altLang="zh-CN" b="1" dirty="0"/>
              <a:t>mythread.cpp</a:t>
            </a:r>
            <a:endParaRPr lang="zh-CN" altLang="en-US" b="1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D3B3556-569F-56D3-F69C-CAF2244140CE}"/>
              </a:ext>
            </a:extLst>
          </p:cNvPr>
          <p:cNvCxnSpPr/>
          <p:nvPr/>
        </p:nvCxnSpPr>
        <p:spPr>
          <a:xfrm>
            <a:off x="2159909" y="323850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91510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E049B7A-829A-5C80-CA1F-CD2492383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7002" y="0"/>
            <a:ext cx="3097995" cy="6858000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59C72997-A38A-2AF7-7C64-4B85B3128A6F}"/>
              </a:ext>
            </a:extLst>
          </p:cNvPr>
          <p:cNvCxnSpPr/>
          <p:nvPr/>
        </p:nvCxnSpPr>
        <p:spPr>
          <a:xfrm>
            <a:off x="3760109" y="16764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21334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EBBA8F4-B572-7404-255A-B2FFE66FD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186" y="0"/>
            <a:ext cx="5611628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F91D94B-86CB-536B-4B6A-12938DD6C27B}"/>
              </a:ext>
            </a:extLst>
          </p:cNvPr>
          <p:cNvSpPr txBox="1"/>
          <p:nvPr/>
        </p:nvSpPr>
        <p:spPr>
          <a:xfrm>
            <a:off x="6682740" y="348734"/>
            <a:ext cx="189738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6</a:t>
            </a:r>
            <a:r>
              <a:rPr lang="zh-CN" altLang="en-US" b="1" dirty="0"/>
              <a:t>、</a:t>
            </a:r>
            <a:r>
              <a:rPr lang="en-US" altLang="zh-CN" b="1" dirty="0" err="1"/>
              <a:t>mythread.h</a:t>
            </a:r>
            <a:endParaRPr lang="zh-CN" altLang="en-US" b="1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0BE4850D-0E31-BB9B-3896-9515C1FD4EA7}"/>
              </a:ext>
            </a:extLst>
          </p:cNvPr>
          <p:cNvCxnSpPr/>
          <p:nvPr/>
        </p:nvCxnSpPr>
        <p:spPr>
          <a:xfrm>
            <a:off x="2502809" y="213360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47904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B53418-22D4-3223-2FA3-F6E01D05B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/>
              <a:t>5</a:t>
            </a:r>
            <a:r>
              <a:rPr lang="zh-CN" altLang="en-US" b="1" dirty="0"/>
              <a:t>、数据库管理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02B91C-5EE3-4955-BD47-566C8B5C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1942"/>
            <a:ext cx="10515600" cy="16048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 dirty="0"/>
              <a:t>Qt</a:t>
            </a:r>
            <a:r>
              <a:rPr lang="zh-CN" altLang="en-US" sz="2400" b="1" dirty="0"/>
              <a:t>提供了</a:t>
            </a:r>
            <a:r>
              <a:rPr lang="en-US" altLang="zh-CN" sz="2400" b="1" dirty="0" err="1"/>
              <a:t>QtSql</a:t>
            </a:r>
            <a:r>
              <a:rPr lang="zh-CN" altLang="en-US" sz="2400" b="1" dirty="0"/>
              <a:t>模块来提供平台独立的基于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的数据库操作</a:t>
            </a:r>
            <a:endParaRPr lang="en-US" altLang="zh-CN" sz="2400" b="1" dirty="0"/>
          </a:p>
          <a:p>
            <a:pPr>
              <a:lnSpc>
                <a:spcPct val="100000"/>
              </a:lnSpc>
            </a:pPr>
            <a:r>
              <a:rPr lang="en-US" altLang="zh-CN" sz="2400" b="1" dirty="0"/>
              <a:t>Qt</a:t>
            </a:r>
            <a:r>
              <a:rPr lang="zh-CN" altLang="en-US" sz="2400" b="1" dirty="0"/>
              <a:t>使用</a:t>
            </a:r>
            <a:r>
              <a:rPr lang="en-US" altLang="zh-CN" sz="2400" b="1" dirty="0" err="1"/>
              <a:t>QSqlDatabase</a:t>
            </a:r>
            <a:r>
              <a:rPr lang="zh-CN" altLang="en-US" sz="2400" b="1" dirty="0"/>
              <a:t>表示一个数据库连接，更底层上，</a:t>
            </a:r>
            <a:r>
              <a:rPr lang="en-US" altLang="zh-CN" sz="2400" b="1" dirty="0"/>
              <a:t>Qt</a:t>
            </a:r>
            <a:r>
              <a:rPr lang="zh-CN" altLang="en-US" sz="2400" b="1" dirty="0"/>
              <a:t>使用驱动</a:t>
            </a:r>
            <a:r>
              <a:rPr lang="en-US" altLang="zh-CN" sz="2400" b="1" dirty="0"/>
              <a:t>drivers</a:t>
            </a:r>
            <a:r>
              <a:rPr lang="zh-CN" altLang="en-US" sz="2400" b="1" dirty="0"/>
              <a:t>来与不同的数据库</a:t>
            </a:r>
            <a:r>
              <a:rPr lang="en-US" altLang="zh-CN" sz="2400" b="1" dirty="0"/>
              <a:t>APT</a:t>
            </a:r>
            <a:r>
              <a:rPr lang="zh-CN" altLang="en-US" sz="2400" b="1" dirty="0"/>
              <a:t>进行交互。</a:t>
            </a:r>
            <a:r>
              <a:rPr lang="en-US" altLang="zh-CN" sz="2400" b="1" dirty="0"/>
              <a:t>Qt</a:t>
            </a:r>
            <a:r>
              <a:rPr lang="zh-CN" altLang="en-US" sz="2400" b="1" dirty="0"/>
              <a:t>桌面版本提供了如下几种驱动：</a:t>
            </a:r>
            <a:endParaRPr lang="en-US" altLang="zh-CN" sz="2400" b="1" dirty="0"/>
          </a:p>
          <a:p>
            <a:pPr>
              <a:lnSpc>
                <a:spcPct val="100000"/>
              </a:lnSpc>
            </a:pPr>
            <a:endParaRPr lang="en-US" altLang="zh-CN" sz="2400" b="1" dirty="0"/>
          </a:p>
          <a:p>
            <a:pPr>
              <a:lnSpc>
                <a:spcPct val="100000"/>
              </a:lnSpc>
            </a:pPr>
            <a:endParaRPr lang="zh-CN" altLang="en-US" sz="24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F309F0B-9A28-445C-9304-E7874AF70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109" y="2850855"/>
            <a:ext cx="7176189" cy="364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50854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E999789-D4D8-4248-8ED4-37B9305EA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60" y="2221661"/>
            <a:ext cx="3620005" cy="289600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89BC597-5AFD-CBEA-06B0-0BE1C558E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5770" y="3277495"/>
            <a:ext cx="7030431" cy="1714739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3D4C9A49-E478-D1FA-3BE6-AB1B8FE67360}"/>
              </a:ext>
            </a:extLst>
          </p:cNvPr>
          <p:cNvCxnSpPr>
            <a:cxnSpLocks/>
          </p:cNvCxnSpPr>
          <p:nvPr/>
        </p:nvCxnSpPr>
        <p:spPr>
          <a:xfrm>
            <a:off x="10377234" y="2946144"/>
            <a:ext cx="0" cy="482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0CE5396-F559-4766-A84B-DDFBD4846D96}"/>
              </a:ext>
            </a:extLst>
          </p:cNvPr>
          <p:cNvSpPr txBox="1"/>
          <p:nvPr/>
        </p:nvSpPr>
        <p:spPr>
          <a:xfrm>
            <a:off x="1165015" y="1232079"/>
            <a:ext cx="776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实验内容：熟悉</a:t>
            </a:r>
            <a:r>
              <a:rPr lang="en-US" altLang="zh-CN" sz="2400" b="1" dirty="0"/>
              <a:t>Qt</a:t>
            </a:r>
            <a:r>
              <a:rPr lang="zh-CN" altLang="en-US" sz="2400" b="1" dirty="0"/>
              <a:t>使用</a:t>
            </a:r>
            <a:r>
              <a:rPr lang="en-US" altLang="zh-CN" sz="2400" b="1" dirty="0" err="1"/>
              <a:t>sql</a:t>
            </a:r>
            <a:r>
              <a:rPr lang="zh-CN" altLang="en-US" sz="2400" b="1" dirty="0"/>
              <a:t>数据库进行增删改查的操作</a:t>
            </a:r>
          </a:p>
        </p:txBody>
      </p:sp>
    </p:spTree>
    <p:extLst>
      <p:ext uri="{BB962C8B-B14F-4D97-AF65-F5344CB8AC3E}">
        <p14:creationId xmlns:p14="http://schemas.microsoft.com/office/powerpoint/2010/main" val="250576800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CB9F8E1-76CF-5685-81B6-40F87F8DA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309" y="1398007"/>
            <a:ext cx="3162741" cy="37724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2939CE1-E5C0-5A23-CC65-FC458566B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11" y="2257261"/>
            <a:ext cx="2133898" cy="2343477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192BBE58-BC71-27A1-F83B-FC6B72DFB204}"/>
              </a:ext>
            </a:extLst>
          </p:cNvPr>
          <p:cNvCxnSpPr>
            <a:cxnSpLocks/>
          </p:cNvCxnSpPr>
          <p:nvPr/>
        </p:nvCxnSpPr>
        <p:spPr>
          <a:xfrm flipH="1">
            <a:off x="9554274" y="3599436"/>
            <a:ext cx="54984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18134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62D9F9A-67F6-1E58-9089-0E5345B40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15" y="0"/>
            <a:ext cx="10673169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67EC538-03FA-BD41-43D0-4693EA5DDAC9}"/>
              </a:ext>
            </a:extLst>
          </p:cNvPr>
          <p:cNvSpPr txBox="1"/>
          <p:nvPr/>
        </p:nvSpPr>
        <p:spPr>
          <a:xfrm>
            <a:off x="2560320" y="609600"/>
            <a:ext cx="203132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 dirty="0"/>
              <a:t>程序运行后的结果</a:t>
            </a:r>
          </a:p>
        </p:txBody>
      </p:sp>
    </p:spTree>
    <p:extLst>
      <p:ext uri="{BB962C8B-B14F-4D97-AF65-F5344CB8AC3E}">
        <p14:creationId xmlns:p14="http://schemas.microsoft.com/office/powerpoint/2010/main" val="175463935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F7F1651-86B3-7006-CCE2-F3CA4456D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017" y="660244"/>
            <a:ext cx="6344535" cy="14194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1097D09-B2DE-556E-107A-A91B75C2C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078" y="3281402"/>
            <a:ext cx="8964276" cy="1400370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6A4C2E7-082A-F320-EB0A-DA10F24F1D63}"/>
              </a:ext>
            </a:extLst>
          </p:cNvPr>
          <p:cNvCxnSpPr/>
          <p:nvPr/>
        </p:nvCxnSpPr>
        <p:spPr>
          <a:xfrm flipV="1">
            <a:off x="8203287" y="4512795"/>
            <a:ext cx="0" cy="4144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61DD289-9665-728D-AA5D-1B6DE98CB235}"/>
              </a:ext>
            </a:extLst>
          </p:cNvPr>
          <p:cNvSpPr txBox="1"/>
          <p:nvPr/>
        </p:nvSpPr>
        <p:spPr>
          <a:xfrm>
            <a:off x="7486239" y="5058062"/>
            <a:ext cx="133882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可执行文件</a:t>
            </a:r>
          </a:p>
        </p:txBody>
      </p:sp>
    </p:spTree>
    <p:extLst>
      <p:ext uri="{BB962C8B-B14F-4D97-AF65-F5344CB8AC3E}">
        <p14:creationId xmlns:p14="http://schemas.microsoft.com/office/powerpoint/2010/main" val="230970879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27CB3-D5AE-A12E-BAF7-AB9F36365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91A42A-22D7-A85C-3560-29665FD68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66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也可以在</a:t>
            </a:r>
            <a:r>
              <a:rPr lang="en-US" altLang="zh-CN" sz="2000" b="1" dirty="0"/>
              <a:t>Ubuntu</a:t>
            </a:r>
            <a:r>
              <a:rPr lang="zh-CN" altLang="en-US" sz="2000" b="1" dirty="0"/>
              <a:t>的“终端”上运行编译好的可执行文件：</a:t>
            </a:r>
            <a:endParaRPr lang="en-US" altLang="zh-CN" sz="2000" b="1" dirty="0"/>
          </a:p>
          <a:p>
            <a:pPr lvl="1"/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cd /home/</a:t>
            </a:r>
            <a:r>
              <a:rPr lang="en-US" altLang="zh-CN" sz="1800" b="1" dirty="0" err="1"/>
              <a:t>linux</a:t>
            </a:r>
            <a:r>
              <a:rPr lang="en-US" altLang="zh-CN" sz="1800" b="1" dirty="0"/>
              <a:t>/qt/build-SQL-Desktop-Debug</a:t>
            </a:r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./SQL</a:t>
            </a:r>
          </a:p>
          <a:p>
            <a:pPr lvl="1"/>
            <a:endParaRPr lang="en-US" altLang="zh-CN" sz="1800" b="1" dirty="0"/>
          </a:p>
          <a:p>
            <a:pPr lvl="1"/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68533360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450B2A0-42A6-3B8C-8062-B53A41226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691" y="0"/>
            <a:ext cx="8590617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D968AEA-18B2-078E-371B-DBB54CF56E13}"/>
              </a:ext>
            </a:extLst>
          </p:cNvPr>
          <p:cNvSpPr txBox="1"/>
          <p:nvPr/>
        </p:nvSpPr>
        <p:spPr>
          <a:xfrm>
            <a:off x="6682740" y="348734"/>
            <a:ext cx="149352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SQL</a:t>
            </a:r>
            <a:r>
              <a:rPr lang="zh-CN" altLang="en-US" b="1" dirty="0"/>
              <a:t>.pro</a:t>
            </a:r>
          </a:p>
        </p:txBody>
      </p:sp>
    </p:spTree>
    <p:extLst>
      <p:ext uri="{BB962C8B-B14F-4D97-AF65-F5344CB8AC3E}">
        <p14:creationId xmlns:p14="http://schemas.microsoft.com/office/powerpoint/2010/main" val="246044839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A21AE-DA37-1C59-D08F-A3852CF60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53C3AF4-C9D0-031C-DDE2-63AC685F8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444" y="1580892"/>
            <a:ext cx="4201111" cy="369621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EBD588B-87EB-D2F3-5596-E6E11D35342A}"/>
              </a:ext>
            </a:extLst>
          </p:cNvPr>
          <p:cNvSpPr txBox="1"/>
          <p:nvPr/>
        </p:nvSpPr>
        <p:spPr>
          <a:xfrm>
            <a:off x="6682740" y="348734"/>
            <a:ext cx="166878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lang="en-US" altLang="zh-CN" b="1" dirty="0"/>
              <a:t>main.cpp</a:t>
            </a:r>
            <a:endParaRPr lang="zh-CN" altLang="en-US" b="1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8BC585D8-C28A-CAE0-59B2-45F438C9F971}"/>
              </a:ext>
            </a:extLst>
          </p:cNvPr>
          <p:cNvCxnSpPr/>
          <p:nvPr/>
        </p:nvCxnSpPr>
        <p:spPr>
          <a:xfrm>
            <a:off x="3607709" y="412242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6508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E1095-11E3-F153-AA81-1DDBAFCA3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4A8E189-BED2-88FA-BC33-6AE8662AF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342" y="0"/>
            <a:ext cx="7411316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B5E5FE5-8471-910F-8E99-AA62D68D7650}"/>
              </a:ext>
            </a:extLst>
          </p:cNvPr>
          <p:cNvSpPr txBox="1"/>
          <p:nvPr/>
        </p:nvSpPr>
        <p:spPr>
          <a:xfrm>
            <a:off x="6682740" y="348734"/>
            <a:ext cx="174498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3</a:t>
            </a:r>
            <a:r>
              <a:rPr lang="zh-CN" altLang="en-US" b="1" dirty="0"/>
              <a:t>、</a:t>
            </a:r>
            <a:r>
              <a:rPr lang="en-US" altLang="zh-CN" b="1" dirty="0"/>
              <a:t>dialog.cpp</a:t>
            </a:r>
            <a:endParaRPr lang="zh-CN" altLang="en-US" b="1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986FB6E0-3A16-D713-E072-4C86C2146947}"/>
              </a:ext>
            </a:extLst>
          </p:cNvPr>
          <p:cNvCxnSpPr/>
          <p:nvPr/>
        </p:nvCxnSpPr>
        <p:spPr>
          <a:xfrm>
            <a:off x="1733189" y="137160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191350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16CF9-95DC-6998-0DF7-1A06AA82C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4045DCE-47A3-3D23-0CEB-72BE1C447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086" y="0"/>
            <a:ext cx="51578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33127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4D7FB-85C4-2FAA-2E80-5BAD8D123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CE1ED44-98A1-C3FC-5845-64D1AA69C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545" y="0"/>
            <a:ext cx="49769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92302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B3F0A-2644-84F7-3AB7-43BC51FFF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48B2782-D548-9418-5650-B195D462C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427" y="0"/>
            <a:ext cx="55031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24666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9B06C-EDEF-2D47-3AA2-7C3E68887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7DBEA48-7B94-ABA4-455F-5B70DB80D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137" y="0"/>
            <a:ext cx="5181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9333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31588-D079-23A1-CC8F-3A418344E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0788640-7225-6895-2D99-5DD7E4CB1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026" y="0"/>
            <a:ext cx="73459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48488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B2659-35CF-D8AA-C6F4-F48D7C6DC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B720B81-3064-518C-BB54-BBC99BF23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300" y="0"/>
            <a:ext cx="59653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01051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DEC9D09-BEFD-F4C1-AC04-B5AF1D192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74" y="0"/>
            <a:ext cx="2603452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A499261-23FA-F343-E384-453C3D943AA3}"/>
              </a:ext>
            </a:extLst>
          </p:cNvPr>
          <p:cNvSpPr txBox="1"/>
          <p:nvPr/>
        </p:nvSpPr>
        <p:spPr>
          <a:xfrm>
            <a:off x="7719060" y="348734"/>
            <a:ext cx="174498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4</a:t>
            </a:r>
            <a:r>
              <a:rPr lang="zh-CN" altLang="en-US" b="1" dirty="0"/>
              <a:t>、</a:t>
            </a:r>
            <a:r>
              <a:rPr lang="en-US" altLang="zh-CN" b="1" dirty="0" err="1"/>
              <a:t>dialog.h</a:t>
            </a:r>
            <a:endParaRPr lang="zh-CN" altLang="en-US" b="1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EB833487-B403-5A1B-DDB3-60782FA02B19}"/>
              </a:ext>
            </a:extLst>
          </p:cNvPr>
          <p:cNvCxnSpPr/>
          <p:nvPr/>
        </p:nvCxnSpPr>
        <p:spPr>
          <a:xfrm>
            <a:off x="4103009" y="266700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142586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73334C-F532-9DEA-7E31-B2FBF1CF2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/>
              <a:t>6</a:t>
            </a:r>
            <a:r>
              <a:rPr lang="zh-CN" altLang="en-US" b="1" dirty="0"/>
              <a:t>、网络编程（</a:t>
            </a:r>
            <a:r>
              <a:rPr lang="en-US" altLang="zh-CN" b="1" dirty="0"/>
              <a:t>TCP</a:t>
            </a:r>
            <a:r>
              <a:rPr lang="zh-CN" altLang="en-US" b="1" dirty="0"/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DFFD824-02D4-E60E-E6D6-AA94C77B8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65" y="3124083"/>
            <a:ext cx="5658130" cy="1135497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AAD786B-122A-69FC-6343-3A802A3EF7F5}"/>
              </a:ext>
            </a:extLst>
          </p:cNvPr>
          <p:cNvCxnSpPr>
            <a:cxnSpLocks/>
          </p:cNvCxnSpPr>
          <p:nvPr/>
        </p:nvCxnSpPr>
        <p:spPr>
          <a:xfrm>
            <a:off x="1676400" y="4099560"/>
            <a:ext cx="5879359" cy="11201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E235B47D-28F6-E22A-0359-4245A09F9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050" y="1719881"/>
            <a:ext cx="2076740" cy="19719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A6224D6-1A8F-5E49-036B-2C12E4D00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773" y="4099560"/>
            <a:ext cx="2067213" cy="206721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84DB5EC-9743-C2BB-7700-ABBA57523F9E}"/>
              </a:ext>
            </a:extLst>
          </p:cNvPr>
          <p:cNvSpPr txBox="1"/>
          <p:nvPr/>
        </p:nvSpPr>
        <p:spPr>
          <a:xfrm>
            <a:off x="18234" y="3098363"/>
            <a:ext cx="543768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Qt</a:t>
            </a:r>
            <a:r>
              <a:rPr lang="zh-CN" altLang="en-US" sz="1400" b="1" dirty="0"/>
              <a:t>实验程序（第一部分）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C6A6D0C-2B18-7127-DA8D-9E3F3355B64E}"/>
              </a:ext>
            </a:extLst>
          </p:cNvPr>
          <p:cNvCxnSpPr>
            <a:cxnSpLocks/>
          </p:cNvCxnSpPr>
          <p:nvPr/>
        </p:nvCxnSpPr>
        <p:spPr>
          <a:xfrm flipV="1">
            <a:off x="1668780" y="2791593"/>
            <a:ext cx="5869184" cy="10869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757027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EA17C-D944-4F87-AECF-17A5753F8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/>
              <a:t>6</a:t>
            </a:r>
            <a:r>
              <a:rPr lang="zh-CN" altLang="en-US" b="1" dirty="0"/>
              <a:t>、网络编程（</a:t>
            </a:r>
            <a:r>
              <a:rPr lang="en-US" altLang="zh-CN" b="1" dirty="0"/>
              <a:t>TCP</a:t>
            </a:r>
            <a:r>
              <a:rPr lang="zh-CN" altLang="en-US" b="1" dirty="0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DF0208-1D0A-4BF9-8545-A78A70FB1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046" y="1532327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实验流程</a:t>
            </a:r>
            <a:endParaRPr lang="en-US" altLang="zh-CN" b="1" dirty="0"/>
          </a:p>
          <a:p>
            <a:pPr lvl="1">
              <a:lnSpc>
                <a:spcPct val="150000"/>
              </a:lnSpc>
            </a:pPr>
            <a:r>
              <a:rPr lang="zh-CN" altLang="en-US" b="1" dirty="0"/>
              <a:t>服务器端</a:t>
            </a:r>
            <a:endParaRPr lang="en-US" altLang="zh-CN" b="1" dirty="0"/>
          </a:p>
          <a:p>
            <a:pPr lvl="2">
              <a:lnSpc>
                <a:spcPct val="150000"/>
              </a:lnSpc>
            </a:pPr>
            <a:r>
              <a:rPr lang="zh-CN" altLang="en-US" sz="2100" b="1" dirty="0"/>
              <a:t>在服务器端的程序中，我们本地主机的一个端口，这里使用 </a:t>
            </a:r>
            <a:r>
              <a:rPr lang="en-US" altLang="zh-CN" sz="2100" b="1" dirty="0"/>
              <a:t>6666</a:t>
            </a:r>
            <a:r>
              <a:rPr lang="zh-CN" altLang="en-US" sz="2100" b="1" dirty="0"/>
              <a:t>，然后关联 </a:t>
            </a:r>
            <a:r>
              <a:rPr lang="en-US" altLang="zh-CN" sz="2100" b="1" dirty="0" err="1">
                <a:solidFill>
                  <a:srgbClr val="C00000"/>
                </a:solidFill>
              </a:rPr>
              <a:t>newConnection</a:t>
            </a:r>
            <a:r>
              <a:rPr lang="en-US" altLang="zh-CN" sz="2100" b="1" dirty="0">
                <a:solidFill>
                  <a:srgbClr val="C00000"/>
                </a:solidFill>
              </a:rPr>
              <a:t>()</a:t>
            </a:r>
            <a:r>
              <a:rPr lang="zh-CN" altLang="en-US" sz="2100" b="1" dirty="0">
                <a:solidFill>
                  <a:srgbClr val="C00000"/>
                </a:solidFill>
              </a:rPr>
              <a:t>信号与自己写的 </a:t>
            </a:r>
            <a:r>
              <a:rPr lang="en-US" altLang="zh-CN" sz="2100" b="1" dirty="0" err="1">
                <a:solidFill>
                  <a:srgbClr val="C00000"/>
                </a:solidFill>
              </a:rPr>
              <a:t>sendMessage</a:t>
            </a:r>
            <a:r>
              <a:rPr lang="en-US" altLang="zh-CN" sz="2100" b="1" dirty="0">
                <a:solidFill>
                  <a:srgbClr val="C00000"/>
                </a:solidFill>
              </a:rPr>
              <a:t>()</a:t>
            </a:r>
            <a:r>
              <a:rPr lang="zh-CN" altLang="en-US" sz="2100" b="1" dirty="0">
                <a:solidFill>
                  <a:srgbClr val="C00000"/>
                </a:solidFill>
              </a:rPr>
              <a:t>槽</a:t>
            </a:r>
            <a:r>
              <a:rPr lang="zh-CN" altLang="en-US" sz="2100" b="1" dirty="0"/>
              <a:t>。就是说一旦有客户端的连接请求，就会执行 </a:t>
            </a:r>
            <a:r>
              <a:rPr lang="en-US" altLang="zh-CN" sz="2100" b="1" dirty="0" err="1"/>
              <a:t>sendMessage</a:t>
            </a:r>
            <a:r>
              <a:rPr lang="en-US" altLang="zh-CN" sz="2100" b="1" dirty="0"/>
              <a:t>( )</a:t>
            </a:r>
            <a:r>
              <a:rPr lang="zh-CN" altLang="en-US" sz="2100" b="1" dirty="0"/>
              <a:t>函数，在这个函数里我们发送一个简单的字符串 </a:t>
            </a:r>
            <a:br>
              <a:rPr lang="zh-CN" altLang="en-US" b="1" dirty="0"/>
            </a:br>
            <a:endParaRPr lang="en-US" altLang="zh-CN" b="1" dirty="0"/>
          </a:p>
          <a:p>
            <a:pPr lvl="1">
              <a:lnSpc>
                <a:spcPct val="150000"/>
              </a:lnSpc>
            </a:pPr>
            <a:r>
              <a:rPr lang="zh-CN" altLang="en-US" b="1" dirty="0"/>
              <a:t>客户端</a:t>
            </a:r>
            <a:endParaRPr lang="en-US" altLang="zh-CN" b="1" dirty="0"/>
          </a:p>
          <a:p>
            <a:pPr lvl="2">
              <a:lnSpc>
                <a:spcPct val="150000"/>
              </a:lnSpc>
            </a:pPr>
            <a:r>
              <a:rPr lang="zh-CN" altLang="en-US" sz="2100" b="1" dirty="0"/>
              <a:t>我们在客户端程序中向服务器发送连接请求，当连接成功时接收服务器发送的数据 </a:t>
            </a:r>
            <a:br>
              <a:rPr lang="zh-CN" altLang="en-US" b="1" dirty="0"/>
            </a:b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09980710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F06CB90-ABA7-A773-7C14-F75FB50BD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153" y="2514472"/>
            <a:ext cx="7125694" cy="1829055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8ED49C8D-BF18-8F8C-2501-637FFFA6FEA9}"/>
              </a:ext>
            </a:extLst>
          </p:cNvPr>
          <p:cNvCxnSpPr>
            <a:cxnSpLocks/>
          </p:cNvCxnSpPr>
          <p:nvPr/>
        </p:nvCxnSpPr>
        <p:spPr>
          <a:xfrm>
            <a:off x="9173274" y="2224912"/>
            <a:ext cx="0" cy="482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85953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34DDA17-BC6A-2BAB-D847-1652F61C7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773" y="1303710"/>
            <a:ext cx="3210373" cy="37629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F999ADE-F74F-BF1E-FC80-A70ED30C1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611" y="2257261"/>
            <a:ext cx="2133898" cy="2343477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78EB8F73-1293-58B7-71CD-2334D3ABE773}"/>
              </a:ext>
            </a:extLst>
          </p:cNvPr>
          <p:cNvCxnSpPr>
            <a:cxnSpLocks/>
          </p:cNvCxnSpPr>
          <p:nvPr/>
        </p:nvCxnSpPr>
        <p:spPr>
          <a:xfrm flipH="1">
            <a:off x="9523794" y="3607056"/>
            <a:ext cx="54984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0841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5063EC9-FC4D-4A8D-4318-50CACF49E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126" y="361522"/>
            <a:ext cx="7687748" cy="613495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AC73477-30AF-82FB-C3D2-A654DFE59E72}"/>
              </a:ext>
            </a:extLst>
          </p:cNvPr>
          <p:cNvSpPr txBox="1"/>
          <p:nvPr/>
        </p:nvSpPr>
        <p:spPr>
          <a:xfrm>
            <a:off x="5227320" y="1181100"/>
            <a:ext cx="203132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 dirty="0"/>
              <a:t>程序运行后的结果</a:t>
            </a:r>
          </a:p>
        </p:txBody>
      </p:sp>
    </p:spTree>
    <p:extLst>
      <p:ext uri="{BB962C8B-B14F-4D97-AF65-F5344CB8AC3E}">
        <p14:creationId xmlns:p14="http://schemas.microsoft.com/office/powerpoint/2010/main" val="95783119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5DD3152-D2A3-C0BD-51B0-788C0E1C5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47" y="238886"/>
            <a:ext cx="4915586" cy="3077004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BF30776-6426-CD1D-F316-9626F0BAA761}"/>
              </a:ext>
            </a:extLst>
          </p:cNvPr>
          <p:cNvCxnSpPr>
            <a:cxnSpLocks/>
          </p:cNvCxnSpPr>
          <p:nvPr/>
        </p:nvCxnSpPr>
        <p:spPr>
          <a:xfrm flipH="1">
            <a:off x="2574354" y="2220216"/>
            <a:ext cx="51174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869F6731-4F0B-3A0C-CBBF-C8D5FF691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077" y="3866005"/>
            <a:ext cx="8859486" cy="2753109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800DA4D5-D511-662E-5AF8-432A078A1FD5}"/>
              </a:ext>
            </a:extLst>
          </p:cNvPr>
          <p:cNvCxnSpPr>
            <a:cxnSpLocks/>
          </p:cNvCxnSpPr>
          <p:nvPr/>
        </p:nvCxnSpPr>
        <p:spPr>
          <a:xfrm>
            <a:off x="10971594" y="3383149"/>
            <a:ext cx="0" cy="482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679799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99D5C0-AC85-B3E7-2240-BCEE00E3C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24" y="572073"/>
            <a:ext cx="4020111" cy="543953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994D3B1-825D-EDB1-0405-3AB83B268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571" y="2325841"/>
            <a:ext cx="2133898" cy="2343477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D1ED0741-6D43-7C6D-9C07-AE187C46D80C}"/>
              </a:ext>
            </a:extLst>
          </p:cNvPr>
          <p:cNvCxnSpPr>
            <a:cxnSpLocks/>
          </p:cNvCxnSpPr>
          <p:nvPr/>
        </p:nvCxnSpPr>
        <p:spPr>
          <a:xfrm flipH="1">
            <a:off x="9241854" y="3698496"/>
            <a:ext cx="55746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491248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90505D7-2B30-F91C-4B4A-7F57CF60E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757" y="466311"/>
            <a:ext cx="7592485" cy="592537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8D17182-51A8-D775-E72B-45F65483AFD4}"/>
              </a:ext>
            </a:extLst>
          </p:cNvPr>
          <p:cNvSpPr txBox="1"/>
          <p:nvPr/>
        </p:nvSpPr>
        <p:spPr>
          <a:xfrm>
            <a:off x="5080336" y="1508760"/>
            <a:ext cx="203132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 dirty="0"/>
              <a:t>程序运行后的结果</a:t>
            </a:r>
          </a:p>
        </p:txBody>
      </p:sp>
    </p:spTree>
    <p:extLst>
      <p:ext uri="{BB962C8B-B14F-4D97-AF65-F5344CB8AC3E}">
        <p14:creationId xmlns:p14="http://schemas.microsoft.com/office/powerpoint/2010/main" val="230225259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313EAF2-DCD4-361A-252A-380E074DD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7835"/>
            <a:ext cx="12192000" cy="486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38599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9924F81-7114-AF99-25CE-A529CCBA1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4891" y="1012990"/>
            <a:ext cx="12192000" cy="4832019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C538800A-35BB-6D1B-9FC1-AFCB01233281}"/>
              </a:ext>
            </a:extLst>
          </p:cNvPr>
          <p:cNvCxnSpPr>
            <a:cxnSpLocks/>
          </p:cNvCxnSpPr>
          <p:nvPr/>
        </p:nvCxnSpPr>
        <p:spPr>
          <a:xfrm flipV="1">
            <a:off x="1263714" y="1869696"/>
            <a:ext cx="0" cy="43154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66B6C036-8A84-7FEC-4701-2E0475C55170}"/>
              </a:ext>
            </a:extLst>
          </p:cNvPr>
          <p:cNvCxnSpPr>
            <a:cxnSpLocks/>
          </p:cNvCxnSpPr>
          <p:nvPr/>
        </p:nvCxnSpPr>
        <p:spPr>
          <a:xfrm flipH="1">
            <a:off x="8578914" y="3104136"/>
            <a:ext cx="51174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021D835D-5EDF-2CED-9793-75ADD83462CC}"/>
              </a:ext>
            </a:extLst>
          </p:cNvPr>
          <p:cNvCxnSpPr>
            <a:cxnSpLocks/>
          </p:cNvCxnSpPr>
          <p:nvPr/>
        </p:nvCxnSpPr>
        <p:spPr>
          <a:xfrm flipH="1">
            <a:off x="8159814" y="3561336"/>
            <a:ext cx="51174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F142598-CEC7-0824-BED9-DE4BA64067F0}"/>
              </a:ext>
            </a:extLst>
          </p:cNvPr>
          <p:cNvCxnSpPr>
            <a:cxnSpLocks/>
          </p:cNvCxnSpPr>
          <p:nvPr/>
        </p:nvCxnSpPr>
        <p:spPr>
          <a:xfrm flipV="1">
            <a:off x="9904794" y="4445256"/>
            <a:ext cx="0" cy="44678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48D6DAF-3C62-E5B2-CEEB-3418930494EC}"/>
              </a:ext>
            </a:extLst>
          </p:cNvPr>
          <p:cNvCxnSpPr>
            <a:cxnSpLocks/>
          </p:cNvCxnSpPr>
          <p:nvPr/>
        </p:nvCxnSpPr>
        <p:spPr>
          <a:xfrm flipV="1">
            <a:off x="7504494" y="4125216"/>
            <a:ext cx="0" cy="44678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4A485DED-8FDB-46C2-80C7-51C7A57CE531}"/>
              </a:ext>
            </a:extLst>
          </p:cNvPr>
          <p:cNvSpPr txBox="1"/>
          <p:nvPr/>
        </p:nvSpPr>
        <p:spPr>
          <a:xfrm>
            <a:off x="304081" y="5960122"/>
            <a:ext cx="103754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i="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可以看到我们正确地接收到了数据。因为服务器端和客户端是在</a:t>
            </a:r>
            <a:r>
              <a:rPr lang="zh-CN" altLang="en-US" sz="1800" b="1" i="0" dirty="0">
                <a:solidFill>
                  <a:srgbClr val="C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同一台机子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上运行的，所以我这里填写了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“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主机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”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为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“</a:t>
            </a:r>
            <a:r>
              <a:rPr lang="en-US" altLang="zh-CN" sz="1800" b="1" i="0" dirty="0">
                <a:solidFill>
                  <a:srgbClr val="C00000"/>
                </a:solidFill>
                <a:effectLst/>
                <a:latin typeface="TimesNewRomanPSMT"/>
              </a:rPr>
              <a:t>localhost”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，如果你在不同的机子上运行，需要在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“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主机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”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后填写其正确的 </a:t>
            </a:r>
            <a:r>
              <a:rPr lang="en-US" altLang="zh-CN" sz="1800" b="1" i="0" dirty="0">
                <a:solidFill>
                  <a:srgbClr val="C00000"/>
                </a:solidFill>
                <a:effectLst/>
                <a:latin typeface="TimesNewRomanPSMT"/>
              </a:rPr>
              <a:t>IP </a:t>
            </a:r>
            <a:r>
              <a:rPr lang="zh-CN" altLang="en-US" sz="1800" b="1" i="0" dirty="0">
                <a:solidFill>
                  <a:srgbClr val="C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地址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r>
              <a:rPr lang="zh-CN" alt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2008865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F61DD289-9665-728D-AA5D-1B6DE98CB235}"/>
              </a:ext>
            </a:extLst>
          </p:cNvPr>
          <p:cNvSpPr txBox="1"/>
          <p:nvPr/>
        </p:nvSpPr>
        <p:spPr>
          <a:xfrm>
            <a:off x="9216363" y="4788796"/>
            <a:ext cx="133882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可执行文件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FBE315A-E250-16F1-7C09-AB88844AF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78" y="2340936"/>
            <a:ext cx="4439270" cy="178142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DB61D19-7623-D0BB-6767-4EEED04CC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243" y="292935"/>
            <a:ext cx="5189648" cy="113767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E86F079-0142-4612-A209-5832809D3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243" y="1751735"/>
            <a:ext cx="5189648" cy="117840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8420011-6BA5-C018-A8AD-F0930DFB66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0331" y="3351108"/>
            <a:ext cx="5842637" cy="101671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C2B7E04-7AE8-3E5E-5490-20F5961850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0331" y="5562491"/>
            <a:ext cx="5712652" cy="1002574"/>
          </a:xfrm>
          <a:prstGeom prst="rect">
            <a:avLst/>
          </a:prstGeom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6A4C2E7-082A-F320-EB0A-DA10F24F1D63}"/>
              </a:ext>
            </a:extLst>
          </p:cNvPr>
          <p:cNvCxnSpPr/>
          <p:nvPr/>
        </p:nvCxnSpPr>
        <p:spPr>
          <a:xfrm flipV="1">
            <a:off x="9892356" y="4242338"/>
            <a:ext cx="0" cy="4144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A3DE481-38E4-9A8E-7CAB-A060D288530B}"/>
              </a:ext>
            </a:extLst>
          </p:cNvPr>
          <p:cNvCxnSpPr>
            <a:cxnSpLocks/>
          </p:cNvCxnSpPr>
          <p:nvPr/>
        </p:nvCxnSpPr>
        <p:spPr>
          <a:xfrm>
            <a:off x="9716323" y="5235679"/>
            <a:ext cx="0" cy="52043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42310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A3340-0133-432E-F3F8-B1D92824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B5987F-980C-471F-AFA4-1B6AB6AAA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170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zh-CN" altLang="en-US" sz="2000" b="1" dirty="0"/>
              <a:t>也可以在</a:t>
            </a:r>
            <a:r>
              <a:rPr lang="en-US" altLang="zh-CN" sz="2000" b="1" dirty="0"/>
              <a:t>Ubuntu</a:t>
            </a:r>
            <a:r>
              <a:rPr lang="zh-CN" altLang="en-US" sz="2000" b="1" dirty="0"/>
              <a:t>的“终端”上运行编译好的可执行文件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b="1" dirty="0"/>
              <a:t>先在“终端”上执行：</a:t>
            </a:r>
            <a:endParaRPr lang="en-US" altLang="zh-CN" sz="2000" b="1" dirty="0"/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cd /home/</a:t>
            </a:r>
            <a:r>
              <a:rPr lang="en-US" altLang="zh-CN" sz="1800" b="1" dirty="0" err="1"/>
              <a:t>linux</a:t>
            </a:r>
            <a:r>
              <a:rPr lang="en-US" altLang="zh-CN" sz="1800" b="1" dirty="0"/>
              <a:t>/qt/TCP/build-</a:t>
            </a:r>
            <a:r>
              <a:rPr lang="en-US" altLang="zh-CN" sz="1800" b="1" dirty="0" err="1"/>
              <a:t>tcpClient</a:t>
            </a:r>
            <a:r>
              <a:rPr lang="en-US" altLang="zh-CN" sz="1800" b="1" dirty="0"/>
              <a:t>-Desktop-Debug</a:t>
            </a:r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./</a:t>
            </a:r>
            <a:r>
              <a:rPr lang="en-US" altLang="zh-CN" sz="1800" b="1" dirty="0" err="1"/>
              <a:t>tcpClient</a:t>
            </a:r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1"/>
            <a:endParaRPr lang="en-US" altLang="zh-CN" sz="1800" b="1" dirty="0"/>
          </a:p>
          <a:p>
            <a:r>
              <a:rPr lang="zh-CN" altLang="en-US" sz="2000" b="1" dirty="0"/>
              <a:t>然后打开另一个“终端”，执行：</a:t>
            </a:r>
            <a:endParaRPr lang="en-US" altLang="zh-CN" sz="2000" b="1" dirty="0"/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cd /home/</a:t>
            </a:r>
            <a:r>
              <a:rPr lang="en-US" altLang="zh-CN" sz="1800" b="1" dirty="0" err="1"/>
              <a:t>linux</a:t>
            </a:r>
            <a:r>
              <a:rPr lang="en-US" altLang="zh-CN" sz="1800" b="1" dirty="0"/>
              <a:t>/qt/TCP/build-</a:t>
            </a:r>
            <a:r>
              <a:rPr lang="en-US" altLang="zh-CN" sz="1800" b="1" dirty="0" err="1"/>
              <a:t>tcpServer</a:t>
            </a:r>
            <a:r>
              <a:rPr lang="en-US" altLang="zh-CN" sz="1800" b="1" dirty="0"/>
              <a:t>-Desktop-Debug</a:t>
            </a:r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./</a:t>
            </a:r>
            <a:r>
              <a:rPr lang="en-US" altLang="zh-CN" sz="1800" b="1" dirty="0" err="1"/>
              <a:t>tcpServer</a:t>
            </a:r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1"/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155190872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22CEB-3739-3E7D-140A-66D193030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EDD4C90-5BD3-E02E-6A79-2821C11E5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81" y="0"/>
            <a:ext cx="8452437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DBF504E-28D9-43FE-51E3-3C4B219894F6}"/>
              </a:ext>
            </a:extLst>
          </p:cNvPr>
          <p:cNvSpPr txBox="1"/>
          <p:nvPr/>
        </p:nvSpPr>
        <p:spPr>
          <a:xfrm>
            <a:off x="6682740" y="348734"/>
            <a:ext cx="202692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 err="1"/>
              <a:t>tcpClient</a:t>
            </a:r>
            <a:r>
              <a:rPr lang="en-US" altLang="zh-CN" b="1" dirty="0"/>
              <a:t>.</a:t>
            </a:r>
            <a:r>
              <a:rPr lang="zh-CN" altLang="en-US" b="1" dirty="0"/>
              <a:t>pro</a:t>
            </a:r>
          </a:p>
        </p:txBody>
      </p:sp>
    </p:spTree>
    <p:extLst>
      <p:ext uri="{BB962C8B-B14F-4D97-AF65-F5344CB8AC3E}">
        <p14:creationId xmlns:p14="http://schemas.microsoft.com/office/powerpoint/2010/main" val="3811086083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7D0EE-5B6B-E271-5C72-10EB641D9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F3FE230-8C52-E39B-6D38-20F6D3D78557}"/>
              </a:ext>
            </a:extLst>
          </p:cNvPr>
          <p:cNvSpPr txBox="1"/>
          <p:nvPr/>
        </p:nvSpPr>
        <p:spPr>
          <a:xfrm>
            <a:off x="6682740" y="348734"/>
            <a:ext cx="166878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lang="en-US" altLang="zh-CN" b="1" dirty="0"/>
              <a:t>main.cpp</a:t>
            </a:r>
            <a:endParaRPr lang="zh-CN" altLang="en-US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628AE3C-690A-B27D-DCC0-295B8BECA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365" y="1366549"/>
            <a:ext cx="4077269" cy="4124901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956165A-780D-86F9-6053-4072F6749BBF}"/>
              </a:ext>
            </a:extLst>
          </p:cNvPr>
          <p:cNvCxnSpPr/>
          <p:nvPr/>
        </p:nvCxnSpPr>
        <p:spPr>
          <a:xfrm>
            <a:off x="3607709" y="419100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856978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BD8EB-7946-0592-8CCF-AF48EACBD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67FAD44-8FC0-461D-3B46-CDE7BCDFB20D}"/>
              </a:ext>
            </a:extLst>
          </p:cNvPr>
          <p:cNvSpPr txBox="1"/>
          <p:nvPr/>
        </p:nvSpPr>
        <p:spPr>
          <a:xfrm>
            <a:off x="6682740" y="348734"/>
            <a:ext cx="174498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3</a:t>
            </a:r>
            <a:r>
              <a:rPr lang="zh-CN" altLang="en-US" b="1" dirty="0"/>
              <a:t>、</a:t>
            </a:r>
            <a:r>
              <a:rPr lang="en-US" altLang="zh-CN" b="1" dirty="0"/>
              <a:t>widget.cpp</a:t>
            </a:r>
            <a:endParaRPr lang="zh-CN" altLang="en-US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BFA2C6A-0ABE-689C-AB93-66DA79EFF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552" y="0"/>
            <a:ext cx="4121816" cy="6858000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B77B1FF-B043-355F-0C5E-C910B2288CFB}"/>
              </a:ext>
            </a:extLst>
          </p:cNvPr>
          <p:cNvCxnSpPr/>
          <p:nvPr/>
        </p:nvCxnSpPr>
        <p:spPr>
          <a:xfrm>
            <a:off x="1679849" y="748546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7899938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026EF-660A-F355-E843-4077D164D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EAC5E390-5508-C496-6040-CE12C325326C}"/>
              </a:ext>
            </a:extLst>
          </p:cNvPr>
          <p:cNvCxnSpPr/>
          <p:nvPr/>
        </p:nvCxnSpPr>
        <p:spPr>
          <a:xfrm>
            <a:off x="4103009" y="266700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3746B77A-3C84-2DBC-7621-EDC332E63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0"/>
            <a:ext cx="5334000" cy="6858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227DE04-5462-F1E6-CC2B-9F7F4966E099}"/>
              </a:ext>
            </a:extLst>
          </p:cNvPr>
          <p:cNvSpPr txBox="1"/>
          <p:nvPr/>
        </p:nvSpPr>
        <p:spPr>
          <a:xfrm>
            <a:off x="7719060" y="348734"/>
            <a:ext cx="174498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4</a:t>
            </a:r>
            <a:r>
              <a:rPr lang="zh-CN" altLang="en-US" b="1" dirty="0"/>
              <a:t>、</a:t>
            </a:r>
            <a:r>
              <a:rPr lang="en-US" altLang="zh-CN" b="1" dirty="0" err="1"/>
              <a:t>widget.h</a:t>
            </a:r>
            <a:endParaRPr lang="zh-CN" altLang="en-US" b="1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CF53DB8-0B6B-3BFB-C694-2B908A09AE18}"/>
              </a:ext>
            </a:extLst>
          </p:cNvPr>
          <p:cNvCxnSpPr/>
          <p:nvPr/>
        </p:nvCxnSpPr>
        <p:spPr>
          <a:xfrm>
            <a:off x="2678069" y="2478286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72169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0CBE4-D064-B561-680F-C2D17B07E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AC945A6-C87B-C549-F2BB-6F8478A65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52" y="0"/>
            <a:ext cx="8496695" cy="6858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497F2CC-2AA8-9141-5296-F6EFCD8C0931}"/>
              </a:ext>
            </a:extLst>
          </p:cNvPr>
          <p:cNvSpPr txBox="1"/>
          <p:nvPr/>
        </p:nvSpPr>
        <p:spPr>
          <a:xfrm>
            <a:off x="6682740" y="348734"/>
            <a:ext cx="202692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en-US" altLang="zh-CN" b="1" dirty="0" err="1"/>
              <a:t>tcpServer</a:t>
            </a:r>
            <a:r>
              <a:rPr lang="en-US" altLang="zh-CN" b="1" dirty="0"/>
              <a:t>.</a:t>
            </a:r>
            <a:r>
              <a:rPr lang="zh-CN" altLang="en-US" b="1" dirty="0"/>
              <a:t>pro</a:t>
            </a:r>
          </a:p>
        </p:txBody>
      </p:sp>
    </p:spTree>
    <p:extLst>
      <p:ext uri="{BB962C8B-B14F-4D97-AF65-F5344CB8AC3E}">
        <p14:creationId xmlns:p14="http://schemas.microsoft.com/office/powerpoint/2010/main" val="1537268264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3FD8E-1DF6-1C7A-C984-4D625777B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4E773A0-ED17-AFF7-A6AD-1338DA088696}"/>
              </a:ext>
            </a:extLst>
          </p:cNvPr>
          <p:cNvSpPr txBox="1"/>
          <p:nvPr/>
        </p:nvSpPr>
        <p:spPr>
          <a:xfrm>
            <a:off x="6682740" y="348734"/>
            <a:ext cx="166878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6</a:t>
            </a:r>
            <a:r>
              <a:rPr lang="zh-CN" altLang="en-US" b="1" dirty="0"/>
              <a:t>、</a:t>
            </a:r>
            <a:r>
              <a:rPr lang="en-US" altLang="zh-CN" b="1" dirty="0"/>
              <a:t>main.cpp</a:t>
            </a:r>
            <a:endParaRPr lang="zh-CN" altLang="en-US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5B1C0F-FE1A-BA34-CC1C-8952C313E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313" y="1323681"/>
            <a:ext cx="4115374" cy="4210638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F0FF6FFB-084C-6FAE-F67D-4B231C382DD5}"/>
              </a:ext>
            </a:extLst>
          </p:cNvPr>
          <p:cNvCxnSpPr/>
          <p:nvPr/>
        </p:nvCxnSpPr>
        <p:spPr>
          <a:xfrm>
            <a:off x="3607709" y="416052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74672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327BD-E6F0-86FA-7176-DE82D271C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6727A08-C53A-A996-E074-33577D800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903" y="0"/>
            <a:ext cx="4058194" cy="6858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0AB2B4E-361F-3E37-D658-BA72F3B7201E}"/>
              </a:ext>
            </a:extLst>
          </p:cNvPr>
          <p:cNvSpPr txBox="1"/>
          <p:nvPr/>
        </p:nvSpPr>
        <p:spPr>
          <a:xfrm>
            <a:off x="6682740" y="348734"/>
            <a:ext cx="174498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7</a:t>
            </a:r>
            <a:r>
              <a:rPr lang="zh-CN" altLang="en-US" b="1" dirty="0"/>
              <a:t>、</a:t>
            </a:r>
            <a:r>
              <a:rPr lang="en-US" altLang="zh-CN" b="1" dirty="0"/>
              <a:t>widget.cpp</a:t>
            </a:r>
            <a:endParaRPr lang="zh-CN" altLang="en-US" b="1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330B436-B7AB-142E-9C53-D5AB9F54112B}"/>
              </a:ext>
            </a:extLst>
          </p:cNvPr>
          <p:cNvCxnSpPr/>
          <p:nvPr/>
        </p:nvCxnSpPr>
        <p:spPr>
          <a:xfrm>
            <a:off x="3310529" y="742712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413483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3D134-0CAB-A204-A27A-5D9F09C93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6FC5FC3E-9967-9354-F41A-5284B4C74C33}"/>
              </a:ext>
            </a:extLst>
          </p:cNvPr>
          <p:cNvCxnSpPr/>
          <p:nvPr/>
        </p:nvCxnSpPr>
        <p:spPr>
          <a:xfrm>
            <a:off x="4103009" y="266700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E6511609-EA0A-04D4-F778-AD18B6285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795" y="0"/>
            <a:ext cx="4328410" cy="6858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CF8B6A9-C904-6BA6-C70D-6EFA5D063418}"/>
              </a:ext>
            </a:extLst>
          </p:cNvPr>
          <p:cNvSpPr txBox="1"/>
          <p:nvPr/>
        </p:nvSpPr>
        <p:spPr>
          <a:xfrm>
            <a:off x="7719060" y="348734"/>
            <a:ext cx="174498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8</a:t>
            </a:r>
            <a:r>
              <a:rPr lang="zh-CN" altLang="en-US" b="1" dirty="0"/>
              <a:t>、</a:t>
            </a:r>
            <a:r>
              <a:rPr lang="en-US" altLang="zh-CN" b="1" dirty="0" err="1"/>
              <a:t>widget.h</a:t>
            </a:r>
            <a:endParaRPr lang="zh-CN" altLang="en-US" b="1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B9C4C9D-9ADA-89E7-A204-60EF27D6C091}"/>
              </a:ext>
            </a:extLst>
          </p:cNvPr>
          <p:cNvCxnSpPr/>
          <p:nvPr/>
        </p:nvCxnSpPr>
        <p:spPr>
          <a:xfrm>
            <a:off x="3188609" y="2889766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2433200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E5B25-7FA7-390C-51AE-175E185D8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/>
              <a:t>7</a:t>
            </a:r>
            <a:r>
              <a:rPr lang="zh-CN" altLang="en-US" b="1" dirty="0"/>
              <a:t>、网络编程（</a:t>
            </a:r>
            <a:r>
              <a:rPr lang="en-US" altLang="zh-CN" b="1" dirty="0"/>
              <a:t>UDP</a:t>
            </a:r>
            <a:r>
              <a:rPr lang="zh-CN" altLang="en-US" b="1" dirty="0"/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C879294-AD46-66E5-791E-6CA1815C9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63" y="3163780"/>
            <a:ext cx="7025275" cy="1495755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D6ED688-97EA-BFC7-4CAB-D5E06B67B39B}"/>
              </a:ext>
            </a:extLst>
          </p:cNvPr>
          <p:cNvCxnSpPr>
            <a:cxnSpLocks/>
          </p:cNvCxnSpPr>
          <p:nvPr/>
        </p:nvCxnSpPr>
        <p:spPr>
          <a:xfrm>
            <a:off x="2202180" y="4373880"/>
            <a:ext cx="6693088" cy="9448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CB9DB8A2-A813-ECC7-9BD0-83CB0AF99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0496" y="1792468"/>
            <a:ext cx="2238687" cy="196242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351905B-23E0-F294-FBE2-1BCA853ED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0496" y="4373880"/>
            <a:ext cx="2133898" cy="196242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81B1F3-F134-77F3-D3D3-3C4C344D81D3}"/>
              </a:ext>
            </a:extLst>
          </p:cNvPr>
          <p:cNvSpPr txBox="1"/>
          <p:nvPr/>
        </p:nvSpPr>
        <p:spPr>
          <a:xfrm>
            <a:off x="182310" y="3205043"/>
            <a:ext cx="648519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Qt</a:t>
            </a:r>
            <a:r>
              <a:rPr lang="zh-CN" altLang="en-US" sz="1400" b="1" dirty="0"/>
              <a:t>实验程序（第一部分）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F292E5D-803F-560D-AA54-5CFB4BB956D6}"/>
              </a:ext>
            </a:extLst>
          </p:cNvPr>
          <p:cNvCxnSpPr>
            <a:cxnSpLocks/>
          </p:cNvCxnSpPr>
          <p:nvPr/>
        </p:nvCxnSpPr>
        <p:spPr>
          <a:xfrm flipV="1">
            <a:off x="2217420" y="2571874"/>
            <a:ext cx="6606401" cy="15581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16DD863E-83A0-4D16-8902-943F0CF81018}"/>
              </a:ext>
            </a:extLst>
          </p:cNvPr>
          <p:cNvSpPr txBox="1"/>
          <p:nvPr/>
        </p:nvSpPr>
        <p:spPr>
          <a:xfrm>
            <a:off x="581565" y="1589370"/>
            <a:ext cx="761353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实验内容：</a:t>
            </a:r>
            <a:endParaRPr lang="en-US" altLang="zh-CN" sz="2000" b="1" dirty="0"/>
          </a:p>
          <a:p>
            <a:r>
              <a:rPr lang="zh-CN" altLang="en-US" sz="2000" b="1" dirty="0"/>
              <a:t>编写两个程序，一个用来发送数据报，可以叫做客户端；另一个用来接收数据报，可以叫做服务器端，它们均应用 </a:t>
            </a:r>
            <a:r>
              <a:rPr lang="en-US" altLang="zh-CN" sz="2000" b="1" dirty="0"/>
              <a:t>UDP </a:t>
            </a:r>
            <a:r>
              <a:rPr lang="zh-CN" altLang="en-US" sz="2000" b="1" dirty="0"/>
              <a:t>协议。这样也就构成了所谓的 </a:t>
            </a:r>
            <a:r>
              <a:rPr lang="en-US" altLang="zh-CN" sz="2000" b="1" dirty="0"/>
              <a:t>C/S</a:t>
            </a:r>
            <a:r>
              <a:rPr lang="zh-CN" altLang="en-US" sz="2000" b="1" dirty="0"/>
              <a:t>（客户端</a:t>
            </a:r>
            <a:r>
              <a:rPr lang="en-US" altLang="zh-CN" sz="2000" b="1" dirty="0"/>
              <a:t>/</a:t>
            </a:r>
            <a:r>
              <a:rPr lang="zh-CN" altLang="en-US" sz="2000" b="1" dirty="0"/>
              <a:t>服务器）编程模型。 </a:t>
            </a:r>
            <a:br>
              <a:rPr lang="zh-CN" altLang="en-US" b="1" dirty="0"/>
            </a:b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792476934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524B67-69BB-4902-B0E1-D182F1C78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7</a:t>
            </a:r>
            <a:r>
              <a:rPr lang="zh-CN" altLang="en-US" b="1" dirty="0"/>
              <a:t>、网络编程（</a:t>
            </a:r>
            <a:r>
              <a:rPr lang="en-US" altLang="zh-CN" b="1" dirty="0"/>
              <a:t>UDP</a:t>
            </a:r>
            <a:r>
              <a:rPr lang="zh-CN" altLang="en-US" b="1" dirty="0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0EA94E-D9AD-4D12-9C8B-20D003F8C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562" y="1630303"/>
            <a:ext cx="10515600" cy="474461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UDP</a:t>
            </a:r>
            <a:r>
              <a:rPr lang="zh-CN" altLang="en-US" sz="2400" b="1" dirty="0"/>
              <a:t>（</a:t>
            </a:r>
            <a:r>
              <a:rPr lang="en-US" altLang="zh-CN" sz="2400" b="1" dirty="0" err="1"/>
              <a:t>UserDatagram</a:t>
            </a:r>
            <a:r>
              <a:rPr lang="en-US" altLang="zh-CN" sz="2400" b="1" dirty="0"/>
              <a:t> Protocol </a:t>
            </a:r>
            <a:r>
              <a:rPr lang="zh-CN" altLang="en-US" sz="2400" b="1" dirty="0"/>
              <a:t>即用户数据报协议）是一个轻量级的，不可靠的，面向数据报的无连接协议 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在 </a:t>
            </a:r>
            <a:r>
              <a:rPr lang="en-US" altLang="zh-CN" sz="2400" b="1" dirty="0"/>
              <a:t>Qt </a:t>
            </a:r>
            <a:r>
              <a:rPr lang="zh-CN" altLang="en-US" sz="2400" b="1" dirty="0"/>
              <a:t>中提供了 </a:t>
            </a:r>
            <a:r>
              <a:rPr lang="en-US" altLang="zh-CN" sz="2400" b="1" dirty="0" err="1">
                <a:solidFill>
                  <a:srgbClr val="C00000"/>
                </a:solidFill>
              </a:rPr>
              <a:t>QUdpSocket</a:t>
            </a:r>
            <a:r>
              <a:rPr lang="en-US" altLang="zh-CN" sz="2400" b="1" dirty="0">
                <a:solidFill>
                  <a:srgbClr val="C00000"/>
                </a:solidFill>
              </a:rPr>
              <a:t> </a:t>
            </a:r>
            <a:r>
              <a:rPr lang="zh-CN" altLang="en-US" sz="2400" b="1" dirty="0"/>
              <a:t>类来进行 </a:t>
            </a:r>
            <a:r>
              <a:rPr lang="en-US" altLang="zh-CN" sz="2400" b="1" dirty="0"/>
              <a:t>UDP </a:t>
            </a:r>
            <a:r>
              <a:rPr lang="zh-CN" altLang="en-US" sz="2400" b="1" dirty="0"/>
              <a:t>数据报（</a:t>
            </a:r>
            <a:r>
              <a:rPr lang="en-US" altLang="zh-CN" sz="2400" b="1" dirty="0"/>
              <a:t>datagrams</a:t>
            </a:r>
            <a:r>
              <a:rPr lang="zh-CN" altLang="en-US" sz="2400" b="1" dirty="0"/>
              <a:t>）的发送和接收。这里我们还要了解一个名词 </a:t>
            </a:r>
            <a:r>
              <a:rPr lang="en-US" altLang="zh-CN" sz="2400" b="1" dirty="0"/>
              <a:t>Socket</a:t>
            </a:r>
            <a:r>
              <a:rPr lang="zh-CN" altLang="en-US" sz="2400" b="1" dirty="0"/>
              <a:t>，也就是常说的“</a:t>
            </a:r>
            <a:r>
              <a:rPr lang="zh-CN" altLang="en-US" sz="2400" b="1" dirty="0">
                <a:solidFill>
                  <a:srgbClr val="C00000"/>
                </a:solidFill>
              </a:rPr>
              <a:t>套接字</a:t>
            </a:r>
            <a:r>
              <a:rPr lang="zh-CN" altLang="en-US" sz="2400" b="1" dirty="0"/>
              <a:t>”。 </a:t>
            </a:r>
            <a:r>
              <a:rPr lang="en-US" altLang="zh-CN" sz="2400" b="1" dirty="0"/>
              <a:t>Socket </a:t>
            </a:r>
            <a:r>
              <a:rPr lang="zh-CN" altLang="en-US" sz="2400" b="1" dirty="0"/>
              <a:t>简单地说，就是一个 </a:t>
            </a:r>
            <a:r>
              <a:rPr lang="en-US" altLang="zh-CN" sz="2400" b="1" dirty="0"/>
              <a:t>IP </a:t>
            </a:r>
            <a:r>
              <a:rPr lang="zh-CN" altLang="en-US" sz="2400" b="1" dirty="0"/>
              <a:t>地址加一个 </a:t>
            </a:r>
            <a:r>
              <a:rPr lang="en-US" altLang="zh-CN" sz="2400" b="1" dirty="0"/>
              <a:t>port </a:t>
            </a:r>
            <a:r>
              <a:rPr lang="zh-CN" altLang="en-US" sz="2400" b="1" dirty="0"/>
              <a:t>端口。因为我们要传输数据，就要知道往哪个机子上传送，而 </a:t>
            </a:r>
            <a:r>
              <a:rPr lang="en-US" altLang="zh-CN" sz="2400" b="1" dirty="0"/>
              <a:t>IP </a:t>
            </a:r>
            <a:r>
              <a:rPr lang="zh-CN" altLang="en-US" sz="2400" b="1" dirty="0"/>
              <a:t>地址确定了一台主机，但是这台机子上可能运行着各种各样的网络程序，我们要往哪个程序中发送呢？这时就要使用一个端口来指定 </a:t>
            </a:r>
            <a:r>
              <a:rPr lang="en-US" altLang="zh-CN" sz="2400" b="1" dirty="0"/>
              <a:t>UDP </a:t>
            </a:r>
            <a:r>
              <a:rPr lang="zh-CN" altLang="en-US" sz="2400" b="1" dirty="0"/>
              <a:t>程序。所以说， </a:t>
            </a:r>
            <a:r>
              <a:rPr lang="en-US" altLang="zh-CN" sz="2400" b="1" dirty="0"/>
              <a:t>Socket </a:t>
            </a:r>
            <a:r>
              <a:rPr lang="zh-CN" altLang="en-US" sz="2400" b="1" dirty="0"/>
              <a:t>指明了数据报传输的路径 。</a:t>
            </a:r>
            <a:br>
              <a:rPr lang="zh-CN" altLang="en-US" sz="2400" b="1" dirty="0"/>
            </a:b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2031758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072393E-3B20-8D6C-272E-B8F61591F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520" y="2342998"/>
            <a:ext cx="8668960" cy="2172003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86634660-08B3-277F-538B-7F47569AE24F}"/>
              </a:ext>
            </a:extLst>
          </p:cNvPr>
          <p:cNvCxnSpPr>
            <a:cxnSpLocks/>
          </p:cNvCxnSpPr>
          <p:nvPr/>
        </p:nvCxnSpPr>
        <p:spPr>
          <a:xfrm>
            <a:off x="10080054" y="1799182"/>
            <a:ext cx="0" cy="54381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4228596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6BDFC6B-9CA3-FCE8-8E89-2735C5336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060" y="1500884"/>
            <a:ext cx="3429479" cy="365811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D5A7C14-1A91-61B9-1314-58A4F40DE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571" y="2325841"/>
            <a:ext cx="2133898" cy="2343477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E6F8A85F-BD05-4E1B-683C-D0BD1D3A458C}"/>
              </a:ext>
            </a:extLst>
          </p:cNvPr>
          <p:cNvCxnSpPr>
            <a:cxnSpLocks/>
          </p:cNvCxnSpPr>
          <p:nvPr/>
        </p:nvCxnSpPr>
        <p:spPr>
          <a:xfrm flipH="1">
            <a:off x="9272334" y="3675636"/>
            <a:ext cx="69462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4746053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B209F8A-ED2D-D5C8-C470-E2FBC4368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049" y="0"/>
            <a:ext cx="7947902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4D4F972-A1E3-9D7E-5EF0-14FB4F7BC179}"/>
              </a:ext>
            </a:extLst>
          </p:cNvPr>
          <p:cNvSpPr txBox="1"/>
          <p:nvPr/>
        </p:nvSpPr>
        <p:spPr>
          <a:xfrm>
            <a:off x="5364480" y="2095500"/>
            <a:ext cx="203132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 dirty="0"/>
              <a:t>程序运行后的结果</a:t>
            </a:r>
          </a:p>
        </p:txBody>
      </p:sp>
    </p:spTree>
    <p:extLst>
      <p:ext uri="{BB962C8B-B14F-4D97-AF65-F5344CB8AC3E}">
        <p14:creationId xmlns:p14="http://schemas.microsoft.com/office/powerpoint/2010/main" val="4175875077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F6756-0796-89B7-2090-C85B8DA7F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75A8EAE-8E04-EEFD-74A4-3C09E8C24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07" y="254051"/>
            <a:ext cx="4915586" cy="382005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B780402-9248-F720-13CA-C6036F4C6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216" y="4266849"/>
            <a:ext cx="8802328" cy="2514951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8406E529-3C68-F353-F2BA-7D488029F559}"/>
              </a:ext>
            </a:extLst>
          </p:cNvPr>
          <p:cNvCxnSpPr>
            <a:cxnSpLocks/>
          </p:cNvCxnSpPr>
          <p:nvPr/>
        </p:nvCxnSpPr>
        <p:spPr>
          <a:xfrm flipH="1">
            <a:off x="2716873" y="2243076"/>
            <a:ext cx="71212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4581B0D-599A-C3FC-3504-5A54E01C19D3}"/>
              </a:ext>
            </a:extLst>
          </p:cNvPr>
          <p:cNvCxnSpPr>
            <a:cxnSpLocks/>
          </p:cNvCxnSpPr>
          <p:nvPr/>
        </p:nvCxnSpPr>
        <p:spPr>
          <a:xfrm>
            <a:off x="11611674" y="3616353"/>
            <a:ext cx="0" cy="65049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9489135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C0F1B-CF0F-3F17-466B-425C2EC98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A8D9BFE-7187-1B43-F1DB-F34871649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393" y="529225"/>
            <a:ext cx="4115374" cy="522042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2ADD844-F432-4000-67DA-CFC6C6916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571" y="2325841"/>
            <a:ext cx="2133898" cy="2343477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A467B373-F7F7-E0AB-DA5A-C8DA796390A1}"/>
              </a:ext>
            </a:extLst>
          </p:cNvPr>
          <p:cNvCxnSpPr>
            <a:cxnSpLocks/>
          </p:cNvCxnSpPr>
          <p:nvPr/>
        </p:nvCxnSpPr>
        <p:spPr>
          <a:xfrm flipH="1">
            <a:off x="9234234" y="3683256"/>
            <a:ext cx="75558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7373000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DF578-26D0-F229-8FBD-DAA22405E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CD3F26E-6D3D-A901-8DBF-51A30956D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020" y="0"/>
            <a:ext cx="7931960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EA40751-F53F-04BE-4D2B-8F6CABF2714E}"/>
              </a:ext>
            </a:extLst>
          </p:cNvPr>
          <p:cNvSpPr txBox="1"/>
          <p:nvPr/>
        </p:nvSpPr>
        <p:spPr>
          <a:xfrm>
            <a:off x="5364480" y="2583180"/>
            <a:ext cx="203132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 dirty="0"/>
              <a:t>程序运行后的结果</a:t>
            </a:r>
          </a:p>
        </p:txBody>
      </p:sp>
    </p:spTree>
    <p:extLst>
      <p:ext uri="{BB962C8B-B14F-4D97-AF65-F5344CB8AC3E}">
        <p14:creationId xmlns:p14="http://schemas.microsoft.com/office/powerpoint/2010/main" val="2275981148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30C46EA-9F78-F39F-7902-FE9739031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344"/>
            <a:ext cx="12192000" cy="563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486099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CC224B4-64C2-A42E-C776-986BDE8A9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6587"/>
            <a:ext cx="12192000" cy="552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976091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F61DD289-9665-728D-AA5D-1B6DE98CB235}"/>
              </a:ext>
            </a:extLst>
          </p:cNvPr>
          <p:cNvSpPr txBox="1"/>
          <p:nvPr/>
        </p:nvSpPr>
        <p:spPr>
          <a:xfrm>
            <a:off x="9494242" y="4767177"/>
            <a:ext cx="133882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可执行文件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85E9F23-66C2-F0C5-4658-39C8E4793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62" y="2418308"/>
            <a:ext cx="4934639" cy="180047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5599DB0-2B56-76EC-7B22-AC9E0AB37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138" y="200888"/>
            <a:ext cx="6287377" cy="139084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3E106F4-D190-A9A3-AF19-EB563D1B4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8138" y="1780044"/>
            <a:ext cx="6192114" cy="127652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E422088-FB04-79C8-6CFD-D0C586CE3F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8138" y="3499739"/>
            <a:ext cx="6055442" cy="109172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CCCA1E7-23F6-BF24-F711-665BE7B97F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2163" y="5312221"/>
            <a:ext cx="6055442" cy="1010452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6A4C2E7-082A-F320-EB0A-DA10F24F1D63}"/>
              </a:ext>
            </a:extLst>
          </p:cNvPr>
          <p:cNvCxnSpPr>
            <a:cxnSpLocks/>
          </p:cNvCxnSpPr>
          <p:nvPr/>
        </p:nvCxnSpPr>
        <p:spPr>
          <a:xfrm flipV="1">
            <a:off x="10097871" y="4530354"/>
            <a:ext cx="0" cy="34057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EBB6752-06B5-F311-E992-D1E94A6F022D}"/>
              </a:ext>
            </a:extLst>
          </p:cNvPr>
          <p:cNvCxnSpPr>
            <a:cxnSpLocks/>
          </p:cNvCxnSpPr>
          <p:nvPr/>
        </p:nvCxnSpPr>
        <p:spPr>
          <a:xfrm>
            <a:off x="10097871" y="5136509"/>
            <a:ext cx="0" cy="36439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8901277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67C26-FDE6-86D7-46F7-BAB8A852A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EE0220-B10A-CFC0-F0C8-875F00A75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170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zh-CN" altLang="en-US" sz="2000" b="1" dirty="0"/>
              <a:t>也可以在</a:t>
            </a:r>
            <a:r>
              <a:rPr lang="en-US" altLang="zh-CN" sz="2000" b="1" dirty="0"/>
              <a:t>Ubuntu</a:t>
            </a:r>
            <a:r>
              <a:rPr lang="zh-CN" altLang="en-US" sz="2000" b="1" dirty="0"/>
              <a:t>的“终端”上运行编译好的可执行文件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b="1" dirty="0"/>
              <a:t>先在“终端”上执行：</a:t>
            </a:r>
            <a:endParaRPr lang="en-US" altLang="zh-CN" sz="2000" b="1" dirty="0"/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cd /home/</a:t>
            </a:r>
            <a:r>
              <a:rPr lang="en-US" altLang="zh-CN" sz="1800" b="1" dirty="0" err="1"/>
              <a:t>linux</a:t>
            </a:r>
            <a:r>
              <a:rPr lang="en-US" altLang="zh-CN" sz="1800" b="1" dirty="0"/>
              <a:t>/qt/UDP/build-</a:t>
            </a:r>
            <a:r>
              <a:rPr lang="en-US" altLang="zh-CN" sz="1800" b="1" dirty="0" err="1"/>
              <a:t>udpReceiver</a:t>
            </a:r>
            <a:r>
              <a:rPr lang="en-US" altLang="zh-CN" sz="1800" b="1" dirty="0"/>
              <a:t>-Desktop-Debug</a:t>
            </a:r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./</a:t>
            </a:r>
            <a:r>
              <a:rPr lang="en-US" altLang="zh-CN" sz="1800" b="1" dirty="0" err="1"/>
              <a:t>udpReceiver</a:t>
            </a:r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1"/>
            <a:endParaRPr lang="en-US" altLang="zh-CN" sz="1800" b="1" dirty="0"/>
          </a:p>
          <a:p>
            <a:r>
              <a:rPr lang="zh-CN" altLang="en-US" sz="2000" b="1" dirty="0"/>
              <a:t>然后打开另一个“终端”，执行：</a:t>
            </a:r>
            <a:endParaRPr lang="en-US" altLang="zh-CN" sz="2000" b="1" dirty="0"/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cd /home/</a:t>
            </a:r>
            <a:r>
              <a:rPr lang="en-US" altLang="zh-CN" sz="1800" b="1" dirty="0" err="1"/>
              <a:t>linux</a:t>
            </a:r>
            <a:r>
              <a:rPr lang="en-US" altLang="zh-CN" sz="1800" b="1" dirty="0"/>
              <a:t>/qt/UDP/build-</a:t>
            </a:r>
            <a:r>
              <a:rPr lang="en-US" altLang="zh-CN" sz="1800" b="1" dirty="0" err="1"/>
              <a:t>udpSender</a:t>
            </a:r>
            <a:r>
              <a:rPr lang="en-US" altLang="zh-CN" sz="1800" b="1" dirty="0"/>
              <a:t>-Desktop-Debug</a:t>
            </a:r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./</a:t>
            </a:r>
            <a:r>
              <a:rPr lang="en-US" altLang="zh-CN" sz="1800" b="1" dirty="0" err="1"/>
              <a:t>udpSender</a:t>
            </a:r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1"/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144325264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3553D-A3E2-32C0-2C51-06440C5A5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F8A25E8-0EAC-830B-C0CD-6719512C0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65" y="0"/>
            <a:ext cx="8601669" cy="6858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2A42365-1500-6B13-12FF-DCC0D5988978}"/>
              </a:ext>
            </a:extLst>
          </p:cNvPr>
          <p:cNvSpPr txBox="1"/>
          <p:nvPr/>
        </p:nvSpPr>
        <p:spPr>
          <a:xfrm>
            <a:off x="6682740" y="348734"/>
            <a:ext cx="230886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 err="1"/>
              <a:t>udpReceiver</a:t>
            </a:r>
            <a:r>
              <a:rPr lang="en-US" altLang="zh-CN" b="1" dirty="0"/>
              <a:t>.</a:t>
            </a:r>
            <a:r>
              <a:rPr lang="zh-CN" altLang="en-US" b="1" dirty="0"/>
              <a:t>pro</a:t>
            </a:r>
          </a:p>
        </p:txBody>
      </p:sp>
    </p:spTree>
    <p:extLst>
      <p:ext uri="{BB962C8B-B14F-4D97-AF65-F5344CB8AC3E}">
        <p14:creationId xmlns:p14="http://schemas.microsoft.com/office/powerpoint/2010/main" val="3092642399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A64EE-32C2-4ABA-E470-EB29E2B5F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2283F6D-B0E1-7B38-8E3C-4163B2B8B869}"/>
              </a:ext>
            </a:extLst>
          </p:cNvPr>
          <p:cNvSpPr txBox="1"/>
          <p:nvPr/>
        </p:nvSpPr>
        <p:spPr>
          <a:xfrm>
            <a:off x="6682740" y="348734"/>
            <a:ext cx="166878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lang="en-US" altLang="zh-CN" b="1" dirty="0"/>
              <a:t>main.cpp</a:t>
            </a:r>
            <a:endParaRPr lang="zh-CN" altLang="en-US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3158D72-0916-83FC-2C18-E27C75134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365" y="1366549"/>
            <a:ext cx="4077269" cy="4124901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901295E-0E02-8DFC-B02B-15669DF0BB66}"/>
              </a:ext>
            </a:extLst>
          </p:cNvPr>
          <p:cNvCxnSpPr/>
          <p:nvPr/>
        </p:nvCxnSpPr>
        <p:spPr>
          <a:xfrm>
            <a:off x="3607709" y="419100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538960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5113D-4065-F6AC-4774-73B38A1E3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F5A3A6D-0421-4037-7455-ADCFA5613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181" y="0"/>
            <a:ext cx="5700238" cy="6858000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8E4AFD55-47F3-3BF2-DC3A-821D7C3B6649}"/>
              </a:ext>
            </a:extLst>
          </p:cNvPr>
          <p:cNvCxnSpPr/>
          <p:nvPr/>
        </p:nvCxnSpPr>
        <p:spPr>
          <a:xfrm>
            <a:off x="1847489" y="1099066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05706A5-584F-91F3-E169-193B09A17599}"/>
              </a:ext>
            </a:extLst>
          </p:cNvPr>
          <p:cNvSpPr txBox="1"/>
          <p:nvPr/>
        </p:nvSpPr>
        <p:spPr>
          <a:xfrm>
            <a:off x="6682740" y="348734"/>
            <a:ext cx="174498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3</a:t>
            </a:r>
            <a:r>
              <a:rPr lang="zh-CN" altLang="en-US" b="1" dirty="0"/>
              <a:t>、</a:t>
            </a:r>
            <a:r>
              <a:rPr lang="en-US" altLang="zh-CN" b="1" dirty="0"/>
              <a:t>widget.cpp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285903379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768E6-81A7-33AE-4006-113F5F14F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BA3862C8-26B7-9BEE-C993-759F0958181D}"/>
              </a:ext>
            </a:extLst>
          </p:cNvPr>
          <p:cNvCxnSpPr/>
          <p:nvPr/>
        </p:nvCxnSpPr>
        <p:spPr>
          <a:xfrm>
            <a:off x="4103009" y="266700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6D72A130-A0D5-6DC7-586A-23805FCE8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433" y="0"/>
            <a:ext cx="4069134" cy="6858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4E00572-D8FB-4540-56B5-EB8D14243A57}"/>
              </a:ext>
            </a:extLst>
          </p:cNvPr>
          <p:cNvSpPr txBox="1"/>
          <p:nvPr/>
        </p:nvSpPr>
        <p:spPr>
          <a:xfrm>
            <a:off x="7719060" y="348734"/>
            <a:ext cx="174498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4</a:t>
            </a:r>
            <a:r>
              <a:rPr lang="zh-CN" altLang="en-US" b="1" dirty="0"/>
              <a:t>、</a:t>
            </a:r>
            <a:r>
              <a:rPr lang="en-US" altLang="zh-CN" b="1" dirty="0" err="1"/>
              <a:t>widget.h</a:t>
            </a:r>
            <a:endParaRPr lang="zh-CN" altLang="en-US" b="1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0BA84DC-580F-6C65-C0F6-ECB655D5EC25}"/>
              </a:ext>
            </a:extLst>
          </p:cNvPr>
          <p:cNvCxnSpPr/>
          <p:nvPr/>
        </p:nvCxnSpPr>
        <p:spPr>
          <a:xfrm>
            <a:off x="3348629" y="2943106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479417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D79A3-CD94-20F4-9B40-EF7C90F94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C986117-4DE4-EA03-0A89-6374AD455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61" y="0"/>
            <a:ext cx="8511838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C08E942-8DF2-2EAE-5D44-F4B0CBB11C0D}"/>
              </a:ext>
            </a:extLst>
          </p:cNvPr>
          <p:cNvSpPr txBox="1"/>
          <p:nvPr/>
        </p:nvSpPr>
        <p:spPr>
          <a:xfrm>
            <a:off x="6682740" y="348734"/>
            <a:ext cx="22250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en-US" altLang="zh-CN" b="1" dirty="0" err="1"/>
              <a:t>udpSender</a:t>
            </a:r>
            <a:r>
              <a:rPr lang="en-US" altLang="zh-CN" b="1" dirty="0"/>
              <a:t>.</a:t>
            </a:r>
            <a:r>
              <a:rPr lang="zh-CN" altLang="en-US" b="1" dirty="0"/>
              <a:t>pro</a:t>
            </a:r>
          </a:p>
        </p:txBody>
      </p:sp>
    </p:spTree>
    <p:extLst>
      <p:ext uri="{BB962C8B-B14F-4D97-AF65-F5344CB8AC3E}">
        <p14:creationId xmlns:p14="http://schemas.microsoft.com/office/powerpoint/2010/main" val="1722904034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8B1C8-45B7-223F-8965-044D6D62B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5BF2694-F940-78BC-7835-79FFDF4CC2A7}"/>
              </a:ext>
            </a:extLst>
          </p:cNvPr>
          <p:cNvSpPr txBox="1"/>
          <p:nvPr/>
        </p:nvSpPr>
        <p:spPr>
          <a:xfrm>
            <a:off x="6682740" y="348734"/>
            <a:ext cx="166878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6</a:t>
            </a:r>
            <a:r>
              <a:rPr lang="zh-CN" altLang="en-US" b="1" dirty="0"/>
              <a:t>、</a:t>
            </a:r>
            <a:r>
              <a:rPr lang="en-US" altLang="zh-CN" b="1" dirty="0"/>
              <a:t>main.cpp</a:t>
            </a:r>
            <a:endParaRPr lang="zh-CN" altLang="en-US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18D366-1AE7-BCE7-AB4A-402CFB2CC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313" y="1323681"/>
            <a:ext cx="4115374" cy="4210638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9E9BA1E5-0D3D-E8BD-98E7-07F15E2FD521}"/>
              </a:ext>
            </a:extLst>
          </p:cNvPr>
          <p:cNvCxnSpPr/>
          <p:nvPr/>
        </p:nvCxnSpPr>
        <p:spPr>
          <a:xfrm>
            <a:off x="3607709" y="416052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0017157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94623-8D54-8665-EB60-14238D494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6D19B16-DFFB-DC57-0D1C-8F5487FB5FA8}"/>
              </a:ext>
            </a:extLst>
          </p:cNvPr>
          <p:cNvCxnSpPr/>
          <p:nvPr/>
        </p:nvCxnSpPr>
        <p:spPr>
          <a:xfrm>
            <a:off x="3310529" y="742712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F03FD9A9-D273-55E8-598B-5906F58CC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360" y="0"/>
            <a:ext cx="7170880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7A00D91-1C9A-4F6F-6DB3-222985A0C6F5}"/>
              </a:ext>
            </a:extLst>
          </p:cNvPr>
          <p:cNvSpPr txBox="1"/>
          <p:nvPr/>
        </p:nvSpPr>
        <p:spPr>
          <a:xfrm>
            <a:off x="6682740" y="348734"/>
            <a:ext cx="174498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7</a:t>
            </a:r>
            <a:r>
              <a:rPr lang="zh-CN" altLang="en-US" b="1" dirty="0"/>
              <a:t>、</a:t>
            </a:r>
            <a:r>
              <a:rPr lang="en-US" altLang="zh-CN" b="1" dirty="0"/>
              <a:t>widget.cpp</a:t>
            </a:r>
            <a:endParaRPr lang="zh-CN" altLang="en-US" b="1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D6486F8-AA92-D023-56F1-3C85AD384017}"/>
              </a:ext>
            </a:extLst>
          </p:cNvPr>
          <p:cNvCxnSpPr/>
          <p:nvPr/>
        </p:nvCxnSpPr>
        <p:spPr>
          <a:xfrm>
            <a:off x="1748429" y="147066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628094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CCDBB-6C86-F65C-8BE7-BBBFEB581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BF3EA96B-13C8-2363-F537-B3EFAA104124}"/>
              </a:ext>
            </a:extLst>
          </p:cNvPr>
          <p:cNvCxnSpPr/>
          <p:nvPr/>
        </p:nvCxnSpPr>
        <p:spPr>
          <a:xfrm>
            <a:off x="4103009" y="266700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3F6C0D9E-FA55-2E5C-652C-D5B75BD4F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412" y="0"/>
            <a:ext cx="3975176" cy="6858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73EE51B-B23B-FDCE-9512-EE5D037E329D}"/>
              </a:ext>
            </a:extLst>
          </p:cNvPr>
          <p:cNvSpPr txBox="1"/>
          <p:nvPr/>
        </p:nvSpPr>
        <p:spPr>
          <a:xfrm>
            <a:off x="7719060" y="348734"/>
            <a:ext cx="174498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8</a:t>
            </a:r>
            <a:r>
              <a:rPr lang="zh-CN" altLang="en-US" b="1" dirty="0"/>
              <a:t>、</a:t>
            </a:r>
            <a:r>
              <a:rPr lang="en-US" altLang="zh-CN" b="1" dirty="0" err="1"/>
              <a:t>widget.h</a:t>
            </a:r>
            <a:endParaRPr lang="zh-CN" altLang="en-US" b="1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66F43537-0077-7BED-D02F-CAE256368DA3}"/>
              </a:ext>
            </a:extLst>
          </p:cNvPr>
          <p:cNvCxnSpPr/>
          <p:nvPr/>
        </p:nvCxnSpPr>
        <p:spPr>
          <a:xfrm>
            <a:off x="3401969" y="2981206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324453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2EFDF835-4AFA-2FB9-95E6-5F581B99E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/>
              <a:t>8</a:t>
            </a:r>
            <a:r>
              <a:rPr lang="zh-CN" altLang="en-US" b="1" dirty="0"/>
              <a:t>、程序引用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8359AC2-3996-4DCE-832F-3DD57E695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9195"/>
            <a:ext cx="10515600" cy="500368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项目做到一定阶段，常常须要在原来的 </a:t>
            </a:r>
            <a:r>
              <a:rPr lang="en-US" altLang="zh-CN" sz="2400" b="1" dirty="0"/>
              <a:t>project </a:t>
            </a:r>
            <a:r>
              <a:rPr lang="zh-CN" altLang="en-US" sz="2400" b="1" dirty="0"/>
              <a:t>上调用外部程序。 </a:t>
            </a:r>
            <a:r>
              <a:rPr lang="en-US" altLang="zh-CN" sz="2400" b="1" dirty="0"/>
              <a:t>Qt </a:t>
            </a:r>
            <a:r>
              <a:rPr lang="zh-CN" altLang="en-US" sz="2400" b="1" dirty="0"/>
              <a:t>为此提供了 </a:t>
            </a:r>
            <a:r>
              <a:rPr lang="en-US" altLang="zh-CN" sz="2400" b="1" dirty="0" err="1"/>
              <a:t>QProcess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类， </a:t>
            </a:r>
            <a:r>
              <a:rPr lang="en-US" altLang="zh-CN" sz="2400" b="1" dirty="0" err="1"/>
              <a:t>QProcess</a:t>
            </a:r>
            <a:r>
              <a:rPr lang="zh-CN" altLang="en-US" sz="2400" b="1" dirty="0"/>
              <a:t>可用于完毕启动外部程序，并与之交互通信。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用 </a:t>
            </a:r>
            <a:r>
              <a:rPr lang="en-US" altLang="zh-CN" sz="2400" b="1" dirty="0" err="1"/>
              <a:t>QProcess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来引用外部程序，有三种常见的启动方式，分别对应了三个成员函数</a:t>
            </a:r>
          </a:p>
          <a:p>
            <a:pPr lvl="1">
              <a:lnSpc>
                <a:spcPct val="150000"/>
              </a:lnSpc>
            </a:pPr>
            <a:r>
              <a:rPr lang="en-US" altLang="zh-CN" sz="1900" b="1" dirty="0" err="1"/>
              <a:t>QProcess</a:t>
            </a:r>
            <a:r>
              <a:rPr lang="en-US" altLang="zh-CN" sz="1900" b="1" dirty="0"/>
              <a:t>::execute()</a:t>
            </a:r>
            <a:r>
              <a:rPr lang="zh-CN" altLang="en-US" sz="1900" b="1" dirty="0"/>
              <a:t>：以</a:t>
            </a:r>
            <a:r>
              <a:rPr lang="zh-CN" altLang="en-US" sz="1900" b="1" dirty="0">
                <a:solidFill>
                  <a:srgbClr val="C00000"/>
                </a:solidFill>
              </a:rPr>
              <a:t>阻塞方式</a:t>
            </a:r>
            <a:r>
              <a:rPr lang="zh-CN" altLang="en-US" sz="1900" b="1" dirty="0"/>
              <a:t>打开外部程序，只有当外部程序执行完后才继续往后执行现程序。其中，外部程序的标准输出、标准错误都是重定向到现程序的标准输出和标准错误。</a:t>
            </a:r>
          </a:p>
          <a:p>
            <a:pPr lvl="1">
              <a:lnSpc>
                <a:spcPct val="150000"/>
              </a:lnSpc>
            </a:pPr>
            <a:r>
              <a:rPr lang="en-US" altLang="zh-CN" sz="1900" b="1" dirty="0" err="1"/>
              <a:t>QProcess</a:t>
            </a:r>
            <a:r>
              <a:rPr lang="en-US" altLang="zh-CN" sz="1900" b="1" dirty="0"/>
              <a:t>::start()</a:t>
            </a:r>
            <a:r>
              <a:rPr lang="zh-CN" altLang="en-US" sz="1900" b="1" dirty="0"/>
              <a:t>：以</a:t>
            </a:r>
            <a:r>
              <a:rPr lang="zh-CN" altLang="en-US" sz="1900" b="1" dirty="0">
                <a:solidFill>
                  <a:srgbClr val="C00000"/>
                </a:solidFill>
              </a:rPr>
              <a:t>子进程</a:t>
            </a:r>
            <a:r>
              <a:rPr lang="zh-CN" altLang="en-US" sz="1900" b="1" dirty="0"/>
              <a:t>的方式打开外部程序，外部进程和现进程执行互不干扰，但外部进程的父进程是</a:t>
            </a:r>
            <a:r>
              <a:rPr lang="zh-CN" altLang="en-US" sz="1900" b="1" dirty="0">
                <a:solidFill>
                  <a:srgbClr val="C00000"/>
                </a:solidFill>
              </a:rPr>
              <a:t>现进程</a:t>
            </a:r>
            <a:r>
              <a:rPr lang="zh-CN" altLang="en-US" sz="1900" b="1" dirty="0"/>
              <a:t>。</a:t>
            </a:r>
          </a:p>
          <a:p>
            <a:pPr lvl="1">
              <a:lnSpc>
                <a:spcPct val="150000"/>
              </a:lnSpc>
            </a:pPr>
            <a:r>
              <a:rPr lang="en-US" altLang="zh-CN" sz="1900" b="1" dirty="0" err="1"/>
              <a:t>QProcess</a:t>
            </a:r>
            <a:r>
              <a:rPr lang="en-US" altLang="zh-CN" sz="1900" b="1" dirty="0"/>
              <a:t>::</a:t>
            </a:r>
            <a:r>
              <a:rPr lang="en-US" altLang="zh-CN" sz="1900" b="1" dirty="0" err="1"/>
              <a:t>startDetached</a:t>
            </a:r>
            <a:r>
              <a:rPr lang="en-US" altLang="zh-CN" sz="1900" b="1" dirty="0"/>
              <a:t>()</a:t>
            </a:r>
            <a:r>
              <a:rPr lang="zh-CN" altLang="en-US" sz="1900" b="1" dirty="0"/>
              <a:t>：以</a:t>
            </a:r>
            <a:r>
              <a:rPr lang="zh-CN" altLang="en-US" sz="1900" b="1" dirty="0">
                <a:solidFill>
                  <a:srgbClr val="C00000"/>
                </a:solidFill>
              </a:rPr>
              <a:t>分离方式</a:t>
            </a:r>
            <a:r>
              <a:rPr lang="zh-CN" altLang="en-US" sz="1900" b="1" dirty="0"/>
              <a:t>打开外部程序，外部进程和现进程执行互不干扰，外部进程的父进程是</a:t>
            </a:r>
            <a:r>
              <a:rPr lang="zh-CN" altLang="en-US" sz="1900" b="1" dirty="0">
                <a:solidFill>
                  <a:srgbClr val="C00000"/>
                </a:solidFill>
              </a:rPr>
              <a:t>系统的 </a:t>
            </a:r>
            <a:r>
              <a:rPr lang="en-US" altLang="zh-CN" sz="1900" b="1" dirty="0" err="1">
                <a:solidFill>
                  <a:srgbClr val="C00000"/>
                </a:solidFill>
              </a:rPr>
              <a:t>init</a:t>
            </a:r>
            <a:r>
              <a:rPr lang="en-US" altLang="zh-CN" sz="1900" b="1" dirty="0">
                <a:solidFill>
                  <a:srgbClr val="C00000"/>
                </a:solidFill>
              </a:rPr>
              <a:t> </a:t>
            </a:r>
            <a:r>
              <a:rPr lang="zh-CN" altLang="en-US" sz="1900" b="1" dirty="0">
                <a:solidFill>
                  <a:srgbClr val="C00000"/>
                </a:solidFill>
              </a:rPr>
              <a:t>进程 </a:t>
            </a:r>
            <a:br>
              <a:rPr lang="zh-CN" altLang="en-US" sz="1900" b="1" dirty="0"/>
            </a:br>
            <a:endParaRPr lang="zh-CN" altLang="en-US" sz="1900" b="1" dirty="0"/>
          </a:p>
        </p:txBody>
      </p:sp>
    </p:spTree>
    <p:extLst>
      <p:ext uri="{BB962C8B-B14F-4D97-AF65-F5344CB8AC3E}">
        <p14:creationId xmlns:p14="http://schemas.microsoft.com/office/powerpoint/2010/main" val="3785635526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F564FFD-D6DA-4124-ACA9-F8467E6E7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39" y="1323681"/>
            <a:ext cx="3553321" cy="295316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F1B379E-AA4F-55F2-EE68-1099EED1D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599" y="2581156"/>
            <a:ext cx="8792802" cy="1695687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2A03DF48-437B-EE45-A1C2-D36A96344392}"/>
              </a:ext>
            </a:extLst>
          </p:cNvPr>
          <p:cNvCxnSpPr>
            <a:cxnSpLocks/>
          </p:cNvCxnSpPr>
          <p:nvPr/>
        </p:nvCxnSpPr>
        <p:spPr>
          <a:xfrm>
            <a:off x="10073640" y="2035312"/>
            <a:ext cx="0" cy="66014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499670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E99D6-D0CB-7170-930E-FF49BFEFE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E728727-D293-B793-1748-0897B9AD0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032" y="1418971"/>
            <a:ext cx="3515216" cy="363905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8A57797-D7BC-37F1-AED0-074110C61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571" y="2325841"/>
            <a:ext cx="2133898" cy="2343477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1EB6E284-8D7D-05B4-B8F2-85E7A9A47816}"/>
              </a:ext>
            </a:extLst>
          </p:cNvPr>
          <p:cNvCxnSpPr>
            <a:cxnSpLocks/>
          </p:cNvCxnSpPr>
          <p:nvPr/>
        </p:nvCxnSpPr>
        <p:spPr>
          <a:xfrm flipH="1">
            <a:off x="9234234" y="3683256"/>
            <a:ext cx="75558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356112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6CE32FD-4517-3EEF-5A88-0E69477C9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72" y="780690"/>
            <a:ext cx="6329662" cy="543032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30151F9-5350-57C3-B258-A11411806864}"/>
              </a:ext>
            </a:extLst>
          </p:cNvPr>
          <p:cNvSpPr txBox="1"/>
          <p:nvPr/>
        </p:nvSpPr>
        <p:spPr>
          <a:xfrm>
            <a:off x="2854625" y="1291375"/>
            <a:ext cx="203132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 dirty="0"/>
              <a:t>程序运行后的结果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D2AE6F-0ADD-475C-9510-6483835B33EF}"/>
              </a:ext>
            </a:extLst>
          </p:cNvPr>
          <p:cNvSpPr txBox="1"/>
          <p:nvPr/>
        </p:nvSpPr>
        <p:spPr>
          <a:xfrm>
            <a:off x="6670375" y="780690"/>
            <a:ext cx="5087428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点击“阻塞式打开”时，打开“</a:t>
            </a:r>
            <a:r>
              <a:rPr lang="en-US" altLang="zh-CN" sz="2000" b="1" dirty="0"/>
              <a:t>app</a:t>
            </a:r>
            <a:r>
              <a:rPr lang="zh-CN" altLang="en-US" sz="2000" b="1" dirty="0"/>
              <a:t>”，此时程序“</a:t>
            </a:r>
            <a:r>
              <a:rPr lang="en-US" altLang="zh-CN" sz="2000" b="1" dirty="0" err="1"/>
              <a:t>StartExe</a:t>
            </a:r>
            <a:r>
              <a:rPr lang="zh-CN" altLang="en-US" sz="2000" b="1" dirty="0"/>
              <a:t>”处于阻塞状态（</a:t>
            </a:r>
            <a:r>
              <a:rPr lang="zh-CN" altLang="en-US" sz="2000" b="1" dirty="0">
                <a:solidFill>
                  <a:srgbClr val="C00000"/>
                </a:solidFill>
              </a:rPr>
              <a:t>停止运行</a:t>
            </a:r>
            <a:r>
              <a:rPr lang="zh-CN" altLang="en-US" sz="2000" b="1" dirty="0"/>
              <a:t>），无法进行任何操作，此时点击按钮发现没有反应，直至将 </a:t>
            </a:r>
            <a:r>
              <a:rPr lang="en-US" altLang="zh-CN" sz="2000" b="1" dirty="0"/>
              <a:t>3s </a:t>
            </a:r>
            <a:r>
              <a:rPr lang="zh-CN" altLang="en-US" sz="2000" b="1" dirty="0"/>
              <a:t>后打开的程序“</a:t>
            </a:r>
            <a:r>
              <a:rPr lang="en-US" altLang="zh-CN" sz="2000" b="1" dirty="0"/>
              <a:t>app</a:t>
            </a:r>
            <a:r>
              <a:rPr lang="zh-CN" altLang="en-US" sz="2000" b="1" dirty="0"/>
              <a:t>”关闭 </a:t>
            </a:r>
            <a:endParaRPr lang="en-US" altLang="zh-C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点击“子进程打开”时，打开“</a:t>
            </a:r>
            <a:r>
              <a:rPr lang="en-US" altLang="zh-CN" sz="2000" b="1" dirty="0"/>
              <a:t>app</a:t>
            </a:r>
            <a:r>
              <a:rPr lang="zh-CN" altLang="en-US" sz="2000" b="1" dirty="0"/>
              <a:t>”，此时程序“</a:t>
            </a:r>
            <a:r>
              <a:rPr lang="en-US" altLang="zh-CN" sz="2000" b="1" dirty="0" err="1"/>
              <a:t>StartExe</a:t>
            </a:r>
            <a:r>
              <a:rPr lang="zh-CN" altLang="en-US" sz="2000" b="1" dirty="0"/>
              <a:t>”等待“</a:t>
            </a:r>
            <a:r>
              <a:rPr lang="en-US" altLang="zh-CN" sz="2000" b="1" dirty="0"/>
              <a:t>app</a:t>
            </a:r>
            <a:r>
              <a:rPr lang="zh-CN" altLang="en-US" sz="2000" b="1" dirty="0"/>
              <a:t>”被关闭，“</a:t>
            </a:r>
            <a:r>
              <a:rPr lang="en-US" altLang="zh-CN" sz="2000" b="1" dirty="0" err="1"/>
              <a:t>StartExe</a:t>
            </a:r>
            <a:r>
              <a:rPr lang="zh-CN" altLang="en-US" sz="2000" b="1" dirty="0"/>
              <a:t>”为父进程，“</a:t>
            </a:r>
            <a:r>
              <a:rPr lang="en-US" altLang="zh-CN" sz="2000" b="1" dirty="0"/>
              <a:t>app</a:t>
            </a:r>
            <a:r>
              <a:rPr lang="zh-CN" altLang="en-US" sz="2000" b="1" dirty="0"/>
              <a:t>”为子进程 </a:t>
            </a:r>
            <a:endParaRPr lang="en-US" altLang="zh-C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点击“分离式打开”时，打开“</a:t>
            </a:r>
            <a:r>
              <a:rPr lang="en-US" altLang="zh-CN" sz="2000" b="1" dirty="0"/>
              <a:t>app</a:t>
            </a:r>
            <a:r>
              <a:rPr lang="zh-CN" altLang="en-US" sz="2000" b="1" dirty="0"/>
              <a:t>”，此时程序“</a:t>
            </a:r>
            <a:r>
              <a:rPr lang="en-US" altLang="zh-CN" sz="2000" b="1" dirty="0" err="1"/>
              <a:t>StartExe</a:t>
            </a:r>
            <a:r>
              <a:rPr lang="zh-CN" altLang="en-US" sz="2000" b="1" dirty="0"/>
              <a:t>”处于运行态，</a:t>
            </a:r>
            <a:r>
              <a:rPr lang="zh-CN" altLang="en-US" sz="2000" b="1" dirty="0">
                <a:solidFill>
                  <a:srgbClr val="C00000"/>
                </a:solidFill>
              </a:rPr>
              <a:t>两个程序均可进行正常操作</a:t>
            </a:r>
            <a:r>
              <a:rPr lang="zh-CN" altLang="en-US" sz="2000" b="1" dirty="0"/>
              <a:t>，且当“</a:t>
            </a:r>
            <a:r>
              <a:rPr lang="en-US" altLang="zh-CN" sz="2000" b="1" dirty="0" err="1"/>
              <a:t>StartExe</a:t>
            </a:r>
            <a:r>
              <a:rPr lang="zh-CN" altLang="en-US" sz="2000" b="1" dirty="0"/>
              <a:t>”关闭时，“</a:t>
            </a:r>
            <a:r>
              <a:rPr lang="en-US" altLang="zh-CN" sz="2000" b="1" dirty="0"/>
              <a:t>app</a:t>
            </a:r>
            <a:r>
              <a:rPr lang="zh-CN" altLang="en-US" sz="2000" b="1" dirty="0"/>
              <a:t>”也不会被关闭 </a:t>
            </a:r>
            <a:br>
              <a:rPr lang="zh-CN" altLang="en-US" sz="2000" b="1" dirty="0"/>
            </a:br>
            <a:br>
              <a:rPr lang="zh-CN" altLang="en-US" sz="1400" b="1" dirty="0"/>
            </a:br>
            <a:br>
              <a:rPr lang="zh-CN" altLang="en-US" sz="1400" b="1" dirty="0"/>
            </a:b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123563486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F61DD289-9665-728D-AA5D-1B6DE98CB235}"/>
              </a:ext>
            </a:extLst>
          </p:cNvPr>
          <p:cNvSpPr txBox="1"/>
          <p:nvPr/>
        </p:nvSpPr>
        <p:spPr>
          <a:xfrm>
            <a:off x="8046990" y="4564953"/>
            <a:ext cx="133882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可执行文件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5AD4C13-DA2F-3972-DC4C-EFDDEFABB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033" y="397115"/>
            <a:ext cx="7287642" cy="152421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8433C55-FBCE-5A33-3C88-2D41E4E5B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073" y="2761490"/>
            <a:ext cx="8087854" cy="1571844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6A4C2E7-082A-F320-EB0A-DA10F24F1D63}"/>
              </a:ext>
            </a:extLst>
          </p:cNvPr>
          <p:cNvCxnSpPr/>
          <p:nvPr/>
        </p:nvCxnSpPr>
        <p:spPr>
          <a:xfrm flipV="1">
            <a:off x="8716404" y="3918894"/>
            <a:ext cx="0" cy="4144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6554294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3FA77-0DE2-8F6E-90DC-253A93093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A84044-E8EB-0569-9866-C73EFE269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66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也可以在</a:t>
            </a:r>
            <a:r>
              <a:rPr lang="en-US" altLang="zh-CN" sz="2000" b="1" dirty="0"/>
              <a:t>Ubuntu</a:t>
            </a:r>
            <a:r>
              <a:rPr lang="zh-CN" altLang="en-US" sz="2000" b="1" dirty="0"/>
              <a:t>的“终端”上运行编译好的可执行文件：</a:t>
            </a:r>
            <a:endParaRPr lang="en-US" altLang="zh-CN" sz="2000" b="1" dirty="0"/>
          </a:p>
          <a:p>
            <a:pPr lvl="1"/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cd /home/</a:t>
            </a:r>
            <a:r>
              <a:rPr lang="en-US" altLang="zh-CN" sz="1800" b="1" dirty="0" err="1"/>
              <a:t>linux</a:t>
            </a:r>
            <a:r>
              <a:rPr lang="en-US" altLang="zh-CN" sz="1800" b="1" dirty="0"/>
              <a:t>/qt/build-</a:t>
            </a:r>
            <a:r>
              <a:rPr lang="en-US" altLang="zh-CN" sz="1800" b="1" dirty="0" err="1"/>
              <a:t>StartExe</a:t>
            </a:r>
            <a:r>
              <a:rPr lang="en-US" altLang="zh-CN" sz="1800" b="1" dirty="0"/>
              <a:t>-Desktop-Debug</a:t>
            </a:r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./</a:t>
            </a:r>
            <a:r>
              <a:rPr lang="en-US" altLang="zh-CN" sz="1800" b="1" dirty="0" err="1"/>
              <a:t>StartExe</a:t>
            </a:r>
            <a:endParaRPr lang="en-US" altLang="zh-CN" sz="1800" b="1" dirty="0"/>
          </a:p>
          <a:p>
            <a:pPr lvl="1"/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944694153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E932B-9219-C23C-D7D2-3F56A3033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2D74274-6624-E3A4-244E-EE88C0C7D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618" y="0"/>
            <a:ext cx="8523884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DDA989F-94C7-E054-3D17-E42F3E431C2A}"/>
              </a:ext>
            </a:extLst>
          </p:cNvPr>
          <p:cNvSpPr txBox="1"/>
          <p:nvPr/>
        </p:nvSpPr>
        <p:spPr>
          <a:xfrm>
            <a:off x="6682740" y="348734"/>
            <a:ext cx="230886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 err="1"/>
              <a:t>StartExe</a:t>
            </a:r>
            <a:r>
              <a:rPr lang="en-US" altLang="zh-CN" b="1" dirty="0"/>
              <a:t>.</a:t>
            </a:r>
            <a:r>
              <a:rPr lang="zh-CN" altLang="en-US" b="1" dirty="0"/>
              <a:t>pro</a:t>
            </a:r>
          </a:p>
        </p:txBody>
      </p:sp>
    </p:spTree>
    <p:extLst>
      <p:ext uri="{BB962C8B-B14F-4D97-AF65-F5344CB8AC3E}">
        <p14:creationId xmlns:p14="http://schemas.microsoft.com/office/powerpoint/2010/main" val="3596228511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6E7FE-6FC2-1CD1-1149-914F0E81C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6EB93AF-191D-F2C0-A5E6-F64C27588A77}"/>
              </a:ext>
            </a:extLst>
          </p:cNvPr>
          <p:cNvSpPr txBox="1"/>
          <p:nvPr/>
        </p:nvSpPr>
        <p:spPr>
          <a:xfrm>
            <a:off x="6682740" y="348734"/>
            <a:ext cx="166878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lang="en-US" altLang="zh-CN" b="1" dirty="0"/>
              <a:t>main.cpp</a:t>
            </a:r>
            <a:endParaRPr lang="zh-CN" altLang="en-US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54D7D2C-80BE-A887-82C6-9A879879B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707" y="1395128"/>
            <a:ext cx="4010585" cy="4067743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42245E23-D6FA-38CC-D43F-8EF708291551}"/>
              </a:ext>
            </a:extLst>
          </p:cNvPr>
          <p:cNvCxnSpPr/>
          <p:nvPr/>
        </p:nvCxnSpPr>
        <p:spPr>
          <a:xfrm>
            <a:off x="3607709" y="4213860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322947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6B8D3-842F-3D96-0A28-850B1FEAF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870AEF6-11E3-AF13-CD5F-E1E53F87A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250" y="0"/>
            <a:ext cx="7582299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7C82DD9-DF11-0C40-20DA-EDD8756AD2B6}"/>
              </a:ext>
            </a:extLst>
          </p:cNvPr>
          <p:cNvSpPr txBox="1"/>
          <p:nvPr/>
        </p:nvSpPr>
        <p:spPr>
          <a:xfrm>
            <a:off x="6682740" y="348734"/>
            <a:ext cx="195072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3</a:t>
            </a:r>
            <a:r>
              <a:rPr lang="zh-CN" altLang="en-US" b="1" dirty="0"/>
              <a:t>、</a:t>
            </a:r>
            <a:r>
              <a:rPr lang="en-US" altLang="zh-CN" b="1" dirty="0"/>
              <a:t>startexe.cpp</a:t>
            </a:r>
            <a:endParaRPr lang="zh-CN" altLang="en-US" b="1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38291B0-A519-0542-A967-CA4534AE3D86}"/>
              </a:ext>
            </a:extLst>
          </p:cNvPr>
          <p:cNvCxnSpPr/>
          <p:nvPr/>
        </p:nvCxnSpPr>
        <p:spPr>
          <a:xfrm>
            <a:off x="2114189" y="1121926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513057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AE8E4-11D6-505C-25BA-79D890268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775EE47-3BD4-7271-FA81-A9CDCC8DD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966" y="0"/>
            <a:ext cx="3858068" cy="6858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559158C-2255-3306-B484-3869F38A776A}"/>
              </a:ext>
            </a:extLst>
          </p:cNvPr>
          <p:cNvSpPr txBox="1"/>
          <p:nvPr/>
        </p:nvSpPr>
        <p:spPr>
          <a:xfrm>
            <a:off x="7452360" y="348734"/>
            <a:ext cx="174498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4</a:t>
            </a:r>
            <a:r>
              <a:rPr lang="zh-CN" altLang="en-US" b="1" dirty="0"/>
              <a:t>、</a:t>
            </a:r>
            <a:r>
              <a:rPr lang="en-US" altLang="zh-CN" b="1" dirty="0" err="1"/>
              <a:t>startexe.h</a:t>
            </a:r>
            <a:endParaRPr lang="zh-CN" altLang="en-US" b="1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562737B-65C6-6097-F64A-351164B870DB}"/>
              </a:ext>
            </a:extLst>
          </p:cNvPr>
          <p:cNvCxnSpPr/>
          <p:nvPr/>
        </p:nvCxnSpPr>
        <p:spPr>
          <a:xfrm>
            <a:off x="3501029" y="2577346"/>
            <a:ext cx="5867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0761677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C0A10-C8E6-140A-B242-B357A3A60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661B5B-1DDA-C693-E277-50F8CF1C3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4445"/>
            <a:ext cx="10515600" cy="1325563"/>
          </a:xfrm>
        </p:spPr>
        <p:txBody>
          <a:bodyPr/>
          <a:lstStyle/>
          <a:p>
            <a:pPr algn="ctr"/>
            <a:r>
              <a:rPr lang="zh-CN" altLang="en-US" b="1" dirty="0"/>
              <a:t>五、配置 </a:t>
            </a:r>
            <a:r>
              <a:rPr lang="en-US" altLang="zh-CN" b="1" dirty="0"/>
              <a:t>Qt Creator</a:t>
            </a:r>
            <a:r>
              <a:rPr lang="zh-CN" altLang="en-US" b="1" dirty="0"/>
              <a:t> 参数（实验箱用）</a:t>
            </a:r>
          </a:p>
        </p:txBody>
      </p:sp>
    </p:spTree>
    <p:extLst>
      <p:ext uri="{BB962C8B-B14F-4D97-AF65-F5344CB8AC3E}">
        <p14:creationId xmlns:p14="http://schemas.microsoft.com/office/powerpoint/2010/main" val="671460061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7CBE9E-B98E-48BF-ADB5-F1AC4E278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b="1" dirty="0"/>
              <a:t>将“</a:t>
            </a:r>
            <a:r>
              <a:rPr lang="zh-CN" altLang="en-US" sz="2000" b="1" dirty="0">
                <a:solidFill>
                  <a:srgbClr val="FF0000"/>
                </a:solidFill>
              </a:rPr>
              <a:t>第</a:t>
            </a:r>
            <a:r>
              <a:rPr lang="en-US" altLang="zh-CN" sz="2000" b="1" dirty="0">
                <a:solidFill>
                  <a:srgbClr val="FF0000"/>
                </a:solidFill>
              </a:rPr>
              <a:t>6</a:t>
            </a:r>
            <a:r>
              <a:rPr lang="zh-CN" altLang="en-US" sz="2000" b="1" dirty="0">
                <a:solidFill>
                  <a:srgbClr val="FF0000"/>
                </a:solidFill>
              </a:rPr>
              <a:t>次实验文档</a:t>
            </a:r>
            <a:r>
              <a:rPr lang="en-US" altLang="zh-CN" sz="2000" b="1" dirty="0">
                <a:solidFill>
                  <a:srgbClr val="FF0000"/>
                </a:solidFill>
              </a:rPr>
              <a:t>.zip</a:t>
            </a:r>
            <a:r>
              <a:rPr lang="zh-CN" altLang="en-US" sz="2000" b="1" dirty="0"/>
              <a:t>”中的“</a:t>
            </a:r>
            <a:r>
              <a:rPr lang="en-US" altLang="zh-CN" sz="2000" b="1" dirty="0">
                <a:solidFill>
                  <a:srgbClr val="FF0000"/>
                </a:solidFill>
              </a:rPr>
              <a:t>qt-everywhere.tar</a:t>
            </a:r>
            <a:r>
              <a:rPr lang="zh-CN" altLang="en-US" sz="2000" b="1" dirty="0"/>
              <a:t>”和“</a:t>
            </a:r>
            <a:r>
              <a:rPr lang="en-US" altLang="zh-CN" sz="2000" b="1" dirty="0">
                <a:solidFill>
                  <a:srgbClr val="FF0000"/>
                </a:solidFill>
              </a:rPr>
              <a:t>arm-x86-aarch64-linux-gnu.tar</a:t>
            </a:r>
            <a:r>
              <a:rPr lang="zh-CN" altLang="en-US" sz="2000" b="1" dirty="0"/>
              <a:t>”拷贝到</a:t>
            </a:r>
            <a:r>
              <a:rPr lang="en-US" altLang="zh-CN" sz="2000" b="1" dirty="0"/>
              <a:t>Ubuntu</a:t>
            </a:r>
            <a:r>
              <a:rPr lang="zh-CN" altLang="en-US" sz="2000" b="1" dirty="0"/>
              <a:t>的</a:t>
            </a:r>
            <a:r>
              <a:rPr lang="en-US" altLang="zh-CN" sz="2000" b="1" dirty="0"/>
              <a:t>/home/</a:t>
            </a:r>
            <a:r>
              <a:rPr lang="en-US" altLang="zh-CN" sz="2000" b="1" dirty="0" err="1"/>
              <a:t>linux</a:t>
            </a:r>
            <a:r>
              <a:rPr lang="zh-CN" altLang="en-US" sz="2000" b="1" dirty="0"/>
              <a:t>目录下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b="1" dirty="0"/>
              <a:t>在</a:t>
            </a:r>
            <a:r>
              <a:rPr lang="en-US" altLang="zh-CN" sz="2000" b="1" dirty="0"/>
              <a:t>Ubuntu</a:t>
            </a:r>
            <a:r>
              <a:rPr lang="zh-CN" altLang="en-US" sz="2000" b="1" dirty="0"/>
              <a:t>的“终端”上执行（解压这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个文件）：</a:t>
            </a:r>
            <a:endParaRPr lang="en-US" altLang="zh-CN" sz="2000" b="1" dirty="0"/>
          </a:p>
          <a:p>
            <a:pPr lvl="1"/>
            <a:r>
              <a:rPr lang="en-US" altLang="zh-CN" sz="1800" b="1" dirty="0"/>
              <a:t>cd /home/</a:t>
            </a:r>
            <a:r>
              <a:rPr lang="en-US" altLang="zh-CN" sz="1800" b="1" dirty="0" err="1"/>
              <a:t>linux</a:t>
            </a:r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tar -</a:t>
            </a:r>
            <a:r>
              <a:rPr lang="en-US" altLang="zh-CN" sz="1800" b="1" dirty="0" err="1"/>
              <a:t>xvf</a:t>
            </a:r>
            <a:r>
              <a:rPr lang="en-US" altLang="zh-CN" sz="1800" b="1" dirty="0"/>
              <a:t> qt-everywhere.tar</a:t>
            </a:r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tar -</a:t>
            </a:r>
            <a:r>
              <a:rPr lang="en-US" altLang="zh-CN" sz="1800" b="1" dirty="0" err="1"/>
              <a:t>xvf</a:t>
            </a:r>
            <a:r>
              <a:rPr lang="en-US" altLang="zh-CN" sz="1800" b="1" dirty="0"/>
              <a:t> arm-x86-aarch64-linux-gnu.tar</a:t>
            </a:r>
            <a:endParaRPr lang="zh-CN" altLang="en-US" sz="1800" b="1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747742-72EC-3E1A-EAEE-BE075E97F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/>
              <a:t>1</a:t>
            </a:r>
            <a:r>
              <a:rPr lang="zh-CN" altLang="en-US" b="1" dirty="0"/>
              <a:t>、解压文件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03CD21B-FC4B-3423-6C30-BE0BB205B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108" y="2591129"/>
            <a:ext cx="3835138" cy="14976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43B6695-B347-431B-F97E-423DCBD98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108" y="4326562"/>
            <a:ext cx="3835138" cy="208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973058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6A43B-6A2C-0A88-0387-D2843AFC7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/>
              <a:t>2</a:t>
            </a:r>
            <a:r>
              <a:rPr lang="zh-CN" altLang="en-US" b="1" dirty="0"/>
              <a:t>、配置</a:t>
            </a:r>
            <a:r>
              <a:rPr lang="en-US" altLang="zh-CN" b="1" dirty="0"/>
              <a:t>GCC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3180F1-A1A7-1C35-5E70-D9A927019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打开</a:t>
            </a:r>
            <a:r>
              <a:rPr lang="en-US" altLang="zh-CN" sz="2400" b="1" dirty="0"/>
              <a:t>Qt Creator</a:t>
            </a:r>
            <a:r>
              <a:rPr lang="zh-CN" altLang="en-US" sz="2400" b="1" dirty="0"/>
              <a:t>，点击：工具</a:t>
            </a:r>
            <a:r>
              <a:rPr lang="en-US" altLang="zh-CN" sz="2400" b="1" dirty="0"/>
              <a:t>-&gt;</a:t>
            </a:r>
            <a:r>
              <a:rPr lang="zh-CN" altLang="en-US" sz="2400" b="1" dirty="0"/>
              <a:t>选项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EC74C87-4EBA-3FF2-6970-465D066CB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726" y="2644140"/>
            <a:ext cx="4306910" cy="3376021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C831627-EE92-1587-415C-B8FD78CF3CE3}"/>
              </a:ext>
            </a:extLst>
          </p:cNvPr>
          <p:cNvCxnSpPr>
            <a:cxnSpLocks/>
          </p:cNvCxnSpPr>
          <p:nvPr/>
        </p:nvCxnSpPr>
        <p:spPr>
          <a:xfrm flipH="1">
            <a:off x="8260080" y="5812328"/>
            <a:ext cx="80772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CA969BC-2F7F-3167-068B-8D88D7DE0DC3}"/>
              </a:ext>
            </a:extLst>
          </p:cNvPr>
          <p:cNvCxnSpPr>
            <a:cxnSpLocks/>
          </p:cNvCxnSpPr>
          <p:nvPr/>
        </p:nvCxnSpPr>
        <p:spPr>
          <a:xfrm>
            <a:off x="7734300" y="2802428"/>
            <a:ext cx="0" cy="62657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8360190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162EB4E-DF47-337E-99D4-6D4B78405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03" y="0"/>
            <a:ext cx="11644793" cy="6858000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9184A55-1CEB-EBD9-A041-D1354C26A572}"/>
              </a:ext>
            </a:extLst>
          </p:cNvPr>
          <p:cNvCxnSpPr>
            <a:cxnSpLocks/>
          </p:cNvCxnSpPr>
          <p:nvPr/>
        </p:nvCxnSpPr>
        <p:spPr>
          <a:xfrm>
            <a:off x="10744200" y="739140"/>
            <a:ext cx="0" cy="62657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DAF0798F-12A5-E9A6-E533-01B5258BF24D}"/>
              </a:ext>
            </a:extLst>
          </p:cNvPr>
          <p:cNvCxnSpPr>
            <a:cxnSpLocks/>
          </p:cNvCxnSpPr>
          <p:nvPr/>
        </p:nvCxnSpPr>
        <p:spPr>
          <a:xfrm>
            <a:off x="4351020" y="425854"/>
            <a:ext cx="0" cy="62657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AD69AD35-50B3-3061-BD92-7AC7A8181F1F}"/>
              </a:ext>
            </a:extLst>
          </p:cNvPr>
          <p:cNvCxnSpPr>
            <a:cxnSpLocks/>
          </p:cNvCxnSpPr>
          <p:nvPr/>
        </p:nvCxnSpPr>
        <p:spPr>
          <a:xfrm flipH="1">
            <a:off x="1188720" y="1159106"/>
            <a:ext cx="61722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847153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FF226F-5502-3EDF-FD67-853F5207B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GCC -&gt; C</a:t>
            </a:r>
            <a:endParaRPr lang="zh-CN" altLang="en-US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34B715-CF94-008A-84CE-D3D6BE9B9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261" y="3215491"/>
            <a:ext cx="3067478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035797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29120FA-2F08-B48F-0C33-9D89B7BD3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54" y="113837"/>
            <a:ext cx="11936491" cy="6630325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A4E8396B-459C-6452-1334-817B4A89B7FD}"/>
              </a:ext>
            </a:extLst>
          </p:cNvPr>
          <p:cNvCxnSpPr>
            <a:cxnSpLocks/>
          </p:cNvCxnSpPr>
          <p:nvPr/>
        </p:nvCxnSpPr>
        <p:spPr>
          <a:xfrm flipH="1">
            <a:off x="4914900" y="4436572"/>
            <a:ext cx="6858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D3CB9158-D31C-B5E0-D46B-5586C3C05437}"/>
              </a:ext>
            </a:extLst>
          </p:cNvPr>
          <p:cNvCxnSpPr>
            <a:cxnSpLocks/>
          </p:cNvCxnSpPr>
          <p:nvPr/>
        </p:nvCxnSpPr>
        <p:spPr>
          <a:xfrm flipH="1">
            <a:off x="8359140" y="4756612"/>
            <a:ext cx="65532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A29963E0-342C-C01E-5889-CFE9FD454202}"/>
              </a:ext>
            </a:extLst>
          </p:cNvPr>
          <p:cNvCxnSpPr>
            <a:cxnSpLocks/>
          </p:cNvCxnSpPr>
          <p:nvPr/>
        </p:nvCxnSpPr>
        <p:spPr>
          <a:xfrm>
            <a:off x="9951720" y="5853892"/>
            <a:ext cx="0" cy="53928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145723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162EB4E-DF47-337E-99D4-6D4B78405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314" y="1630680"/>
            <a:ext cx="8725284" cy="5138605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9184A55-1CEB-EBD9-A041-D1354C26A572}"/>
              </a:ext>
            </a:extLst>
          </p:cNvPr>
          <p:cNvCxnSpPr>
            <a:cxnSpLocks/>
          </p:cNvCxnSpPr>
          <p:nvPr/>
        </p:nvCxnSpPr>
        <p:spPr>
          <a:xfrm>
            <a:off x="5021580" y="1722120"/>
            <a:ext cx="0" cy="62657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04216727-D66E-6F1E-06AB-4E5971C4BD40}"/>
              </a:ext>
            </a:extLst>
          </p:cNvPr>
          <p:cNvCxnSpPr>
            <a:cxnSpLocks/>
          </p:cNvCxnSpPr>
          <p:nvPr/>
        </p:nvCxnSpPr>
        <p:spPr>
          <a:xfrm>
            <a:off x="9784080" y="2035406"/>
            <a:ext cx="0" cy="62657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1">
            <a:extLst>
              <a:ext uri="{FF2B5EF4-FFF2-40B4-BE49-F238E27FC236}">
                <a16:creationId xmlns:a16="http://schemas.microsoft.com/office/drawing/2014/main" id="{CF69ABAD-07EA-62F7-62E3-F1345560E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/>
              <a:t>3</a:t>
            </a:r>
            <a:r>
              <a:rPr lang="zh-CN" altLang="en-US" b="1" dirty="0"/>
              <a:t>、配置</a:t>
            </a:r>
            <a:r>
              <a:rPr lang="en-US" altLang="zh-CN" b="1" dirty="0"/>
              <a:t>G++</a:t>
            </a:r>
            <a:endParaRPr lang="zh-CN" altLang="en-US" b="1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A638DAA5-D057-82BE-1AF0-9C2374A72A2F}"/>
              </a:ext>
            </a:extLst>
          </p:cNvPr>
          <p:cNvCxnSpPr>
            <a:cxnSpLocks/>
          </p:cNvCxnSpPr>
          <p:nvPr/>
        </p:nvCxnSpPr>
        <p:spPr>
          <a:xfrm flipH="1">
            <a:off x="2682240" y="2484986"/>
            <a:ext cx="54102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445638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17086-D43C-64E2-05B2-7D51B06E3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4C6F19-8468-BB6E-AA90-060F6DB1E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GCC -&gt; C++</a:t>
            </a:r>
            <a:endParaRPr lang="zh-CN" altLang="en-US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CA9E46C-4ED6-42B4-B062-4F2A817CA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1161" y="2612491"/>
            <a:ext cx="4572638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081647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46C759B-58E7-27E1-5EB4-C43F02442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07" y="0"/>
            <a:ext cx="11919185" cy="6858000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71FAE2A3-9A59-B2A2-73F4-C68317B45BA4}"/>
              </a:ext>
            </a:extLst>
          </p:cNvPr>
          <p:cNvCxnSpPr>
            <a:cxnSpLocks/>
          </p:cNvCxnSpPr>
          <p:nvPr/>
        </p:nvCxnSpPr>
        <p:spPr>
          <a:xfrm flipH="1">
            <a:off x="4914900" y="4352752"/>
            <a:ext cx="6858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786E5B5F-BEC9-5D7F-CFBA-75C170B9BBF6}"/>
              </a:ext>
            </a:extLst>
          </p:cNvPr>
          <p:cNvCxnSpPr>
            <a:cxnSpLocks/>
          </p:cNvCxnSpPr>
          <p:nvPr/>
        </p:nvCxnSpPr>
        <p:spPr>
          <a:xfrm flipH="1">
            <a:off x="8542020" y="4657552"/>
            <a:ext cx="6858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90405F19-BE30-9E54-7962-738AC9660A63}"/>
              </a:ext>
            </a:extLst>
          </p:cNvPr>
          <p:cNvCxnSpPr>
            <a:cxnSpLocks/>
          </p:cNvCxnSpPr>
          <p:nvPr/>
        </p:nvCxnSpPr>
        <p:spPr>
          <a:xfrm>
            <a:off x="9944100" y="5792932"/>
            <a:ext cx="0" cy="53928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742963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3ED8A-A296-7008-3DEE-FDAC735A3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/>
              <a:t>4</a:t>
            </a:r>
            <a:r>
              <a:rPr lang="zh-CN" altLang="en-US" b="1" dirty="0"/>
              <a:t>、配置</a:t>
            </a:r>
            <a:r>
              <a:rPr lang="en-US" altLang="zh-CN" b="1" dirty="0" err="1"/>
              <a:t>qmake</a:t>
            </a:r>
            <a:endParaRPr lang="zh-CN" altLang="en-US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71AF3DE-29D7-FB57-F1B3-703F2722D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654666"/>
            <a:ext cx="8948714" cy="5160259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0ED9B62-8E52-7420-DB99-386B4B96CFD1}"/>
              </a:ext>
            </a:extLst>
          </p:cNvPr>
          <p:cNvCxnSpPr>
            <a:cxnSpLocks/>
          </p:cNvCxnSpPr>
          <p:nvPr/>
        </p:nvCxnSpPr>
        <p:spPr>
          <a:xfrm>
            <a:off x="4168140" y="1654666"/>
            <a:ext cx="0" cy="69342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DEBE395-C458-79FD-ED3C-5FF362E8B432}"/>
              </a:ext>
            </a:extLst>
          </p:cNvPr>
          <p:cNvCxnSpPr>
            <a:cxnSpLocks/>
          </p:cNvCxnSpPr>
          <p:nvPr/>
        </p:nvCxnSpPr>
        <p:spPr>
          <a:xfrm>
            <a:off x="10149840" y="1900584"/>
            <a:ext cx="0" cy="69342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B0A8934C-0D13-E706-4810-B92BE11B98F3}"/>
              </a:ext>
            </a:extLst>
          </p:cNvPr>
          <p:cNvCxnSpPr>
            <a:cxnSpLocks/>
          </p:cNvCxnSpPr>
          <p:nvPr/>
        </p:nvCxnSpPr>
        <p:spPr>
          <a:xfrm flipH="1">
            <a:off x="2514600" y="2484986"/>
            <a:ext cx="50292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21810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60778D-3B40-AB31-0A8D-0C3BC975F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D3C90D-7384-E221-F9FC-98F4A5C52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D7C5844-C729-CD48-A00F-03886040E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34" y="0"/>
            <a:ext cx="118617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521183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B8B18-ADFE-35C4-AABA-41AF1CE9E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9EF63E-D6BB-2607-902B-2027AD77F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6940D4E-4E3D-AB59-33FD-C911F4610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00" y="0"/>
            <a:ext cx="11740599" cy="6858000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8461FA3E-280A-D8D6-EE9B-0CEB936FC4DD}"/>
              </a:ext>
            </a:extLst>
          </p:cNvPr>
          <p:cNvCxnSpPr>
            <a:cxnSpLocks/>
          </p:cNvCxnSpPr>
          <p:nvPr/>
        </p:nvCxnSpPr>
        <p:spPr>
          <a:xfrm flipV="1">
            <a:off x="6941820" y="1521388"/>
            <a:ext cx="0" cy="60847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C543E68A-4D86-5D4F-8137-D27DD995D032}"/>
              </a:ext>
            </a:extLst>
          </p:cNvPr>
          <p:cNvSpPr txBox="1"/>
          <p:nvPr/>
        </p:nvSpPr>
        <p:spPr>
          <a:xfrm>
            <a:off x="5806441" y="2285714"/>
            <a:ext cx="3726179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b="1" dirty="0"/>
              <a:t>/home/linux/qt-everywhere/bin/</a:t>
            </a:r>
          </a:p>
        </p:txBody>
      </p:sp>
    </p:spTree>
    <p:extLst>
      <p:ext uri="{BB962C8B-B14F-4D97-AF65-F5344CB8AC3E}">
        <p14:creationId xmlns:p14="http://schemas.microsoft.com/office/powerpoint/2010/main" val="1631167601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68ACE9-C4AB-AFFE-F31C-D19C0566F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E7B586-8C01-58D7-7F1E-10D720705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F984391-B0EE-68AB-805F-8CA41EAED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85" y="0"/>
            <a:ext cx="11858429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C82C596-CA22-91B4-898E-9974921AAF06}"/>
              </a:ext>
            </a:extLst>
          </p:cNvPr>
          <p:cNvSpPr txBox="1"/>
          <p:nvPr/>
        </p:nvSpPr>
        <p:spPr>
          <a:xfrm>
            <a:off x="5554980" y="4928354"/>
            <a:ext cx="38252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b="1" dirty="0"/>
              <a:t>改为：</a:t>
            </a:r>
            <a:r>
              <a:rPr lang="en-US" altLang="zh-CN" b="1" dirty="0"/>
              <a:t>Qt %{</a:t>
            </a:r>
            <a:r>
              <a:rPr lang="en-US" altLang="zh-CN" b="1" dirty="0" err="1"/>
              <a:t>Qt:Version</a:t>
            </a:r>
            <a:r>
              <a:rPr lang="en-US" altLang="zh-CN" b="1" dirty="0"/>
              <a:t>} (</a:t>
            </a:r>
            <a:r>
              <a:rPr lang="en-US" altLang="zh-CN" b="1" dirty="0">
                <a:solidFill>
                  <a:srgbClr val="FF0000"/>
                </a:solidFill>
              </a:rPr>
              <a:t>FS3399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EB54737-879D-6037-F161-6E12FC7D3075}"/>
              </a:ext>
            </a:extLst>
          </p:cNvPr>
          <p:cNvCxnSpPr>
            <a:cxnSpLocks/>
          </p:cNvCxnSpPr>
          <p:nvPr/>
        </p:nvCxnSpPr>
        <p:spPr>
          <a:xfrm>
            <a:off x="4640580" y="4234934"/>
            <a:ext cx="0" cy="69342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2659D60-923B-4F88-EB25-4D58A1A6B8C6}"/>
              </a:ext>
            </a:extLst>
          </p:cNvPr>
          <p:cNvCxnSpPr>
            <a:cxnSpLocks/>
          </p:cNvCxnSpPr>
          <p:nvPr/>
        </p:nvCxnSpPr>
        <p:spPr>
          <a:xfrm>
            <a:off x="9890760" y="5560814"/>
            <a:ext cx="0" cy="69342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600538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449A5F-C723-434F-F2BB-FF56FD91B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/>
              <a:t>5</a:t>
            </a:r>
            <a:r>
              <a:rPr lang="zh-CN" altLang="en-US" b="1" dirty="0"/>
              <a:t>、配置</a:t>
            </a:r>
            <a:r>
              <a:rPr lang="en-US" altLang="zh-CN" b="1" dirty="0"/>
              <a:t>Kit</a:t>
            </a:r>
            <a:endParaRPr lang="zh-CN" altLang="en-US" b="1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EE2A837-9500-FC52-B473-F0525544597E}"/>
              </a:ext>
            </a:extLst>
          </p:cNvPr>
          <p:cNvCxnSpPr>
            <a:cxnSpLocks/>
          </p:cNvCxnSpPr>
          <p:nvPr/>
        </p:nvCxnSpPr>
        <p:spPr>
          <a:xfrm>
            <a:off x="10119360" y="1636568"/>
            <a:ext cx="0" cy="69342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C0BB6EB4-F89C-6FED-646C-1F1B12955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460" y="1518458"/>
            <a:ext cx="8858203" cy="5120389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F8BAF49-DF37-BB96-1F14-D5D2CD074D71}"/>
              </a:ext>
            </a:extLst>
          </p:cNvPr>
          <p:cNvCxnSpPr>
            <a:cxnSpLocks/>
          </p:cNvCxnSpPr>
          <p:nvPr/>
        </p:nvCxnSpPr>
        <p:spPr>
          <a:xfrm>
            <a:off x="3589020" y="1531966"/>
            <a:ext cx="0" cy="69342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9E50913-6E8B-C040-2E53-474B0314B83B}"/>
              </a:ext>
            </a:extLst>
          </p:cNvPr>
          <p:cNvCxnSpPr>
            <a:cxnSpLocks/>
          </p:cNvCxnSpPr>
          <p:nvPr/>
        </p:nvCxnSpPr>
        <p:spPr>
          <a:xfrm>
            <a:off x="9768840" y="1827414"/>
            <a:ext cx="0" cy="69342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4D5BB784-6460-DDAC-76B1-689CFDC1E667}"/>
              </a:ext>
            </a:extLst>
          </p:cNvPr>
          <p:cNvCxnSpPr>
            <a:cxnSpLocks/>
          </p:cNvCxnSpPr>
          <p:nvPr/>
        </p:nvCxnSpPr>
        <p:spPr>
          <a:xfrm flipH="1">
            <a:off x="2529840" y="2363066"/>
            <a:ext cx="58674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7963854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CB75921-18F7-A2F9-5A7A-774181C83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14" y="0"/>
            <a:ext cx="9704571" cy="6858000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64136EC9-7017-0949-B4AA-20A29146BBA3}"/>
              </a:ext>
            </a:extLst>
          </p:cNvPr>
          <p:cNvCxnSpPr>
            <a:cxnSpLocks/>
          </p:cNvCxnSpPr>
          <p:nvPr/>
        </p:nvCxnSpPr>
        <p:spPr>
          <a:xfrm flipH="1">
            <a:off x="5265420" y="2865466"/>
            <a:ext cx="64008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E3BB2BF7-12FF-1CA6-BD94-DA3FA24534BC}"/>
              </a:ext>
            </a:extLst>
          </p:cNvPr>
          <p:cNvCxnSpPr>
            <a:cxnSpLocks/>
          </p:cNvCxnSpPr>
          <p:nvPr/>
        </p:nvCxnSpPr>
        <p:spPr>
          <a:xfrm flipH="1">
            <a:off x="6995160" y="3856066"/>
            <a:ext cx="64008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D4CC2A6-8F74-8FCE-DC50-227CEF9E9F4D}"/>
              </a:ext>
            </a:extLst>
          </p:cNvPr>
          <p:cNvCxnSpPr>
            <a:cxnSpLocks/>
          </p:cNvCxnSpPr>
          <p:nvPr/>
        </p:nvCxnSpPr>
        <p:spPr>
          <a:xfrm flipH="1">
            <a:off x="7581900" y="4579966"/>
            <a:ext cx="64008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3873DE9-3D71-5273-98FE-B65C606CBA12}"/>
              </a:ext>
            </a:extLst>
          </p:cNvPr>
          <p:cNvCxnSpPr>
            <a:cxnSpLocks/>
          </p:cNvCxnSpPr>
          <p:nvPr/>
        </p:nvCxnSpPr>
        <p:spPr>
          <a:xfrm flipH="1">
            <a:off x="6301740" y="4968586"/>
            <a:ext cx="64008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E8091B6-5EB9-9627-C991-34A4600BA598}"/>
              </a:ext>
            </a:extLst>
          </p:cNvPr>
          <p:cNvCxnSpPr>
            <a:cxnSpLocks/>
          </p:cNvCxnSpPr>
          <p:nvPr/>
        </p:nvCxnSpPr>
        <p:spPr>
          <a:xfrm flipH="1">
            <a:off x="5905500" y="4229446"/>
            <a:ext cx="64008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5E0197B-DBBB-0D18-7954-2BC968E6A386}"/>
              </a:ext>
            </a:extLst>
          </p:cNvPr>
          <p:cNvCxnSpPr>
            <a:cxnSpLocks/>
          </p:cNvCxnSpPr>
          <p:nvPr/>
        </p:nvCxnSpPr>
        <p:spPr>
          <a:xfrm>
            <a:off x="9227820" y="5951566"/>
            <a:ext cx="0" cy="57115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6110636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518D8-DE60-16D2-F850-846224DDB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FEEF87-E4BC-E7D5-4BFD-70A12436D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44445"/>
            <a:ext cx="12192000" cy="1325563"/>
          </a:xfrm>
        </p:spPr>
        <p:txBody>
          <a:bodyPr/>
          <a:lstStyle/>
          <a:p>
            <a:pPr algn="ctr"/>
            <a:r>
              <a:rPr lang="zh-CN" altLang="en-US" b="1" dirty="0"/>
              <a:t>六、创建实验箱上的 </a:t>
            </a:r>
            <a:r>
              <a:rPr lang="en-US" altLang="zh-CN" b="1" dirty="0"/>
              <a:t>Qt </a:t>
            </a:r>
            <a:r>
              <a:rPr lang="zh-CN" altLang="en-US" b="1" dirty="0"/>
              <a:t>工程（</a:t>
            </a:r>
            <a:r>
              <a:rPr lang="en-US" altLang="zh-CN" b="1" dirty="0"/>
              <a:t>hello</a:t>
            </a:r>
            <a:r>
              <a:rPr lang="zh-CN" altLang="en-US" b="1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555697622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31DD2F3-4B0C-D50F-6933-69053D89A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38655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在</a:t>
            </a:r>
            <a:r>
              <a:rPr lang="en-US" altLang="zh-CN" sz="2400" b="1" dirty="0"/>
              <a:t>Ubuntu</a:t>
            </a:r>
            <a:r>
              <a:rPr lang="zh-CN" altLang="en-US" sz="2400" b="1" dirty="0"/>
              <a:t>的</a:t>
            </a:r>
            <a:r>
              <a:rPr lang="en-US" altLang="zh-CN" sz="2400" b="1" dirty="0"/>
              <a:t>/home/</a:t>
            </a:r>
            <a:r>
              <a:rPr lang="en-US" altLang="zh-CN" sz="2400" b="1" dirty="0" err="1"/>
              <a:t>linux</a:t>
            </a:r>
            <a:r>
              <a:rPr lang="zh-CN" altLang="en-US" sz="2400" b="1" dirty="0"/>
              <a:t>目录下，新建“</a:t>
            </a:r>
            <a:r>
              <a:rPr lang="en-US" altLang="zh-CN" sz="2400" b="1" dirty="0"/>
              <a:t>qt_FS3399</a:t>
            </a:r>
            <a:r>
              <a:rPr lang="zh-CN" altLang="en-US" sz="2400" b="1" dirty="0"/>
              <a:t>”目录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1C918C2-AA81-65E4-A76E-8F92BFE57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932" y="2617121"/>
            <a:ext cx="4629796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701642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9A45A38-C5CD-8ACA-D843-112084D5E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4505"/>
            <a:ext cx="10515600" cy="1938655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在</a:t>
            </a:r>
            <a:r>
              <a:rPr lang="en-US" altLang="zh-CN" sz="2400" b="1" dirty="0"/>
              <a:t>Qt Creator</a:t>
            </a:r>
            <a:r>
              <a:rPr lang="zh-CN" altLang="en-US" sz="2400" b="1" dirty="0"/>
              <a:t>中，创建“</a:t>
            </a:r>
            <a:r>
              <a:rPr lang="en-US" altLang="zh-CN" sz="2400" b="1" dirty="0"/>
              <a:t>hello</a:t>
            </a:r>
            <a:r>
              <a:rPr lang="zh-CN" altLang="en-US" sz="2400" b="1" dirty="0"/>
              <a:t>”工程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A2FFC32-3213-32DA-A833-D3D155030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125" y="1523734"/>
            <a:ext cx="9497750" cy="3810532"/>
          </a:xfrm>
          <a:prstGeom prst="rect">
            <a:avLst/>
          </a:prstGeom>
        </p:spPr>
      </p:pic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5461DAFA-97E9-5851-E286-950D785F348D}"/>
              </a:ext>
            </a:extLst>
          </p:cNvPr>
          <p:cNvCxnSpPr>
            <a:cxnSpLocks/>
          </p:cNvCxnSpPr>
          <p:nvPr/>
        </p:nvCxnSpPr>
        <p:spPr>
          <a:xfrm>
            <a:off x="8923020" y="3044825"/>
            <a:ext cx="0" cy="52133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065584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A745428-D25B-69D1-E038-A302A6B12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546" y="799733"/>
            <a:ext cx="8468907" cy="5258534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D18DAC42-BDB7-9BD9-7E18-46AF8727C09C}"/>
              </a:ext>
            </a:extLst>
          </p:cNvPr>
          <p:cNvCxnSpPr>
            <a:cxnSpLocks/>
          </p:cNvCxnSpPr>
          <p:nvPr/>
        </p:nvCxnSpPr>
        <p:spPr>
          <a:xfrm>
            <a:off x="9730740" y="5102225"/>
            <a:ext cx="0" cy="52133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48878241-61D1-E20C-411C-F6384BBC8144}"/>
              </a:ext>
            </a:extLst>
          </p:cNvPr>
          <p:cNvCxnSpPr>
            <a:cxnSpLocks/>
          </p:cNvCxnSpPr>
          <p:nvPr/>
        </p:nvCxnSpPr>
        <p:spPr>
          <a:xfrm flipH="1">
            <a:off x="6979920" y="1790700"/>
            <a:ext cx="51816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12354C7-7AF2-D38E-4170-460AE069F122}"/>
              </a:ext>
            </a:extLst>
          </p:cNvPr>
          <p:cNvCxnSpPr>
            <a:cxnSpLocks/>
          </p:cNvCxnSpPr>
          <p:nvPr/>
        </p:nvCxnSpPr>
        <p:spPr>
          <a:xfrm flipH="1">
            <a:off x="3314700" y="1859280"/>
            <a:ext cx="51816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21472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57F82B8-A6B7-B57D-9C5E-4D3254A72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889" y="942628"/>
            <a:ext cx="7678222" cy="4972744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E68CE4EB-99A8-30CB-07B3-38CB8D49BAFB}"/>
              </a:ext>
            </a:extLst>
          </p:cNvPr>
          <p:cNvCxnSpPr>
            <a:cxnSpLocks/>
          </p:cNvCxnSpPr>
          <p:nvPr/>
        </p:nvCxnSpPr>
        <p:spPr>
          <a:xfrm flipH="1">
            <a:off x="5577840" y="3916680"/>
            <a:ext cx="51816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1F0E7AA9-0ADC-D2FB-7B40-FA5B7F9ED72F}"/>
              </a:ext>
            </a:extLst>
          </p:cNvPr>
          <p:cNvCxnSpPr>
            <a:cxnSpLocks/>
          </p:cNvCxnSpPr>
          <p:nvPr/>
        </p:nvCxnSpPr>
        <p:spPr>
          <a:xfrm flipH="1">
            <a:off x="6697980" y="4488180"/>
            <a:ext cx="51816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898946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0E99F2A-584C-A968-9DC2-00D6BE9B3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098" y="909286"/>
            <a:ext cx="7649643" cy="5039428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79D5569E-3A28-28C5-78E5-C9614BD3CD42}"/>
              </a:ext>
            </a:extLst>
          </p:cNvPr>
          <p:cNvCxnSpPr>
            <a:cxnSpLocks/>
          </p:cNvCxnSpPr>
          <p:nvPr/>
        </p:nvCxnSpPr>
        <p:spPr>
          <a:xfrm>
            <a:off x="5067300" y="3649980"/>
            <a:ext cx="6096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A344E617-6306-F03E-CC8E-FB33F410C488}"/>
              </a:ext>
            </a:extLst>
          </p:cNvPr>
          <p:cNvSpPr txBox="1"/>
          <p:nvPr/>
        </p:nvSpPr>
        <p:spPr>
          <a:xfrm>
            <a:off x="1546860" y="3326814"/>
            <a:ext cx="3223259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这个选项表示将建立在实验箱上运行的实验工程</a:t>
            </a:r>
          </a:p>
        </p:txBody>
      </p:sp>
    </p:spTree>
    <p:extLst>
      <p:ext uri="{BB962C8B-B14F-4D97-AF65-F5344CB8AC3E}">
        <p14:creationId xmlns:p14="http://schemas.microsoft.com/office/powerpoint/2010/main" val="1261434241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DC0F4BD-CC67-335D-259E-1D87B81EC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178" y="866417"/>
            <a:ext cx="7649643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675706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0906FBF-3D76-1909-3148-C4793EE3A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260" y="1452286"/>
            <a:ext cx="4153480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625374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363AAB4-14D4-7214-0902-065F4775E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831" y="0"/>
            <a:ext cx="7320337" cy="6858000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8D8AE37-09CC-66AB-AB6C-BAA7771085B3}"/>
              </a:ext>
            </a:extLst>
          </p:cNvPr>
          <p:cNvCxnSpPr>
            <a:cxnSpLocks/>
          </p:cNvCxnSpPr>
          <p:nvPr/>
        </p:nvCxnSpPr>
        <p:spPr>
          <a:xfrm>
            <a:off x="2105094" y="2302446"/>
            <a:ext cx="83545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A4A51158-C890-97AF-A8B5-B0C69FF494C0}"/>
              </a:ext>
            </a:extLst>
          </p:cNvPr>
          <p:cNvCxnSpPr>
            <a:cxnSpLocks/>
          </p:cNvCxnSpPr>
          <p:nvPr/>
        </p:nvCxnSpPr>
        <p:spPr>
          <a:xfrm flipH="1">
            <a:off x="4968240" y="2072640"/>
            <a:ext cx="51816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1877816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061647-E4BF-C446-5188-373711B2C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B0BDC2-69DA-520A-7347-83A9CEAC4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3864F71-72A6-21A5-21DD-299A9361D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722" y="0"/>
            <a:ext cx="10560556" cy="6858000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612B27C-5DC4-268C-6597-7E866358E933}"/>
              </a:ext>
            </a:extLst>
          </p:cNvPr>
          <p:cNvCxnSpPr>
            <a:cxnSpLocks/>
          </p:cNvCxnSpPr>
          <p:nvPr/>
        </p:nvCxnSpPr>
        <p:spPr>
          <a:xfrm flipV="1">
            <a:off x="1874849" y="2256397"/>
            <a:ext cx="2190613" cy="399967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DE5DD9A-8154-CE4D-AC3C-4F98F37D24FC}"/>
              </a:ext>
            </a:extLst>
          </p:cNvPr>
          <p:cNvSpPr txBox="1"/>
          <p:nvPr/>
        </p:nvSpPr>
        <p:spPr>
          <a:xfrm>
            <a:off x="3256317" y="4071570"/>
            <a:ext cx="209384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将“</a:t>
            </a:r>
            <a:r>
              <a:rPr lang="en-US" altLang="zh-CN" b="1" dirty="0"/>
              <a:t>Label</a:t>
            </a:r>
            <a:r>
              <a:rPr lang="zh-CN" altLang="en-US" b="1" dirty="0"/>
              <a:t>”拖到这里</a:t>
            </a:r>
          </a:p>
        </p:txBody>
      </p:sp>
    </p:spTree>
    <p:extLst>
      <p:ext uri="{BB962C8B-B14F-4D97-AF65-F5344CB8AC3E}">
        <p14:creationId xmlns:p14="http://schemas.microsoft.com/office/powerpoint/2010/main" val="4242354310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FEA0CBC-BC0B-C332-0ADC-41BAB3294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836" y="523469"/>
            <a:ext cx="7716327" cy="581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575010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6FF91B7-096D-80B8-66C5-FBC6CC8AA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599" y="523469"/>
            <a:ext cx="7706801" cy="581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78235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47D51AC-A92E-2C28-DC06-E32732F77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282" y="0"/>
            <a:ext cx="10151435" cy="6858000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B7430106-2852-BD9E-449F-BEFE1750D2C1}"/>
              </a:ext>
            </a:extLst>
          </p:cNvPr>
          <p:cNvCxnSpPr>
            <a:cxnSpLocks/>
          </p:cNvCxnSpPr>
          <p:nvPr/>
        </p:nvCxnSpPr>
        <p:spPr>
          <a:xfrm>
            <a:off x="579120" y="6543848"/>
            <a:ext cx="56388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52CDE7F7-A3E5-5893-5343-48521C567859}"/>
              </a:ext>
            </a:extLst>
          </p:cNvPr>
          <p:cNvSpPr txBox="1"/>
          <p:nvPr/>
        </p:nvSpPr>
        <p:spPr>
          <a:xfrm>
            <a:off x="1584162" y="6305842"/>
            <a:ext cx="641714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编译工程（这里只需要编译实验工程，不需要运行实验工程）</a:t>
            </a:r>
          </a:p>
        </p:txBody>
      </p:sp>
    </p:spTree>
    <p:extLst>
      <p:ext uri="{BB962C8B-B14F-4D97-AF65-F5344CB8AC3E}">
        <p14:creationId xmlns:p14="http://schemas.microsoft.com/office/powerpoint/2010/main" val="3379465494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34FFC26-F1DC-8D35-A1C5-A5ABEE46A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098" y="894296"/>
            <a:ext cx="6506483" cy="145752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868BFC3-7E5F-D6AD-5C7D-05685175C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144" y="3572718"/>
            <a:ext cx="8173591" cy="157184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E3A6E26-E4BD-F28C-1D00-9EFB9DE09ED2}"/>
              </a:ext>
            </a:extLst>
          </p:cNvPr>
          <p:cNvSpPr txBox="1"/>
          <p:nvPr/>
        </p:nvSpPr>
        <p:spPr>
          <a:xfrm>
            <a:off x="5401782" y="5409706"/>
            <a:ext cx="226215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编译后生成的文件夹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78024D-016D-198B-E909-54B902BE15BF}"/>
              </a:ext>
            </a:extLst>
          </p:cNvPr>
          <p:cNvSpPr txBox="1"/>
          <p:nvPr/>
        </p:nvSpPr>
        <p:spPr>
          <a:xfrm>
            <a:off x="4982682" y="308564"/>
            <a:ext cx="254909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创建的</a:t>
            </a:r>
            <a:r>
              <a:rPr lang="en-US" altLang="zh-CN" b="1" dirty="0"/>
              <a:t>hello</a:t>
            </a:r>
            <a:r>
              <a:rPr lang="zh-CN" altLang="en-US" b="1" dirty="0"/>
              <a:t>工程文件夹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9BBC48E-D11A-2198-F72D-976ABC3B6569}"/>
              </a:ext>
            </a:extLst>
          </p:cNvPr>
          <p:cNvCxnSpPr/>
          <p:nvPr/>
        </p:nvCxnSpPr>
        <p:spPr>
          <a:xfrm flipV="1">
            <a:off x="3230880" y="4853940"/>
            <a:ext cx="0" cy="6096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19C90A2-DFB8-5081-5778-7384DCBF0780}"/>
              </a:ext>
            </a:extLst>
          </p:cNvPr>
          <p:cNvSpPr txBox="1"/>
          <p:nvPr/>
        </p:nvSpPr>
        <p:spPr>
          <a:xfrm>
            <a:off x="2676882" y="5594372"/>
            <a:ext cx="133882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可执行文件</a:t>
            </a:r>
          </a:p>
        </p:txBody>
      </p:sp>
    </p:spTree>
    <p:extLst>
      <p:ext uri="{BB962C8B-B14F-4D97-AF65-F5344CB8AC3E}">
        <p14:creationId xmlns:p14="http://schemas.microsoft.com/office/powerpoint/2010/main" val="2221909332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27D3996C-43B0-5C8C-6A0A-984F265FF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8305"/>
            <a:ext cx="10515600" cy="3310255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清空电脑</a:t>
            </a:r>
            <a:r>
              <a:rPr lang="en-US" altLang="zh-CN" sz="2400" b="1" dirty="0"/>
              <a:t>\FS3399M4\share</a:t>
            </a:r>
            <a:r>
              <a:rPr lang="zh-CN" altLang="en-US" sz="2400" b="1" dirty="0"/>
              <a:t>目录下的所有文件</a:t>
            </a:r>
            <a:endParaRPr lang="en-US" altLang="zh-CN" sz="2400" b="1" dirty="0"/>
          </a:p>
          <a:p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400" b="1" dirty="0"/>
              <a:t>在</a:t>
            </a:r>
            <a:r>
              <a:rPr lang="en-US" altLang="zh-CN" sz="2400" b="1" dirty="0"/>
              <a:t>Ubuntu</a:t>
            </a:r>
            <a:r>
              <a:rPr lang="zh-CN" altLang="en-US" sz="2400" b="1" dirty="0"/>
              <a:t>的“终端”上执行（将可执行文件拷贝到共享目录</a:t>
            </a:r>
            <a:r>
              <a:rPr lang="en-US" altLang="zh-CN" sz="2400" b="1" dirty="0"/>
              <a:t>share</a:t>
            </a:r>
            <a:r>
              <a:rPr lang="zh-CN" altLang="en-US" sz="2400" b="1" dirty="0"/>
              <a:t>中）：</a:t>
            </a:r>
            <a:endParaRPr lang="en-US" altLang="zh-CN" sz="2400" b="1" dirty="0"/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cd /home/</a:t>
            </a:r>
            <a:r>
              <a:rPr lang="en-US" altLang="zh-CN" sz="1800" b="1" dirty="0" err="1"/>
              <a:t>linux</a:t>
            </a:r>
            <a:r>
              <a:rPr lang="en-US" altLang="zh-CN" sz="1800" b="1" dirty="0"/>
              <a:t>/qt_FS3399/build-hello-FS3399-Debug</a:t>
            </a:r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cp hello /</a:t>
            </a:r>
            <a:r>
              <a:rPr lang="en-US" altLang="zh-CN" sz="1800" b="1" dirty="0" err="1"/>
              <a:t>mnt</a:t>
            </a:r>
            <a:r>
              <a:rPr lang="en-US" altLang="zh-CN" sz="1800" b="1" dirty="0"/>
              <a:t>/</a:t>
            </a:r>
            <a:r>
              <a:rPr lang="en-US" altLang="zh-CN" sz="1800" b="1" dirty="0" err="1"/>
              <a:t>hgfs</a:t>
            </a:r>
            <a:r>
              <a:rPr lang="en-US" altLang="zh-CN" sz="1800" b="1" dirty="0"/>
              <a:t>/share/</a:t>
            </a:r>
            <a:r>
              <a:rPr lang="en-US" altLang="zh-CN" sz="1800" b="1" dirty="0">
                <a:solidFill>
                  <a:srgbClr val="FF0000"/>
                </a:solidFill>
              </a:rPr>
              <a:t>hello_FS3399</a:t>
            </a:r>
            <a:endParaRPr lang="zh-CN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A9EC577-4C29-BCEF-C94E-0FE6073B7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7955" y="4357711"/>
            <a:ext cx="2543530" cy="211484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38A560F-C5A7-C114-2A53-42970E099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955" y="5792369"/>
            <a:ext cx="2971025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512136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16448-17DE-C1D5-F40B-0D99D0CF5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5514D1-B627-B34B-C8E5-7ED122E4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4445"/>
            <a:ext cx="10515600" cy="1325563"/>
          </a:xfrm>
        </p:spPr>
        <p:txBody>
          <a:bodyPr/>
          <a:lstStyle/>
          <a:p>
            <a:pPr algn="ctr"/>
            <a:r>
              <a:rPr lang="zh-CN" altLang="en-US" b="1" dirty="0"/>
              <a:t>七、编译实验箱上的 </a:t>
            </a:r>
            <a:r>
              <a:rPr lang="en-US" altLang="zh-CN" b="1" dirty="0"/>
              <a:t>Qt </a:t>
            </a:r>
            <a:r>
              <a:rPr lang="zh-CN" altLang="en-US" b="1" dirty="0"/>
              <a:t>实验样例</a:t>
            </a:r>
          </a:p>
        </p:txBody>
      </p:sp>
    </p:spTree>
    <p:extLst>
      <p:ext uri="{BB962C8B-B14F-4D97-AF65-F5344CB8AC3E}">
        <p14:creationId xmlns:p14="http://schemas.microsoft.com/office/powerpoint/2010/main" val="4096587639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6E60D3-CC83-8B38-868F-48A943811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6214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将“</a:t>
            </a:r>
            <a:r>
              <a:rPr lang="zh-CN" altLang="en-US" sz="2400" b="1" dirty="0">
                <a:solidFill>
                  <a:srgbClr val="FF0000"/>
                </a:solidFill>
              </a:rPr>
              <a:t>第</a:t>
            </a:r>
            <a:r>
              <a:rPr lang="en-US" altLang="zh-CN" sz="2400" b="1" dirty="0">
                <a:solidFill>
                  <a:srgbClr val="FF0000"/>
                </a:solidFill>
              </a:rPr>
              <a:t>6</a:t>
            </a:r>
            <a:r>
              <a:rPr lang="zh-CN" altLang="en-US" sz="2400" b="1" dirty="0">
                <a:solidFill>
                  <a:srgbClr val="FF0000"/>
                </a:solidFill>
              </a:rPr>
              <a:t>次实验文档</a:t>
            </a:r>
            <a:r>
              <a:rPr lang="en-US" altLang="zh-CN" sz="2400" b="1" dirty="0">
                <a:solidFill>
                  <a:srgbClr val="FF0000"/>
                </a:solidFill>
              </a:rPr>
              <a:t>.zip</a:t>
            </a:r>
            <a:r>
              <a:rPr lang="zh-CN" altLang="en-US" sz="2400" b="1" dirty="0"/>
              <a:t>”中的“</a:t>
            </a:r>
            <a:r>
              <a:rPr lang="en-US" altLang="zh-CN" sz="2400" b="1" dirty="0">
                <a:solidFill>
                  <a:srgbClr val="FF0000"/>
                </a:solidFill>
              </a:rPr>
              <a:t>Qt</a:t>
            </a:r>
            <a:r>
              <a:rPr lang="zh-CN" altLang="en-US" sz="2400" b="1" dirty="0">
                <a:solidFill>
                  <a:srgbClr val="FF0000"/>
                </a:solidFill>
              </a:rPr>
              <a:t>实验程序（第二部分）</a:t>
            </a:r>
            <a:r>
              <a:rPr lang="zh-CN" altLang="en-US" sz="2400" b="1" dirty="0"/>
              <a:t>”目录下的所有文件拷贝到</a:t>
            </a:r>
            <a:r>
              <a:rPr lang="en-US" altLang="zh-CN" sz="2400" b="1" dirty="0"/>
              <a:t>Ubuntu</a:t>
            </a:r>
            <a:r>
              <a:rPr lang="zh-CN" altLang="en-US" sz="2400" b="1" dirty="0"/>
              <a:t>的</a:t>
            </a:r>
            <a:r>
              <a:rPr lang="en-US" altLang="zh-CN" sz="2400" b="1" dirty="0"/>
              <a:t>\home\</a:t>
            </a:r>
            <a:r>
              <a:rPr lang="en-US" altLang="zh-CN" sz="2400" b="1" dirty="0" err="1"/>
              <a:t>linux</a:t>
            </a:r>
            <a:r>
              <a:rPr lang="en-US" altLang="zh-CN" sz="2400" b="1" dirty="0"/>
              <a:t>\qt_FS3399</a:t>
            </a:r>
            <a:r>
              <a:rPr lang="zh-CN" altLang="en-US" sz="2400" b="1" dirty="0"/>
              <a:t>目录中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6600781-A472-F559-56CF-C6198022B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893" y="3068352"/>
            <a:ext cx="7149115" cy="18092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D38B881-5BBF-45E8-DA95-24F51E219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92" y="2318211"/>
            <a:ext cx="3620005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001495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77985FF-0ECC-E2B7-974D-A9CE4F257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865" y="2002598"/>
            <a:ext cx="4404069" cy="436010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C564B6D-4FB3-9C06-27B6-C3323A5D2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558" y="1735850"/>
            <a:ext cx="4115942" cy="68589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A1759B6-5776-F14C-EADA-37B9F2D0E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" y="3663133"/>
            <a:ext cx="8481060" cy="1458179"/>
          </a:xfrm>
          <a:prstGeom prst="rect">
            <a:avLst/>
          </a:prstGeom>
        </p:spPr>
      </p:pic>
      <p:sp>
        <p:nvSpPr>
          <p:cNvPr id="2" name="内容占位符 2">
            <a:extLst>
              <a:ext uri="{FF2B5EF4-FFF2-40B4-BE49-F238E27FC236}">
                <a16:creationId xmlns:a16="http://schemas.microsoft.com/office/drawing/2014/main" id="{9B7FF515-FCFC-4A8B-1811-2B6DA8499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136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2400" b="1" dirty="0"/>
              <a:t>LED</a:t>
            </a:r>
            <a:r>
              <a:rPr lang="zh-CN" altLang="en-US" sz="2400" b="1" dirty="0"/>
              <a:t>工程文件夹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E408B33D-DE43-8409-DB3C-301094D2E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LED</a:t>
            </a:r>
            <a:r>
              <a:rPr lang="zh-CN" altLang="en-US" b="1" dirty="0"/>
              <a:t>灯</a:t>
            </a:r>
          </a:p>
        </p:txBody>
      </p:sp>
    </p:spTree>
    <p:extLst>
      <p:ext uri="{BB962C8B-B14F-4D97-AF65-F5344CB8AC3E}">
        <p14:creationId xmlns:p14="http://schemas.microsoft.com/office/powerpoint/2010/main" val="407541218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C105956-AB8F-7C47-5C2E-15BBFD9BC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362" y="1638050"/>
            <a:ext cx="8783276" cy="3581900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490D8375-7DC7-AE92-BB8B-34B073D03E0F}"/>
              </a:ext>
            </a:extLst>
          </p:cNvPr>
          <p:cNvCxnSpPr>
            <a:cxnSpLocks/>
          </p:cNvCxnSpPr>
          <p:nvPr/>
        </p:nvCxnSpPr>
        <p:spPr>
          <a:xfrm>
            <a:off x="10102241" y="1137009"/>
            <a:ext cx="0" cy="50104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1D122668-2187-2AC4-4DFC-A47D3CC2C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496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在</a:t>
            </a:r>
            <a:r>
              <a:rPr lang="en-US" altLang="zh-CN" sz="2400" b="1" dirty="0"/>
              <a:t>Qt Creator</a:t>
            </a:r>
            <a:r>
              <a:rPr lang="zh-CN" altLang="en-US" sz="2400" b="1" dirty="0"/>
              <a:t>中打开</a:t>
            </a:r>
            <a:r>
              <a:rPr lang="en-US" altLang="zh-CN" sz="2400" b="1" dirty="0"/>
              <a:t>LED</a:t>
            </a:r>
            <a:r>
              <a:rPr lang="zh-CN" altLang="en-US" sz="2400" b="1" dirty="0"/>
              <a:t>工程</a:t>
            </a:r>
          </a:p>
        </p:txBody>
      </p:sp>
    </p:spTree>
    <p:extLst>
      <p:ext uri="{BB962C8B-B14F-4D97-AF65-F5344CB8AC3E}">
        <p14:creationId xmlns:p14="http://schemas.microsoft.com/office/powerpoint/2010/main" val="3180715741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FE600AA-8085-1329-CBE5-02F13F7C5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337" y="123363"/>
            <a:ext cx="6449325" cy="66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234655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27F6724-A332-B009-C450-2F5B04D16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891" y="818785"/>
            <a:ext cx="5506218" cy="5220429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6BCD99BB-F436-0CC1-90E7-C4290AE3AE16}"/>
              </a:ext>
            </a:extLst>
          </p:cNvPr>
          <p:cNvCxnSpPr>
            <a:cxnSpLocks/>
          </p:cNvCxnSpPr>
          <p:nvPr/>
        </p:nvCxnSpPr>
        <p:spPr>
          <a:xfrm>
            <a:off x="2974932" y="5787025"/>
            <a:ext cx="116492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74F391D5-314E-519F-C164-588186A5D5BF}"/>
              </a:ext>
            </a:extLst>
          </p:cNvPr>
          <p:cNvSpPr txBox="1"/>
          <p:nvPr/>
        </p:nvSpPr>
        <p:spPr>
          <a:xfrm>
            <a:off x="4677882" y="5597182"/>
            <a:ext cx="641714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编译工程（这里只需要编译实验工程，不需要运行实验工程）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18C6151-7563-E993-97F4-03B60CC03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496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编译工程</a:t>
            </a:r>
          </a:p>
        </p:txBody>
      </p:sp>
    </p:spTree>
    <p:extLst>
      <p:ext uri="{BB962C8B-B14F-4D97-AF65-F5344CB8AC3E}">
        <p14:creationId xmlns:p14="http://schemas.microsoft.com/office/powerpoint/2010/main" val="2349874063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42F0D-6001-55F0-FFFD-D4BBC303E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13E8C4A-4586-E1EF-15EF-78EEFFB34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2944"/>
            <a:ext cx="12192000" cy="128713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E666ACF-38BE-8DDF-94BC-68E1897B0448}"/>
              </a:ext>
            </a:extLst>
          </p:cNvPr>
          <p:cNvSpPr txBox="1"/>
          <p:nvPr/>
        </p:nvSpPr>
        <p:spPr>
          <a:xfrm>
            <a:off x="5401782" y="3916186"/>
            <a:ext cx="226215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编译后生成的文件夹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3BED3EFB-53CB-A899-D164-3F3D4012BFEE}"/>
              </a:ext>
            </a:extLst>
          </p:cNvPr>
          <p:cNvCxnSpPr/>
          <p:nvPr/>
        </p:nvCxnSpPr>
        <p:spPr>
          <a:xfrm flipV="1">
            <a:off x="11026140" y="3169920"/>
            <a:ext cx="0" cy="6096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91EDAFCF-D459-7F23-C66F-31FB2643E01B}"/>
              </a:ext>
            </a:extLst>
          </p:cNvPr>
          <p:cNvSpPr txBox="1"/>
          <p:nvPr/>
        </p:nvSpPr>
        <p:spPr>
          <a:xfrm>
            <a:off x="10356726" y="3916186"/>
            <a:ext cx="133882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可执行文件</a:t>
            </a:r>
          </a:p>
        </p:txBody>
      </p:sp>
    </p:spTree>
    <p:extLst>
      <p:ext uri="{BB962C8B-B14F-4D97-AF65-F5344CB8AC3E}">
        <p14:creationId xmlns:p14="http://schemas.microsoft.com/office/powerpoint/2010/main" val="2533216164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31510-1C28-7455-7B15-72CB505EB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35F19CF1-D765-D216-9AED-B33A7AF81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7925"/>
            <a:ext cx="10515600" cy="3310255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在</a:t>
            </a:r>
            <a:r>
              <a:rPr lang="en-US" altLang="zh-CN" sz="2400" b="1" dirty="0"/>
              <a:t>Ubuntu</a:t>
            </a:r>
            <a:r>
              <a:rPr lang="zh-CN" altLang="en-US" sz="2400" b="1" dirty="0"/>
              <a:t>的“终端”上执行（将可执行文件拷贝到</a:t>
            </a:r>
            <a:r>
              <a:rPr lang="en-US" altLang="zh-CN" sz="2400" b="1" dirty="0"/>
              <a:t>share</a:t>
            </a:r>
            <a:r>
              <a:rPr lang="zh-CN" altLang="en-US" sz="2400" b="1" dirty="0"/>
              <a:t>目录）：</a:t>
            </a:r>
            <a:endParaRPr lang="en-US" altLang="zh-CN" sz="2400" b="1" dirty="0"/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cd /home/</a:t>
            </a:r>
            <a:r>
              <a:rPr lang="en-US" altLang="zh-CN" sz="1800" b="1" dirty="0" err="1"/>
              <a:t>linux</a:t>
            </a:r>
            <a:r>
              <a:rPr lang="en-US" altLang="zh-CN" sz="1800" b="1" dirty="0"/>
              <a:t>/qt_FS3399/build-qt5LedDevice-FS3399-Debug</a:t>
            </a:r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cp qt5LedDevice /</a:t>
            </a:r>
            <a:r>
              <a:rPr lang="en-US" altLang="zh-CN" sz="1800" b="1" dirty="0" err="1"/>
              <a:t>mnt</a:t>
            </a:r>
            <a:r>
              <a:rPr lang="en-US" altLang="zh-CN" sz="1800" b="1" dirty="0"/>
              <a:t>/</a:t>
            </a:r>
            <a:r>
              <a:rPr lang="en-US" altLang="zh-CN" sz="1800" b="1" dirty="0" err="1"/>
              <a:t>hgfs</a:t>
            </a:r>
            <a:r>
              <a:rPr lang="en-US" altLang="zh-CN" sz="1800" b="1" dirty="0"/>
              <a:t>/share/</a:t>
            </a:r>
            <a:r>
              <a:rPr lang="en-US" altLang="zh-CN" sz="1800" b="1" dirty="0">
                <a:solidFill>
                  <a:srgbClr val="FF0000"/>
                </a:solidFill>
              </a:rPr>
              <a:t>qt5LedDevice_FS3399</a:t>
            </a:r>
            <a:endParaRPr lang="zh-CN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4C76274-C19F-1AA1-DD9E-E0326BAFA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111" y="3816158"/>
            <a:ext cx="3200847" cy="206721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394D7DF-5FB7-399B-ED57-91D9AE260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226" y="4427220"/>
            <a:ext cx="3275556" cy="101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055641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93474B6-6646-4E6C-5BAC-A1A89E73A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068" y="1901824"/>
            <a:ext cx="3840336" cy="445996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42F662E6-9683-E5B5-1328-8F969DA36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67" y="2791880"/>
            <a:ext cx="7630314" cy="158772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DE9ABA7-B29F-213E-6FAD-C23995503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8686" y="1466317"/>
            <a:ext cx="4186434" cy="790685"/>
          </a:xfrm>
          <a:prstGeom prst="rect">
            <a:avLst/>
          </a:prstGeom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2046C1E-2CFC-4D2B-FF9F-1D920778E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182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蜂鸣器工程文件夹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79B62FDA-3901-CAAE-2983-60FD526AC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/>
              <a:t>2</a:t>
            </a:r>
            <a:r>
              <a:rPr lang="zh-CN" altLang="en-US" b="1" dirty="0"/>
              <a:t>、蜂鸣器</a:t>
            </a:r>
          </a:p>
        </p:txBody>
      </p:sp>
    </p:spTree>
    <p:extLst>
      <p:ext uri="{BB962C8B-B14F-4D97-AF65-F5344CB8AC3E}">
        <p14:creationId xmlns:p14="http://schemas.microsoft.com/office/powerpoint/2010/main" val="1051041618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D2965-ED2E-AD79-848D-9AC33428F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DABF2EDC-F1D2-1FA1-5F22-620F10AF2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4382"/>
            <a:ext cx="10515600" cy="3310255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实验工程的打开、编译方式同前面。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400" b="1" dirty="0"/>
              <a:t>编译后，在</a:t>
            </a:r>
            <a:r>
              <a:rPr lang="en-US" altLang="zh-CN" sz="2400" b="1" dirty="0"/>
              <a:t>Ubuntu</a:t>
            </a:r>
            <a:r>
              <a:rPr lang="zh-CN" altLang="en-US" sz="2400" b="1" dirty="0"/>
              <a:t>的“终端”上执行：</a:t>
            </a:r>
            <a:endParaRPr lang="en-US" altLang="zh-CN" sz="2400" b="1" dirty="0"/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cd /home/</a:t>
            </a:r>
            <a:r>
              <a:rPr lang="en-US" altLang="zh-CN" sz="1800" b="1" dirty="0" err="1"/>
              <a:t>linux</a:t>
            </a:r>
            <a:r>
              <a:rPr lang="en-US" altLang="zh-CN" sz="1800" b="1" dirty="0"/>
              <a:t>/qt_FS3399/build-qt5BeepDevice-FS3399-Debug</a:t>
            </a:r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cp qt5BeepDevice /</a:t>
            </a:r>
            <a:r>
              <a:rPr lang="en-US" altLang="zh-CN" sz="1800" b="1" dirty="0" err="1"/>
              <a:t>mnt</a:t>
            </a:r>
            <a:r>
              <a:rPr lang="en-US" altLang="zh-CN" sz="1800" b="1" dirty="0"/>
              <a:t>/</a:t>
            </a:r>
            <a:r>
              <a:rPr lang="en-US" altLang="zh-CN" sz="1800" b="1" dirty="0" err="1"/>
              <a:t>hgfs</a:t>
            </a:r>
            <a:r>
              <a:rPr lang="en-US" altLang="zh-CN" sz="1800" b="1" dirty="0"/>
              <a:t>/share/</a:t>
            </a:r>
            <a:r>
              <a:rPr lang="en-US" altLang="zh-CN" sz="1800" b="1" dirty="0">
                <a:solidFill>
                  <a:srgbClr val="FF0000"/>
                </a:solidFill>
              </a:rPr>
              <a:t>qt5BeepDevice_FS3399</a:t>
            </a:r>
            <a:endParaRPr lang="zh-CN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C30FDC3-0AF1-50E4-2DAE-B619A072B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5031" y="3808538"/>
            <a:ext cx="3200847" cy="20672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8824F63-FCF5-919C-24AC-27CBEC9D1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322" y="4770120"/>
            <a:ext cx="3275556" cy="101133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18B49CF-B74C-AF60-893C-2D3366AFF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9516" y="4936298"/>
            <a:ext cx="2419688" cy="26673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8377D20-DE53-651B-9A1F-2E87E03497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125" y="3869465"/>
            <a:ext cx="7690557" cy="153118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92F9C3F-8DAC-DF55-13B6-782DE7A52151}"/>
              </a:ext>
            </a:extLst>
          </p:cNvPr>
          <p:cNvSpPr txBox="1"/>
          <p:nvPr/>
        </p:nvSpPr>
        <p:spPr>
          <a:xfrm>
            <a:off x="852642" y="5961484"/>
            <a:ext cx="226215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编译后生成的文件夹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9E06AE8-80A4-00EA-1104-CCA5B56D3E59}"/>
              </a:ext>
            </a:extLst>
          </p:cNvPr>
          <p:cNvCxnSpPr/>
          <p:nvPr/>
        </p:nvCxnSpPr>
        <p:spPr>
          <a:xfrm flipV="1">
            <a:off x="7453506" y="5191602"/>
            <a:ext cx="0" cy="6096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454A9DF-146A-109C-E0AB-E4EDB69CE634}"/>
              </a:ext>
            </a:extLst>
          </p:cNvPr>
          <p:cNvSpPr txBox="1"/>
          <p:nvPr/>
        </p:nvSpPr>
        <p:spPr>
          <a:xfrm>
            <a:off x="6784092" y="5937868"/>
            <a:ext cx="133882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可执行文件</a:t>
            </a:r>
          </a:p>
        </p:txBody>
      </p:sp>
    </p:spTree>
    <p:extLst>
      <p:ext uri="{BB962C8B-B14F-4D97-AF65-F5344CB8AC3E}">
        <p14:creationId xmlns:p14="http://schemas.microsoft.com/office/powerpoint/2010/main" val="3858067566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3C26661-FCF5-8D03-F884-EAED8198B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9634" y="1911168"/>
            <a:ext cx="4023892" cy="487063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91992D3-65F1-D784-F32D-893B61F37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49" y="3429000"/>
            <a:ext cx="6903719" cy="137303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E4BA1AD-C962-C5DE-8C95-A2880E404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126" y="1782402"/>
            <a:ext cx="3701674" cy="518295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704A10-59D8-F9E3-26D3-1BE1C724F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616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按键工程文件夹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0FEF4401-FC7A-63F0-750B-4B2EF6E87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/>
              <a:t>3</a:t>
            </a:r>
            <a:r>
              <a:rPr lang="zh-CN" altLang="en-US" b="1" dirty="0"/>
              <a:t>、按键</a:t>
            </a:r>
          </a:p>
        </p:txBody>
      </p:sp>
    </p:spTree>
    <p:extLst>
      <p:ext uri="{BB962C8B-B14F-4D97-AF65-F5344CB8AC3E}">
        <p14:creationId xmlns:p14="http://schemas.microsoft.com/office/powerpoint/2010/main" val="3604973708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6CE12-D8F5-DB34-5EE8-883380D39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43CAEEA7-DA1D-26B9-0963-71F758E5D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3085"/>
            <a:ext cx="10515600" cy="3310255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实验工程的打开、编译与前面相同。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400" b="1" dirty="0"/>
              <a:t>编译后，在</a:t>
            </a:r>
            <a:r>
              <a:rPr lang="en-US" altLang="zh-CN" sz="2400" b="1" dirty="0"/>
              <a:t>Ubuntu</a:t>
            </a:r>
            <a:r>
              <a:rPr lang="zh-CN" altLang="en-US" sz="2400" b="1" dirty="0"/>
              <a:t>的“终端”上执行：</a:t>
            </a:r>
            <a:endParaRPr lang="en-US" altLang="zh-CN" sz="2400" b="1" dirty="0"/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cd /home/</a:t>
            </a:r>
            <a:r>
              <a:rPr lang="en-US" altLang="zh-CN" sz="1800" b="1" dirty="0" err="1"/>
              <a:t>linux</a:t>
            </a:r>
            <a:r>
              <a:rPr lang="en-US" altLang="zh-CN" sz="1800" b="1" dirty="0"/>
              <a:t>/qt_FS3399/build-qt5KeyDevice-FS3399-Debug</a:t>
            </a:r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cp qt5KeyDevice /</a:t>
            </a:r>
            <a:r>
              <a:rPr lang="en-US" altLang="zh-CN" sz="1800" b="1" dirty="0" err="1"/>
              <a:t>mnt</a:t>
            </a:r>
            <a:r>
              <a:rPr lang="en-US" altLang="zh-CN" sz="1800" b="1" dirty="0"/>
              <a:t>/</a:t>
            </a:r>
            <a:r>
              <a:rPr lang="en-US" altLang="zh-CN" sz="1800" b="1" dirty="0" err="1"/>
              <a:t>hgfs</a:t>
            </a:r>
            <a:r>
              <a:rPr lang="en-US" altLang="zh-CN" sz="1800" b="1" dirty="0"/>
              <a:t>/share/</a:t>
            </a:r>
            <a:r>
              <a:rPr lang="en-US" altLang="zh-CN" sz="1800" b="1" dirty="0">
                <a:solidFill>
                  <a:srgbClr val="FF0000"/>
                </a:solidFill>
              </a:rPr>
              <a:t>qt5KeyDevice_FS3399</a:t>
            </a:r>
            <a:endParaRPr lang="zh-CN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9C26A6C-D5E6-F595-CEA5-E813822A0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0692" y="3907598"/>
            <a:ext cx="3200847" cy="206721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81521F5-1AC9-0936-6053-BD76B758B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0691" y="4941204"/>
            <a:ext cx="3712729" cy="128605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A72508B-2F33-B83C-6741-E1D4415842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5231" y="5033942"/>
            <a:ext cx="2257740" cy="29531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E72B416-36A2-DBE2-C538-3E07D5D3EAA0}"/>
              </a:ext>
            </a:extLst>
          </p:cNvPr>
          <p:cNvSpPr txBox="1"/>
          <p:nvPr/>
        </p:nvSpPr>
        <p:spPr>
          <a:xfrm>
            <a:off x="3045288" y="5678433"/>
            <a:ext cx="226215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编译后生成的文件夹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BB4959-966D-91D4-00BF-F7A0CAB43127}"/>
              </a:ext>
            </a:extLst>
          </p:cNvPr>
          <p:cNvSpPr txBox="1"/>
          <p:nvPr/>
        </p:nvSpPr>
        <p:spPr>
          <a:xfrm>
            <a:off x="6136392" y="5935583"/>
            <a:ext cx="133882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可执行文件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867DF2C-1246-7AE1-CD62-1CB73C3AA8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268" y="4187574"/>
            <a:ext cx="7110771" cy="1188416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8F917F9-9BFE-1572-55EE-4A8BDBCF9344}"/>
              </a:ext>
            </a:extLst>
          </p:cNvPr>
          <p:cNvCxnSpPr/>
          <p:nvPr/>
        </p:nvCxnSpPr>
        <p:spPr>
          <a:xfrm flipV="1">
            <a:off x="6882006" y="5144771"/>
            <a:ext cx="0" cy="6096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869364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5EEB6C8-F830-D7E1-2D6B-D7400083F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989" y="1798320"/>
            <a:ext cx="4278308" cy="491106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40FE6CF-FBF2-7052-32BD-DBC92566D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19077"/>
            <a:ext cx="7018020" cy="136187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4AAFE97-EF35-60EB-8645-5FE9A842CC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4886" y="1648643"/>
            <a:ext cx="3534034" cy="518295"/>
          </a:xfrm>
          <a:prstGeom prst="rect">
            <a:avLst/>
          </a:prstGeom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D09EE2E-0957-1469-FF89-D31F58751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5328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电位检测（</a:t>
            </a:r>
            <a:r>
              <a:rPr lang="en-US" altLang="zh-CN" sz="2400" b="1" dirty="0"/>
              <a:t>ADC</a:t>
            </a:r>
            <a:r>
              <a:rPr lang="zh-CN" altLang="en-US" sz="2400" b="1" dirty="0"/>
              <a:t>）工程文件夹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F72D4950-6987-0956-9C91-E8BCB6962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/>
              <a:t>4</a:t>
            </a:r>
            <a:r>
              <a:rPr lang="zh-CN" altLang="en-US" b="1" dirty="0"/>
              <a:t>、电位检测（</a:t>
            </a:r>
            <a:r>
              <a:rPr lang="en-US" altLang="zh-CN" b="1" dirty="0"/>
              <a:t>ADC</a:t>
            </a:r>
            <a:r>
              <a:rPr lang="zh-CN" altLang="en-US" b="1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373030507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392C9-62AC-DC03-BE34-89CC978AF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E3E52E81-DA7F-5CD8-6FCC-4D31458F1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4987"/>
            <a:ext cx="10515600" cy="3310255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实验工程的打开、编译与前面相同。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400" b="1" dirty="0"/>
              <a:t>编译后，在</a:t>
            </a:r>
            <a:r>
              <a:rPr lang="en-US" altLang="zh-CN" sz="2400" b="1" dirty="0"/>
              <a:t>Ubuntu</a:t>
            </a:r>
            <a:r>
              <a:rPr lang="zh-CN" altLang="en-US" sz="2400" b="1" dirty="0"/>
              <a:t>的“终端”上执行：</a:t>
            </a:r>
            <a:endParaRPr lang="en-US" altLang="zh-CN" sz="2400" b="1" dirty="0"/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cd /home/</a:t>
            </a:r>
            <a:r>
              <a:rPr lang="en-US" altLang="zh-CN" sz="1800" b="1" dirty="0" err="1"/>
              <a:t>linux</a:t>
            </a:r>
            <a:r>
              <a:rPr lang="en-US" altLang="zh-CN" sz="1800" b="1" dirty="0"/>
              <a:t>/qt_FS3399/build-qt5AdcDevice-FS3399-Debug</a:t>
            </a:r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cp qt5KeyDevice /</a:t>
            </a:r>
            <a:r>
              <a:rPr lang="en-US" altLang="zh-CN" sz="1800" b="1" dirty="0" err="1"/>
              <a:t>mnt</a:t>
            </a:r>
            <a:r>
              <a:rPr lang="en-US" altLang="zh-CN" sz="1800" b="1" dirty="0"/>
              <a:t>/</a:t>
            </a:r>
            <a:r>
              <a:rPr lang="en-US" altLang="zh-CN" sz="1800" b="1" dirty="0" err="1"/>
              <a:t>hgfs</a:t>
            </a:r>
            <a:r>
              <a:rPr lang="en-US" altLang="zh-CN" sz="1800" b="1" dirty="0"/>
              <a:t>/share/</a:t>
            </a:r>
            <a:r>
              <a:rPr lang="en-US" altLang="zh-CN" sz="1800" b="1" dirty="0">
                <a:solidFill>
                  <a:srgbClr val="FF0000"/>
                </a:solidFill>
              </a:rPr>
              <a:t>qt5AdcDevice_FS3399</a:t>
            </a:r>
            <a:endParaRPr lang="zh-CN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4E9D271-8F1E-42E9-A2E8-F6EED57C7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332" y="3823778"/>
            <a:ext cx="3200847" cy="206721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CCF429E-E06C-5C65-6B10-B3FF4C6C2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331" y="4857384"/>
            <a:ext cx="3712729" cy="128605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6E906F4-4FA0-DEFD-5E9D-9BABCD1E5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166" y="4953417"/>
            <a:ext cx="2238687" cy="35247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E61AF4A-4A25-8C0E-FBA5-F835F6041F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4505417"/>
            <a:ext cx="7018020" cy="113701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A43BC1D-2204-1B41-9FC6-54EB02D12CD6}"/>
              </a:ext>
            </a:extLst>
          </p:cNvPr>
          <p:cNvSpPr txBox="1"/>
          <p:nvPr/>
        </p:nvSpPr>
        <p:spPr>
          <a:xfrm>
            <a:off x="2864079" y="5789973"/>
            <a:ext cx="226215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编译后生成的文件夹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2C2017A-CA0B-2AA2-2BEE-A97090F1DF44}"/>
              </a:ext>
            </a:extLst>
          </p:cNvPr>
          <p:cNvSpPr txBox="1"/>
          <p:nvPr/>
        </p:nvSpPr>
        <p:spPr>
          <a:xfrm>
            <a:off x="5797016" y="6052125"/>
            <a:ext cx="133882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可执行文件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685EDCE-65B9-59A5-4C11-56FDBC028BBA}"/>
              </a:ext>
            </a:extLst>
          </p:cNvPr>
          <p:cNvCxnSpPr/>
          <p:nvPr/>
        </p:nvCxnSpPr>
        <p:spPr>
          <a:xfrm flipV="1">
            <a:off x="6691506" y="5365039"/>
            <a:ext cx="0" cy="6096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586127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A790D6F-0D62-B6AC-0DF9-4CCE03AD7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168" y="2042160"/>
            <a:ext cx="4184462" cy="426571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01F25E1-FC0F-97D0-E698-4B3713BD5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859" y="3667638"/>
            <a:ext cx="6923080" cy="187972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B1D102C-4753-7175-D5C7-CB16113229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432" y="1931353"/>
            <a:ext cx="4347446" cy="571580"/>
          </a:xfrm>
          <a:prstGeom prst="rect">
            <a:avLst/>
          </a:prstGeom>
        </p:spPr>
      </p:pic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F09DA5DF-9112-2DBE-ED2E-3839B3857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520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小键盘</a:t>
            </a:r>
            <a:r>
              <a:rPr lang="en-US" altLang="zh-CN" sz="2400" b="1" dirty="0"/>
              <a:t>/</a:t>
            </a:r>
            <a:r>
              <a:rPr lang="zh-CN" altLang="en-US" sz="2400" b="1" dirty="0"/>
              <a:t>数码管工程文件夹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63E14858-94B3-1001-1419-49F79B188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/>
              <a:t>5</a:t>
            </a:r>
            <a:r>
              <a:rPr lang="zh-CN" altLang="en-US" b="1" dirty="0"/>
              <a:t>、小键盘</a:t>
            </a:r>
            <a:r>
              <a:rPr lang="en-US" altLang="zh-CN" b="1" dirty="0"/>
              <a:t>/</a:t>
            </a:r>
            <a:r>
              <a:rPr lang="zh-CN" altLang="en-US" b="1" dirty="0"/>
              <a:t>数码管</a:t>
            </a:r>
          </a:p>
        </p:txBody>
      </p:sp>
    </p:spTree>
    <p:extLst>
      <p:ext uri="{BB962C8B-B14F-4D97-AF65-F5344CB8AC3E}">
        <p14:creationId xmlns:p14="http://schemas.microsoft.com/office/powerpoint/2010/main" val="4062363840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5259B-BEBB-D349-BC7C-405D145BF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86FC823F-BE01-F6F3-12EB-48C46FC48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4810"/>
            <a:ext cx="10515600" cy="3310255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实验工程的打开、编译与前面相同。</a:t>
            </a:r>
            <a:endParaRPr lang="en-US" altLang="zh-CN" sz="2400" b="1" dirty="0"/>
          </a:p>
          <a:p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400" b="1" dirty="0"/>
              <a:t>编译后，在</a:t>
            </a:r>
            <a:r>
              <a:rPr lang="en-US" altLang="zh-CN" sz="2400" b="1" dirty="0"/>
              <a:t>Ubuntu</a:t>
            </a:r>
            <a:r>
              <a:rPr lang="zh-CN" altLang="en-US" sz="2400" b="1" dirty="0"/>
              <a:t>的“终端”上执行：</a:t>
            </a:r>
            <a:endParaRPr lang="en-US" altLang="zh-CN" sz="2400" b="1" dirty="0"/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cd /home/</a:t>
            </a:r>
            <a:r>
              <a:rPr lang="en-US" altLang="zh-CN" sz="1800" b="1" dirty="0" err="1"/>
              <a:t>linux</a:t>
            </a:r>
            <a:r>
              <a:rPr lang="en-US" altLang="zh-CN" sz="1800" b="1" dirty="0"/>
              <a:t>/qt_FS3399/build-qt5DisplayAndMatrix-FS3399-Debug</a:t>
            </a:r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cp qt5DisplayAndMatrix /</a:t>
            </a:r>
            <a:r>
              <a:rPr lang="en-US" altLang="zh-CN" sz="1800" b="1" dirty="0" err="1"/>
              <a:t>mnt</a:t>
            </a:r>
            <a:r>
              <a:rPr lang="en-US" altLang="zh-CN" sz="1800" b="1" dirty="0"/>
              <a:t>/</a:t>
            </a:r>
            <a:r>
              <a:rPr lang="en-US" altLang="zh-CN" sz="1800" b="1" dirty="0" err="1"/>
              <a:t>hgfs</a:t>
            </a:r>
            <a:r>
              <a:rPr lang="en-US" altLang="zh-CN" sz="1800" b="1" dirty="0"/>
              <a:t>/share/</a:t>
            </a:r>
            <a:r>
              <a:rPr lang="en-US" altLang="zh-CN" sz="1800" b="1" dirty="0">
                <a:solidFill>
                  <a:srgbClr val="FF0000"/>
                </a:solidFill>
              </a:rPr>
              <a:t>qt5DisplayAndMatrixDevice_FS3399</a:t>
            </a:r>
            <a:endParaRPr lang="zh-CN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C02C196-9B02-BF09-B851-6179A0938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671" y="4023530"/>
            <a:ext cx="3200847" cy="206721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2E14A23-0FF1-A64C-3ED6-35B1BF643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670" y="5057136"/>
            <a:ext cx="3712729" cy="128605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C2813C3-98D5-F107-AC3C-E9624A4CA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337" y="5201620"/>
            <a:ext cx="3591426" cy="35247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069792E-0DFA-698F-4BA4-FF1610DCED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015" y="4218850"/>
            <a:ext cx="5250180" cy="105963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60AB7E7-725F-B89B-0012-2F522DD54D8B}"/>
              </a:ext>
            </a:extLst>
          </p:cNvPr>
          <p:cNvSpPr txBox="1"/>
          <p:nvPr/>
        </p:nvSpPr>
        <p:spPr>
          <a:xfrm>
            <a:off x="1824235" y="5585892"/>
            <a:ext cx="226215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编译后生成的文件夹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305502A-7F32-3550-3786-D22E7F158A0A}"/>
              </a:ext>
            </a:extLst>
          </p:cNvPr>
          <p:cNvSpPr txBox="1"/>
          <p:nvPr/>
        </p:nvSpPr>
        <p:spPr>
          <a:xfrm>
            <a:off x="4757172" y="5848044"/>
            <a:ext cx="133882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可执行文件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8E6F585-93A1-6DE5-57A6-6BCE0800BF92}"/>
              </a:ext>
            </a:extLst>
          </p:cNvPr>
          <p:cNvCxnSpPr/>
          <p:nvPr/>
        </p:nvCxnSpPr>
        <p:spPr>
          <a:xfrm flipV="1">
            <a:off x="5309584" y="5160958"/>
            <a:ext cx="0" cy="6096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934061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4309A77-990F-361F-6F22-F4E7FD917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98" y="4115128"/>
            <a:ext cx="7520654" cy="135884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295CE51-04DE-0EFD-F87F-CCB06D884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863" y="2042160"/>
            <a:ext cx="2753886" cy="4815840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E25FAA89-C349-AFC8-C373-3D9C8FB70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758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电机综合工程文件夹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D5CE391-89E4-7EA4-AFA7-ADC1CEB37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227" y="1715741"/>
            <a:ext cx="4347446" cy="571580"/>
          </a:xfrm>
          <a:prstGeom prst="rect">
            <a:avLst/>
          </a:prstGeom>
        </p:spPr>
      </p:pic>
      <p:sp>
        <p:nvSpPr>
          <p:cNvPr id="10" name="标题 1">
            <a:extLst>
              <a:ext uri="{FF2B5EF4-FFF2-40B4-BE49-F238E27FC236}">
                <a16:creationId xmlns:a16="http://schemas.microsoft.com/office/drawing/2014/main" id="{ABE353FA-AC97-E3BB-359E-D19D26793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/>
              <a:t>6</a:t>
            </a:r>
            <a:r>
              <a:rPr lang="zh-CN" altLang="en-US" b="1" dirty="0"/>
              <a:t>、电机综合</a:t>
            </a:r>
          </a:p>
        </p:txBody>
      </p:sp>
    </p:spTree>
    <p:extLst>
      <p:ext uri="{BB962C8B-B14F-4D97-AF65-F5344CB8AC3E}">
        <p14:creationId xmlns:p14="http://schemas.microsoft.com/office/powerpoint/2010/main" val="1544120033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02521-7AB5-DDD2-C2A0-BE780F8AE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27649939-F7F5-ED3B-583E-270650150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5070"/>
            <a:ext cx="10515600" cy="3310255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实验工程的打开、编译与前面相同。</a:t>
            </a:r>
            <a:endParaRPr lang="en-US" altLang="zh-CN" sz="2400" b="1" dirty="0"/>
          </a:p>
          <a:p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400" b="1" dirty="0"/>
              <a:t>编译后，在</a:t>
            </a:r>
            <a:r>
              <a:rPr lang="en-US" altLang="zh-CN" sz="2400" b="1" dirty="0"/>
              <a:t>Ubuntu</a:t>
            </a:r>
            <a:r>
              <a:rPr lang="zh-CN" altLang="en-US" sz="2400" b="1" dirty="0"/>
              <a:t>的“终端”上执行：</a:t>
            </a:r>
            <a:endParaRPr lang="en-US" altLang="zh-CN" sz="2400" b="1" dirty="0"/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cd /home/</a:t>
            </a:r>
            <a:r>
              <a:rPr lang="en-US" altLang="zh-CN" sz="1800" b="1" dirty="0" err="1"/>
              <a:t>linux</a:t>
            </a:r>
            <a:r>
              <a:rPr lang="en-US" altLang="zh-CN" sz="1800" b="1" dirty="0"/>
              <a:t>/qt_FS3399/build-qt5ElectircMotor-FS3399-Debug</a:t>
            </a:r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cp qt5ElectircMotor /</a:t>
            </a:r>
            <a:r>
              <a:rPr lang="en-US" altLang="zh-CN" sz="1800" b="1" dirty="0" err="1"/>
              <a:t>mnt</a:t>
            </a:r>
            <a:r>
              <a:rPr lang="en-US" altLang="zh-CN" sz="1800" b="1" dirty="0"/>
              <a:t>/</a:t>
            </a:r>
            <a:r>
              <a:rPr lang="en-US" altLang="zh-CN" sz="1800" b="1" dirty="0" err="1"/>
              <a:t>hgfs</a:t>
            </a:r>
            <a:r>
              <a:rPr lang="en-US" altLang="zh-CN" sz="1800" b="1" dirty="0"/>
              <a:t>/share/</a:t>
            </a:r>
            <a:r>
              <a:rPr lang="en-US" altLang="zh-CN" sz="1800" b="1" dirty="0">
                <a:solidFill>
                  <a:srgbClr val="FF0000"/>
                </a:solidFill>
              </a:rPr>
              <a:t>qt5ElectircMotorDevice_FS3399</a:t>
            </a:r>
            <a:endParaRPr lang="zh-CN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641295E-7EEC-7B31-9936-D8F0429D8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3511" y="4120457"/>
            <a:ext cx="3200847" cy="206721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EFB4347-2509-AE6C-320F-377438B0B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510" y="5154063"/>
            <a:ext cx="3712729" cy="128605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E7156AF-D1FB-7ECD-B900-61D6C493F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7537" y="5273595"/>
            <a:ext cx="3248478" cy="36200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CE48B35-BD2E-E2D2-9F4A-CB995B9495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252" y="4168767"/>
            <a:ext cx="7138058" cy="140181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B0907FC-F8FD-FF68-9FFA-979E867714EC}"/>
              </a:ext>
            </a:extLst>
          </p:cNvPr>
          <p:cNvSpPr txBox="1"/>
          <p:nvPr/>
        </p:nvSpPr>
        <p:spPr>
          <a:xfrm>
            <a:off x="2688819" y="5814492"/>
            <a:ext cx="226215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编译后生成的文件夹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9B3FFC8-AACB-E900-67BF-B9D1CCB0CBB9}"/>
              </a:ext>
            </a:extLst>
          </p:cNvPr>
          <p:cNvSpPr txBox="1"/>
          <p:nvPr/>
        </p:nvSpPr>
        <p:spPr>
          <a:xfrm>
            <a:off x="82016" y="6335954"/>
            <a:ext cx="133882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可执行文件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6158B98-3836-26E8-2A60-5EB84B4FF81F}"/>
              </a:ext>
            </a:extLst>
          </p:cNvPr>
          <p:cNvCxnSpPr/>
          <p:nvPr/>
        </p:nvCxnSpPr>
        <p:spPr>
          <a:xfrm flipV="1">
            <a:off x="672528" y="5570578"/>
            <a:ext cx="0" cy="6096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958215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8982F08-4328-7337-3095-0C3A2C292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289" y="1379220"/>
            <a:ext cx="2581293" cy="54787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B3A30DC-0868-2C73-66C2-3580F8D24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17" y="3808193"/>
            <a:ext cx="8791184" cy="1183900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1C9A9DBF-9815-88F1-5ABE-D0C1897F5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5328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传感器综合工程文件夹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EE9B0C0-56A7-15F5-703D-73DA88F58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587" y="1101050"/>
            <a:ext cx="4347446" cy="571580"/>
          </a:xfrm>
          <a:prstGeom prst="rect">
            <a:avLst/>
          </a:prstGeom>
        </p:spPr>
      </p:pic>
      <p:sp>
        <p:nvSpPr>
          <p:cNvPr id="10" name="标题 1">
            <a:extLst>
              <a:ext uri="{FF2B5EF4-FFF2-40B4-BE49-F238E27FC236}">
                <a16:creationId xmlns:a16="http://schemas.microsoft.com/office/drawing/2014/main" id="{51A40A88-5EA1-E0F6-5F99-C5A37D4EA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/>
              <a:t>7</a:t>
            </a:r>
            <a:r>
              <a:rPr lang="zh-CN" altLang="en-US" b="1" dirty="0"/>
              <a:t>、传感器综合</a:t>
            </a:r>
          </a:p>
        </p:txBody>
      </p:sp>
    </p:spTree>
    <p:extLst>
      <p:ext uri="{BB962C8B-B14F-4D97-AF65-F5344CB8AC3E}">
        <p14:creationId xmlns:p14="http://schemas.microsoft.com/office/powerpoint/2010/main" val="748283337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DD57C-B8AE-8B18-80F9-F6F566533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C856D2AD-30FB-FC10-0E6D-984B0347A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3502"/>
            <a:ext cx="10515600" cy="3310255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实验工程的打开、编译与前面相同。</a:t>
            </a:r>
            <a:endParaRPr lang="en-US" altLang="zh-CN" sz="2400" b="1" dirty="0"/>
          </a:p>
          <a:p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400" b="1" dirty="0"/>
              <a:t>编译后，在</a:t>
            </a:r>
            <a:r>
              <a:rPr lang="en-US" altLang="zh-CN" sz="2400" b="1" dirty="0"/>
              <a:t>Ubuntu</a:t>
            </a:r>
            <a:r>
              <a:rPr lang="zh-CN" altLang="en-US" sz="2400" b="1" dirty="0"/>
              <a:t>的“终端”上执行：</a:t>
            </a:r>
            <a:endParaRPr lang="en-US" altLang="zh-CN" sz="2400" b="1" dirty="0"/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cd /home/</a:t>
            </a:r>
            <a:r>
              <a:rPr lang="en-US" altLang="zh-CN" sz="1800" b="1" dirty="0" err="1"/>
              <a:t>linux</a:t>
            </a:r>
            <a:r>
              <a:rPr lang="en-US" altLang="zh-CN" sz="1800" b="1" dirty="0"/>
              <a:t>/qt_FS3399/build-qt5Sensor-FS3399-Debug</a:t>
            </a:r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cp qt5Sensor /</a:t>
            </a:r>
            <a:r>
              <a:rPr lang="en-US" altLang="zh-CN" sz="1800" b="1" dirty="0" err="1"/>
              <a:t>mnt</a:t>
            </a:r>
            <a:r>
              <a:rPr lang="en-US" altLang="zh-CN" sz="1800" b="1" dirty="0"/>
              <a:t>/</a:t>
            </a:r>
            <a:r>
              <a:rPr lang="en-US" altLang="zh-CN" sz="1800" b="1" dirty="0" err="1"/>
              <a:t>hgfs</a:t>
            </a:r>
            <a:r>
              <a:rPr lang="en-US" altLang="zh-CN" sz="1800" b="1" dirty="0"/>
              <a:t>/share/</a:t>
            </a:r>
            <a:r>
              <a:rPr lang="en-US" altLang="zh-CN" sz="1800" b="1" dirty="0">
                <a:solidFill>
                  <a:srgbClr val="FF0000"/>
                </a:solidFill>
              </a:rPr>
              <a:t>qt5SensorDevice_FS3399</a:t>
            </a:r>
            <a:endParaRPr lang="zh-CN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AA7EAA5-34BC-C082-71A6-B7D330D65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6391" y="4174838"/>
            <a:ext cx="3200847" cy="20672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55441E6-8AE8-CE58-C496-2F84565A3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6390" y="5208444"/>
            <a:ext cx="3712729" cy="128605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BF2F4F4-C081-7A6A-20A2-A3DF4C70C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0237" y="5310507"/>
            <a:ext cx="2743583" cy="30484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2AFADDE-4142-96C0-A4CA-1CCEF6BEE6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040" y="4148847"/>
            <a:ext cx="7772304" cy="146650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C571B30-EDD3-2D24-E04A-FDE711C650EC}"/>
              </a:ext>
            </a:extLst>
          </p:cNvPr>
          <p:cNvSpPr txBox="1"/>
          <p:nvPr/>
        </p:nvSpPr>
        <p:spPr>
          <a:xfrm>
            <a:off x="5939315" y="5802288"/>
            <a:ext cx="1974977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编译后生成的文件夹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78AFAE1-1DD6-1E81-8DCF-099066419E70}"/>
              </a:ext>
            </a:extLst>
          </p:cNvPr>
          <p:cNvCxnSpPr>
            <a:cxnSpLocks/>
          </p:cNvCxnSpPr>
          <p:nvPr/>
        </p:nvCxnSpPr>
        <p:spPr>
          <a:xfrm flipV="1">
            <a:off x="2569300" y="5497488"/>
            <a:ext cx="0" cy="6096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EB661A5D-E600-09AD-CD11-A5FE5EA7C18E}"/>
              </a:ext>
            </a:extLst>
          </p:cNvPr>
          <p:cNvSpPr txBox="1"/>
          <p:nvPr/>
        </p:nvSpPr>
        <p:spPr>
          <a:xfrm>
            <a:off x="1969286" y="6309832"/>
            <a:ext cx="133882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可执行文件</a:t>
            </a:r>
          </a:p>
        </p:txBody>
      </p:sp>
    </p:spTree>
    <p:extLst>
      <p:ext uri="{BB962C8B-B14F-4D97-AF65-F5344CB8AC3E}">
        <p14:creationId xmlns:p14="http://schemas.microsoft.com/office/powerpoint/2010/main" val="4143209043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C7AB070D-3A24-A4CF-080A-99CD4FA1E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655" y="1937618"/>
            <a:ext cx="5087060" cy="471553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CE1B2A8E-F2DB-4860-CCA4-3F2574E0F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010881"/>
            <a:ext cx="7402388" cy="1390844"/>
          </a:xfrm>
          <a:prstGeom prst="rect">
            <a:avLst/>
          </a:prstGeom>
        </p:spPr>
      </p:pic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7E69732E-B4EA-AD6F-4CEF-1C141E2F2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378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录音和放音工程文件夹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BC88BC5-10C5-D231-22FA-3990A7A6C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771" y="1767886"/>
            <a:ext cx="4347446" cy="57158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2EC7CD5D-B86E-1D14-E15D-EFB988378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/>
              <a:t>8</a:t>
            </a:r>
            <a:r>
              <a:rPr lang="zh-CN" altLang="en-US" b="1" dirty="0"/>
              <a:t>、录音和放音</a:t>
            </a:r>
          </a:p>
        </p:txBody>
      </p:sp>
    </p:spTree>
    <p:extLst>
      <p:ext uri="{BB962C8B-B14F-4D97-AF65-F5344CB8AC3E}">
        <p14:creationId xmlns:p14="http://schemas.microsoft.com/office/powerpoint/2010/main" val="620483168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E5FEB-E6D9-1F0B-1F63-E45597F52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1B662975-B64E-D440-87D7-653659690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854"/>
            <a:ext cx="10515600" cy="3310255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实验工程的打开、编译与前面相同。</a:t>
            </a:r>
            <a:endParaRPr lang="en-US" altLang="zh-CN" sz="2400" b="1" dirty="0"/>
          </a:p>
          <a:p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400" b="1" dirty="0"/>
              <a:t>编译后，在</a:t>
            </a:r>
            <a:r>
              <a:rPr lang="en-US" altLang="zh-CN" sz="2400" b="1" dirty="0"/>
              <a:t>Ubuntu</a:t>
            </a:r>
            <a:r>
              <a:rPr lang="zh-CN" altLang="en-US" sz="2400" b="1" dirty="0"/>
              <a:t>的“终端”上执行：</a:t>
            </a:r>
            <a:endParaRPr lang="en-US" altLang="zh-CN" sz="2400" b="1" dirty="0"/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cd /home/</a:t>
            </a:r>
            <a:r>
              <a:rPr lang="en-US" altLang="zh-CN" sz="1800" b="1" dirty="0" err="1"/>
              <a:t>linux</a:t>
            </a:r>
            <a:r>
              <a:rPr lang="en-US" altLang="zh-CN" sz="1800" b="1" dirty="0"/>
              <a:t>/qt_FS3399/build-qt5Record-FS3399-Debug</a:t>
            </a:r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cp qt5Record /</a:t>
            </a:r>
            <a:r>
              <a:rPr lang="en-US" altLang="zh-CN" sz="1800" b="1" dirty="0" err="1"/>
              <a:t>mnt</a:t>
            </a:r>
            <a:r>
              <a:rPr lang="en-US" altLang="zh-CN" sz="1800" b="1" dirty="0"/>
              <a:t>/</a:t>
            </a:r>
            <a:r>
              <a:rPr lang="en-US" altLang="zh-CN" sz="1800" b="1" dirty="0" err="1"/>
              <a:t>hgfs</a:t>
            </a:r>
            <a:r>
              <a:rPr lang="en-US" altLang="zh-CN" sz="1800" b="1" dirty="0"/>
              <a:t>/share/</a:t>
            </a:r>
            <a:r>
              <a:rPr lang="en-US" altLang="zh-CN" sz="1800" b="1" dirty="0">
                <a:solidFill>
                  <a:srgbClr val="FF0000"/>
                </a:solidFill>
              </a:rPr>
              <a:t>qt5RecordDevice_FS3399</a:t>
            </a:r>
            <a:endParaRPr lang="zh-CN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2C2373-F8C1-4CF5-3AAA-020D5C700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312" y="4418138"/>
            <a:ext cx="3200847" cy="20672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C8AEC8C-34B1-1B60-D137-F5FC250F9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311" y="5451744"/>
            <a:ext cx="3712729" cy="128605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62EAB1A-CA23-CC3B-B330-124436287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6624" y="5551542"/>
            <a:ext cx="2467319" cy="36200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B03A094-2517-0CDD-E2B2-CCC39E099B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419" y="4427228"/>
            <a:ext cx="7517386" cy="122150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18539A1-03FB-70B1-E5ED-1E935578459A}"/>
              </a:ext>
            </a:extLst>
          </p:cNvPr>
          <p:cNvSpPr txBox="1"/>
          <p:nvPr/>
        </p:nvSpPr>
        <p:spPr>
          <a:xfrm>
            <a:off x="507919" y="5927814"/>
            <a:ext cx="226215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编译后生成的文件夹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F4F82C1-F679-8064-521F-856E93221F6F}"/>
              </a:ext>
            </a:extLst>
          </p:cNvPr>
          <p:cNvCxnSpPr/>
          <p:nvPr/>
        </p:nvCxnSpPr>
        <p:spPr>
          <a:xfrm flipV="1">
            <a:off x="7055457" y="5427742"/>
            <a:ext cx="0" cy="6096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1044300-EDC1-2D39-7FBA-C8C2F56A7DFD}"/>
              </a:ext>
            </a:extLst>
          </p:cNvPr>
          <p:cNvSpPr txBox="1"/>
          <p:nvPr/>
        </p:nvSpPr>
        <p:spPr>
          <a:xfrm>
            <a:off x="6386043" y="6204851"/>
            <a:ext cx="133882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可执行文件</a:t>
            </a:r>
          </a:p>
        </p:txBody>
      </p:sp>
    </p:spTree>
    <p:extLst>
      <p:ext uri="{BB962C8B-B14F-4D97-AF65-F5344CB8AC3E}">
        <p14:creationId xmlns:p14="http://schemas.microsoft.com/office/powerpoint/2010/main" val="3930557299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0A1DE2-6090-E0B4-F962-18C778BEB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4025BE-E2A4-A8D7-3B45-378AA6BE2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sz="2400" b="1" dirty="0"/>
              <a:t>1</a:t>
            </a:r>
            <a:r>
              <a:rPr lang="zh-CN" altLang="en-US" sz="2400" b="1" dirty="0"/>
              <a:t>、请在自己的电脑上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安装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Qt Creator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、配置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Qt Creator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参数、新建并运行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Qt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工程（</a:t>
            </a:r>
            <a:r>
              <a:rPr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helloworld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）、运行已有的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Qt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工程（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8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个）。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、请在自己的电脑上配置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Qt Creator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参数（</a:t>
            </a:r>
            <a:r>
              <a:rPr lang="zh-CN" altLang="en-US" sz="2400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实验箱用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），创建并编译实验箱上的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Qt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工程（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hello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）、编译实验箱上的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Qt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工程样例（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8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个），并将编译生成的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9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个可执行文件（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hello+8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个样例）所在的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share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目录，拷贝到“第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6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次实验文档”目录中，第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6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次实验时带到实验室。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、对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8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个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Qt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工程（自定义控件、信号与槽、信号与槽的应用（秒表）、文件操作、数据库管理、网络编程（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）、网络编程（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UDP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）、程序引用）程序的分析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、实验中的命令请从“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Qt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实验命令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.txt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”文件中拷贝。</a:t>
            </a:r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en-US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3921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8918</TotalTime>
  <Words>3613</Words>
  <Application>Microsoft Office PowerPoint</Application>
  <PresentationFormat>宽屏</PresentationFormat>
  <Paragraphs>440</Paragraphs>
  <Slides>235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235</vt:i4>
      </vt:variant>
    </vt:vector>
  </HeadingPairs>
  <TitlesOfParts>
    <vt:vector size="241" baseType="lpstr">
      <vt:lpstr>TimesNewRomanPSMT</vt:lpstr>
      <vt:lpstr>等线</vt:lpstr>
      <vt:lpstr>等线 Light</vt:lpstr>
      <vt:lpstr>SimSun</vt:lpstr>
      <vt:lpstr>Arial</vt:lpstr>
      <vt:lpstr>Office 主题​​</vt:lpstr>
      <vt:lpstr>《嵌入式系统》  （实验六    Qt实验） （第一部分   在电脑上运行Qt程序）</vt:lpstr>
      <vt:lpstr>目录</vt:lpstr>
      <vt:lpstr>Qt 简介</vt:lpstr>
      <vt:lpstr>一、安装 Qt  Creator</vt:lpstr>
      <vt:lpstr>实验用软件路径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二、配置 Qt  Creator 参数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三、新建 Qt 工程（Helloworld）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Qt creator文件说明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四、运行已有的 Qt 工程</vt:lpstr>
      <vt:lpstr>PowerPoint 演示文稿</vt:lpstr>
      <vt:lpstr>Qt开发控件</vt:lpstr>
      <vt:lpstr>1、自定义控件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实现方法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2、信号与槽</vt:lpstr>
      <vt:lpstr>信号和槽</vt:lpstr>
      <vt:lpstr>信号与槽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3、信号与槽的应用（秒表）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4、文件操作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5、数据库管理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6、网络编程（TCP）</vt:lpstr>
      <vt:lpstr>6、网络编程（TCP）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7、网络编程（UDP）</vt:lpstr>
      <vt:lpstr>7、网络编程（UDP）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8、程序引用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五、配置 Qt Creator 参数（实验箱用）</vt:lpstr>
      <vt:lpstr>1、解压文件</vt:lpstr>
      <vt:lpstr>2、配置GCC</vt:lpstr>
      <vt:lpstr>PowerPoint 演示文稿</vt:lpstr>
      <vt:lpstr>PowerPoint 演示文稿</vt:lpstr>
      <vt:lpstr>PowerPoint 演示文稿</vt:lpstr>
      <vt:lpstr>3、配置G++</vt:lpstr>
      <vt:lpstr>PowerPoint 演示文稿</vt:lpstr>
      <vt:lpstr>PowerPoint 演示文稿</vt:lpstr>
      <vt:lpstr>4、配置qmake</vt:lpstr>
      <vt:lpstr>PowerPoint 演示文稿</vt:lpstr>
      <vt:lpstr>PowerPoint 演示文稿</vt:lpstr>
      <vt:lpstr>PowerPoint 演示文稿</vt:lpstr>
      <vt:lpstr>5、配置Kit</vt:lpstr>
      <vt:lpstr>PowerPoint 演示文稿</vt:lpstr>
      <vt:lpstr>六、创建实验箱上的 Qt 工程（hello）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七、编译实验箱上的 Qt 实验样例</vt:lpstr>
      <vt:lpstr>PowerPoint 演示文稿</vt:lpstr>
      <vt:lpstr>1、LED灯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2、蜂鸣器</vt:lpstr>
      <vt:lpstr>PowerPoint 演示文稿</vt:lpstr>
      <vt:lpstr>3、按键</vt:lpstr>
      <vt:lpstr>PowerPoint 演示文稿</vt:lpstr>
      <vt:lpstr>4、电位检测（ADC）</vt:lpstr>
      <vt:lpstr>PowerPoint 演示文稿</vt:lpstr>
      <vt:lpstr>5、小键盘/数码管</vt:lpstr>
      <vt:lpstr>PowerPoint 演示文稿</vt:lpstr>
      <vt:lpstr>6、电机综合</vt:lpstr>
      <vt:lpstr>PowerPoint 演示文稿</vt:lpstr>
      <vt:lpstr>7、传感器综合</vt:lpstr>
      <vt:lpstr>PowerPoint 演示文稿</vt:lpstr>
      <vt:lpstr>8、录音和放音</vt:lpstr>
      <vt:lpstr>PowerPoint 演示文稿</vt:lpstr>
      <vt:lpstr>要求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《嵌入式系统》  （实验六    Qt实验） （第一部分   在电脑上运行Qt程序）</dc:title>
  <dc:creator>Wenhua Zeng</dc:creator>
  <cp:lastModifiedBy>Lenovo</cp:lastModifiedBy>
  <cp:revision>103</cp:revision>
  <dcterms:created xsi:type="dcterms:W3CDTF">2024-10-23T12:37:50Z</dcterms:created>
  <dcterms:modified xsi:type="dcterms:W3CDTF">2025-11-10T03:36:37Z</dcterms:modified>
</cp:coreProperties>
</file>