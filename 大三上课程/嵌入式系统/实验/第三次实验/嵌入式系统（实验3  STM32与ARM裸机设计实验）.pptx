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15" r:id="rId2"/>
    <p:sldId id="959" r:id="rId3"/>
    <p:sldId id="1218" r:id="rId4"/>
    <p:sldId id="1220" r:id="rId5"/>
    <p:sldId id="1221" r:id="rId6"/>
    <p:sldId id="1232" r:id="rId7"/>
    <p:sldId id="1236" r:id="rId8"/>
    <p:sldId id="1261" r:id="rId9"/>
    <p:sldId id="1253" r:id="rId10"/>
    <p:sldId id="1259" r:id="rId11"/>
    <p:sldId id="1241" r:id="rId12"/>
    <p:sldId id="1247" r:id="rId13"/>
    <p:sldId id="1278" r:id="rId14"/>
    <p:sldId id="1294" r:id="rId15"/>
    <p:sldId id="794" r:id="rId16"/>
    <p:sldId id="951" r:id="rId17"/>
    <p:sldId id="826" r:id="rId18"/>
    <p:sldId id="1279" r:id="rId19"/>
    <p:sldId id="1299" r:id="rId20"/>
    <p:sldId id="1302" r:id="rId21"/>
    <p:sldId id="1304" r:id="rId22"/>
    <p:sldId id="1301" r:id="rId23"/>
    <p:sldId id="1305" r:id="rId24"/>
    <p:sldId id="1303" r:id="rId25"/>
    <p:sldId id="1306" r:id="rId26"/>
    <p:sldId id="1307" r:id="rId27"/>
    <p:sldId id="1300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544CC-0C80-7233-6B05-7055D4DD3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14B971-78F5-86E1-5C85-80EE72673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087FA9-F805-C1A4-5B72-4DA0B13C1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BE15E-C6AF-F2EC-DB65-027E34D14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5F8172-E101-F7C7-7AC3-5D666F24C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89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98297-2C24-8C63-1001-5877A792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A064C7-D282-568A-71FF-383138602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2AF852-E02C-3D19-44FB-CB5BE6B2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68D351-D974-3F0B-B240-55F76D24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4147BD-03BD-D62F-0445-7F690CF9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20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17D2E-8DBF-BCE0-7F82-D1BFBD39C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6E4D30-3B91-1A56-C662-D75E6343D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9279E0-9205-7741-6698-6D5A274C2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1B2458-DE9C-2C4A-A2D6-B177696AC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A31D30-5A25-F99F-4D60-9ACE73607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50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4B616D-C5D4-825B-4C9C-7F84D0327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D15AA3-876F-F4F7-B1BE-356B9EB5C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A55827-5529-7533-AF8E-FF6964BDB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4E217-F507-F89F-5947-4CE4DE749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29C883-0AE3-972C-4202-6F77D446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60CC4C-297F-E1B7-31F4-F8E0A8D5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140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1CCFE-3237-EADD-4170-A9929AF52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E9A699-FB7B-9955-3B9B-ECBCE5063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DF8610-EA1F-CB7E-69AF-B0BFFD381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250815-8A4A-5DF8-AAAD-D63338023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F8A057-8893-2A54-FC57-D0A8201DC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B20CE8-F47F-69DA-5065-D5CE630F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B8CB6F-C052-A0D1-74AC-1751CDE9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8DE28B-AA00-FC54-E261-734DD79A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8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DFEAE-05BF-C6EA-AAFA-6DF10AA13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F23977-C44C-B6D7-B009-FEEA523D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769403-8D33-D113-2740-B08A5C96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0DFE22-BA79-232B-458A-17348D3B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197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29EF50-23ED-5C9B-A964-348AD3B2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6B3B28-3FBD-0B1C-92B3-E214B12F4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617C2F-0113-F631-AF55-9C0159B7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437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3B4CE-C332-DB15-4C41-0347DD4D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307D71-CB56-B0DE-FEA1-2626CE1DD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EA863-EE6E-B7D2-BBB2-D851049A3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DAC8C-FC62-6B3C-D084-F4499958C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A1E115-1F08-A390-39DD-E90C8182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621263-A2D2-DFDA-1B59-A26F86A0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991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BC4BA-12AA-5178-6CBD-8CA01D40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AF18A2-E767-D918-0292-9EFB4F3215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F36CC7-2395-1CD3-8446-3F7FF1EBD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0DF0EE-2E89-2063-6527-B4670A97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73DB6F-A9E6-AF1C-113B-9A9E62E33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AFC81E-5BCF-6096-7C73-D5331C63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69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72E65-F6C6-0879-FBA9-71E9235D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212A2D-B8A6-5499-06F9-07EB4A080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A6E158-0D3F-D511-51BE-BABDFBF58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F46976-94A9-E62C-FBD9-83685C83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11DDFC-94D3-8F2D-AD79-0B7570388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52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A66435-C717-2F15-B0EA-7B19C53AB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C692C0-D77A-1985-6883-A6F999654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3B07A8-6A1B-52C6-D800-079B09C0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77FFEA-7561-2078-D443-3C9C42017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40C77A-091E-4A81-2B04-27767935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13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2576D1-BDBF-F991-82B8-ADFAE5CD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CE59D5-7FC2-CE7E-6525-AE28C17CA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5D604-B80A-ADB2-1209-81D446B51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FDFF6-DD3B-49A4-B218-F2582A17DFE3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B439EF-E136-80C5-A86A-71A484F94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F38361-9293-AAA8-5DE0-C7513B1B4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71400-E933-4BD3-9D51-2FA595BC8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679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295215EF-3CBC-4710-B012-4A2768D0A7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923978"/>
            <a:ext cx="12192000" cy="14700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8800" b="1" dirty="0">
                <a:solidFill>
                  <a:srgbClr val="0070C0"/>
                </a:solidFill>
              </a:rPr>
              <a:t>《</a:t>
            </a:r>
            <a:r>
              <a:rPr lang="zh-CN" altLang="en-US" sz="8800" b="1" dirty="0">
                <a:solidFill>
                  <a:srgbClr val="0070C0"/>
                </a:solidFill>
              </a:rPr>
              <a:t>嵌入式系统</a:t>
            </a:r>
            <a:r>
              <a:rPr lang="en-US" altLang="zh-CN" sz="8800" b="1" dirty="0">
                <a:solidFill>
                  <a:srgbClr val="0070C0"/>
                </a:solidFill>
              </a:rPr>
              <a:t>》</a:t>
            </a:r>
            <a:br>
              <a:rPr lang="en-US" altLang="zh-CN" sz="7200" b="1" dirty="0"/>
            </a:br>
            <a:br>
              <a:rPr lang="en-US" altLang="zh-CN" sz="1800" b="1" dirty="0"/>
            </a:br>
            <a:r>
              <a:rPr lang="zh-CN" altLang="en-US" sz="4800" b="1" dirty="0">
                <a:solidFill>
                  <a:srgbClr val="0070C0"/>
                </a:solidFill>
              </a:rPr>
              <a:t>（实验三    </a:t>
            </a:r>
            <a:r>
              <a:rPr lang="en-US" altLang="zh-CN" sz="4800" b="1" dirty="0">
                <a:solidFill>
                  <a:srgbClr val="0070C0"/>
                </a:solidFill>
              </a:rPr>
              <a:t>STM32</a:t>
            </a:r>
            <a:r>
              <a:rPr lang="zh-CN" altLang="en-US" sz="4800" b="1" dirty="0">
                <a:solidFill>
                  <a:srgbClr val="0070C0"/>
                </a:solidFill>
              </a:rPr>
              <a:t>、</a:t>
            </a:r>
            <a:r>
              <a:rPr lang="en-US" altLang="zh-CN" sz="4800" b="1" dirty="0">
                <a:solidFill>
                  <a:srgbClr val="0070C0"/>
                </a:solidFill>
              </a:rPr>
              <a:t>ARM</a:t>
            </a:r>
            <a:r>
              <a:rPr lang="zh-CN" altLang="en-US" sz="4800" b="1" dirty="0">
                <a:solidFill>
                  <a:srgbClr val="0070C0"/>
                </a:solidFill>
              </a:rPr>
              <a:t>裸机设计实验）</a:t>
            </a:r>
            <a:endParaRPr lang="zh-CN" altLang="en-US" sz="7200" b="1" dirty="0">
              <a:solidFill>
                <a:srgbClr val="0070C0"/>
              </a:solidFill>
            </a:endParaRPr>
          </a:p>
        </p:txBody>
      </p:sp>
      <p:sp>
        <p:nvSpPr>
          <p:cNvPr id="4099" name="副标题 2">
            <a:extLst>
              <a:ext uri="{FF2B5EF4-FFF2-40B4-BE49-F238E27FC236}">
                <a16:creationId xmlns:a16="http://schemas.microsoft.com/office/drawing/2014/main" id="{2DA7DAB7-E8C0-4043-8A20-FF892A4D1E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4813996"/>
            <a:ext cx="9144000" cy="1752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2060"/>
                </a:solidFill>
              </a:rPr>
              <a:t>厦门大学信息学院软件工程系  </a:t>
            </a:r>
            <a:r>
              <a:rPr lang="en-US" altLang="zh-CN" sz="2800" b="1" dirty="0">
                <a:solidFill>
                  <a:srgbClr val="002060"/>
                </a:solidFill>
              </a:rPr>
              <a:t> </a:t>
            </a:r>
          </a:p>
          <a:p>
            <a:pPr eaLnBrk="1" hangingPunct="1"/>
            <a:endParaRPr lang="en-US" altLang="zh-CN" sz="2800" b="1" dirty="0">
              <a:solidFill>
                <a:srgbClr val="002060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</a:rPr>
              <a:t>2025</a:t>
            </a:r>
            <a:r>
              <a:rPr lang="zh-CN" altLang="en-US" sz="2800" b="1" dirty="0">
                <a:solidFill>
                  <a:srgbClr val="002060"/>
                </a:solidFill>
              </a:rPr>
              <a:t>年</a:t>
            </a:r>
            <a:r>
              <a:rPr lang="en-US" altLang="zh-CN" sz="2800" b="1" dirty="0">
                <a:solidFill>
                  <a:srgbClr val="002060"/>
                </a:solidFill>
              </a:rPr>
              <a:t>10 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15B9C2-11EB-449B-3E8A-68F6F4C5B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20645"/>
            <a:ext cx="12192000" cy="1325563"/>
          </a:xfrm>
        </p:spPr>
        <p:txBody>
          <a:bodyPr/>
          <a:lstStyle/>
          <a:p>
            <a:pPr algn="ctr"/>
            <a:r>
              <a:rPr lang="zh-CN" altLang="en-US" b="1" dirty="0"/>
              <a:t>一、</a:t>
            </a:r>
            <a:r>
              <a:rPr lang="en-US" altLang="zh-CN" b="1" dirty="0"/>
              <a:t>STM32</a:t>
            </a:r>
            <a:r>
              <a:rPr lang="zh-CN" altLang="en-US" b="1" dirty="0"/>
              <a:t>设计实验</a:t>
            </a:r>
          </a:p>
        </p:txBody>
      </p:sp>
    </p:spTree>
    <p:extLst>
      <p:ext uri="{BB962C8B-B14F-4D97-AF65-F5344CB8AC3E}">
        <p14:creationId xmlns:p14="http://schemas.microsoft.com/office/powerpoint/2010/main" val="3413025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141A6-286F-A872-A89F-06F5956C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1-1</a:t>
            </a:r>
            <a:r>
              <a:rPr lang="zh-CN" altLang="en-US" b="1" dirty="0"/>
              <a:t>：小键盘控制步进电机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6443A-8015-9564-0788-589EAFDBC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000" b="1" dirty="0"/>
              <a:t>请编写程序，实现通过小键盘控制步进电机的转动；按 “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”键，步进电机顺时针转；按“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”键，步进电机逆时针转；按其它</a:t>
            </a:r>
            <a:r>
              <a:rPr lang="en-US" altLang="zh-CN" sz="2000" b="1" dirty="0"/>
              <a:t>14</a:t>
            </a:r>
            <a:r>
              <a:rPr lang="zh-CN" altLang="en-US" sz="2000" b="1" dirty="0"/>
              <a:t>个键，步进电机不转。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</a:t>
            </a:r>
            <a:endParaRPr lang="en-US" altLang="zh-CN" sz="2000" b="1" dirty="0"/>
          </a:p>
          <a:p>
            <a:pPr lvl="1"/>
            <a:r>
              <a:rPr lang="en-US" altLang="zh-CN" sz="1400" b="1" dirty="0"/>
              <a:t>1</a:t>
            </a:r>
            <a:r>
              <a:rPr lang="zh-CN" altLang="en-US" sz="1400" b="1" dirty="0"/>
              <a:t>、在直流电机“</a:t>
            </a:r>
            <a:r>
              <a:rPr lang="en-US" altLang="zh-CN" sz="1400" b="1" dirty="0"/>
              <a:t>3_DC_Motor</a:t>
            </a:r>
            <a:r>
              <a:rPr lang="zh-CN" altLang="en-US" sz="1400" b="1" dirty="0"/>
              <a:t>”实验工程的基础上修改程序，将新的实验工程命名为“</a:t>
            </a:r>
            <a:r>
              <a:rPr lang="en-US" altLang="zh-CN" sz="1400" b="1" dirty="0">
                <a:solidFill>
                  <a:srgbClr val="FF0000"/>
                </a:solidFill>
              </a:rPr>
              <a:t>19_Key_Stepper_Motor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2</a:t>
            </a:r>
            <a:r>
              <a:rPr lang="zh-CN" altLang="en-US" sz="1400" b="1" dirty="0"/>
              <a:t>、去掉“</a:t>
            </a:r>
            <a:r>
              <a:rPr lang="en-US" altLang="zh-CN" sz="1400" b="1" dirty="0"/>
              <a:t>19_Key_Stepper_Motor</a:t>
            </a:r>
            <a:r>
              <a:rPr lang="zh-CN" altLang="en-US" sz="1400" b="1" dirty="0"/>
              <a:t>”实验工程中的</a:t>
            </a:r>
            <a:r>
              <a:rPr lang="en-US" altLang="zh-CN" sz="1400" b="1" dirty="0" err="1"/>
              <a:t>Dc_motor.c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tim.c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Dc_motor.h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tim.h</a:t>
            </a:r>
            <a:r>
              <a:rPr lang="zh-CN" altLang="en-US" sz="1400" b="1" dirty="0"/>
              <a:t>文件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3</a:t>
            </a:r>
            <a:r>
              <a:rPr lang="zh-CN" altLang="en-US" sz="1400" b="1" dirty="0"/>
              <a:t>、用“</a:t>
            </a:r>
            <a:r>
              <a:rPr lang="en-US" altLang="zh-CN" sz="1400" b="1" dirty="0"/>
              <a:t>5_Stepper_Motor</a:t>
            </a:r>
            <a:r>
              <a:rPr lang="zh-CN" altLang="en-US" sz="1400" b="1" dirty="0"/>
              <a:t>”实验工程中的</a:t>
            </a:r>
            <a:r>
              <a:rPr lang="en-US" altLang="zh-CN" sz="1400" b="1" dirty="0" err="1"/>
              <a:t>gpio.c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gpio.h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stm32f4xx_it.h</a:t>
            </a:r>
            <a:r>
              <a:rPr lang="zh-CN" altLang="en-US" sz="1400" b="1" dirty="0"/>
              <a:t>，代替“</a:t>
            </a:r>
            <a:r>
              <a:rPr lang="en-US" altLang="zh-CN" sz="1400" b="1" dirty="0"/>
              <a:t>19_Key_Stepper_Motor</a:t>
            </a:r>
            <a:r>
              <a:rPr lang="zh-CN" altLang="en-US" sz="1400" b="1" dirty="0"/>
              <a:t>”实验工程中的</a:t>
            </a:r>
            <a:r>
              <a:rPr lang="en-US" altLang="zh-CN" sz="1400" b="1" dirty="0" err="1"/>
              <a:t>gpio.c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gpio.h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stm32f4xx_it.h</a:t>
            </a:r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4</a:t>
            </a:r>
            <a:r>
              <a:rPr lang="zh-CN" altLang="en-US" sz="1400" b="1" dirty="0"/>
              <a:t>、综合“</a:t>
            </a:r>
            <a:r>
              <a:rPr lang="en-US" altLang="zh-CN" sz="1400" b="1" dirty="0"/>
              <a:t>3_DC_Motor</a:t>
            </a:r>
            <a:r>
              <a:rPr lang="zh-CN" altLang="en-US" sz="1400" b="1" dirty="0"/>
              <a:t>”和“</a:t>
            </a:r>
            <a:r>
              <a:rPr lang="en-US" altLang="zh-CN" sz="1400" b="1" dirty="0"/>
              <a:t>5_Stepper_Motor</a:t>
            </a:r>
            <a:r>
              <a:rPr lang="zh-CN" altLang="en-US" sz="1400" b="1" dirty="0"/>
              <a:t>” 实验工程的</a:t>
            </a:r>
            <a:r>
              <a:rPr lang="en-US" altLang="zh-CN" sz="1400" b="1" dirty="0" err="1"/>
              <a:t>main.c</a:t>
            </a:r>
            <a:r>
              <a:rPr lang="zh-CN" altLang="en-US" sz="1400" b="1" dirty="0"/>
              <a:t>，得到</a:t>
            </a:r>
            <a:r>
              <a:rPr lang="zh-CN" altLang="en-US" sz="1400" b="1" dirty="0">
                <a:solidFill>
                  <a:srgbClr val="FF0000"/>
                </a:solidFill>
              </a:rPr>
              <a:t>新的</a:t>
            </a:r>
            <a:r>
              <a:rPr lang="en-US" altLang="zh-CN" sz="1400" b="1" dirty="0" err="1">
                <a:solidFill>
                  <a:srgbClr val="FF0000"/>
                </a:solidFill>
              </a:rPr>
              <a:t>main.c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5</a:t>
            </a:r>
            <a:r>
              <a:rPr lang="zh-CN" altLang="en-US" sz="1400" b="1" dirty="0"/>
              <a:t>、在</a:t>
            </a:r>
            <a:r>
              <a:rPr lang="en-US" altLang="zh-CN" sz="1400" b="1" dirty="0"/>
              <a:t>MDK</a:t>
            </a:r>
            <a:r>
              <a:rPr lang="zh-CN" altLang="en-US" sz="1400" b="1" dirty="0"/>
              <a:t>中打开“</a:t>
            </a:r>
            <a:r>
              <a:rPr lang="en-US" altLang="zh-CN" sz="1400" b="1" dirty="0"/>
              <a:t>19_Key_Stepper_Motor</a:t>
            </a:r>
            <a:r>
              <a:rPr lang="zh-CN" altLang="en-US" sz="1400" b="1" dirty="0"/>
              <a:t>”，在工程中去掉</a:t>
            </a:r>
            <a:r>
              <a:rPr lang="en-US" altLang="zh-CN" sz="1400" b="1" dirty="0" err="1"/>
              <a:t>Dc_motor.c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tim.c</a:t>
            </a:r>
            <a:r>
              <a:rPr lang="zh-CN" altLang="en-US" sz="1400" b="1" dirty="0"/>
              <a:t>文件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6</a:t>
            </a:r>
            <a:r>
              <a:rPr lang="zh-CN" altLang="en-US" sz="1400" b="1" dirty="0"/>
              <a:t>、编译、下载、运行程序</a:t>
            </a:r>
            <a:endParaRPr lang="en-US" altLang="zh-CN" sz="14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44416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3E154E8-1764-CC75-DA83-524163A64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283" y="166232"/>
            <a:ext cx="9021434" cy="6525536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69D69F8-A850-57B2-7AFC-F6C7FB32BCC8}"/>
              </a:ext>
            </a:extLst>
          </p:cNvPr>
          <p:cNvCxnSpPr/>
          <p:nvPr/>
        </p:nvCxnSpPr>
        <p:spPr>
          <a:xfrm flipH="1">
            <a:off x="6278880" y="3771900"/>
            <a:ext cx="4953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DF738DE-778E-BA96-AE10-773F8173A663}"/>
              </a:ext>
            </a:extLst>
          </p:cNvPr>
          <p:cNvSpPr txBox="1"/>
          <p:nvPr/>
        </p:nvSpPr>
        <p:spPr>
          <a:xfrm>
            <a:off x="4823460" y="2779514"/>
            <a:ext cx="180049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点击鼠标的右键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5E7E77-16F7-C4F6-BDDE-17854AA0F06C}"/>
              </a:ext>
            </a:extLst>
          </p:cNvPr>
          <p:cNvSpPr txBox="1"/>
          <p:nvPr/>
        </p:nvSpPr>
        <p:spPr>
          <a:xfrm>
            <a:off x="4300123" y="1912373"/>
            <a:ext cx="295465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如何在实验工程中去掉文件</a:t>
            </a:r>
          </a:p>
        </p:txBody>
      </p:sp>
    </p:spTree>
    <p:extLst>
      <p:ext uri="{BB962C8B-B14F-4D97-AF65-F5344CB8AC3E}">
        <p14:creationId xmlns:p14="http://schemas.microsoft.com/office/powerpoint/2010/main" val="19098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9D89F99-3DC0-8B07-EBD4-8FE991AE4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247" y="0"/>
            <a:ext cx="6019506" cy="6858000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556CAE2E-4FC7-3057-D377-4FAFF0043AC5}"/>
              </a:ext>
            </a:extLst>
          </p:cNvPr>
          <p:cNvCxnSpPr/>
          <p:nvPr/>
        </p:nvCxnSpPr>
        <p:spPr>
          <a:xfrm flipH="1">
            <a:off x="6699899" y="4166602"/>
            <a:ext cx="4953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36E747B-9AF9-32AC-7B9A-510C32BB6FF2}"/>
              </a:ext>
            </a:extLst>
          </p:cNvPr>
          <p:cNvSpPr txBox="1"/>
          <p:nvPr/>
        </p:nvSpPr>
        <p:spPr>
          <a:xfrm>
            <a:off x="5244479" y="3174216"/>
            <a:ext cx="180049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点击鼠标的右键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19286F-B66B-2ECB-12E4-98B87B9AF830}"/>
              </a:ext>
            </a:extLst>
          </p:cNvPr>
          <p:cNvSpPr txBox="1"/>
          <p:nvPr/>
        </p:nvSpPr>
        <p:spPr>
          <a:xfrm>
            <a:off x="5594083" y="1647827"/>
            <a:ext cx="295465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如何在实验工程中去掉文件</a:t>
            </a:r>
          </a:p>
        </p:txBody>
      </p:sp>
    </p:spTree>
    <p:extLst>
      <p:ext uri="{BB962C8B-B14F-4D97-AF65-F5344CB8AC3E}">
        <p14:creationId xmlns:p14="http://schemas.microsoft.com/office/powerpoint/2010/main" val="2562643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141A6-286F-A872-A89F-06F5956C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1-2</a:t>
            </a:r>
            <a:r>
              <a:rPr lang="zh-CN" altLang="en-US" b="1" dirty="0"/>
              <a:t>：小键盘控制陀机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6443A-8015-9564-0788-589EAFDBC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1800" b="1" dirty="0"/>
              <a:t>请编写程序，实现通过小键盘控制陀机的转动；按“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”键，陀机转动；按其它</a:t>
            </a:r>
            <a:r>
              <a:rPr lang="en-US" altLang="zh-CN" sz="1800" b="1" dirty="0"/>
              <a:t>15</a:t>
            </a:r>
            <a:r>
              <a:rPr lang="zh-CN" altLang="en-US" sz="1800" b="1" dirty="0"/>
              <a:t>个键，陀机不转。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编程思路：</a:t>
            </a:r>
            <a:endParaRPr lang="en-US" altLang="zh-CN" sz="1800" b="1" dirty="0"/>
          </a:p>
          <a:p>
            <a:pPr lvl="1"/>
            <a:r>
              <a:rPr lang="en-US" altLang="zh-CN" sz="1500" b="1" dirty="0"/>
              <a:t>1</a:t>
            </a:r>
            <a:r>
              <a:rPr lang="zh-CN" altLang="en-US" sz="1500" b="1" dirty="0"/>
              <a:t>、在直流电机“</a:t>
            </a:r>
            <a:r>
              <a:rPr lang="en-US" altLang="zh-CN" sz="1500" b="1" dirty="0"/>
              <a:t>3_DC_Motor</a:t>
            </a:r>
            <a:r>
              <a:rPr lang="zh-CN" altLang="en-US" sz="1500" b="1" dirty="0"/>
              <a:t>”实验工程的基础上修改程序，将新的实验工程命名为“</a:t>
            </a:r>
            <a:r>
              <a:rPr lang="en-US" altLang="zh-CN" sz="1500" b="1" dirty="0">
                <a:solidFill>
                  <a:srgbClr val="FF0000"/>
                </a:solidFill>
              </a:rPr>
              <a:t>20_Key_Steering_Engine</a:t>
            </a:r>
            <a:r>
              <a:rPr lang="zh-CN" altLang="en-US" sz="1500" b="1" dirty="0"/>
              <a:t>”</a:t>
            </a:r>
            <a:endParaRPr lang="en-US" altLang="zh-CN" sz="1500" b="1" dirty="0"/>
          </a:p>
          <a:p>
            <a:pPr lvl="1"/>
            <a:endParaRPr lang="en-US" altLang="zh-CN" sz="1500" b="1" dirty="0"/>
          </a:p>
          <a:p>
            <a:pPr lvl="1"/>
            <a:r>
              <a:rPr lang="en-US" altLang="zh-CN" sz="1500" b="1" dirty="0"/>
              <a:t>2</a:t>
            </a:r>
            <a:r>
              <a:rPr lang="zh-CN" altLang="en-US" sz="1500" b="1" dirty="0"/>
              <a:t>、去掉“</a:t>
            </a:r>
            <a:r>
              <a:rPr lang="en-US" altLang="zh-CN" sz="1500" b="1" dirty="0"/>
              <a:t>20_Key_Steering_Engine</a:t>
            </a:r>
            <a:r>
              <a:rPr lang="zh-CN" altLang="en-US" sz="1500" b="1" dirty="0"/>
              <a:t>”实验工程中的</a:t>
            </a:r>
            <a:r>
              <a:rPr lang="en-US" altLang="zh-CN" sz="1500" b="1" dirty="0" err="1"/>
              <a:t>Dc_motor.c</a:t>
            </a:r>
            <a:r>
              <a:rPr lang="zh-CN" altLang="en-US" sz="1500" b="1" dirty="0"/>
              <a:t>、</a:t>
            </a:r>
            <a:r>
              <a:rPr lang="en-US" altLang="zh-CN" sz="1500" b="1" dirty="0" err="1"/>
              <a:t>Dc_motor.h</a:t>
            </a:r>
            <a:r>
              <a:rPr lang="zh-CN" altLang="en-US" sz="1500" b="1" dirty="0"/>
              <a:t>文件</a:t>
            </a:r>
            <a:endParaRPr lang="en-US" altLang="zh-CN" sz="1500" b="1" dirty="0"/>
          </a:p>
          <a:p>
            <a:pPr lvl="1"/>
            <a:endParaRPr lang="en-US" altLang="zh-CN" sz="1500" b="1" dirty="0"/>
          </a:p>
          <a:p>
            <a:pPr lvl="1"/>
            <a:r>
              <a:rPr lang="en-US" altLang="zh-CN" sz="1500" b="1" dirty="0"/>
              <a:t>3</a:t>
            </a:r>
            <a:r>
              <a:rPr lang="zh-CN" altLang="en-US" sz="1500" b="1" dirty="0"/>
              <a:t>、用“</a:t>
            </a:r>
            <a:r>
              <a:rPr lang="en-US" altLang="zh-CN" sz="1500" b="1" dirty="0"/>
              <a:t>4_Steering_Engine</a:t>
            </a:r>
            <a:r>
              <a:rPr lang="zh-CN" altLang="en-US" sz="1500" b="1" dirty="0"/>
              <a:t>”实验工程中的</a:t>
            </a:r>
            <a:r>
              <a:rPr lang="en-US" altLang="zh-CN" sz="1500" b="1" dirty="0" err="1"/>
              <a:t>gpio.c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stm32f4xx_it.c</a:t>
            </a:r>
            <a:r>
              <a:rPr lang="zh-CN" altLang="en-US" sz="1500" b="1" dirty="0"/>
              <a:t>、</a:t>
            </a:r>
            <a:r>
              <a:rPr lang="en-US" altLang="zh-CN" sz="1500" b="1" dirty="0" err="1"/>
              <a:t>tim.c</a:t>
            </a:r>
            <a:r>
              <a:rPr lang="zh-CN" altLang="en-US" sz="1500" b="1" dirty="0"/>
              <a:t>、</a:t>
            </a:r>
            <a:r>
              <a:rPr lang="en-US" altLang="zh-CN" sz="1500" b="1" dirty="0" err="1"/>
              <a:t>gpio.h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stm32f4xx_it.h</a:t>
            </a:r>
            <a:r>
              <a:rPr lang="zh-CN" altLang="en-US" sz="1500" b="1" dirty="0"/>
              <a:t>、</a:t>
            </a:r>
            <a:r>
              <a:rPr lang="en-US" altLang="zh-CN" sz="1500" b="1" dirty="0" err="1"/>
              <a:t>tim.h</a:t>
            </a:r>
            <a:r>
              <a:rPr lang="zh-CN" altLang="en-US" sz="1500" b="1" dirty="0"/>
              <a:t>，代替“</a:t>
            </a:r>
            <a:r>
              <a:rPr lang="en-US" altLang="zh-CN" sz="1500" b="1" dirty="0"/>
              <a:t>20_Key_Steering_Engine</a:t>
            </a:r>
            <a:r>
              <a:rPr lang="zh-CN" altLang="en-US" sz="1500" b="1" dirty="0"/>
              <a:t>”实验工程中的</a:t>
            </a:r>
            <a:r>
              <a:rPr lang="en-US" altLang="zh-CN" sz="1500" b="1" dirty="0" err="1"/>
              <a:t>gpio.c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stm32f4xx_it.c</a:t>
            </a:r>
            <a:r>
              <a:rPr lang="zh-CN" altLang="en-US" sz="1500" b="1" dirty="0"/>
              <a:t>、</a:t>
            </a:r>
            <a:r>
              <a:rPr lang="en-US" altLang="zh-CN" sz="1500" b="1" dirty="0" err="1"/>
              <a:t>tim.c</a:t>
            </a:r>
            <a:r>
              <a:rPr lang="zh-CN" altLang="en-US" sz="1500" b="1" dirty="0"/>
              <a:t>、</a:t>
            </a:r>
            <a:r>
              <a:rPr lang="en-US" altLang="zh-CN" sz="1500" b="1" dirty="0" err="1"/>
              <a:t>gpio.h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stm32f4xx_it.h</a:t>
            </a:r>
            <a:r>
              <a:rPr lang="zh-CN" altLang="en-US" sz="1500" b="1" dirty="0"/>
              <a:t>、</a:t>
            </a:r>
            <a:r>
              <a:rPr lang="en-US" altLang="zh-CN" sz="1500" b="1" dirty="0" err="1"/>
              <a:t>tim.h</a:t>
            </a:r>
            <a:endParaRPr lang="en-US" altLang="zh-CN" sz="1500" b="1" dirty="0"/>
          </a:p>
          <a:p>
            <a:pPr lvl="1"/>
            <a:endParaRPr lang="en-US" altLang="zh-CN" sz="1500" b="1" dirty="0"/>
          </a:p>
          <a:p>
            <a:pPr lvl="1"/>
            <a:r>
              <a:rPr lang="en-US" altLang="zh-CN" sz="1500" b="1" dirty="0"/>
              <a:t>4</a:t>
            </a:r>
            <a:r>
              <a:rPr lang="zh-CN" altLang="en-US" sz="1500" b="1" dirty="0"/>
              <a:t>、用“</a:t>
            </a:r>
            <a:r>
              <a:rPr lang="en-US" altLang="zh-CN" sz="1500" b="1" dirty="0"/>
              <a:t>11_ZLG72128</a:t>
            </a:r>
            <a:r>
              <a:rPr lang="zh-CN" altLang="en-US" sz="1500" b="1" dirty="0"/>
              <a:t>”实验工程中的</a:t>
            </a:r>
            <a:r>
              <a:rPr lang="en-US" altLang="zh-CN" sz="1500" b="1" dirty="0"/>
              <a:t>i2c.c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i2c.h</a:t>
            </a:r>
            <a:r>
              <a:rPr lang="zh-CN" altLang="en-US" sz="1500" b="1" dirty="0"/>
              <a:t>，代替“</a:t>
            </a:r>
            <a:r>
              <a:rPr lang="en-US" altLang="zh-CN" sz="1500" b="1" dirty="0"/>
              <a:t>20_Key_Steering_Engine</a:t>
            </a:r>
            <a:r>
              <a:rPr lang="zh-CN" altLang="en-US" sz="1500" b="1" dirty="0"/>
              <a:t>”实验工程中的</a:t>
            </a:r>
            <a:r>
              <a:rPr lang="en-US" altLang="zh-CN" sz="1500" b="1" dirty="0"/>
              <a:t>i2c.c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i2c.h</a:t>
            </a:r>
          </a:p>
          <a:p>
            <a:pPr lvl="1"/>
            <a:endParaRPr lang="en-US" altLang="zh-CN" sz="1500" b="1" dirty="0"/>
          </a:p>
          <a:p>
            <a:pPr lvl="1"/>
            <a:r>
              <a:rPr lang="en-US" altLang="zh-CN" sz="1500" b="1" dirty="0"/>
              <a:t>5</a:t>
            </a:r>
            <a:r>
              <a:rPr lang="zh-CN" altLang="en-US" sz="1500" b="1" dirty="0"/>
              <a:t>、综合“</a:t>
            </a:r>
            <a:r>
              <a:rPr lang="en-US" altLang="zh-CN" sz="1500" b="1" dirty="0"/>
              <a:t>3_DC_Motor</a:t>
            </a:r>
            <a:r>
              <a:rPr lang="zh-CN" altLang="en-US" sz="1500" b="1" dirty="0"/>
              <a:t>”和“</a:t>
            </a:r>
            <a:r>
              <a:rPr lang="en-US" altLang="zh-CN" sz="1500" b="1" dirty="0"/>
              <a:t>4_Steering_Engine</a:t>
            </a:r>
            <a:r>
              <a:rPr lang="zh-CN" altLang="en-US" sz="1500" b="1" dirty="0"/>
              <a:t>”实验工程的</a:t>
            </a:r>
            <a:r>
              <a:rPr lang="en-US" altLang="zh-CN" sz="1500" b="1" dirty="0" err="1"/>
              <a:t>main.c</a:t>
            </a:r>
            <a:r>
              <a:rPr lang="zh-CN" altLang="en-US" sz="1500" b="1" dirty="0"/>
              <a:t>，得到</a:t>
            </a:r>
            <a:r>
              <a:rPr lang="zh-CN" altLang="en-US" sz="1500" b="1" dirty="0">
                <a:solidFill>
                  <a:srgbClr val="FF0000"/>
                </a:solidFill>
              </a:rPr>
              <a:t>新的</a:t>
            </a:r>
            <a:r>
              <a:rPr lang="en-US" altLang="zh-CN" sz="1500" b="1" dirty="0" err="1">
                <a:solidFill>
                  <a:srgbClr val="FF0000"/>
                </a:solidFill>
              </a:rPr>
              <a:t>main.c</a:t>
            </a:r>
            <a:endParaRPr lang="en-US" altLang="zh-CN" sz="1500" b="1" dirty="0">
              <a:solidFill>
                <a:srgbClr val="FF0000"/>
              </a:solidFill>
            </a:endParaRPr>
          </a:p>
          <a:p>
            <a:pPr lvl="1"/>
            <a:endParaRPr lang="en-US" altLang="zh-CN" sz="1500" b="1" dirty="0"/>
          </a:p>
          <a:p>
            <a:pPr lvl="1"/>
            <a:r>
              <a:rPr lang="en-US" altLang="zh-CN" sz="1500" b="1" dirty="0"/>
              <a:t>6</a:t>
            </a:r>
            <a:r>
              <a:rPr lang="zh-CN" altLang="en-US" sz="1500" b="1" dirty="0"/>
              <a:t>、在</a:t>
            </a:r>
            <a:r>
              <a:rPr lang="en-US" altLang="zh-CN" sz="1500" b="1" dirty="0"/>
              <a:t>MDK</a:t>
            </a:r>
            <a:r>
              <a:rPr lang="zh-CN" altLang="en-US" sz="1500" b="1" dirty="0"/>
              <a:t>中打开“</a:t>
            </a:r>
            <a:r>
              <a:rPr lang="en-US" altLang="zh-CN" sz="1500" b="1" dirty="0"/>
              <a:t>20_Key_Steering_Engine</a:t>
            </a:r>
            <a:r>
              <a:rPr lang="zh-CN" altLang="en-US" sz="1500" b="1" dirty="0"/>
              <a:t>”，在工程中去掉</a:t>
            </a:r>
            <a:r>
              <a:rPr lang="en-US" altLang="zh-CN" sz="1500" b="1" dirty="0" err="1"/>
              <a:t>Dc_motor.c</a:t>
            </a:r>
            <a:r>
              <a:rPr lang="zh-CN" altLang="en-US" sz="1500" b="1" dirty="0"/>
              <a:t>文件</a:t>
            </a:r>
            <a:endParaRPr lang="en-US" altLang="zh-CN" sz="1500" b="1" dirty="0"/>
          </a:p>
          <a:p>
            <a:pPr lvl="1"/>
            <a:endParaRPr lang="en-US" altLang="zh-CN" sz="1500" b="1" dirty="0"/>
          </a:p>
          <a:p>
            <a:pPr lvl="1"/>
            <a:r>
              <a:rPr lang="en-US" altLang="zh-CN" sz="1500" b="1" dirty="0"/>
              <a:t>7</a:t>
            </a:r>
            <a:r>
              <a:rPr lang="zh-CN" altLang="en-US" sz="1500" b="1" dirty="0"/>
              <a:t>、编译、下载、运行程序</a:t>
            </a:r>
            <a:endParaRPr lang="en-US" altLang="zh-CN" sz="15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17519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141A6-286F-A872-A89F-06F5956C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1-3</a:t>
            </a:r>
            <a:r>
              <a:rPr lang="zh-CN" altLang="en-US" b="1" dirty="0"/>
              <a:t>：小键盘控制</a:t>
            </a:r>
            <a:r>
              <a:rPr lang="en-US" altLang="zh-CN" b="1" dirty="0"/>
              <a:t>LED</a:t>
            </a:r>
            <a:r>
              <a:rPr lang="zh-CN" altLang="en-US" b="1" dirty="0"/>
              <a:t>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6443A-8015-9564-0788-589EAFDBC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000" b="1" dirty="0"/>
              <a:t>请编写程序，实现通过小键盘控制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灯亮灭；按 “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”键，对应的</a:t>
            </a:r>
            <a:r>
              <a:rPr lang="en-US" altLang="zh-CN" sz="2000" b="1" dirty="0"/>
              <a:t>LED1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LED4</a:t>
            </a:r>
            <a:r>
              <a:rPr lang="zh-CN" altLang="en-US" sz="2000" b="1" dirty="0"/>
              <a:t>灯亮；按 “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”键，对应的</a:t>
            </a:r>
            <a:r>
              <a:rPr lang="en-US" altLang="zh-CN" sz="2000" b="1" dirty="0"/>
              <a:t>LED1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LED4</a:t>
            </a:r>
            <a:r>
              <a:rPr lang="zh-CN" altLang="en-US" sz="2000" b="1" dirty="0"/>
              <a:t>灯灭。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</a:t>
            </a:r>
            <a:endParaRPr lang="en-US" altLang="zh-CN" sz="2000" b="1" dirty="0"/>
          </a:p>
          <a:p>
            <a:pPr lvl="1"/>
            <a:r>
              <a:rPr lang="en-US" altLang="zh-CN" sz="1400" b="1" dirty="0"/>
              <a:t>1</a:t>
            </a:r>
            <a:r>
              <a:rPr lang="zh-CN" altLang="en-US" sz="1400" b="1" dirty="0"/>
              <a:t>、在直流电机“</a:t>
            </a:r>
            <a:r>
              <a:rPr lang="en-US" altLang="zh-CN" sz="1400" b="1" dirty="0"/>
              <a:t>3_DC_Motor</a:t>
            </a:r>
            <a:r>
              <a:rPr lang="zh-CN" altLang="en-US" sz="1400" b="1" dirty="0"/>
              <a:t>”实验工程的基础上修改程序，将新的实验工程命名为“</a:t>
            </a:r>
            <a:r>
              <a:rPr lang="en-US" altLang="zh-CN" sz="1400" b="1" dirty="0">
                <a:solidFill>
                  <a:srgbClr val="FF0000"/>
                </a:solidFill>
              </a:rPr>
              <a:t>21_Key_Led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2</a:t>
            </a:r>
            <a:r>
              <a:rPr lang="zh-CN" altLang="en-US" sz="1400" b="1" dirty="0"/>
              <a:t>、去掉“</a:t>
            </a:r>
            <a:r>
              <a:rPr lang="en-US" altLang="zh-CN" sz="1400" b="1" dirty="0"/>
              <a:t>21_Key_Led</a:t>
            </a:r>
            <a:r>
              <a:rPr lang="zh-CN" altLang="en-US" sz="1400" b="1" dirty="0"/>
              <a:t>”实验工程中的</a:t>
            </a:r>
            <a:r>
              <a:rPr lang="en-US" altLang="zh-CN" sz="1400" b="1" dirty="0" err="1"/>
              <a:t>Dc_motor.c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tim.c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Dc_motor.h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tim.h</a:t>
            </a:r>
            <a:r>
              <a:rPr lang="zh-CN" altLang="en-US" sz="1400" b="1" dirty="0"/>
              <a:t>文件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3</a:t>
            </a:r>
            <a:r>
              <a:rPr lang="zh-CN" altLang="en-US" sz="1400" b="1" dirty="0"/>
              <a:t>、用“</a:t>
            </a:r>
            <a:r>
              <a:rPr lang="en-US" altLang="zh-CN" sz="1400" b="1" dirty="0"/>
              <a:t>1_Led</a:t>
            </a:r>
            <a:r>
              <a:rPr lang="zh-CN" altLang="en-US" sz="1400" b="1" dirty="0"/>
              <a:t>”实验工程中的</a:t>
            </a:r>
            <a:r>
              <a:rPr lang="en-US" altLang="zh-CN" sz="1400" b="1" dirty="0" err="1"/>
              <a:t>gpio.c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gpio.h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stm32f4xx_it.h</a:t>
            </a:r>
            <a:r>
              <a:rPr lang="zh-CN" altLang="en-US" sz="1400" b="1" dirty="0"/>
              <a:t>，代替“</a:t>
            </a:r>
            <a:r>
              <a:rPr lang="en-US" altLang="zh-CN" sz="1400" b="1" dirty="0"/>
              <a:t>21_Key_Led</a:t>
            </a:r>
            <a:r>
              <a:rPr lang="zh-CN" altLang="en-US" sz="1400" b="1" dirty="0"/>
              <a:t>”实验工程中的</a:t>
            </a:r>
            <a:r>
              <a:rPr lang="en-US" altLang="zh-CN" sz="1400" b="1" dirty="0" err="1"/>
              <a:t>gpio.c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gpio.h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stm32f4xx_it.h</a:t>
            </a:r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4</a:t>
            </a:r>
            <a:r>
              <a:rPr lang="zh-CN" altLang="en-US" sz="1400" b="1" dirty="0"/>
              <a:t>、综合“</a:t>
            </a:r>
            <a:r>
              <a:rPr lang="en-US" altLang="zh-CN" sz="1400" b="1" dirty="0"/>
              <a:t>3_DC_Motor</a:t>
            </a:r>
            <a:r>
              <a:rPr lang="zh-CN" altLang="en-US" sz="1400" b="1" dirty="0"/>
              <a:t>”和“</a:t>
            </a:r>
            <a:r>
              <a:rPr lang="en-US" altLang="zh-CN" sz="1400" b="1" dirty="0"/>
              <a:t>1_Led</a:t>
            </a:r>
            <a:r>
              <a:rPr lang="zh-CN" altLang="en-US" sz="1400" b="1" dirty="0"/>
              <a:t>”实验工程的</a:t>
            </a:r>
            <a:r>
              <a:rPr lang="en-US" altLang="zh-CN" sz="1400" b="1" dirty="0" err="1"/>
              <a:t>main.c</a:t>
            </a:r>
            <a:r>
              <a:rPr lang="zh-CN" altLang="en-US" sz="1400" b="1" dirty="0"/>
              <a:t>，得到</a:t>
            </a:r>
            <a:r>
              <a:rPr lang="zh-CN" altLang="en-US" sz="1400" b="1" dirty="0">
                <a:solidFill>
                  <a:srgbClr val="FF0000"/>
                </a:solidFill>
              </a:rPr>
              <a:t>新的</a:t>
            </a:r>
            <a:r>
              <a:rPr lang="en-US" altLang="zh-CN" sz="1400" b="1" dirty="0" err="1">
                <a:solidFill>
                  <a:srgbClr val="FF0000"/>
                </a:solidFill>
              </a:rPr>
              <a:t>main.c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5</a:t>
            </a:r>
            <a:r>
              <a:rPr lang="zh-CN" altLang="en-US" sz="1400" b="1" dirty="0"/>
              <a:t>、在</a:t>
            </a:r>
            <a:r>
              <a:rPr lang="en-US" altLang="zh-CN" sz="1400" b="1" dirty="0"/>
              <a:t>MDK</a:t>
            </a:r>
            <a:r>
              <a:rPr lang="zh-CN" altLang="en-US" sz="1400" b="1" dirty="0"/>
              <a:t>中打开“</a:t>
            </a:r>
            <a:r>
              <a:rPr lang="en-US" altLang="zh-CN" sz="1400" b="1" dirty="0"/>
              <a:t>21_Key_Led</a:t>
            </a:r>
            <a:r>
              <a:rPr lang="zh-CN" altLang="en-US" sz="1400" b="1" dirty="0"/>
              <a:t>”，在工程中去掉</a:t>
            </a:r>
            <a:r>
              <a:rPr lang="en-US" altLang="zh-CN" sz="1400" b="1" dirty="0" err="1"/>
              <a:t>Dc_motor.c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tim.c</a:t>
            </a:r>
            <a:r>
              <a:rPr lang="zh-CN" altLang="en-US" sz="1400" b="1" dirty="0"/>
              <a:t>文件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6</a:t>
            </a:r>
            <a:r>
              <a:rPr lang="zh-CN" altLang="en-US" sz="1400" b="1" dirty="0"/>
              <a:t>、编译、下载、运行程序</a:t>
            </a:r>
            <a:endParaRPr lang="en-US" altLang="zh-CN" sz="14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797433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141A6-286F-A872-A89F-06F5956C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1-4</a:t>
            </a:r>
            <a:r>
              <a:rPr lang="zh-CN" altLang="en-US" b="1" dirty="0"/>
              <a:t>：小键盘控制蜂鸣器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6443A-8015-9564-0788-589EAFDBC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000" b="1" dirty="0"/>
              <a:t>请编写程序，实现通过小键盘控制蜂鸣器的响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不响；按 “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”键，蜂鸣器响；按其它</a:t>
            </a:r>
            <a:r>
              <a:rPr lang="en-US" altLang="zh-CN" sz="2000" b="1" dirty="0"/>
              <a:t>15</a:t>
            </a:r>
            <a:r>
              <a:rPr lang="zh-CN" altLang="en-US" sz="2000" b="1" dirty="0"/>
              <a:t>个键，蜂鸣器不响。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思路：</a:t>
            </a:r>
            <a:endParaRPr lang="en-US" altLang="zh-CN" sz="2000" b="1" dirty="0"/>
          </a:p>
          <a:p>
            <a:pPr lvl="1"/>
            <a:r>
              <a:rPr lang="en-US" altLang="zh-CN" sz="1400" b="1" dirty="0"/>
              <a:t>1</a:t>
            </a:r>
            <a:r>
              <a:rPr lang="zh-CN" altLang="en-US" sz="1400" b="1" dirty="0"/>
              <a:t>、在直流电机“</a:t>
            </a:r>
            <a:r>
              <a:rPr lang="en-US" altLang="zh-CN" sz="1400" b="1" dirty="0"/>
              <a:t>3_DC_Motor</a:t>
            </a:r>
            <a:r>
              <a:rPr lang="zh-CN" altLang="en-US" sz="1400" b="1" dirty="0"/>
              <a:t>”实验工程的基础上修改程序，将新的实验工程命名为“</a:t>
            </a:r>
            <a:r>
              <a:rPr lang="en-US" altLang="zh-CN" sz="1400" b="1" dirty="0">
                <a:solidFill>
                  <a:srgbClr val="FF0000"/>
                </a:solidFill>
              </a:rPr>
              <a:t>22_Key_Beep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2</a:t>
            </a:r>
            <a:r>
              <a:rPr lang="zh-CN" altLang="en-US" sz="1400" b="1" dirty="0"/>
              <a:t>、去掉“</a:t>
            </a:r>
            <a:r>
              <a:rPr lang="en-US" altLang="zh-CN" sz="1400" b="1" dirty="0"/>
              <a:t>21_Key_Beep</a:t>
            </a:r>
            <a:r>
              <a:rPr lang="zh-CN" altLang="en-US" sz="1400" b="1" dirty="0"/>
              <a:t>”实验工程中的</a:t>
            </a:r>
            <a:r>
              <a:rPr lang="en-US" altLang="zh-CN" sz="1400" b="1" dirty="0" err="1"/>
              <a:t>Dc_motor.c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tim.c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Dc_motor.h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tim.h</a:t>
            </a:r>
            <a:r>
              <a:rPr lang="zh-CN" altLang="en-US" sz="1400" b="1" dirty="0"/>
              <a:t>文件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3</a:t>
            </a:r>
            <a:r>
              <a:rPr lang="zh-CN" altLang="en-US" sz="1400" b="1" dirty="0"/>
              <a:t>、用“</a:t>
            </a:r>
            <a:r>
              <a:rPr lang="en-US" altLang="zh-CN" sz="1400" b="1" dirty="0"/>
              <a:t>2_Beep</a:t>
            </a:r>
            <a:r>
              <a:rPr lang="zh-CN" altLang="en-US" sz="1400" b="1" dirty="0"/>
              <a:t>”实验工程中的</a:t>
            </a:r>
            <a:r>
              <a:rPr lang="en-US" altLang="zh-CN" sz="1400" b="1" dirty="0" err="1"/>
              <a:t>gpio.c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gpio.h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stm32f4xx_it.h</a:t>
            </a:r>
            <a:r>
              <a:rPr lang="zh-CN" altLang="en-US" sz="1400" b="1" dirty="0"/>
              <a:t>，代替“</a:t>
            </a:r>
            <a:r>
              <a:rPr lang="en-US" altLang="zh-CN" sz="1400" b="1" dirty="0"/>
              <a:t>21_Key_Beep</a:t>
            </a:r>
            <a:r>
              <a:rPr lang="zh-CN" altLang="en-US" sz="1400" b="1" dirty="0"/>
              <a:t>”实验工程中的</a:t>
            </a:r>
            <a:r>
              <a:rPr lang="en-US" altLang="zh-CN" sz="1400" b="1" dirty="0" err="1"/>
              <a:t>gpio.c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gpio.h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stm32f4xx_it.h</a:t>
            </a:r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4</a:t>
            </a:r>
            <a:r>
              <a:rPr lang="zh-CN" altLang="en-US" sz="1400" b="1" dirty="0"/>
              <a:t>、综合“</a:t>
            </a:r>
            <a:r>
              <a:rPr lang="en-US" altLang="zh-CN" sz="1400" b="1" dirty="0"/>
              <a:t>3_DC_Motor</a:t>
            </a:r>
            <a:r>
              <a:rPr lang="zh-CN" altLang="en-US" sz="1400" b="1" dirty="0"/>
              <a:t>”和“</a:t>
            </a:r>
            <a:r>
              <a:rPr lang="en-US" altLang="zh-CN" sz="1400" b="1" dirty="0"/>
              <a:t>2_Beep</a:t>
            </a:r>
            <a:r>
              <a:rPr lang="zh-CN" altLang="en-US" sz="1400" b="1" dirty="0"/>
              <a:t>”实验工程的</a:t>
            </a:r>
            <a:r>
              <a:rPr lang="en-US" altLang="zh-CN" sz="1400" b="1" dirty="0" err="1"/>
              <a:t>main.c</a:t>
            </a:r>
            <a:r>
              <a:rPr lang="zh-CN" altLang="en-US" sz="1400" b="1" dirty="0"/>
              <a:t>，得到</a:t>
            </a:r>
            <a:r>
              <a:rPr lang="zh-CN" altLang="en-US" sz="1400" b="1" dirty="0">
                <a:solidFill>
                  <a:srgbClr val="FF0000"/>
                </a:solidFill>
              </a:rPr>
              <a:t>新的</a:t>
            </a:r>
            <a:r>
              <a:rPr lang="en-US" altLang="zh-CN" sz="1400" b="1" dirty="0" err="1">
                <a:solidFill>
                  <a:srgbClr val="FF0000"/>
                </a:solidFill>
              </a:rPr>
              <a:t>main.c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5</a:t>
            </a:r>
            <a:r>
              <a:rPr lang="zh-CN" altLang="en-US" sz="1400" b="1" dirty="0"/>
              <a:t>、在</a:t>
            </a:r>
            <a:r>
              <a:rPr lang="en-US" altLang="zh-CN" sz="1400" b="1" dirty="0"/>
              <a:t>MDK</a:t>
            </a:r>
            <a:r>
              <a:rPr lang="zh-CN" altLang="en-US" sz="1400" b="1" dirty="0"/>
              <a:t>中打开“</a:t>
            </a:r>
            <a:r>
              <a:rPr lang="en-US" altLang="zh-CN" sz="1400" b="1" dirty="0"/>
              <a:t>22_Key_Beep</a:t>
            </a:r>
            <a:r>
              <a:rPr lang="zh-CN" altLang="en-US" sz="1400" b="1" dirty="0"/>
              <a:t>”，在工程中去掉</a:t>
            </a:r>
            <a:r>
              <a:rPr lang="en-US" altLang="zh-CN" sz="1400" b="1" dirty="0" err="1"/>
              <a:t>Dc_motor.c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tim.c</a:t>
            </a:r>
            <a:r>
              <a:rPr lang="zh-CN" altLang="en-US" sz="1400" b="1" dirty="0"/>
              <a:t>文件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6</a:t>
            </a:r>
            <a:r>
              <a:rPr lang="zh-CN" altLang="en-US" sz="1400" b="1" dirty="0"/>
              <a:t>、编译、下载、运行程序</a:t>
            </a:r>
            <a:endParaRPr lang="en-US" altLang="zh-CN" sz="14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180927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141A6-286F-A872-A89F-06F5956C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1-5</a:t>
            </a:r>
            <a:r>
              <a:rPr lang="zh-CN" altLang="en-US" b="1" dirty="0"/>
              <a:t>：红外遥控器控制</a:t>
            </a:r>
            <a:r>
              <a:rPr lang="en-US" altLang="zh-CN" b="1" dirty="0"/>
              <a:t>LED</a:t>
            </a:r>
            <a:r>
              <a:rPr lang="zh-CN" altLang="en-US" b="1" dirty="0"/>
              <a:t>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6443A-8015-9564-0788-589EAFDBC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6971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请编写程序，实现通过红外遥控器控制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灯的亮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灭；按遥控器上的“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”键，对应的</a:t>
            </a:r>
            <a:r>
              <a:rPr lang="en-US" altLang="zh-CN" sz="2000" b="1" dirty="0"/>
              <a:t>LED1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LED4</a:t>
            </a:r>
            <a:r>
              <a:rPr lang="zh-CN" altLang="en-US" sz="2000" b="1" dirty="0"/>
              <a:t>灯亮；按遥控器上的“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7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”键，对应的</a:t>
            </a:r>
            <a:r>
              <a:rPr lang="en-US" altLang="zh-CN" sz="2000" b="1" dirty="0"/>
              <a:t>LED1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LED4</a:t>
            </a:r>
            <a:r>
              <a:rPr lang="zh-CN" altLang="en-US" sz="2000" b="1" dirty="0"/>
              <a:t>灯灭。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</a:t>
            </a:r>
            <a:endParaRPr lang="en-US" altLang="zh-CN" sz="2000" b="1" dirty="0"/>
          </a:p>
          <a:p>
            <a:pPr lvl="1"/>
            <a:r>
              <a:rPr lang="en-US" altLang="zh-CN" sz="1800" b="1" dirty="0"/>
              <a:t>1</a:t>
            </a:r>
            <a:r>
              <a:rPr lang="zh-CN" altLang="en-US" sz="1800" b="1" dirty="0"/>
              <a:t>、在红外接收 “</a:t>
            </a:r>
            <a:r>
              <a:rPr lang="en-US" altLang="zh-CN" sz="1800" b="1" dirty="0"/>
              <a:t>13_IR_Receive</a:t>
            </a:r>
            <a:r>
              <a:rPr lang="zh-CN" altLang="en-US" sz="1800" b="1" dirty="0"/>
              <a:t>”实验工程的基础上修改程序，将新的实验工程命名为“</a:t>
            </a:r>
            <a:r>
              <a:rPr lang="en-US" altLang="zh-CN" sz="1800" b="1" dirty="0">
                <a:solidFill>
                  <a:srgbClr val="FF0000"/>
                </a:solidFill>
              </a:rPr>
              <a:t>23_IR_Receive_Led</a:t>
            </a:r>
            <a:r>
              <a:rPr lang="zh-CN" altLang="en-US" sz="1800" b="1" dirty="0"/>
              <a:t>”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2</a:t>
            </a:r>
            <a:r>
              <a:rPr lang="zh-CN" altLang="en-US" sz="1800" b="1" dirty="0"/>
              <a:t>、将“</a:t>
            </a:r>
            <a:r>
              <a:rPr lang="en-US" altLang="zh-CN" sz="1800" b="1" dirty="0"/>
              <a:t>13_IR_Receive</a:t>
            </a:r>
            <a:r>
              <a:rPr lang="zh-CN" altLang="en-US" sz="1800" b="1" dirty="0"/>
              <a:t>”和“</a:t>
            </a:r>
            <a:r>
              <a:rPr lang="en-US" altLang="zh-CN" sz="1800" b="1" dirty="0"/>
              <a:t>1_Led</a:t>
            </a:r>
            <a:r>
              <a:rPr lang="zh-CN" altLang="en-US" sz="1800" b="1" dirty="0"/>
              <a:t>”实验工程的</a:t>
            </a:r>
            <a:r>
              <a:rPr lang="en-US" altLang="zh-CN" sz="1800" b="1" dirty="0" err="1"/>
              <a:t>gpio.c</a:t>
            </a:r>
            <a:r>
              <a:rPr lang="zh-CN" altLang="en-US" sz="1800" b="1" dirty="0"/>
              <a:t>，结合起来，成为</a:t>
            </a:r>
            <a:r>
              <a:rPr lang="zh-CN" altLang="en-US" sz="1800" b="1" dirty="0">
                <a:solidFill>
                  <a:srgbClr val="FF0000"/>
                </a:solidFill>
              </a:rPr>
              <a:t>新的</a:t>
            </a:r>
            <a:r>
              <a:rPr lang="en-US" altLang="zh-CN" sz="1800" b="1" dirty="0" err="1">
                <a:solidFill>
                  <a:srgbClr val="FF0000"/>
                </a:solidFill>
              </a:rPr>
              <a:t>gpio.c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3</a:t>
            </a:r>
            <a:r>
              <a:rPr lang="zh-CN" altLang="en-US" sz="1800" b="1" dirty="0"/>
              <a:t>、综合“</a:t>
            </a:r>
            <a:r>
              <a:rPr lang="en-US" altLang="zh-CN" sz="1800" b="1" dirty="0"/>
              <a:t>13_IR_Receive</a:t>
            </a:r>
            <a:r>
              <a:rPr lang="zh-CN" altLang="en-US" sz="1800" b="1" dirty="0"/>
              <a:t>”和“</a:t>
            </a:r>
            <a:r>
              <a:rPr lang="en-US" altLang="zh-CN" sz="1800" b="1" dirty="0"/>
              <a:t>1_Led</a:t>
            </a:r>
            <a:r>
              <a:rPr lang="zh-CN" altLang="en-US" sz="1800" b="1" dirty="0"/>
              <a:t>”实验工程的</a:t>
            </a:r>
            <a:r>
              <a:rPr lang="en-US" altLang="zh-CN" sz="1800" b="1" dirty="0" err="1"/>
              <a:t>main.c</a:t>
            </a:r>
            <a:r>
              <a:rPr lang="zh-CN" altLang="en-US" sz="1800" b="1" dirty="0"/>
              <a:t>，得到</a:t>
            </a:r>
            <a:r>
              <a:rPr lang="zh-CN" altLang="en-US" sz="1800" b="1" dirty="0">
                <a:solidFill>
                  <a:srgbClr val="FF0000"/>
                </a:solidFill>
              </a:rPr>
              <a:t>新的</a:t>
            </a:r>
            <a:r>
              <a:rPr lang="en-US" altLang="zh-CN" sz="1800" b="1" dirty="0" err="1">
                <a:solidFill>
                  <a:srgbClr val="FF0000"/>
                </a:solidFill>
              </a:rPr>
              <a:t>main.c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4</a:t>
            </a:r>
            <a:r>
              <a:rPr lang="zh-CN" altLang="en-US" sz="1800" b="1" dirty="0"/>
              <a:t>、编译、下载、运行程序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274662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141A6-286F-A872-A89F-06F5956C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1-6</a:t>
            </a:r>
            <a:r>
              <a:rPr lang="zh-CN" altLang="en-US" b="1" dirty="0"/>
              <a:t>：红外遥控器控制蜂鸣器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6443A-8015-9564-0788-589EAFDBC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6971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请编写程序，实现通过红外遥控器控制蜂鸣器的响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不响；按遥控器上的“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”键，蜂鸣器响；按遥控器上的其它键，蜂鸣器不响。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</a:t>
            </a:r>
            <a:endParaRPr lang="en-US" altLang="zh-CN" sz="2000" b="1" dirty="0"/>
          </a:p>
          <a:p>
            <a:pPr lvl="1"/>
            <a:r>
              <a:rPr lang="en-US" altLang="zh-CN" sz="1800" b="1" dirty="0"/>
              <a:t>1</a:t>
            </a:r>
            <a:r>
              <a:rPr lang="zh-CN" altLang="en-US" sz="1800" b="1" dirty="0"/>
              <a:t>、在红外接收 “</a:t>
            </a:r>
            <a:r>
              <a:rPr lang="en-US" altLang="zh-CN" sz="1800" b="1" dirty="0"/>
              <a:t>13_IR_Receive</a:t>
            </a:r>
            <a:r>
              <a:rPr lang="zh-CN" altLang="en-US" sz="1800" b="1" dirty="0"/>
              <a:t>”实验工程的基础上修改程序，将新的实验工程命名为“</a:t>
            </a:r>
            <a:r>
              <a:rPr lang="en-US" altLang="zh-CN" sz="1800" b="1" dirty="0">
                <a:solidFill>
                  <a:srgbClr val="FF0000"/>
                </a:solidFill>
              </a:rPr>
              <a:t>24_IR_Receive_Beep</a:t>
            </a:r>
            <a:r>
              <a:rPr lang="zh-CN" altLang="en-US" sz="1800" b="1" dirty="0"/>
              <a:t>”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2</a:t>
            </a:r>
            <a:r>
              <a:rPr lang="zh-CN" altLang="en-US" sz="1800" b="1" dirty="0"/>
              <a:t>、将“</a:t>
            </a:r>
            <a:r>
              <a:rPr lang="en-US" altLang="zh-CN" sz="1800" b="1" dirty="0"/>
              <a:t>13_IR_Receive</a:t>
            </a:r>
            <a:r>
              <a:rPr lang="zh-CN" altLang="en-US" sz="1800" b="1" dirty="0"/>
              <a:t>”和“</a:t>
            </a:r>
            <a:r>
              <a:rPr lang="en-US" altLang="zh-CN" sz="1800" b="1" dirty="0"/>
              <a:t>2_Beep</a:t>
            </a:r>
            <a:r>
              <a:rPr lang="zh-CN" altLang="en-US" sz="1800" b="1" dirty="0"/>
              <a:t>”实验工程的</a:t>
            </a:r>
            <a:r>
              <a:rPr lang="en-US" altLang="zh-CN" sz="1800" b="1" dirty="0" err="1"/>
              <a:t>gpio.c</a:t>
            </a:r>
            <a:r>
              <a:rPr lang="zh-CN" altLang="en-US" sz="1800" b="1" dirty="0"/>
              <a:t>，结合起来，成为</a:t>
            </a:r>
            <a:r>
              <a:rPr lang="zh-CN" altLang="en-US" sz="1800" b="1" dirty="0">
                <a:solidFill>
                  <a:srgbClr val="FF0000"/>
                </a:solidFill>
              </a:rPr>
              <a:t>新的</a:t>
            </a:r>
            <a:r>
              <a:rPr lang="en-US" altLang="zh-CN" sz="1800" b="1" dirty="0" err="1">
                <a:solidFill>
                  <a:srgbClr val="FF0000"/>
                </a:solidFill>
              </a:rPr>
              <a:t>gpio.c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3</a:t>
            </a:r>
            <a:r>
              <a:rPr lang="zh-CN" altLang="en-US" sz="1800" b="1" dirty="0"/>
              <a:t>、综合“</a:t>
            </a:r>
            <a:r>
              <a:rPr lang="en-US" altLang="zh-CN" sz="1800" b="1" dirty="0"/>
              <a:t>13_IR_Receive</a:t>
            </a:r>
            <a:r>
              <a:rPr lang="zh-CN" altLang="en-US" sz="1800" b="1" dirty="0"/>
              <a:t>”和“</a:t>
            </a:r>
            <a:r>
              <a:rPr lang="en-US" altLang="zh-CN" sz="1800" b="1" dirty="0"/>
              <a:t>2_Beep</a:t>
            </a:r>
            <a:r>
              <a:rPr lang="zh-CN" altLang="en-US" sz="1800" b="1" dirty="0"/>
              <a:t>”实验工程的</a:t>
            </a:r>
            <a:r>
              <a:rPr lang="en-US" altLang="zh-CN" sz="1800" b="1" dirty="0" err="1"/>
              <a:t>main.c</a:t>
            </a:r>
            <a:r>
              <a:rPr lang="zh-CN" altLang="en-US" sz="1800" b="1" dirty="0"/>
              <a:t>，得到</a:t>
            </a:r>
            <a:r>
              <a:rPr lang="zh-CN" altLang="en-US" sz="1800" b="1" dirty="0">
                <a:solidFill>
                  <a:srgbClr val="FF0000"/>
                </a:solidFill>
              </a:rPr>
              <a:t>新的</a:t>
            </a:r>
            <a:r>
              <a:rPr lang="en-US" altLang="zh-CN" sz="1800" b="1" dirty="0" err="1">
                <a:solidFill>
                  <a:srgbClr val="FF0000"/>
                </a:solidFill>
              </a:rPr>
              <a:t>main.c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1"/>
            <a:endParaRPr lang="en-US" altLang="zh-CN" sz="1800" b="1" dirty="0"/>
          </a:p>
          <a:p>
            <a:pPr lvl="1"/>
            <a:r>
              <a:rPr lang="en-US" altLang="zh-CN" sz="1800" b="1" dirty="0"/>
              <a:t>4</a:t>
            </a:r>
            <a:r>
              <a:rPr lang="zh-CN" altLang="en-US" sz="1800" b="1" dirty="0"/>
              <a:t>、编译、下载、运行程序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944128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141A6-286F-A872-A89F-06F5956C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1-7</a:t>
            </a:r>
            <a:r>
              <a:rPr lang="zh-CN" altLang="en-US" b="1" dirty="0"/>
              <a:t>：电子钟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6443A-8015-9564-0788-589EAFDBC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6971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sz="2000" b="1" dirty="0"/>
              <a:t>请编写程序，实现在数码管上显示时、分、秒，每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秒变化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次。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</a:t>
            </a:r>
            <a:endParaRPr lang="en-US" altLang="zh-CN" sz="2000" b="1" dirty="0"/>
          </a:p>
          <a:p>
            <a:pPr lvl="1"/>
            <a:r>
              <a:rPr lang="en-US" altLang="zh-CN" sz="1400" b="1" dirty="0"/>
              <a:t>1</a:t>
            </a:r>
            <a:r>
              <a:rPr lang="zh-CN" altLang="en-US" sz="1400" b="1" dirty="0"/>
              <a:t>、在小键盘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数码管 “</a:t>
            </a:r>
            <a:r>
              <a:rPr lang="en-US" altLang="zh-CN" sz="1400" b="1" dirty="0"/>
              <a:t>11_ZLG72128</a:t>
            </a:r>
            <a:r>
              <a:rPr lang="zh-CN" altLang="en-US" sz="1400" b="1" dirty="0"/>
              <a:t>”实验工程的基础上修改程序，将新的实验工程命名为“</a:t>
            </a:r>
            <a:r>
              <a:rPr lang="en-US" altLang="zh-CN" sz="1400" b="1" dirty="0">
                <a:solidFill>
                  <a:srgbClr val="FF0000"/>
                </a:solidFill>
              </a:rPr>
              <a:t>25_Clock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2</a:t>
            </a:r>
            <a:r>
              <a:rPr lang="zh-CN" altLang="en-US" sz="1400" b="1" dirty="0"/>
              <a:t>、“</a:t>
            </a:r>
            <a:r>
              <a:rPr lang="en-US" altLang="zh-CN" sz="1400" b="1" dirty="0"/>
              <a:t>0-9</a:t>
            </a:r>
            <a:r>
              <a:rPr lang="zh-CN" altLang="en-US" sz="1400" b="1" dirty="0"/>
              <a:t>”的七段码为：</a:t>
            </a:r>
            <a:r>
              <a:rPr lang="en-US" altLang="zh-CN" sz="1400" b="1" dirty="0"/>
              <a:t>0x3f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0x06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0x5b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0x4f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0x66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0x6d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0x7d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0x07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0x7f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0x6f</a:t>
            </a:r>
            <a:r>
              <a:rPr lang="zh-CN" altLang="en-US" sz="1400" b="1" dirty="0"/>
              <a:t>；“</a:t>
            </a:r>
            <a:r>
              <a:rPr lang="en-US" altLang="zh-CN" sz="1400" b="1" dirty="0"/>
              <a:t>-</a:t>
            </a:r>
            <a:r>
              <a:rPr lang="zh-CN" altLang="en-US" sz="1400" b="1" dirty="0"/>
              <a:t>”的七段码为</a:t>
            </a:r>
            <a:r>
              <a:rPr lang="en-US" altLang="zh-CN" sz="1400" b="1" dirty="0"/>
              <a:t>0x40</a:t>
            </a:r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3</a:t>
            </a:r>
            <a:r>
              <a:rPr lang="zh-CN" altLang="en-US" sz="1400" b="1" dirty="0"/>
              <a:t>、要在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个数码管的某一位（某一个）上显示某个字符的程序如下：</a:t>
            </a:r>
            <a:endParaRPr lang="en-US" altLang="zh-CN" sz="1400" b="1" dirty="0"/>
          </a:p>
          <a:p>
            <a:pPr marL="914400" lvl="2" indent="0">
              <a:buNone/>
            </a:pPr>
            <a:endParaRPr lang="en-US" altLang="zh-CN" sz="1000" b="1" dirty="0"/>
          </a:p>
          <a:p>
            <a:pPr marL="914400" lvl="2" indent="0">
              <a:buNone/>
            </a:pPr>
            <a:r>
              <a:rPr lang="en-US" altLang="zh-CN" sz="1000" b="1" dirty="0"/>
              <a:t>#define ZLG_WRITE_ADDRESS1        		0x17		//</a:t>
            </a:r>
            <a:r>
              <a:rPr lang="zh-CN" altLang="en-US" sz="1000" b="1" dirty="0"/>
              <a:t>最右边的数码管（显示缓冲区首地址）</a:t>
            </a:r>
          </a:p>
          <a:p>
            <a:pPr marL="914400" lvl="2" indent="0">
              <a:buNone/>
            </a:pPr>
            <a:r>
              <a:rPr lang="en-US" altLang="zh-CN" sz="1000" b="1" dirty="0"/>
              <a:t>#define ZLG_WRITE_ADDRESS2        		0x16		//</a:t>
            </a:r>
            <a:r>
              <a:rPr lang="zh-CN" altLang="en-US" sz="1000" b="1" dirty="0"/>
              <a:t>左数第</a:t>
            </a:r>
            <a:r>
              <a:rPr lang="en-US" altLang="zh-CN" sz="1000" b="1" dirty="0"/>
              <a:t>7</a:t>
            </a:r>
            <a:r>
              <a:rPr lang="zh-CN" altLang="en-US" sz="1000" b="1" dirty="0"/>
              <a:t>个数码管</a:t>
            </a:r>
          </a:p>
          <a:p>
            <a:pPr marL="914400" lvl="2" indent="0">
              <a:buNone/>
            </a:pPr>
            <a:r>
              <a:rPr lang="en-US" altLang="zh-CN" sz="1000" b="1" dirty="0"/>
              <a:t>#define ZLG_WRITE_ADDRESS3        		0x15		//</a:t>
            </a:r>
            <a:r>
              <a:rPr lang="zh-CN" altLang="en-US" sz="1000" b="1" dirty="0"/>
              <a:t>左数第</a:t>
            </a:r>
            <a:r>
              <a:rPr lang="en-US" altLang="zh-CN" sz="1000" b="1" dirty="0"/>
              <a:t>6</a:t>
            </a:r>
            <a:r>
              <a:rPr lang="zh-CN" altLang="en-US" sz="1000" b="1" dirty="0"/>
              <a:t>个数码管</a:t>
            </a:r>
          </a:p>
          <a:p>
            <a:pPr marL="914400" lvl="2" indent="0">
              <a:buNone/>
            </a:pPr>
            <a:r>
              <a:rPr lang="en-US" altLang="zh-CN" sz="1000" b="1" dirty="0"/>
              <a:t>#define ZLG_WRITE_ADDRESS4        		0x14		//</a:t>
            </a:r>
            <a:r>
              <a:rPr lang="zh-CN" altLang="en-US" sz="1000" b="1" dirty="0"/>
              <a:t>左数第</a:t>
            </a:r>
            <a:r>
              <a:rPr lang="en-US" altLang="zh-CN" sz="1000" b="1" dirty="0"/>
              <a:t>5</a:t>
            </a:r>
            <a:r>
              <a:rPr lang="zh-CN" altLang="en-US" sz="1000" b="1" dirty="0"/>
              <a:t>个数码管</a:t>
            </a:r>
          </a:p>
          <a:p>
            <a:pPr marL="914400" lvl="2" indent="0">
              <a:buNone/>
            </a:pPr>
            <a:r>
              <a:rPr lang="en-US" altLang="zh-CN" sz="1000" b="1" dirty="0"/>
              <a:t>#define ZLG_WRITE_ADDRESS5        		0x13		//</a:t>
            </a:r>
            <a:r>
              <a:rPr lang="zh-CN" altLang="en-US" sz="1000" b="1" dirty="0"/>
              <a:t>左数第</a:t>
            </a:r>
            <a:r>
              <a:rPr lang="en-US" altLang="zh-CN" sz="1000" b="1" dirty="0"/>
              <a:t>4</a:t>
            </a:r>
            <a:r>
              <a:rPr lang="zh-CN" altLang="en-US" sz="1000" b="1" dirty="0"/>
              <a:t>个数码管</a:t>
            </a:r>
          </a:p>
          <a:p>
            <a:pPr marL="914400" lvl="2" indent="0">
              <a:buNone/>
            </a:pPr>
            <a:r>
              <a:rPr lang="en-US" altLang="zh-CN" sz="1000" b="1" dirty="0"/>
              <a:t>#define ZLG_WRITE_ADDRESS6        		0x12		//</a:t>
            </a:r>
            <a:r>
              <a:rPr lang="zh-CN" altLang="en-US" sz="1000" b="1" dirty="0"/>
              <a:t>左数第</a:t>
            </a:r>
            <a:r>
              <a:rPr lang="en-US" altLang="zh-CN" sz="1000" b="1" dirty="0"/>
              <a:t>3</a:t>
            </a:r>
            <a:r>
              <a:rPr lang="zh-CN" altLang="en-US" sz="1000" b="1" dirty="0"/>
              <a:t>个数码管</a:t>
            </a:r>
          </a:p>
          <a:p>
            <a:pPr marL="914400" lvl="2" indent="0">
              <a:buNone/>
            </a:pPr>
            <a:r>
              <a:rPr lang="en-US" altLang="zh-CN" sz="1000" b="1" dirty="0"/>
              <a:t>#define ZLG_WRITE_ADDRESS7        		0x11		//</a:t>
            </a:r>
            <a:r>
              <a:rPr lang="zh-CN" altLang="en-US" sz="1000" b="1" dirty="0"/>
              <a:t>左数第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个数码管</a:t>
            </a:r>
          </a:p>
          <a:p>
            <a:pPr marL="914400" lvl="2" indent="0">
              <a:buNone/>
            </a:pPr>
            <a:r>
              <a:rPr lang="en-US" altLang="zh-CN" sz="1000" b="1" dirty="0"/>
              <a:t>#define ZLG_WRITE_ADDRESS8        		0x10		//</a:t>
            </a:r>
            <a:r>
              <a:rPr lang="zh-CN" altLang="en-US" sz="1000" b="1" dirty="0"/>
              <a:t>最左边的数码管</a:t>
            </a:r>
            <a:endParaRPr lang="en-US" altLang="zh-CN" sz="1000" b="1" dirty="0"/>
          </a:p>
          <a:p>
            <a:pPr marL="914400" lvl="2" indent="0">
              <a:buNone/>
            </a:pPr>
            <a:endParaRPr lang="en-US" altLang="zh-CN" sz="1000" b="1" dirty="0"/>
          </a:p>
          <a:p>
            <a:pPr marL="914400" lvl="2" indent="0">
              <a:buNone/>
            </a:pPr>
            <a:r>
              <a:rPr lang="en-US" altLang="zh-CN" sz="1000" b="1" dirty="0"/>
              <a:t>Tx1_Buffer[0] = 0x06;</a:t>
            </a:r>
          </a:p>
          <a:p>
            <a:pPr marL="914400" lvl="2" indent="0">
              <a:buNone/>
            </a:pPr>
            <a:r>
              <a:rPr lang="en-US" altLang="zh-CN" sz="1000" b="1" dirty="0"/>
              <a:t>I2C_ZLG72128_Write_char(&amp;hi2c1,0x60,ZLG_WRITE_ADDRESS7,Tx1_Buffer);	//</a:t>
            </a:r>
            <a:r>
              <a:rPr lang="zh-CN" altLang="en-US" sz="1800" b="1" dirty="0">
                <a:solidFill>
                  <a:srgbClr val="FF0000"/>
                </a:solidFill>
              </a:rPr>
              <a:t>在左数第</a:t>
            </a:r>
            <a:r>
              <a:rPr lang="en-US" altLang="zh-CN" sz="1800" b="1" dirty="0">
                <a:solidFill>
                  <a:srgbClr val="FF0000"/>
                </a:solidFill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</a:rPr>
              <a:t>个数码管上显示“</a:t>
            </a:r>
            <a:r>
              <a:rPr lang="en-US" altLang="zh-CN" sz="1800" b="1" dirty="0">
                <a:solidFill>
                  <a:srgbClr val="FF0000"/>
                </a:solidFill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</a:rPr>
              <a:t>”</a:t>
            </a:r>
            <a:endParaRPr lang="en-US" altLang="zh-CN" sz="1000" b="1" dirty="0">
              <a:solidFill>
                <a:srgbClr val="FF0000"/>
              </a:solidFill>
            </a:endParaRPr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4</a:t>
            </a:r>
            <a:r>
              <a:rPr lang="zh-CN" altLang="en-US" sz="1400" b="1" dirty="0"/>
              <a:t>、修改“</a:t>
            </a:r>
            <a:r>
              <a:rPr lang="en-US" altLang="zh-CN" sz="1400" b="1" dirty="0"/>
              <a:t>11_ZLG72128</a:t>
            </a:r>
            <a:r>
              <a:rPr lang="zh-CN" altLang="en-US" sz="1400" b="1" dirty="0"/>
              <a:t>”实验工程的</a:t>
            </a:r>
            <a:r>
              <a:rPr lang="en-US" altLang="zh-CN" sz="1400" b="1" dirty="0" err="1"/>
              <a:t>main.c</a:t>
            </a:r>
            <a:r>
              <a:rPr lang="zh-CN" altLang="en-US" sz="1400" b="1" dirty="0"/>
              <a:t>，得到</a:t>
            </a:r>
            <a:r>
              <a:rPr lang="zh-CN" altLang="en-US" sz="1400" b="1" dirty="0">
                <a:solidFill>
                  <a:srgbClr val="FF0000"/>
                </a:solidFill>
              </a:rPr>
              <a:t>新的</a:t>
            </a:r>
            <a:r>
              <a:rPr lang="en-US" altLang="zh-CN" sz="1400" b="1" dirty="0" err="1">
                <a:solidFill>
                  <a:srgbClr val="FF0000"/>
                </a:solidFill>
              </a:rPr>
              <a:t>main.c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5</a:t>
            </a:r>
            <a:r>
              <a:rPr lang="zh-CN" altLang="en-US" sz="1400" b="1" dirty="0"/>
              <a:t>、编译、下载、运行程序</a:t>
            </a:r>
            <a:endParaRPr lang="en-US" altLang="zh-CN" sz="14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2A531D-B66D-417C-FDFE-A4D8BD481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050" y="1690688"/>
            <a:ext cx="2438018" cy="89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96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141A6-286F-A872-A89F-06F5956C6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1-8</a:t>
            </a:r>
            <a:r>
              <a:rPr lang="zh-CN" altLang="en-US" b="1" dirty="0"/>
              <a:t>：在数码管上显示温度采集值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6443A-8015-9564-0788-589EAFDBC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6971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请编写程序，实现在数码管上显示采集到的温度传感器值。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</a:t>
            </a:r>
            <a:endParaRPr lang="en-US" altLang="zh-CN" sz="2000" b="1" dirty="0"/>
          </a:p>
          <a:p>
            <a:pPr lvl="1"/>
            <a:r>
              <a:rPr lang="en-US" altLang="zh-CN" sz="1400" b="1" dirty="0"/>
              <a:t>1</a:t>
            </a:r>
            <a:r>
              <a:rPr lang="zh-CN" altLang="en-US" sz="1400" b="1" dirty="0"/>
              <a:t>、在温度采集“</a:t>
            </a:r>
            <a:r>
              <a:rPr lang="en-US" altLang="zh-CN" sz="1400" b="1" dirty="0"/>
              <a:t>14_Temp</a:t>
            </a:r>
            <a:r>
              <a:rPr lang="zh-CN" altLang="en-US" sz="1400" b="1" dirty="0"/>
              <a:t>”实验工程的基础上修改程序，将新的实验工程命名为“</a:t>
            </a:r>
            <a:r>
              <a:rPr lang="en-US" altLang="zh-CN" sz="1400" b="1" dirty="0">
                <a:solidFill>
                  <a:srgbClr val="FF0000"/>
                </a:solidFill>
              </a:rPr>
              <a:t>26_Display_Temp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2</a:t>
            </a:r>
            <a:r>
              <a:rPr lang="zh-CN" altLang="en-US" sz="1400" b="1" dirty="0"/>
              <a:t>、将小键盘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数码管“</a:t>
            </a:r>
            <a:r>
              <a:rPr lang="en-US" altLang="zh-CN" sz="1400" b="1" dirty="0"/>
              <a:t>11_ZLG72128</a:t>
            </a:r>
            <a:r>
              <a:rPr lang="zh-CN" altLang="en-US" sz="1400" b="1" dirty="0"/>
              <a:t>”实验工程中的</a:t>
            </a:r>
            <a:r>
              <a:rPr lang="en-US" altLang="zh-CN" sz="1400" b="1" dirty="0"/>
              <a:t>zlg72128.c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zlg72128.h</a:t>
            </a:r>
            <a:r>
              <a:rPr lang="zh-CN" altLang="en-US" sz="1400" b="1" dirty="0"/>
              <a:t>文件，拷贝到“</a:t>
            </a:r>
            <a:r>
              <a:rPr lang="en-US" altLang="zh-CN" sz="1400" b="1" dirty="0"/>
              <a:t>23_Display_Temp</a:t>
            </a:r>
            <a:r>
              <a:rPr lang="zh-CN" altLang="en-US" sz="1400" b="1" dirty="0"/>
              <a:t>”实验工程中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3</a:t>
            </a:r>
            <a:r>
              <a:rPr lang="zh-CN" altLang="en-US" sz="1400" b="1" dirty="0"/>
              <a:t>、“</a:t>
            </a:r>
            <a:r>
              <a:rPr lang="en-US" altLang="zh-CN" sz="1400" b="1" dirty="0"/>
              <a:t>0.-9.</a:t>
            </a:r>
            <a:r>
              <a:rPr lang="zh-CN" altLang="en-US" sz="1400" b="1" dirty="0"/>
              <a:t>”的七段码为：</a:t>
            </a:r>
            <a:r>
              <a:rPr lang="en-US" altLang="zh-CN" sz="1400" b="1" dirty="0"/>
              <a:t>0xbf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0x86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0xdb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0xcf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0xe6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0xed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0xfd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0x87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0xff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0xef</a:t>
            </a:r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4</a:t>
            </a:r>
            <a:r>
              <a:rPr lang="zh-CN" altLang="en-US" sz="1400" b="1" dirty="0"/>
              <a:t>、综合“</a:t>
            </a:r>
            <a:r>
              <a:rPr lang="en-US" altLang="zh-CN" sz="1400" b="1" dirty="0"/>
              <a:t>11_ZLG72128</a:t>
            </a:r>
            <a:r>
              <a:rPr lang="zh-CN" altLang="en-US" sz="1400" b="1" dirty="0"/>
              <a:t>”和“</a:t>
            </a:r>
            <a:r>
              <a:rPr lang="en-US" altLang="zh-CN" sz="1400" b="1" dirty="0"/>
              <a:t>14_Temp</a:t>
            </a:r>
            <a:r>
              <a:rPr lang="zh-CN" altLang="en-US" sz="1400" b="1" dirty="0"/>
              <a:t>”实验工程的</a:t>
            </a:r>
            <a:r>
              <a:rPr lang="en-US" altLang="zh-CN" sz="1400" b="1" dirty="0" err="1"/>
              <a:t>main.c</a:t>
            </a:r>
            <a:r>
              <a:rPr lang="zh-CN" altLang="en-US" sz="1400" b="1" dirty="0"/>
              <a:t>，得到</a:t>
            </a:r>
            <a:r>
              <a:rPr lang="zh-CN" altLang="en-US" sz="1400" b="1" dirty="0">
                <a:solidFill>
                  <a:srgbClr val="FF0000"/>
                </a:solidFill>
              </a:rPr>
              <a:t>新的</a:t>
            </a:r>
            <a:r>
              <a:rPr lang="en-US" altLang="zh-CN" sz="1400" b="1" dirty="0" err="1">
                <a:solidFill>
                  <a:srgbClr val="FF0000"/>
                </a:solidFill>
              </a:rPr>
              <a:t>main.c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5</a:t>
            </a:r>
            <a:r>
              <a:rPr lang="zh-CN" altLang="en-US" sz="1400" b="1" dirty="0"/>
              <a:t>、在</a:t>
            </a:r>
            <a:r>
              <a:rPr lang="en-US" altLang="zh-CN" sz="1400" b="1" dirty="0"/>
              <a:t>MDK</a:t>
            </a:r>
            <a:r>
              <a:rPr lang="zh-CN" altLang="en-US" sz="1400" b="1" dirty="0"/>
              <a:t>中打开“</a:t>
            </a:r>
            <a:r>
              <a:rPr lang="en-US" altLang="zh-CN" sz="1400" b="1" dirty="0"/>
              <a:t>21_Key_Led</a:t>
            </a:r>
            <a:r>
              <a:rPr lang="zh-CN" altLang="en-US" sz="1400" b="1" dirty="0"/>
              <a:t>”，在工程中增加</a:t>
            </a:r>
            <a:r>
              <a:rPr lang="en-US" altLang="zh-CN" sz="1400" b="1" dirty="0"/>
              <a:t>zlg72128.c</a:t>
            </a:r>
            <a:r>
              <a:rPr lang="zh-CN" altLang="en-US" sz="1400" b="1" dirty="0"/>
              <a:t>文件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6</a:t>
            </a:r>
            <a:r>
              <a:rPr lang="zh-CN" altLang="en-US" sz="1400" b="1" dirty="0"/>
              <a:t>、编译、下载、运行程序</a:t>
            </a:r>
            <a:endParaRPr lang="en-US" altLang="zh-CN" sz="14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523E5F-09BA-0F18-398F-4BCC250E0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909" y="1756042"/>
            <a:ext cx="2865740" cy="93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900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15B9C2-11EB-449B-3E8A-68F6F4C5B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064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二、</a:t>
            </a:r>
            <a:r>
              <a:rPr lang="en-US" altLang="zh-CN" b="1" dirty="0"/>
              <a:t>ARM</a:t>
            </a:r>
            <a:r>
              <a:rPr lang="zh-CN" altLang="en-US" b="1" dirty="0"/>
              <a:t>裸机设计实验</a:t>
            </a:r>
          </a:p>
        </p:txBody>
      </p:sp>
    </p:spTree>
    <p:extLst>
      <p:ext uri="{BB962C8B-B14F-4D97-AF65-F5344CB8AC3E}">
        <p14:creationId xmlns:p14="http://schemas.microsoft.com/office/powerpoint/2010/main" val="669957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88A41A-389C-826E-AEA8-293A79BCE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请采用汇编语言与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语言</a:t>
            </a:r>
            <a:r>
              <a:rPr lang="zh-CN" altLang="en-US" sz="2000" b="1" dirty="0">
                <a:solidFill>
                  <a:srgbClr val="FF0000"/>
                </a:solidFill>
              </a:rPr>
              <a:t>混合编程</a:t>
            </a:r>
            <a:r>
              <a:rPr lang="zh-CN" altLang="en-US" sz="2000" b="1" dirty="0"/>
              <a:t>的方式编写</a:t>
            </a:r>
            <a:r>
              <a:rPr lang="en-US" altLang="zh-CN" sz="2000" b="1" dirty="0">
                <a:solidFill>
                  <a:srgbClr val="FF0000"/>
                </a:solidFill>
              </a:rPr>
              <a:t>LED</a:t>
            </a:r>
            <a:r>
              <a:rPr lang="zh-CN" altLang="en-US" sz="2000" b="1" dirty="0">
                <a:solidFill>
                  <a:srgbClr val="FF0000"/>
                </a:solidFill>
              </a:rPr>
              <a:t>灯</a:t>
            </a:r>
            <a:r>
              <a:rPr lang="zh-CN" altLang="en-US" sz="2000" b="1" dirty="0"/>
              <a:t>实验程序：</a:t>
            </a:r>
            <a:r>
              <a:rPr lang="en-US" altLang="zh-CN" sz="2000" b="1" dirty="0">
                <a:solidFill>
                  <a:srgbClr val="FF0000"/>
                </a:solidFill>
              </a:rPr>
              <a:t>01-fs_led</a:t>
            </a:r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编程思路：请参考</a:t>
            </a:r>
            <a:r>
              <a:rPr lang="en-US" altLang="zh-CN" sz="2000" b="1" dirty="0">
                <a:solidFill>
                  <a:srgbClr val="FF0000"/>
                </a:solidFill>
              </a:rPr>
              <a:t>03-fs_beep</a:t>
            </a:r>
            <a:r>
              <a:rPr lang="zh-CN" altLang="en-US" sz="2000" b="1" dirty="0"/>
              <a:t>实验工程的程序，只需要编写（修改）以下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个程序，其余的程序与</a:t>
            </a:r>
            <a:r>
              <a:rPr lang="en-US" altLang="zh-CN" sz="2000" b="1" dirty="0">
                <a:solidFill>
                  <a:srgbClr val="FF0000"/>
                </a:solidFill>
              </a:rPr>
              <a:t>03-fs_beep</a:t>
            </a:r>
            <a:r>
              <a:rPr lang="zh-CN" altLang="en-US" sz="2000" b="1" dirty="0"/>
              <a:t>实验工程中的相同：</a:t>
            </a:r>
            <a:endParaRPr lang="en-US" altLang="zh-CN" sz="2000" b="1" dirty="0"/>
          </a:p>
          <a:p>
            <a:pPr lvl="1"/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main.c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/>
              <a:t>fs3399_led.c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/>
              <a:t>fs3399_led.h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Makefile</a:t>
            </a:r>
            <a:endParaRPr lang="en-US" altLang="zh-CN" sz="1600" b="1" dirty="0"/>
          </a:p>
          <a:p>
            <a:endParaRPr lang="en-US" altLang="zh-CN" sz="2000" b="1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6EDA088-5F2E-A410-AA59-123437F5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2-1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07461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DE2DE6D-8FD7-20E6-F641-814F14F6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01-fs_led</a:t>
            </a:r>
            <a:r>
              <a:rPr lang="zh-CN" altLang="en-US" b="1" dirty="0"/>
              <a:t>实验工程文件夹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88A41A-389C-826E-AEA8-293A79BCE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汇编语言与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语言</a:t>
            </a:r>
            <a:r>
              <a:rPr lang="zh-CN" altLang="en-US" sz="2000" b="1" dirty="0">
                <a:solidFill>
                  <a:srgbClr val="FF0000"/>
                </a:solidFill>
              </a:rPr>
              <a:t>混合编程</a:t>
            </a:r>
            <a:r>
              <a:rPr lang="zh-CN" altLang="en-US" sz="2000" b="1" dirty="0"/>
              <a:t>的程序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A13E42-6377-BB11-DC91-509579F55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33" y="2617206"/>
            <a:ext cx="6563641" cy="3953427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E5D1A5C-BFAF-EE6F-F4A0-B0BEA8F5B13F}"/>
              </a:ext>
            </a:extLst>
          </p:cNvPr>
          <p:cNvCxnSpPr>
            <a:cxnSpLocks/>
          </p:cNvCxnSpPr>
          <p:nvPr/>
        </p:nvCxnSpPr>
        <p:spPr>
          <a:xfrm>
            <a:off x="7885134" y="2255391"/>
            <a:ext cx="0" cy="4759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9E9155C6-468E-4B0B-D2CE-E92DED0C3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17" y="5208044"/>
            <a:ext cx="1829055" cy="70494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2DF54DD-64F2-450B-8BAF-F0339F251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586" y="3929131"/>
            <a:ext cx="1743318" cy="10574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5559911-8C61-AF7F-B800-BB4BBA0A1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974" y="2539411"/>
            <a:ext cx="976763" cy="56512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94636AB-FFF9-F27D-966D-FEBED7BE7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667" y="2776736"/>
            <a:ext cx="1076475" cy="68589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B1D71F2-9DD9-ED0C-398D-948390D8FB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26" y="3298559"/>
            <a:ext cx="1225460" cy="30455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98C180C-25FB-5031-6E46-D19237ECE9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2086" y="6154693"/>
            <a:ext cx="1152686" cy="438211"/>
          </a:xfrm>
          <a:prstGeom prst="rect">
            <a:avLst/>
          </a:prstGeom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DD0739E-5267-202F-54F4-18C2655BA62E}"/>
              </a:ext>
            </a:extLst>
          </p:cNvPr>
          <p:cNvCxnSpPr>
            <a:endCxn id="18" idx="3"/>
          </p:cNvCxnSpPr>
          <p:nvPr/>
        </p:nvCxnSpPr>
        <p:spPr>
          <a:xfrm flipH="1">
            <a:off x="2444772" y="5067565"/>
            <a:ext cx="1311504" cy="13062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46C4D2F-8B6D-B774-7994-234E4B3CF1FF}"/>
              </a:ext>
            </a:extLst>
          </p:cNvPr>
          <p:cNvCxnSpPr>
            <a:cxnSpLocks/>
          </p:cNvCxnSpPr>
          <p:nvPr/>
        </p:nvCxnSpPr>
        <p:spPr>
          <a:xfrm flipH="1">
            <a:off x="1820001" y="4749617"/>
            <a:ext cx="1936275" cy="8109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7D71DF6-E974-6E87-472D-66BBCBE37589}"/>
              </a:ext>
            </a:extLst>
          </p:cNvPr>
          <p:cNvCxnSpPr>
            <a:cxnSpLocks/>
          </p:cNvCxnSpPr>
          <p:nvPr/>
        </p:nvCxnSpPr>
        <p:spPr>
          <a:xfrm flipH="1">
            <a:off x="1793099" y="4155442"/>
            <a:ext cx="1931245" cy="302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F2F9882-EE55-9FCB-CF41-CFFB766FA283}"/>
              </a:ext>
            </a:extLst>
          </p:cNvPr>
          <p:cNvCxnSpPr>
            <a:cxnSpLocks/>
          </p:cNvCxnSpPr>
          <p:nvPr/>
        </p:nvCxnSpPr>
        <p:spPr>
          <a:xfrm flipH="1" flipV="1">
            <a:off x="2341917" y="3187680"/>
            <a:ext cx="1414359" cy="6535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52F3F85-DCAF-F8F9-C24F-6CE280FB5DF7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292086" y="3298559"/>
            <a:ext cx="306469" cy="1522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7680C25-4295-B679-13F3-142035EEF46B}"/>
              </a:ext>
            </a:extLst>
          </p:cNvPr>
          <p:cNvCxnSpPr>
            <a:cxnSpLocks/>
          </p:cNvCxnSpPr>
          <p:nvPr/>
        </p:nvCxnSpPr>
        <p:spPr>
          <a:xfrm flipH="1" flipV="1">
            <a:off x="963764" y="2776736"/>
            <a:ext cx="630753" cy="216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57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88A41A-389C-826E-AEA8-293A79BCE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请采用</a:t>
            </a:r>
            <a:r>
              <a:rPr lang="zh-CN" altLang="en-US" sz="2000" b="1" dirty="0">
                <a:solidFill>
                  <a:srgbClr val="FF0000"/>
                </a:solidFill>
              </a:rPr>
              <a:t>汇编语言</a:t>
            </a:r>
            <a:r>
              <a:rPr lang="zh-CN" altLang="en-US" sz="2000" b="1" dirty="0"/>
              <a:t>的方式编写</a:t>
            </a:r>
            <a:r>
              <a:rPr lang="zh-CN" altLang="en-US" sz="2000" b="1" dirty="0">
                <a:solidFill>
                  <a:srgbClr val="FF0000"/>
                </a:solidFill>
              </a:rPr>
              <a:t>呼吸灯</a:t>
            </a:r>
            <a:r>
              <a:rPr lang="zh-CN" altLang="en-US" sz="2000" b="1" dirty="0"/>
              <a:t>实验程序：</a:t>
            </a:r>
            <a:r>
              <a:rPr lang="en-US" altLang="zh-CN" sz="2000" b="1" dirty="0">
                <a:solidFill>
                  <a:srgbClr val="FF0000"/>
                </a:solidFill>
              </a:rPr>
              <a:t>02-fs_assembly_pwm</a:t>
            </a:r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编程思路：请参考</a:t>
            </a:r>
            <a:r>
              <a:rPr lang="en-US" altLang="zh-CN" sz="2000" b="1" dirty="0">
                <a:solidFill>
                  <a:srgbClr val="FF0000"/>
                </a:solidFill>
              </a:rPr>
              <a:t>01-fs_assembly_led</a:t>
            </a:r>
            <a:r>
              <a:rPr lang="zh-CN" altLang="en-US" sz="2000" b="1" dirty="0"/>
              <a:t>实验工程的程序，只需要编写（修改）以下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个程序，其它程序与</a:t>
            </a:r>
            <a:r>
              <a:rPr lang="en-US" altLang="zh-CN" sz="2000" b="1" dirty="0">
                <a:solidFill>
                  <a:srgbClr val="FF0000"/>
                </a:solidFill>
              </a:rPr>
              <a:t>01-fs_assembly_led</a:t>
            </a:r>
            <a:r>
              <a:rPr lang="zh-CN" altLang="en-US" sz="2000" b="1" dirty="0"/>
              <a:t>实验工程相同：</a:t>
            </a:r>
            <a:endParaRPr lang="en-US" altLang="zh-CN" sz="2000" b="1" dirty="0"/>
          </a:p>
          <a:p>
            <a:endParaRPr lang="en-US" altLang="zh-CN" sz="20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fs_assembly_pwm.s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Makefile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map.lds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endParaRPr lang="en-US" altLang="zh-CN" sz="2000" b="1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6EDA088-5F2E-A410-AA59-123437F5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2-2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104397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3ED3BD0-78AE-5059-BE4F-E3E6E014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用</a:t>
            </a:r>
            <a:r>
              <a:rPr lang="zh-CN" altLang="en-US" sz="2000" b="1" dirty="0">
                <a:solidFill>
                  <a:srgbClr val="FF0000"/>
                </a:solidFill>
              </a:rPr>
              <a:t>汇编语言</a:t>
            </a:r>
            <a:r>
              <a:rPr lang="zh-CN" altLang="en-US" sz="2000" b="1" dirty="0"/>
              <a:t>编写的程序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765C4AAC-0257-0111-C588-9FB4D466D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02-fs_assembly_pwm</a:t>
            </a:r>
            <a:r>
              <a:rPr lang="zh-CN" altLang="en-US" b="1" dirty="0"/>
              <a:t>实验工程文件夹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56B10B-126F-FB81-5358-1AB364FE5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56" y="3374474"/>
            <a:ext cx="8021169" cy="264832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CA180EA-BBB3-9A79-3B15-04CBB996F3FB}"/>
              </a:ext>
            </a:extLst>
          </p:cNvPr>
          <p:cNvCxnSpPr>
            <a:cxnSpLocks/>
          </p:cNvCxnSpPr>
          <p:nvPr/>
        </p:nvCxnSpPr>
        <p:spPr>
          <a:xfrm>
            <a:off x="8128535" y="2953011"/>
            <a:ext cx="0" cy="4759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764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88A41A-389C-826E-AEA8-293A79BCE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请采用</a:t>
            </a:r>
            <a:r>
              <a:rPr lang="zh-CN" altLang="en-US" sz="2000" b="1" dirty="0">
                <a:solidFill>
                  <a:srgbClr val="FF0000"/>
                </a:solidFill>
              </a:rPr>
              <a:t>汇编语言</a:t>
            </a:r>
            <a:r>
              <a:rPr lang="zh-CN" altLang="en-US" sz="2000" b="1" dirty="0"/>
              <a:t>的方式编写</a:t>
            </a:r>
            <a:r>
              <a:rPr lang="zh-CN" altLang="en-US" sz="2000" b="1" dirty="0">
                <a:solidFill>
                  <a:srgbClr val="FF0000"/>
                </a:solidFill>
              </a:rPr>
              <a:t>蜂鸣器</a:t>
            </a:r>
            <a:r>
              <a:rPr lang="zh-CN" altLang="en-US" sz="2000" b="1" dirty="0"/>
              <a:t>实验程序：</a:t>
            </a:r>
            <a:r>
              <a:rPr lang="en-US" altLang="zh-CN" sz="2000" b="1" dirty="0">
                <a:solidFill>
                  <a:srgbClr val="FF0000"/>
                </a:solidFill>
              </a:rPr>
              <a:t>03-fs_assembly_beep</a:t>
            </a:r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编程思路：请参考</a:t>
            </a:r>
            <a:r>
              <a:rPr lang="en-US" altLang="zh-CN" sz="2000" b="1" dirty="0">
                <a:solidFill>
                  <a:srgbClr val="FF0000"/>
                </a:solidFill>
              </a:rPr>
              <a:t>01-fs_assembly_led</a:t>
            </a:r>
            <a:r>
              <a:rPr lang="zh-CN" altLang="en-US" sz="2000" b="1" dirty="0"/>
              <a:t>实验工程的程序，只需要编写（修改）以下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个程序，其它程序与</a:t>
            </a:r>
            <a:r>
              <a:rPr lang="en-US" altLang="zh-CN" sz="2000" b="1" dirty="0">
                <a:solidFill>
                  <a:srgbClr val="FF0000"/>
                </a:solidFill>
              </a:rPr>
              <a:t>01-fs_assembly_led</a:t>
            </a:r>
            <a:r>
              <a:rPr lang="zh-CN" altLang="en-US" sz="2000" b="1" dirty="0"/>
              <a:t>实验工程相同： </a:t>
            </a:r>
            <a:endParaRPr lang="en-US" altLang="zh-CN" sz="2000" b="1" dirty="0"/>
          </a:p>
          <a:p>
            <a:endParaRPr lang="en-US" altLang="zh-CN" sz="20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fs_assembly_beep.s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Makefile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map.lds</a:t>
            </a:r>
            <a:endParaRPr lang="zh-CN" altLang="en-US" sz="2000" b="1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6EDA088-5F2E-A410-AA59-123437F5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2-3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46023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3ED3BD0-78AE-5059-BE4F-E3E6E014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用</a:t>
            </a:r>
            <a:r>
              <a:rPr lang="zh-CN" altLang="en-US" sz="2000" b="1" dirty="0">
                <a:solidFill>
                  <a:srgbClr val="FF0000"/>
                </a:solidFill>
              </a:rPr>
              <a:t>汇编语言</a:t>
            </a:r>
            <a:r>
              <a:rPr lang="zh-CN" altLang="en-US" sz="2000" b="1" dirty="0"/>
              <a:t>编写的程序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765C4AAC-0257-0111-C588-9FB4D466D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03-fs_assembly_beep</a:t>
            </a:r>
            <a:r>
              <a:rPr lang="zh-CN" altLang="en-US" b="1" dirty="0"/>
              <a:t>实验工程文件夹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CABA30-1BD1-0659-383E-DED018B2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434" y="3625475"/>
            <a:ext cx="7573432" cy="2686425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CA180EA-BBB3-9A79-3B15-04CBB996F3FB}"/>
              </a:ext>
            </a:extLst>
          </p:cNvPr>
          <p:cNvCxnSpPr>
            <a:cxnSpLocks/>
          </p:cNvCxnSpPr>
          <p:nvPr/>
        </p:nvCxnSpPr>
        <p:spPr>
          <a:xfrm>
            <a:off x="8286418" y="3288510"/>
            <a:ext cx="0" cy="4759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247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88A41A-389C-826E-AEA8-293A79BCE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请采用汇编语言与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语言</a:t>
            </a:r>
            <a:r>
              <a:rPr lang="zh-CN" altLang="en-US" sz="2000" b="1" dirty="0">
                <a:solidFill>
                  <a:srgbClr val="FF0000"/>
                </a:solidFill>
              </a:rPr>
              <a:t>混合编程</a:t>
            </a:r>
            <a:r>
              <a:rPr lang="zh-CN" altLang="en-US" sz="2000" b="1" dirty="0"/>
              <a:t>的方式编写</a:t>
            </a:r>
            <a:r>
              <a:rPr lang="zh-CN" altLang="en-US" sz="2000" b="1" dirty="0">
                <a:solidFill>
                  <a:srgbClr val="FF0000"/>
                </a:solidFill>
              </a:rPr>
              <a:t>查询方式按键控制蜂鸣器</a:t>
            </a:r>
            <a:r>
              <a:rPr lang="zh-CN" altLang="en-US" sz="2000" b="1" dirty="0"/>
              <a:t>的程序（按</a:t>
            </a:r>
            <a:r>
              <a:rPr lang="en-US" altLang="zh-CN" sz="2000" b="1" dirty="0"/>
              <a:t>KEY1</a:t>
            </a:r>
            <a:r>
              <a:rPr lang="zh-CN" altLang="en-US" sz="2000" b="1" dirty="0"/>
              <a:t>键，蜂鸣器响；再按</a:t>
            </a:r>
            <a:r>
              <a:rPr lang="en-US" altLang="zh-CN" sz="2000" b="1" dirty="0"/>
              <a:t>KEY1</a:t>
            </a:r>
            <a:r>
              <a:rPr lang="zh-CN" altLang="en-US" sz="2000" b="1" dirty="0"/>
              <a:t>键，蜂鸣器不响）：</a:t>
            </a:r>
            <a:r>
              <a:rPr lang="en-US" altLang="zh-CN" sz="2000" b="1" dirty="0">
                <a:solidFill>
                  <a:srgbClr val="FF0000"/>
                </a:solidFill>
              </a:rPr>
              <a:t>11_fs_loop_key_beep</a:t>
            </a:r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编程思路：请在</a:t>
            </a:r>
            <a:r>
              <a:rPr lang="en-US" altLang="zh-CN" sz="2000" b="1" dirty="0">
                <a:solidFill>
                  <a:srgbClr val="FF0000"/>
                </a:solidFill>
              </a:rPr>
              <a:t>04-fs_loop_key</a:t>
            </a:r>
            <a:r>
              <a:rPr lang="zh-CN" altLang="en-US" sz="2000" b="1" dirty="0"/>
              <a:t>实验工程的基础上修改程序，并参考</a:t>
            </a:r>
            <a:r>
              <a:rPr lang="en-US" altLang="zh-CN" sz="2000" b="1" dirty="0">
                <a:solidFill>
                  <a:srgbClr val="FF0000"/>
                </a:solidFill>
              </a:rPr>
              <a:t>03-fs_beep</a:t>
            </a:r>
            <a:r>
              <a:rPr lang="zh-CN" altLang="en-US" sz="2000" b="1" dirty="0"/>
              <a:t>实验工程的程序。只需要修改以下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个程序，其它程序与</a:t>
            </a:r>
            <a:r>
              <a:rPr lang="en-US" altLang="zh-CN" sz="2000" b="1" dirty="0">
                <a:solidFill>
                  <a:srgbClr val="FF0000"/>
                </a:solidFill>
              </a:rPr>
              <a:t>04-fs_loop_key</a:t>
            </a:r>
            <a:r>
              <a:rPr lang="zh-CN" altLang="en-US" sz="2000" b="1" dirty="0"/>
              <a:t>实验工程相同： </a:t>
            </a:r>
            <a:endParaRPr lang="en-US" altLang="zh-CN" sz="2000" b="1" dirty="0"/>
          </a:p>
          <a:p>
            <a:endParaRPr lang="en-US" altLang="zh-CN" sz="20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main.c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Makefile</a:t>
            </a:r>
            <a:endParaRPr lang="zh-CN" altLang="en-US" sz="2000" b="1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6EDA088-5F2E-A410-AA59-123437F5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2-4</a:t>
            </a:r>
            <a:endParaRPr lang="zh-CN" altLang="en-US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984B557-5AEE-0E4F-2AB3-C335735E6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822" y="4150522"/>
            <a:ext cx="3792705" cy="2342353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43527EE-1F5E-B35F-A994-A92C74DFF773}"/>
              </a:ext>
            </a:extLst>
          </p:cNvPr>
          <p:cNvCxnSpPr>
            <a:cxnSpLocks/>
          </p:cNvCxnSpPr>
          <p:nvPr/>
        </p:nvCxnSpPr>
        <p:spPr>
          <a:xfrm flipV="1">
            <a:off x="6819107" y="6176963"/>
            <a:ext cx="0" cy="5410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613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F66D2D7-3670-0545-5C17-465EB054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11-fs_loop_key_beep</a:t>
            </a:r>
            <a:r>
              <a:rPr lang="zh-CN" altLang="en-US" b="1" dirty="0"/>
              <a:t>实验工程文件夹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2F2EF07-196D-97CD-8111-AF7BFD8A3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汇编语言与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语言</a:t>
            </a:r>
            <a:r>
              <a:rPr lang="zh-CN" altLang="en-US" sz="2000" b="1" dirty="0">
                <a:solidFill>
                  <a:srgbClr val="FF0000"/>
                </a:solidFill>
              </a:rPr>
              <a:t>混合编程</a:t>
            </a:r>
            <a:r>
              <a:rPr lang="zh-CN" altLang="en-US" sz="2000" b="1" dirty="0"/>
              <a:t>的程序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104519-A82B-A8F5-8320-EC35E2834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667" y="2881507"/>
            <a:ext cx="6848663" cy="3361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75FB9D3-A77C-40D4-3A97-434EE9E4C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2" y="4450858"/>
            <a:ext cx="1451495" cy="3979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A3CC98C-5672-40F8-0498-D4EDEF6BC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32" y="3280688"/>
            <a:ext cx="1819529" cy="70494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EB55B52-3293-D580-79AF-4D05F68A6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00" y="5274748"/>
            <a:ext cx="1314633" cy="476316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CC8C68F-5FBF-45F6-3CA6-3D5EA819422D}"/>
              </a:ext>
            </a:extLst>
          </p:cNvPr>
          <p:cNvCxnSpPr/>
          <p:nvPr/>
        </p:nvCxnSpPr>
        <p:spPr>
          <a:xfrm flipH="1">
            <a:off x="1684751" y="5204564"/>
            <a:ext cx="1722328" cy="308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4320259-F5D4-0B0A-E526-4599135F6B96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2073057" y="4649854"/>
            <a:ext cx="14404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A2695C3-C811-0901-04FB-4F4B0336634A}"/>
              </a:ext>
            </a:extLst>
          </p:cNvPr>
          <p:cNvCxnSpPr>
            <a:cxnSpLocks/>
          </p:cNvCxnSpPr>
          <p:nvPr/>
        </p:nvCxnSpPr>
        <p:spPr>
          <a:xfrm flipH="1" flipV="1">
            <a:off x="2152833" y="3633162"/>
            <a:ext cx="1319158" cy="487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1BD374E-0CF8-F4C1-42FC-6822F58125B1}"/>
              </a:ext>
            </a:extLst>
          </p:cNvPr>
          <p:cNvCxnSpPr>
            <a:cxnSpLocks/>
          </p:cNvCxnSpPr>
          <p:nvPr/>
        </p:nvCxnSpPr>
        <p:spPr>
          <a:xfrm>
            <a:off x="8556133" y="2538731"/>
            <a:ext cx="0" cy="4759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778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88A41A-389C-826E-AEA8-293A79BCE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2000" b="1" dirty="0"/>
              <a:t>请采用汇编语言与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语言</a:t>
            </a:r>
            <a:r>
              <a:rPr lang="zh-CN" altLang="en-US" sz="2000" b="1" dirty="0">
                <a:solidFill>
                  <a:srgbClr val="FF0000"/>
                </a:solidFill>
              </a:rPr>
              <a:t>混合编程</a:t>
            </a:r>
            <a:r>
              <a:rPr lang="zh-CN" altLang="en-US" sz="2000" b="1" dirty="0"/>
              <a:t>的方式编写</a:t>
            </a:r>
            <a:r>
              <a:rPr lang="zh-CN" altLang="en-US" sz="2000" b="1" dirty="0">
                <a:solidFill>
                  <a:srgbClr val="FF0000"/>
                </a:solidFill>
              </a:rPr>
              <a:t>中断方式按键控制蜂鸣器</a:t>
            </a:r>
            <a:r>
              <a:rPr lang="zh-CN" altLang="en-US" sz="2000" b="1" dirty="0"/>
              <a:t>的程序（按</a:t>
            </a:r>
            <a:r>
              <a:rPr lang="en-US" altLang="zh-CN" sz="2000" b="1" dirty="0"/>
              <a:t>KEY1</a:t>
            </a:r>
            <a:r>
              <a:rPr lang="zh-CN" altLang="en-US" sz="2000" b="1" dirty="0"/>
              <a:t>键，蜂鸣器响；再按</a:t>
            </a:r>
            <a:r>
              <a:rPr lang="en-US" altLang="zh-CN" sz="2000" b="1" dirty="0"/>
              <a:t>KEY1</a:t>
            </a:r>
            <a:r>
              <a:rPr lang="zh-CN" altLang="en-US" sz="2000" b="1" dirty="0"/>
              <a:t>键，蜂鸣器不响）：</a:t>
            </a:r>
            <a:r>
              <a:rPr lang="en-US" altLang="zh-CN" sz="2000" b="1" dirty="0">
                <a:solidFill>
                  <a:srgbClr val="FF0000"/>
                </a:solidFill>
              </a:rPr>
              <a:t>12_fs_irq_key_beep</a:t>
            </a:r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编程思路：请在</a:t>
            </a:r>
            <a:r>
              <a:rPr lang="en-US" altLang="zh-CN" sz="2000" b="1" dirty="0">
                <a:solidFill>
                  <a:srgbClr val="FF0000"/>
                </a:solidFill>
              </a:rPr>
              <a:t>05-fs_irq_key</a:t>
            </a:r>
            <a:r>
              <a:rPr lang="zh-CN" altLang="en-US" sz="2000" b="1" dirty="0"/>
              <a:t>实验工程的基础上修改程序，并参考</a:t>
            </a:r>
            <a:r>
              <a:rPr lang="en-US" altLang="zh-CN" sz="2000" b="1" dirty="0">
                <a:solidFill>
                  <a:srgbClr val="FF0000"/>
                </a:solidFill>
              </a:rPr>
              <a:t>03-fs_beep</a:t>
            </a:r>
            <a:r>
              <a:rPr lang="zh-CN" altLang="en-US" sz="2000" b="1" dirty="0"/>
              <a:t>实验工程的程序。只需要修改以下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个程序，其它程序与</a:t>
            </a:r>
            <a:r>
              <a:rPr lang="en-US" altLang="zh-CN" sz="2000" b="1" dirty="0">
                <a:solidFill>
                  <a:srgbClr val="FF0000"/>
                </a:solidFill>
              </a:rPr>
              <a:t>05-fs_irq_key</a:t>
            </a:r>
            <a:r>
              <a:rPr lang="zh-CN" altLang="en-US" sz="2000" b="1" dirty="0"/>
              <a:t>实验工程相同： </a:t>
            </a:r>
            <a:endParaRPr lang="en-US" altLang="zh-CN" sz="2000" b="1" dirty="0"/>
          </a:p>
          <a:p>
            <a:endParaRPr lang="en-US" altLang="zh-CN" sz="20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main.c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/>
              <a:t>fs3399_int.c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/>
              <a:t>fs3399_beep_mode.c</a:t>
            </a:r>
            <a:r>
              <a:rPr lang="zh-CN" altLang="en-US" sz="1600" b="1" dirty="0"/>
              <a:t>（修改了文件名）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/>
              <a:t>fs3399_int.h</a:t>
            </a:r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/>
              <a:t>fs3399_beep_mode.h</a:t>
            </a:r>
            <a:r>
              <a:rPr lang="zh-CN" altLang="en-US" sz="1600" b="1" dirty="0"/>
              <a:t>（修改了文件名）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Makefile</a:t>
            </a:r>
            <a:endParaRPr lang="zh-CN" altLang="en-US" sz="2000" b="1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6EDA088-5F2E-A410-AA59-123437F5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2-5</a:t>
            </a:r>
            <a:endParaRPr lang="zh-CN" altLang="en-US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5A7FC21-81EC-3BA1-BE3C-9D4227CBE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321" y="3944065"/>
            <a:ext cx="3615477" cy="2232898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03FC3A5-621F-407F-53CD-085E2C64B759}"/>
              </a:ext>
            </a:extLst>
          </p:cNvPr>
          <p:cNvCxnSpPr>
            <a:cxnSpLocks/>
          </p:cNvCxnSpPr>
          <p:nvPr/>
        </p:nvCxnSpPr>
        <p:spPr>
          <a:xfrm flipV="1">
            <a:off x="8766318" y="5854585"/>
            <a:ext cx="0" cy="4343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878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F66D2D7-3670-0545-5C17-465EB054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/>
              <a:t>12-fs_irq_key_beep</a:t>
            </a:r>
            <a:r>
              <a:rPr lang="zh-CN" altLang="en-US" b="1" dirty="0"/>
              <a:t>实验工程文件夹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2F2EF07-196D-97CD-8111-AF7BFD8A3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汇编语言与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语言</a:t>
            </a:r>
            <a:r>
              <a:rPr lang="zh-CN" altLang="en-US" sz="2000" b="1" dirty="0">
                <a:solidFill>
                  <a:srgbClr val="FF0000"/>
                </a:solidFill>
              </a:rPr>
              <a:t>混合编程</a:t>
            </a:r>
            <a:r>
              <a:rPr lang="zh-CN" altLang="en-US" sz="2000" b="1" dirty="0"/>
              <a:t>的程序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97C594-B667-DDD6-507C-61DE50895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606" y="3241590"/>
            <a:ext cx="5677216" cy="269471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FB3EA43-A63C-1287-5C36-0D7CC6027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0" y="5274748"/>
            <a:ext cx="1314633" cy="476316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CBD3464-01D1-19E1-8352-CF1F1A899E9B}"/>
              </a:ext>
            </a:extLst>
          </p:cNvPr>
          <p:cNvCxnSpPr>
            <a:cxnSpLocks/>
          </p:cNvCxnSpPr>
          <p:nvPr/>
        </p:nvCxnSpPr>
        <p:spPr>
          <a:xfrm flipH="1">
            <a:off x="1684751" y="4935255"/>
            <a:ext cx="2160739" cy="5776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5B08A919-3477-5F48-B1F7-A8F49476B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98" y="4355172"/>
            <a:ext cx="1905989" cy="58008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60672B0-71FF-8DC5-98A7-B0B95ED5F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00" y="3257034"/>
            <a:ext cx="1666257" cy="746483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53A3F22-7F99-93FA-1F0A-D8483333A6C6}"/>
              </a:ext>
            </a:extLst>
          </p:cNvPr>
          <p:cNvCxnSpPr>
            <a:cxnSpLocks/>
          </p:cNvCxnSpPr>
          <p:nvPr/>
        </p:nvCxnSpPr>
        <p:spPr>
          <a:xfrm flipH="1">
            <a:off x="1951552" y="4706714"/>
            <a:ext cx="1893938" cy="587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C088A06-DA72-FA12-86A0-B6D209FE8C71}"/>
              </a:ext>
            </a:extLst>
          </p:cNvPr>
          <p:cNvCxnSpPr>
            <a:cxnSpLocks/>
          </p:cNvCxnSpPr>
          <p:nvPr/>
        </p:nvCxnSpPr>
        <p:spPr>
          <a:xfrm flipH="1" flipV="1">
            <a:off x="1890363" y="3617792"/>
            <a:ext cx="2049597" cy="6534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71704E9-C415-C7E7-B688-E4C0307E9ECC}"/>
              </a:ext>
            </a:extLst>
          </p:cNvPr>
          <p:cNvCxnSpPr>
            <a:cxnSpLocks/>
          </p:cNvCxnSpPr>
          <p:nvPr/>
        </p:nvCxnSpPr>
        <p:spPr>
          <a:xfrm>
            <a:off x="8069330" y="2872500"/>
            <a:ext cx="0" cy="4759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717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88A41A-389C-826E-AEA8-293A79BCE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实验工程</a:t>
            </a:r>
            <a:r>
              <a:rPr lang="en-US" altLang="zh-CN" sz="2000" b="1" dirty="0">
                <a:solidFill>
                  <a:srgbClr val="FF0000"/>
                </a:solidFill>
              </a:rPr>
              <a:t>06-fs_uart</a:t>
            </a:r>
            <a:r>
              <a:rPr lang="zh-CN" altLang="en-US" sz="2000" b="1" dirty="0"/>
              <a:t>只完成了串口的发送功能，该工程的“</a:t>
            </a:r>
            <a:r>
              <a:rPr lang="en-US" altLang="zh-CN" sz="2000" b="1" dirty="0"/>
              <a:t>fs3399_uart.c</a:t>
            </a:r>
            <a:r>
              <a:rPr lang="zh-CN" altLang="en-US" sz="2000" b="1" dirty="0"/>
              <a:t>”文件中还提供了串口接收函数“</a:t>
            </a:r>
            <a:r>
              <a:rPr lang="en-US" altLang="zh-CN" sz="2000" b="1" dirty="0"/>
              <a:t>char </a:t>
            </a:r>
            <a:r>
              <a:rPr lang="en-US" altLang="zh-CN" sz="2000" b="1" dirty="0" err="1"/>
              <a:t>fs_getc</a:t>
            </a:r>
            <a:r>
              <a:rPr lang="en-US" altLang="zh-CN" sz="2000" b="1" dirty="0"/>
              <a:t>()</a:t>
            </a:r>
            <a:r>
              <a:rPr lang="zh-CN" altLang="en-US" sz="2000" b="1" dirty="0"/>
              <a:t>”。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请采用汇编语言与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语言</a:t>
            </a:r>
            <a:r>
              <a:rPr lang="zh-CN" altLang="en-US" sz="2000" b="1" dirty="0">
                <a:solidFill>
                  <a:srgbClr val="FF0000"/>
                </a:solidFill>
              </a:rPr>
              <a:t>混合编程</a:t>
            </a:r>
            <a:r>
              <a:rPr lang="zh-CN" altLang="en-US" sz="2000" b="1" dirty="0"/>
              <a:t>的方式编写</a:t>
            </a:r>
            <a:r>
              <a:rPr lang="zh-CN" altLang="en-US" sz="2000" b="1" dirty="0">
                <a:solidFill>
                  <a:srgbClr val="FF0000"/>
                </a:solidFill>
              </a:rPr>
              <a:t>发送与接收</a:t>
            </a:r>
            <a:r>
              <a:rPr lang="zh-CN" altLang="en-US" sz="2000" b="1" dirty="0"/>
              <a:t>的程序：</a:t>
            </a:r>
            <a:r>
              <a:rPr lang="en-US" altLang="zh-CN" sz="2000" b="1" dirty="0">
                <a:solidFill>
                  <a:srgbClr val="FF0000"/>
                </a:solidFill>
              </a:rPr>
              <a:t>13-fs_uart_receive</a:t>
            </a:r>
          </a:p>
          <a:p>
            <a:endParaRPr lang="en-US" altLang="zh-CN" sz="2000" b="1" dirty="0"/>
          </a:p>
          <a:p>
            <a:r>
              <a:rPr lang="zh-CN" altLang="en-US" sz="2000" b="1" dirty="0"/>
              <a:t>编程思路：请在</a:t>
            </a:r>
            <a:r>
              <a:rPr lang="en-US" altLang="zh-CN" sz="2000" b="1" dirty="0">
                <a:solidFill>
                  <a:srgbClr val="FF0000"/>
                </a:solidFill>
              </a:rPr>
              <a:t>06-fs_uart</a:t>
            </a:r>
            <a:r>
              <a:rPr lang="zh-CN" altLang="en-US" sz="2000" b="1" dirty="0"/>
              <a:t>实验工程的基础上修改程序，只需要修改以下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个程序，其它程序与</a:t>
            </a:r>
            <a:r>
              <a:rPr lang="en-US" altLang="zh-CN" sz="2000" b="1" dirty="0">
                <a:solidFill>
                  <a:srgbClr val="FF0000"/>
                </a:solidFill>
              </a:rPr>
              <a:t>06-fs_uart</a:t>
            </a:r>
            <a:r>
              <a:rPr lang="zh-CN" altLang="en-US" sz="2000" b="1" dirty="0"/>
              <a:t>实验工程相同： </a:t>
            </a:r>
            <a:endParaRPr lang="en-US" altLang="zh-CN" sz="2000" b="1" dirty="0"/>
          </a:p>
          <a:p>
            <a:endParaRPr lang="en-US" altLang="zh-CN" sz="20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main.c</a:t>
            </a: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600" b="1" dirty="0"/>
          </a:p>
          <a:p>
            <a:pPr marL="800100" lvl="1" indent="-342900">
              <a:buFont typeface="+mj-ea"/>
              <a:buAutoNum type="circleNumDbPlain"/>
            </a:pPr>
            <a:r>
              <a:rPr lang="en-US" altLang="zh-CN" sz="1600" b="1" dirty="0" err="1"/>
              <a:t>Makefile</a:t>
            </a:r>
            <a:endParaRPr lang="zh-CN" altLang="en-US" sz="2400" b="1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6EDA088-5F2E-A410-AA59-123437F5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设计实验</a:t>
            </a:r>
            <a:r>
              <a:rPr lang="en-US" altLang="zh-CN" b="1" dirty="0"/>
              <a:t>2-6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516225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F66D2D7-3670-0545-5C17-465EB054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sz="4400" b="1" dirty="0"/>
              <a:t>13-fs_uart_receive</a:t>
            </a:r>
            <a:r>
              <a:rPr lang="zh-CN" altLang="en-US" b="1" dirty="0"/>
              <a:t>实验工程文件夹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2F2EF07-196D-97CD-8111-AF7BFD8A3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汇编语言与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语言</a:t>
            </a:r>
            <a:r>
              <a:rPr lang="zh-CN" altLang="en-US" sz="2000" b="1" dirty="0">
                <a:solidFill>
                  <a:srgbClr val="FF0000"/>
                </a:solidFill>
              </a:rPr>
              <a:t>混合编程</a:t>
            </a:r>
            <a:r>
              <a:rPr lang="zh-CN" altLang="en-US" sz="2000" b="1" dirty="0"/>
              <a:t>的程序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3316F5E-A6F9-7F59-8E2B-24863F8F2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870" y="2858507"/>
            <a:ext cx="6375410" cy="3018381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8209174-76C0-2842-B6F9-8E03E7E065A1}"/>
              </a:ext>
            </a:extLst>
          </p:cNvPr>
          <p:cNvCxnSpPr>
            <a:cxnSpLocks/>
          </p:cNvCxnSpPr>
          <p:nvPr/>
        </p:nvCxnSpPr>
        <p:spPr>
          <a:xfrm>
            <a:off x="7918027" y="2382518"/>
            <a:ext cx="0" cy="4759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833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7EFD4-2F8C-C15E-C3F5-1A988D3A3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4400" b="1" dirty="0"/>
              <a:t>13-fs_uart_receive</a:t>
            </a:r>
            <a:r>
              <a:rPr lang="zh-CN" altLang="en-US" sz="4400" b="1" dirty="0"/>
              <a:t>实验工程的运行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3507BB-D8CC-2204-1C25-156390513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 b="1" dirty="0"/>
              <a:t>1</a:t>
            </a:r>
            <a:r>
              <a:rPr lang="zh-CN" altLang="en-US" sz="1600" b="1" dirty="0"/>
              <a:t>、运行</a:t>
            </a:r>
            <a:r>
              <a:rPr lang="en-US" altLang="zh-CN" sz="1600" b="1" dirty="0"/>
              <a:t>PUTTY.EXE </a:t>
            </a:r>
            <a:r>
              <a:rPr lang="zh-CN" altLang="en-US" sz="1600" b="1" dirty="0"/>
              <a:t>（串口连接工具），将其处于“</a:t>
            </a:r>
            <a:r>
              <a:rPr lang="en-US" altLang="zh-CN" sz="1600" b="1" dirty="0"/>
              <a:t>=&gt;</a:t>
            </a:r>
            <a:r>
              <a:rPr lang="zh-CN" altLang="en-US" sz="1600" b="1" dirty="0"/>
              <a:t>”状态</a:t>
            </a:r>
            <a:endParaRPr lang="en-US" altLang="zh-CN" sz="1600" b="1" dirty="0"/>
          </a:p>
          <a:p>
            <a:r>
              <a:rPr lang="en-US" altLang="zh-CN" sz="1600" b="1" dirty="0"/>
              <a:t>2</a:t>
            </a:r>
            <a:r>
              <a:rPr lang="zh-CN" altLang="en-US" sz="1600" b="1" dirty="0"/>
              <a:t>、关闭</a:t>
            </a:r>
            <a:r>
              <a:rPr lang="en-US" altLang="zh-CN" sz="1600" b="1" dirty="0"/>
              <a:t>Putty</a:t>
            </a:r>
          </a:p>
          <a:p>
            <a:r>
              <a:rPr lang="en-US" altLang="zh-CN" sz="1600" b="1" dirty="0"/>
              <a:t>3</a:t>
            </a:r>
            <a:r>
              <a:rPr lang="zh-CN" altLang="en-US" sz="1600" b="1" dirty="0"/>
              <a:t>、运行</a:t>
            </a:r>
            <a:r>
              <a:rPr lang="en-US" altLang="zh-CN" sz="1600" b="1" dirty="0"/>
              <a:t>UartAssist.exe</a:t>
            </a:r>
            <a:r>
              <a:rPr lang="zh-CN" altLang="en-US" sz="1600" b="1" dirty="0"/>
              <a:t>（串口调试助手），打开串口</a:t>
            </a:r>
            <a:endParaRPr lang="en-US" altLang="zh-CN" sz="1600" b="1" dirty="0"/>
          </a:p>
          <a:p>
            <a:r>
              <a:rPr lang="en-US" altLang="zh-CN" sz="1600" b="1" dirty="0"/>
              <a:t>4</a:t>
            </a:r>
            <a:r>
              <a:rPr lang="zh-CN" altLang="en-US" sz="1600" b="1" dirty="0"/>
              <a:t>、在</a:t>
            </a:r>
            <a:r>
              <a:rPr lang="en-US" altLang="zh-CN" sz="1600" b="1" dirty="0"/>
              <a:t>Ubuntu</a:t>
            </a:r>
            <a:r>
              <a:rPr lang="zh-CN" altLang="en-US" sz="1600" b="1" dirty="0"/>
              <a:t>中运行程序，此时串口调试助手中显示程序发送的结果</a:t>
            </a:r>
            <a:endParaRPr lang="en-US" altLang="zh-CN" sz="1600" b="1" dirty="0"/>
          </a:p>
          <a:p>
            <a:r>
              <a:rPr lang="en-US" altLang="zh-CN" sz="1600" b="1" dirty="0"/>
              <a:t>5</a:t>
            </a:r>
            <a:r>
              <a:rPr lang="zh-CN" altLang="en-US" sz="1600" b="1" dirty="0"/>
              <a:t>、在串口调试助手的“发送”框中输入“</a:t>
            </a:r>
            <a:r>
              <a:rPr lang="en-US" altLang="zh-CN" sz="1600" b="1" dirty="0"/>
              <a:t>abc123</a:t>
            </a:r>
            <a:r>
              <a:rPr lang="zh-CN" altLang="en-US" sz="1600" b="1" dirty="0"/>
              <a:t>”，点击发送，此时串口调试助手的“接收”框中显示“</a:t>
            </a:r>
            <a:r>
              <a:rPr lang="en-US" altLang="zh-CN" sz="1600" b="1" dirty="0"/>
              <a:t>abc123</a:t>
            </a:r>
            <a:r>
              <a:rPr lang="zh-CN" altLang="en-US" sz="1600" b="1" dirty="0"/>
              <a:t>”，表示程序运行正确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F81FD0-60A4-FF9F-DF46-BD4DD785B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5" y="4725317"/>
            <a:ext cx="2012531" cy="19424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7A9532-1438-7EF1-791D-EFE32A29F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912" y="5696545"/>
            <a:ext cx="1937966" cy="6186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70E2AF9-2A38-2016-D17B-D3C150004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034" y="4621829"/>
            <a:ext cx="3855282" cy="130653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C7D6A49-6184-43D0-AC6E-DFA54D56A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047" y="3862382"/>
            <a:ext cx="3115134" cy="28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37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E49A3-12A7-576A-6D7C-E80059FB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9440BC-C63B-87CC-2F85-D17D76982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493"/>
            <a:ext cx="10515600" cy="488338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zh-CN" altLang="en-US" sz="2000" b="1" dirty="0"/>
              <a:t>每个同学需要完成</a:t>
            </a:r>
            <a:r>
              <a:rPr lang="en-US" altLang="zh-CN" sz="2000" b="1" dirty="0">
                <a:solidFill>
                  <a:srgbClr val="FF0000"/>
                </a:solidFill>
              </a:rPr>
              <a:t>6</a:t>
            </a:r>
            <a:r>
              <a:rPr lang="zh-CN" altLang="en-US" sz="2000" b="1" dirty="0">
                <a:solidFill>
                  <a:srgbClr val="FF0000"/>
                </a:solidFill>
              </a:rPr>
              <a:t>个设计实验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pPr lvl="1">
              <a:lnSpc>
                <a:spcPct val="170000"/>
              </a:lnSpc>
            </a:pPr>
            <a:r>
              <a:rPr lang="en-US" altLang="zh-CN" sz="1600" b="1" dirty="0"/>
              <a:t>1</a:t>
            </a:r>
            <a:r>
              <a:rPr lang="zh-CN" altLang="en-US" sz="1600" b="1" dirty="0"/>
              <a:t>、请从设计实验</a:t>
            </a:r>
            <a:r>
              <a:rPr lang="en-US" altLang="zh-CN" sz="1600" b="1" dirty="0"/>
              <a:t>1-1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1-2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1-3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1-4</a:t>
            </a:r>
            <a:r>
              <a:rPr lang="zh-CN" altLang="en-US" sz="1600" b="1" dirty="0"/>
              <a:t>中任意选择一个（小键盘控制）</a:t>
            </a:r>
            <a:endParaRPr lang="en-US" altLang="zh-CN" sz="1600" b="1" dirty="0"/>
          </a:p>
          <a:p>
            <a:pPr lvl="1">
              <a:lnSpc>
                <a:spcPct val="170000"/>
              </a:lnSpc>
            </a:pPr>
            <a:r>
              <a:rPr lang="en-US" altLang="zh-CN" sz="1600" b="1" dirty="0"/>
              <a:t>2</a:t>
            </a:r>
            <a:r>
              <a:rPr lang="zh-CN" altLang="en-US" sz="1600" b="1" dirty="0"/>
              <a:t>、请从设计实验</a:t>
            </a:r>
            <a:r>
              <a:rPr lang="en-US" altLang="zh-CN" sz="1600" b="1" dirty="0"/>
              <a:t>1-5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1-6</a:t>
            </a:r>
            <a:r>
              <a:rPr lang="zh-CN" altLang="en-US" sz="1600" b="1" dirty="0"/>
              <a:t>中任意选择一个（遥控器控制）</a:t>
            </a:r>
            <a:endParaRPr lang="en-US" altLang="zh-CN" sz="1600" b="1" dirty="0"/>
          </a:p>
          <a:p>
            <a:pPr lvl="1">
              <a:lnSpc>
                <a:spcPct val="170000"/>
              </a:lnSpc>
            </a:pPr>
            <a:r>
              <a:rPr lang="en-US" altLang="zh-CN" sz="1600" b="1" dirty="0"/>
              <a:t>3</a:t>
            </a:r>
            <a:r>
              <a:rPr lang="zh-CN" altLang="en-US" sz="1600" b="1" dirty="0"/>
              <a:t>、请从设计实验</a:t>
            </a:r>
            <a:r>
              <a:rPr lang="en-US" altLang="zh-CN" sz="1600" b="1" dirty="0"/>
              <a:t>1-7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1-8</a:t>
            </a:r>
            <a:r>
              <a:rPr lang="zh-CN" altLang="en-US" sz="1600" b="1" dirty="0"/>
              <a:t>中任意选择一个（数码管显示）</a:t>
            </a:r>
            <a:endParaRPr lang="en-US" altLang="zh-CN" sz="1600" b="1" dirty="0"/>
          </a:p>
          <a:p>
            <a:pPr lvl="1">
              <a:lnSpc>
                <a:spcPct val="170000"/>
              </a:lnSpc>
            </a:pPr>
            <a:r>
              <a:rPr lang="en-US" altLang="zh-CN" sz="1600" b="1" dirty="0"/>
              <a:t>4</a:t>
            </a:r>
            <a:r>
              <a:rPr lang="zh-CN" altLang="en-US" sz="1600" b="1" dirty="0"/>
              <a:t>、设计实验</a:t>
            </a:r>
            <a:r>
              <a:rPr lang="en-US" altLang="zh-CN" sz="1600" b="1" dirty="0"/>
              <a:t>2-1</a:t>
            </a:r>
            <a:r>
              <a:rPr lang="zh-CN" altLang="en-US" sz="1600" b="1" dirty="0"/>
              <a:t>必做（混合编程）</a:t>
            </a:r>
            <a:endParaRPr lang="en-US" altLang="zh-CN" sz="1600" b="1" dirty="0"/>
          </a:p>
          <a:p>
            <a:pPr lvl="1">
              <a:lnSpc>
                <a:spcPct val="170000"/>
              </a:lnSpc>
            </a:pPr>
            <a:r>
              <a:rPr lang="en-US" altLang="zh-CN" sz="1600" b="1" dirty="0"/>
              <a:t>5</a:t>
            </a:r>
            <a:r>
              <a:rPr lang="zh-CN" altLang="en-US" sz="1600" b="1" dirty="0"/>
              <a:t>、请从设计实验</a:t>
            </a:r>
            <a:r>
              <a:rPr lang="en-US" altLang="zh-CN" sz="1600" b="1" dirty="0"/>
              <a:t>2-2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2-3</a:t>
            </a:r>
            <a:r>
              <a:rPr lang="zh-CN" altLang="en-US" sz="1600" b="1" dirty="0"/>
              <a:t>中任意选择一个（汇编语言）</a:t>
            </a:r>
            <a:endParaRPr lang="en-US" altLang="zh-CN" sz="1600" b="1" dirty="0"/>
          </a:p>
          <a:p>
            <a:pPr lvl="1">
              <a:lnSpc>
                <a:spcPct val="170000"/>
              </a:lnSpc>
            </a:pPr>
            <a:r>
              <a:rPr lang="en-US" altLang="zh-CN" sz="1600" b="1" dirty="0"/>
              <a:t>6</a:t>
            </a:r>
            <a:r>
              <a:rPr lang="zh-CN" altLang="en-US" sz="1600" b="1" dirty="0"/>
              <a:t>、请从设计实验</a:t>
            </a:r>
            <a:r>
              <a:rPr lang="en-US" altLang="zh-CN" sz="1600" b="1" dirty="0"/>
              <a:t>2-4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2-5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2-6</a:t>
            </a:r>
            <a:r>
              <a:rPr lang="zh-CN" altLang="en-US" sz="1600" b="1" dirty="0"/>
              <a:t>中任意选择一个（混合编程）</a:t>
            </a:r>
            <a:endParaRPr lang="en-US" altLang="zh-CN" sz="1600" b="1" dirty="0"/>
          </a:p>
          <a:p>
            <a:pPr>
              <a:lnSpc>
                <a:spcPct val="170000"/>
              </a:lnSpc>
            </a:pPr>
            <a:r>
              <a:rPr lang="zh-CN" altLang="en-US" sz="2000" b="1" dirty="0"/>
              <a:t>请同学们尽早在自己的电脑上先将程序编译通过，然后利用第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次实验学时（第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周），到实验室运行（调试）程序。</a:t>
            </a:r>
            <a:endParaRPr lang="en-US" altLang="zh-CN" sz="2000" b="1" dirty="0"/>
          </a:p>
          <a:p>
            <a:pPr>
              <a:lnSpc>
                <a:spcPct val="170000"/>
              </a:lnSpc>
            </a:pPr>
            <a:r>
              <a:rPr lang="zh-CN" altLang="en-US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请按照实验报告的模板撰写实验报告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53476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30381</TotalTime>
  <Words>2909</Words>
  <Application>Microsoft Office PowerPoint</Application>
  <PresentationFormat>宽屏</PresentationFormat>
  <Paragraphs>237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等线</vt:lpstr>
      <vt:lpstr>等线 Light</vt:lpstr>
      <vt:lpstr>Arial</vt:lpstr>
      <vt:lpstr>Office 主题​​</vt:lpstr>
      <vt:lpstr>《嵌入式系统》  （实验三    STM32、ARM裸机设计实验）</vt:lpstr>
      <vt:lpstr>一、STM32设计实验</vt:lpstr>
      <vt:lpstr>设计实验1-1：小键盘控制步进电机</vt:lpstr>
      <vt:lpstr>PowerPoint 演示文稿</vt:lpstr>
      <vt:lpstr>PowerPoint 演示文稿</vt:lpstr>
      <vt:lpstr>设计实验1-2：小键盘控制陀机</vt:lpstr>
      <vt:lpstr>设计实验1-3：小键盘控制LED灯</vt:lpstr>
      <vt:lpstr>设计实验1-4：小键盘控制蜂鸣器</vt:lpstr>
      <vt:lpstr>设计实验1-5：红外遥控器控制LED灯</vt:lpstr>
      <vt:lpstr>设计实验1-6：红外遥控器控制蜂鸣器</vt:lpstr>
      <vt:lpstr>设计实验1-7：电子钟</vt:lpstr>
      <vt:lpstr>设计实验1-8：在数码管上显示温度采集值</vt:lpstr>
      <vt:lpstr>二、ARM裸机设计实验</vt:lpstr>
      <vt:lpstr>设计实验2-1</vt:lpstr>
      <vt:lpstr>01-fs_led实验工程文件夹</vt:lpstr>
      <vt:lpstr>设计实验2-2</vt:lpstr>
      <vt:lpstr>02-fs_assembly_pwm实验工程文件夹</vt:lpstr>
      <vt:lpstr>设计实验2-3</vt:lpstr>
      <vt:lpstr>03-fs_assembly_beep实验工程文件夹</vt:lpstr>
      <vt:lpstr>设计实验2-4</vt:lpstr>
      <vt:lpstr>11-fs_loop_key_beep实验工程文件夹</vt:lpstr>
      <vt:lpstr>设计实验2-5</vt:lpstr>
      <vt:lpstr>12-fs_irq_key_beep实验工程文件夹</vt:lpstr>
      <vt:lpstr>设计实验2-6</vt:lpstr>
      <vt:lpstr>13-fs_uart_receive实验工程文件夹</vt:lpstr>
      <vt:lpstr>13-fs_uart_receive实验工程的运行</vt:lpstr>
      <vt:lpstr>要求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Zeng Wenhua</dc:creator>
  <cp:lastModifiedBy>Lenovo</cp:lastModifiedBy>
  <cp:revision>253</cp:revision>
  <dcterms:created xsi:type="dcterms:W3CDTF">2023-04-28T08:14:19Z</dcterms:created>
  <dcterms:modified xsi:type="dcterms:W3CDTF">2025-09-18T23:32:58Z</dcterms:modified>
</cp:coreProperties>
</file>