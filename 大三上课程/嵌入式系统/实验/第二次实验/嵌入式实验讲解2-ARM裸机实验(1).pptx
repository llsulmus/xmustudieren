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1261" r:id="rId3"/>
    <p:sldId id="1264" r:id="rId4"/>
    <p:sldId id="1262" r:id="rId5"/>
    <p:sldId id="1263" r:id="rId6"/>
    <p:sldId id="257" r:id="rId7"/>
    <p:sldId id="1265" r:id="rId8"/>
    <p:sldId id="1266" r:id="rId9"/>
    <p:sldId id="1267" r:id="rId10"/>
    <p:sldId id="1268" r:id="rId11"/>
    <p:sldId id="1253" r:id="rId12"/>
    <p:sldId id="1269" r:id="rId13"/>
    <p:sldId id="957" r:id="rId14"/>
    <p:sldId id="824" r:id="rId15"/>
    <p:sldId id="709" r:id="rId16"/>
    <p:sldId id="710" r:id="rId17"/>
    <p:sldId id="712" r:id="rId18"/>
    <p:sldId id="714" r:id="rId19"/>
    <p:sldId id="715" r:id="rId20"/>
    <p:sldId id="532" r:id="rId21"/>
    <p:sldId id="717" r:id="rId22"/>
    <p:sldId id="716" r:id="rId23"/>
    <p:sldId id="529" r:id="rId24"/>
    <p:sldId id="531" r:id="rId25"/>
    <p:sldId id="530" r:id="rId26"/>
    <p:sldId id="825" r:id="rId27"/>
    <p:sldId id="758" r:id="rId28"/>
    <p:sldId id="759" r:id="rId29"/>
    <p:sldId id="1280" r:id="rId30"/>
    <p:sldId id="1281" r:id="rId31"/>
    <p:sldId id="744" r:id="rId32"/>
    <p:sldId id="745" r:id="rId33"/>
    <p:sldId id="1282" r:id="rId34"/>
    <p:sldId id="750" r:id="rId35"/>
    <p:sldId id="1284" r:id="rId36"/>
    <p:sldId id="757" r:id="rId37"/>
    <p:sldId id="1292" r:id="rId38"/>
    <p:sldId id="1286" r:id="rId39"/>
    <p:sldId id="1287" r:id="rId40"/>
    <p:sldId id="1288" r:id="rId41"/>
    <p:sldId id="1289" r:id="rId42"/>
    <p:sldId id="1290" r:id="rId43"/>
    <p:sldId id="1291" r:id="rId44"/>
    <p:sldId id="1245" r:id="rId45"/>
    <p:sldId id="1247" r:id="rId46"/>
    <p:sldId id="1248" r:id="rId47"/>
    <p:sldId id="1232" r:id="rId48"/>
    <p:sldId id="1294" r:id="rId49"/>
    <p:sldId id="1239" r:id="rId50"/>
    <p:sldId id="1240" r:id="rId51"/>
    <p:sldId id="1241" r:id="rId52"/>
    <p:sldId id="1242" r:id="rId53"/>
    <p:sldId id="1295" r:id="rId54"/>
    <p:sldId id="827" r:id="rId55"/>
    <p:sldId id="725" r:id="rId56"/>
    <p:sldId id="726" r:id="rId57"/>
    <p:sldId id="558" r:id="rId58"/>
    <p:sldId id="718" r:id="rId59"/>
    <p:sldId id="727" r:id="rId60"/>
    <p:sldId id="1296" r:id="rId61"/>
    <p:sldId id="830" r:id="rId62"/>
    <p:sldId id="831" r:id="rId63"/>
    <p:sldId id="832" r:id="rId64"/>
    <p:sldId id="834" r:id="rId65"/>
    <p:sldId id="833" r:id="rId66"/>
    <p:sldId id="543" r:id="rId67"/>
    <p:sldId id="835" r:id="rId68"/>
    <p:sldId id="1297" r:id="rId69"/>
    <p:sldId id="838" r:id="rId70"/>
    <p:sldId id="839" r:id="rId71"/>
    <p:sldId id="840" r:id="rId72"/>
    <p:sldId id="842" r:id="rId73"/>
    <p:sldId id="845" r:id="rId74"/>
    <p:sldId id="847" r:id="rId75"/>
    <p:sldId id="856" r:id="rId76"/>
    <p:sldId id="858" r:id="rId77"/>
    <p:sldId id="857" r:id="rId78"/>
    <p:sldId id="862" r:id="rId79"/>
    <p:sldId id="1270" r:id="rId80"/>
    <p:sldId id="829" r:id="rId81"/>
    <p:sldId id="766" r:id="rId82"/>
    <p:sldId id="767" r:id="rId83"/>
    <p:sldId id="768" r:id="rId84"/>
    <p:sldId id="805" r:id="rId85"/>
    <p:sldId id="806" r:id="rId86"/>
    <p:sldId id="809" r:id="rId87"/>
    <p:sldId id="810" r:id="rId88"/>
    <p:sldId id="811" r:id="rId89"/>
    <p:sldId id="812" r:id="rId90"/>
    <p:sldId id="813" r:id="rId91"/>
    <p:sldId id="815" r:id="rId92"/>
    <p:sldId id="816" r:id="rId93"/>
    <p:sldId id="955" r:id="rId94"/>
    <p:sldId id="1299" r:id="rId95"/>
    <p:sldId id="1300" r:id="rId96"/>
    <p:sldId id="1271" r:id="rId97"/>
    <p:sldId id="795" r:id="rId98"/>
    <p:sldId id="867" r:id="rId99"/>
    <p:sldId id="868" r:id="rId100"/>
    <p:sldId id="869" r:id="rId101"/>
    <p:sldId id="870" r:id="rId102"/>
    <p:sldId id="871" r:id="rId103"/>
    <p:sldId id="874" r:id="rId104"/>
    <p:sldId id="875" r:id="rId105"/>
    <p:sldId id="882" r:id="rId106"/>
    <p:sldId id="1272" r:id="rId107"/>
    <p:sldId id="897" r:id="rId108"/>
    <p:sldId id="898" r:id="rId109"/>
    <p:sldId id="899" r:id="rId110"/>
    <p:sldId id="900" r:id="rId111"/>
    <p:sldId id="901" r:id="rId112"/>
    <p:sldId id="902" r:id="rId113"/>
    <p:sldId id="1301" r:id="rId114"/>
    <p:sldId id="904" r:id="rId115"/>
    <p:sldId id="906" r:id="rId116"/>
    <p:sldId id="907" r:id="rId117"/>
    <p:sldId id="912" r:id="rId118"/>
    <p:sldId id="1273" r:id="rId119"/>
    <p:sldId id="903" r:id="rId120"/>
    <p:sldId id="940" r:id="rId121"/>
    <p:sldId id="941" r:id="rId122"/>
    <p:sldId id="942" r:id="rId123"/>
    <p:sldId id="1274" r:id="rId124"/>
    <p:sldId id="947" r:id="rId125"/>
    <p:sldId id="948" r:id="rId126"/>
    <p:sldId id="949" r:id="rId127"/>
    <p:sldId id="946" r:id="rId128"/>
    <p:sldId id="956" r:id="rId129"/>
    <p:sldId id="1276" r:id="rId130"/>
    <p:sldId id="1277" r:id="rId131"/>
    <p:sldId id="1249" r:id="rId1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94" d="100"/>
          <a:sy n="94" d="100"/>
        </p:scale>
        <p:origin x="10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F00DBFD-E921-447C-B240-7D22B1F5326D}" type="datetimeFigureOut">
              <a:rPr lang="zh-CN" altLang="en-US" smtClean="0"/>
              <a:t>2025/9/19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2088E76-30D5-4D85-8756-A5CF5157450A}"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4576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F00DBFD-E921-447C-B240-7D22B1F5326D}" type="datetimeFigureOut">
              <a:rPr lang="zh-CN" altLang="en-US" smtClean="0"/>
              <a:t>2025/9/19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2088E76-30D5-4D85-8756-A5CF5157450A}" type="slidenum">
              <a:rPr lang="zh-CN" altLang="en-US" smtClean="0"/>
              <a:t>‹#›</a:t>
            </a:fld>
            <a:endParaRPr lang="zh-CN" altLang="en-US"/>
          </a:p>
        </p:txBody>
      </p:sp>
    </p:spTree>
    <p:extLst>
      <p:ext uri="{BB962C8B-B14F-4D97-AF65-F5344CB8AC3E}">
        <p14:creationId xmlns:p14="http://schemas.microsoft.com/office/powerpoint/2010/main" val="3389379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F00DBFD-E921-447C-B240-7D22B1F5326D}" type="datetimeFigureOut">
              <a:rPr lang="zh-CN" altLang="en-US" smtClean="0"/>
              <a:t>2025/9/19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2088E76-30D5-4D85-8756-A5CF5157450A}"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760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F00DBFD-E921-447C-B240-7D22B1F5326D}" type="datetimeFigureOut">
              <a:rPr lang="zh-CN" altLang="en-US" smtClean="0"/>
              <a:t>2025/9/19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2088E76-30D5-4D85-8756-A5CF5157450A}" type="slidenum">
              <a:rPr lang="zh-CN" altLang="en-US" smtClean="0"/>
              <a:t>‹#›</a:t>
            </a:fld>
            <a:endParaRPr lang="zh-CN" altLang="en-US"/>
          </a:p>
        </p:txBody>
      </p:sp>
    </p:spTree>
    <p:extLst>
      <p:ext uri="{BB962C8B-B14F-4D97-AF65-F5344CB8AC3E}">
        <p14:creationId xmlns:p14="http://schemas.microsoft.com/office/powerpoint/2010/main" val="229319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97280" y="2582334"/>
            <a:ext cx="4937760" cy="3378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920" y="2582334"/>
            <a:ext cx="4937760" cy="3378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F00DBFD-E921-447C-B240-7D22B1F5326D}" type="datetimeFigureOut">
              <a:rPr lang="zh-CN" altLang="en-US" smtClean="0"/>
              <a:t>2025/9/19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82088E76-30D5-4D85-8756-A5CF5157450A}" type="slidenum">
              <a:rPr lang="zh-CN" altLang="en-US" smtClean="0"/>
              <a:t>‹#›</a:t>
            </a:fld>
            <a:endParaRPr lang="zh-CN" altLang="en-US"/>
          </a:p>
        </p:txBody>
      </p:sp>
    </p:spTree>
    <p:extLst>
      <p:ext uri="{BB962C8B-B14F-4D97-AF65-F5344CB8AC3E}">
        <p14:creationId xmlns:p14="http://schemas.microsoft.com/office/powerpoint/2010/main" val="3115468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F00DBFD-E921-447C-B240-7D22B1F5326D}" type="datetimeFigureOut">
              <a:rPr lang="zh-CN" altLang="en-US" smtClean="0"/>
              <a:t>2025/9/19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82088E76-30D5-4D85-8756-A5CF5157450A}" type="slidenum">
              <a:rPr lang="zh-CN" altLang="en-US" smtClean="0"/>
              <a:t>‹#›</a:t>
            </a:fld>
            <a:endParaRPr lang="zh-CN" altLang="en-US"/>
          </a:p>
        </p:txBody>
      </p:sp>
    </p:spTree>
    <p:extLst>
      <p:ext uri="{BB962C8B-B14F-4D97-AF65-F5344CB8AC3E}">
        <p14:creationId xmlns:p14="http://schemas.microsoft.com/office/powerpoint/2010/main" val="1307429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F00DBFD-E921-447C-B240-7D22B1F5326D}" type="datetimeFigureOut">
              <a:rPr lang="zh-CN" altLang="en-US" smtClean="0"/>
              <a:t>2025/9/19</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82088E76-30D5-4D85-8756-A5CF5157450A}" type="slidenum">
              <a:rPr lang="zh-CN" altLang="en-US" smtClean="0"/>
              <a:t>‹#›</a:t>
            </a:fld>
            <a:endParaRPr lang="zh-CN" altLang="en-US"/>
          </a:p>
        </p:txBody>
      </p:sp>
    </p:spTree>
    <p:extLst>
      <p:ext uri="{BB962C8B-B14F-4D97-AF65-F5344CB8AC3E}">
        <p14:creationId xmlns:p14="http://schemas.microsoft.com/office/powerpoint/2010/main" val="1003358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F00DBFD-E921-447C-B240-7D22B1F5326D}" type="datetimeFigureOut">
              <a:rPr lang="zh-CN" altLang="en-US" smtClean="0"/>
              <a:t>2025/9/19</a:t>
            </a:fld>
            <a:endParaRPr lang="zh-CN"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2088E76-30D5-4D85-8756-A5CF5157450A}" type="slidenum">
              <a:rPr lang="zh-CN" altLang="en-US" smtClean="0"/>
              <a:t>‹#›</a:t>
            </a:fld>
            <a:endParaRPr lang="zh-CN" altLang="en-US"/>
          </a:p>
        </p:txBody>
      </p:sp>
    </p:spTree>
    <p:extLst>
      <p:ext uri="{BB962C8B-B14F-4D97-AF65-F5344CB8AC3E}">
        <p14:creationId xmlns:p14="http://schemas.microsoft.com/office/powerpoint/2010/main" val="403011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F00DBFD-E921-447C-B240-7D22B1F5326D}" type="datetimeFigureOut">
              <a:rPr lang="zh-CN" altLang="en-US" smtClean="0"/>
              <a:t>2025/9/19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2088E76-30D5-4D85-8756-A5CF5157450A}" type="slidenum">
              <a:rPr lang="zh-CN" altLang="en-US" smtClean="0"/>
              <a:t>‹#›</a:t>
            </a:fld>
            <a:endParaRPr lang="zh-CN" altLang="en-US"/>
          </a:p>
        </p:txBody>
      </p:sp>
    </p:spTree>
    <p:extLst>
      <p:ext uri="{BB962C8B-B14F-4D97-AF65-F5344CB8AC3E}">
        <p14:creationId xmlns:p14="http://schemas.microsoft.com/office/powerpoint/2010/main" val="1151437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F00DBFD-E921-447C-B240-7D22B1F5326D}" type="datetimeFigureOut">
              <a:rPr lang="zh-CN" altLang="en-US" smtClean="0"/>
              <a:t>2025/9/19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2088E76-30D5-4D85-8756-A5CF5157450A}" type="slidenum">
              <a:rPr lang="zh-CN" altLang="en-US" smtClean="0"/>
              <a:t>‹#›</a:t>
            </a:fld>
            <a:endParaRPr lang="zh-CN" altLang="en-US"/>
          </a:p>
        </p:txBody>
      </p:sp>
    </p:spTree>
    <p:extLst>
      <p:ext uri="{BB962C8B-B14F-4D97-AF65-F5344CB8AC3E}">
        <p14:creationId xmlns:p14="http://schemas.microsoft.com/office/powerpoint/2010/main" val="1888866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F00DBFD-E921-447C-B240-7D22B1F5326D}" type="datetimeFigureOut">
              <a:rPr lang="zh-CN" altLang="en-US" smtClean="0"/>
              <a:t>2025/9/19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2088E76-30D5-4D85-8756-A5CF5157450A}" type="slidenum">
              <a:rPr lang="zh-CN" altLang="en-US" smtClean="0"/>
              <a:t>‹#›</a:t>
            </a:fld>
            <a:endParaRPr lang="zh-CN" altLang="en-US"/>
          </a:p>
        </p:txBody>
      </p:sp>
    </p:spTree>
    <p:extLst>
      <p:ext uri="{BB962C8B-B14F-4D97-AF65-F5344CB8AC3E}">
        <p14:creationId xmlns:p14="http://schemas.microsoft.com/office/powerpoint/2010/main" val="2487435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F00DBFD-E921-447C-B240-7D22B1F5326D}" type="datetimeFigureOut">
              <a:rPr lang="zh-CN" altLang="en-US" smtClean="0"/>
              <a:t>2025/9/19</a:t>
            </a:fld>
            <a:endParaRPr lang="zh-CN"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2088E76-30D5-4D85-8756-A5CF5157450A}" type="slidenum">
              <a:rPr lang="zh-CN" altLang="en-US" smtClean="0"/>
              <a:t>‹#›</a:t>
            </a:fld>
            <a:endParaRPr lang="zh-CN"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81854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baike.baidu.com/item/%E6%93%8D%E4%BD%9C%E7%B3%BB%E7%BB%9F/192?fromModule=lemma_inlink" TargetMode="External"/><Relationship Id="rId7" Type="http://schemas.openxmlformats.org/officeDocument/2006/relationships/image" Target="../media/image5.png"/><Relationship Id="rId2" Type="http://schemas.openxmlformats.org/officeDocument/2006/relationships/hyperlink" Target="https://baike.baidu.com/item/%E8%99%9A%E6%8B%9F%E8%AE%A1%E7%AE%97%E6%9C%BA/5732003?fromModule=lemma_inlink" TargetMode="External"/><Relationship Id="rId1" Type="http://schemas.openxmlformats.org/officeDocument/2006/relationships/slideLayout" Target="../slideLayouts/slideLayout2.xml"/><Relationship Id="rId6" Type="http://schemas.openxmlformats.org/officeDocument/2006/relationships/hyperlink" Target="https://baike.baidu.com/item/%E4%B8%BB%E6%9C%BA%E6%93%8D%E4%BD%9C%E7%B3%BB%E7%BB%9F/0?fromModule=lemma_inlink" TargetMode="External"/><Relationship Id="rId5" Type="http://schemas.openxmlformats.org/officeDocument/2006/relationships/hyperlink" Target="https://baike.baidu.com/item/%E8%99%9A%E6%8B%9F%E6%9C%BA/0?fromModule=lemma_inlink" TargetMode="External"/><Relationship Id="rId4" Type="http://schemas.openxmlformats.org/officeDocument/2006/relationships/hyperlink" Target="https://baike.baidu.com/item/%E5%BA%94%E7%94%A8%E7%A8%8B%E5%BA%8F/5985445?fromModule=lemma_inlink"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baike.baidu.com/item/Linux/27050?fromModule=lemma_inlink"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hyperlink" Target="https://baike.baidu.com/item/%E8%87%AA%E7%94%B1%E8%BD%AF%E4%BB%B6/0?fromModule=lemma_inlink"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baike.baidu.com/item/%E6%A0%B9%E6%96%87%E4%BB%B6%E7%B3%BB%E7%BB%9F/0?fromModule=lemma_inlink" TargetMode="External"/><Relationship Id="rId2" Type="http://schemas.openxmlformats.org/officeDocument/2006/relationships/hyperlink" Target="https://baike.baidu.com/item/%E5%86%85%E6%A0%B8/0?fromModule=lemma_inlink" TargetMode="External"/><Relationship Id="rId1" Type="http://schemas.openxmlformats.org/officeDocument/2006/relationships/slideLayout" Target="../slideLayouts/slideLayout2.xml"/><Relationship Id="rId4" Type="http://schemas.openxmlformats.org/officeDocument/2006/relationships/hyperlink" Target="https://baike.baidu.com/item/%E7%9B%AE%E6%A0%87%E6%9D%BF/0?fromModule=lemma_inlink"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baike.baidu.com/item/armboot/0?fromModule=lemma_inlink" TargetMode="External"/><Relationship Id="rId3" Type="http://schemas.openxmlformats.org/officeDocument/2006/relationships/hyperlink" Target="https://baike.baidu.com/item/%E7%BC%96%E8%AF%91%E5%99%A8/0?fromModule=lemma_inlink" TargetMode="External"/><Relationship Id="rId7" Type="http://schemas.openxmlformats.org/officeDocument/2006/relationships/hyperlink" Target="https://baike.baidu.com/item/%E5%A0%86%E6%A0%88/0?fromModule=lemma_inlink" TargetMode="External"/><Relationship Id="rId2" Type="http://schemas.openxmlformats.org/officeDocument/2006/relationships/hyperlink" Target="https://baike.baidu.com/item/%E5%85%A5%E5%8F%A3%E7%82%B9/0?fromModule=lemma_inlink" TargetMode="External"/><Relationship Id="rId1" Type="http://schemas.openxmlformats.org/officeDocument/2006/relationships/slideLayout" Target="../slideLayouts/slideLayout2.xml"/><Relationship Id="rId6" Type="http://schemas.openxmlformats.org/officeDocument/2006/relationships/hyperlink" Target="https://baike.baidu.com/item/%E5%86%85%E5%AD%98%E6%8E%A7%E5%88%B6%E5%99%A8/355099?fromModule=lemma_inlink" TargetMode="External"/><Relationship Id="rId5" Type="http://schemas.openxmlformats.org/officeDocument/2006/relationships/hyperlink" Target="https://baike.baidu.com/item/%E6%8E%A7%E5%88%B6%E5%AF%84%E5%AD%98%E5%99%A8/0?fromModule=lemma_inlink" TargetMode="External"/><Relationship Id="rId4" Type="http://schemas.openxmlformats.org/officeDocument/2006/relationships/hyperlink" Target="https://baike.baidu.com/item/%E6%97%B6%E9%92%9F%E9%A2%91%E7%8E%87/0?fromModule=lemma_inlink" TargetMode="External"/><Relationship Id="rId9" Type="http://schemas.openxmlformats.org/officeDocument/2006/relationships/hyperlink" Target="https://baike.baidu.com/item/%E4%B8%BB%E5%87%BD%E6%95%B0/0?fromModule=lemma_inlink"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hyperlink" Target="https://baike.baidu.com/item/%E7%9B%AE%E6%A0%87%E7%A8%8B%E5%BA%8F/0?fromModule=lemma_inlink" TargetMode="External"/><Relationship Id="rId7" Type="http://schemas.openxmlformats.org/officeDocument/2006/relationships/image" Target="../media/image12.png"/><Relationship Id="rId2" Type="http://schemas.openxmlformats.org/officeDocument/2006/relationships/hyperlink" Target="https://baike.baidu.com/item/%E5%AD%98%E5%82%A8%E5%99%A8/0?fromModule=lemma_inlink" TargetMode="Externa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hyperlink" Target="https://baike.baidu.com/item/%E9%9B%86%E6%88%90%E5%BC%80%E5%8F%91%E7%8E%AF%E5%A2%83/0?fromModule=lemma_inlink" TargetMode="External"/><Relationship Id="rId4" Type="http://schemas.openxmlformats.org/officeDocument/2006/relationships/hyperlink" Target="https://baike.baidu.com/item/%E7%9B%AE%E6%A0%87%E6%9D%BF/0?fromModule=lemma_inlink"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blog.csdn.net/qq_51753728/article/details/142262405" TargetMode="Externa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6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7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9816F5-EF5D-4A72-8059-840FD8837106}"/>
              </a:ext>
            </a:extLst>
          </p:cNvPr>
          <p:cNvSpPr>
            <a:spLocks noGrp="1"/>
          </p:cNvSpPr>
          <p:nvPr>
            <p:ph type="ctrTitle"/>
          </p:nvPr>
        </p:nvSpPr>
        <p:spPr/>
        <p:txBody>
          <a:bodyPr/>
          <a:lstStyle/>
          <a:p>
            <a:r>
              <a:rPr lang="zh-CN" altLang="en-US" dirty="0"/>
              <a:t>嵌入式实验讲解</a:t>
            </a:r>
          </a:p>
        </p:txBody>
      </p:sp>
      <p:sp>
        <p:nvSpPr>
          <p:cNvPr id="3" name="副标题 2">
            <a:extLst>
              <a:ext uri="{FF2B5EF4-FFF2-40B4-BE49-F238E27FC236}">
                <a16:creationId xmlns:a16="http://schemas.microsoft.com/office/drawing/2014/main" id="{8FA13251-7ECB-4C47-ADCC-4FB896733762}"/>
              </a:ext>
            </a:extLst>
          </p:cNvPr>
          <p:cNvSpPr>
            <a:spLocks noGrp="1"/>
          </p:cNvSpPr>
          <p:nvPr>
            <p:ph type="subTitle" idx="1"/>
          </p:nvPr>
        </p:nvSpPr>
        <p:spPr/>
        <p:txBody>
          <a:bodyPr>
            <a:normAutofit/>
          </a:bodyPr>
          <a:lstStyle/>
          <a:p>
            <a:r>
              <a:rPr lang="en-US" altLang="zh-CN" sz="2800" b="1" dirty="0"/>
              <a:t>ARM</a:t>
            </a:r>
            <a:r>
              <a:rPr lang="zh-CN" altLang="en-US" sz="2800" b="1" dirty="0"/>
              <a:t>裸机实验部分</a:t>
            </a:r>
          </a:p>
        </p:txBody>
      </p:sp>
    </p:spTree>
    <p:extLst>
      <p:ext uri="{BB962C8B-B14F-4D97-AF65-F5344CB8AC3E}">
        <p14:creationId xmlns:p14="http://schemas.microsoft.com/office/powerpoint/2010/main" val="2938640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F0535F-BDA5-44D3-85CB-98533E224622}"/>
              </a:ext>
            </a:extLst>
          </p:cNvPr>
          <p:cNvSpPr>
            <a:spLocks noGrp="1"/>
          </p:cNvSpPr>
          <p:nvPr>
            <p:ph type="title"/>
          </p:nvPr>
        </p:nvSpPr>
        <p:spPr/>
        <p:txBody>
          <a:bodyPr/>
          <a:lstStyle/>
          <a:p>
            <a:r>
              <a:rPr lang="zh-CN" altLang="en-US" dirty="0"/>
              <a:t>实验内容安排</a:t>
            </a:r>
          </a:p>
        </p:txBody>
      </p:sp>
      <p:sp>
        <p:nvSpPr>
          <p:cNvPr id="3" name="内容占位符 2">
            <a:extLst>
              <a:ext uri="{FF2B5EF4-FFF2-40B4-BE49-F238E27FC236}">
                <a16:creationId xmlns:a16="http://schemas.microsoft.com/office/drawing/2014/main" id="{C0438390-9B5A-404A-BFA1-26F322ADC8B3}"/>
              </a:ext>
            </a:extLst>
          </p:cNvPr>
          <p:cNvSpPr>
            <a:spLocks noGrp="1"/>
          </p:cNvSpPr>
          <p:nvPr>
            <p:ph idx="1"/>
          </p:nvPr>
        </p:nvSpPr>
        <p:spPr>
          <a:xfrm>
            <a:off x="1301388" y="1802674"/>
            <a:ext cx="6119948" cy="4491990"/>
          </a:xfrm>
        </p:spPr>
        <p:txBody>
          <a:bodyPr>
            <a:normAutofit lnSpcReduction="10000"/>
          </a:bodyPr>
          <a:lstStyle/>
          <a:p>
            <a:pPr>
              <a:lnSpc>
                <a:spcPct val="110000"/>
              </a:lnSpc>
            </a:pPr>
            <a:r>
              <a:rPr lang="en-US" altLang="zh-CN" b="1" dirty="0"/>
              <a:t>ARM</a:t>
            </a:r>
            <a:r>
              <a:rPr lang="zh-CN" altLang="en-US" b="1" dirty="0"/>
              <a:t>裸机实验样例（</a:t>
            </a:r>
            <a:r>
              <a:rPr lang="en-US" altLang="zh-CN" b="1" dirty="0"/>
              <a:t>10</a:t>
            </a:r>
            <a:r>
              <a:rPr lang="zh-CN" altLang="en-US" b="1" dirty="0"/>
              <a:t>个）</a:t>
            </a:r>
          </a:p>
          <a:p>
            <a:pPr lvl="1">
              <a:lnSpc>
                <a:spcPct val="110000"/>
              </a:lnSpc>
            </a:pPr>
            <a:r>
              <a:rPr lang="zh-CN" altLang="en-US" sz="2000" b="1" dirty="0"/>
              <a:t>实验样例</a:t>
            </a:r>
            <a:r>
              <a:rPr lang="en-US" altLang="zh-CN" sz="2000" b="1" dirty="0"/>
              <a:t>1  LED</a:t>
            </a:r>
            <a:r>
              <a:rPr lang="zh-CN" altLang="en-US" sz="2000" b="1" dirty="0"/>
              <a:t>灯</a:t>
            </a:r>
          </a:p>
          <a:p>
            <a:pPr lvl="1">
              <a:lnSpc>
                <a:spcPct val="110000"/>
              </a:lnSpc>
            </a:pPr>
            <a:r>
              <a:rPr lang="zh-CN" altLang="en-US" sz="2000" b="1" dirty="0"/>
              <a:t>实验样例</a:t>
            </a:r>
            <a:r>
              <a:rPr lang="en-US" altLang="zh-CN" sz="2000" b="1" dirty="0"/>
              <a:t>2  </a:t>
            </a:r>
            <a:r>
              <a:rPr lang="zh-CN" altLang="en-US" sz="2000" b="1" dirty="0"/>
              <a:t>呼吸灯</a:t>
            </a:r>
          </a:p>
          <a:p>
            <a:pPr lvl="1">
              <a:lnSpc>
                <a:spcPct val="110000"/>
              </a:lnSpc>
            </a:pPr>
            <a:r>
              <a:rPr lang="zh-CN" altLang="en-US" sz="2000" b="1" dirty="0"/>
              <a:t>实验样例</a:t>
            </a:r>
            <a:r>
              <a:rPr lang="en-US" altLang="zh-CN" sz="2000" b="1" dirty="0"/>
              <a:t>3  </a:t>
            </a:r>
            <a:r>
              <a:rPr lang="zh-CN" altLang="en-US" sz="2000" b="1" dirty="0"/>
              <a:t>蜂鸣器</a:t>
            </a:r>
          </a:p>
          <a:p>
            <a:pPr lvl="1">
              <a:lnSpc>
                <a:spcPct val="110000"/>
              </a:lnSpc>
            </a:pPr>
            <a:r>
              <a:rPr lang="zh-CN" altLang="en-US" sz="2000" b="1" dirty="0"/>
              <a:t>实验样例</a:t>
            </a:r>
            <a:r>
              <a:rPr lang="en-US" altLang="zh-CN" sz="2000" b="1" dirty="0"/>
              <a:t>4  </a:t>
            </a:r>
            <a:r>
              <a:rPr lang="zh-CN" altLang="en-US" sz="2000" b="1" dirty="0"/>
              <a:t>按键（轮询方式）</a:t>
            </a:r>
          </a:p>
          <a:p>
            <a:pPr lvl="1">
              <a:lnSpc>
                <a:spcPct val="110000"/>
              </a:lnSpc>
            </a:pPr>
            <a:r>
              <a:rPr lang="zh-CN" altLang="en-US" sz="2000" b="1" dirty="0"/>
              <a:t>实验样例</a:t>
            </a:r>
            <a:r>
              <a:rPr lang="en-US" altLang="zh-CN" sz="2000" b="1" dirty="0"/>
              <a:t>5  </a:t>
            </a:r>
            <a:r>
              <a:rPr lang="zh-CN" altLang="en-US" sz="2000" b="1" dirty="0"/>
              <a:t>按键（中断方式）</a:t>
            </a:r>
          </a:p>
          <a:p>
            <a:pPr lvl="1">
              <a:lnSpc>
                <a:spcPct val="110000"/>
              </a:lnSpc>
            </a:pPr>
            <a:r>
              <a:rPr lang="zh-CN" altLang="en-US" sz="2000" b="1" dirty="0"/>
              <a:t>实验样例</a:t>
            </a:r>
            <a:r>
              <a:rPr lang="en-US" altLang="zh-CN" sz="2000" b="1" dirty="0"/>
              <a:t>6  </a:t>
            </a:r>
            <a:r>
              <a:rPr lang="zh-CN" altLang="en-US" sz="2000" b="1" dirty="0"/>
              <a:t>串口通信</a:t>
            </a:r>
          </a:p>
          <a:p>
            <a:pPr lvl="1">
              <a:lnSpc>
                <a:spcPct val="110000"/>
              </a:lnSpc>
            </a:pPr>
            <a:r>
              <a:rPr lang="zh-CN" altLang="en-US" sz="2000" b="1" dirty="0"/>
              <a:t>实验样例</a:t>
            </a:r>
            <a:r>
              <a:rPr lang="en-US" altLang="zh-CN" sz="2000" b="1" dirty="0"/>
              <a:t>7  A/D</a:t>
            </a:r>
            <a:r>
              <a:rPr lang="zh-CN" altLang="en-US" sz="2000" b="1" dirty="0"/>
              <a:t>转换</a:t>
            </a:r>
          </a:p>
          <a:p>
            <a:pPr lvl="1">
              <a:lnSpc>
                <a:spcPct val="110000"/>
              </a:lnSpc>
            </a:pPr>
            <a:r>
              <a:rPr lang="zh-CN" altLang="en-US" sz="2000" b="1" dirty="0"/>
              <a:t>实验样例</a:t>
            </a:r>
            <a:r>
              <a:rPr lang="en-US" altLang="zh-CN" sz="2000" b="1" dirty="0"/>
              <a:t>8  I2C</a:t>
            </a:r>
            <a:r>
              <a:rPr lang="zh-CN" altLang="en-US" sz="2000" b="1" dirty="0"/>
              <a:t>总线（温度采集）</a:t>
            </a:r>
          </a:p>
          <a:p>
            <a:pPr lvl="1">
              <a:lnSpc>
                <a:spcPct val="110000"/>
              </a:lnSpc>
            </a:pPr>
            <a:r>
              <a:rPr lang="zh-CN" altLang="en-US" sz="2000" b="1" dirty="0"/>
              <a:t>实验样例</a:t>
            </a:r>
            <a:r>
              <a:rPr lang="en-US" altLang="zh-CN" sz="2000" b="1" dirty="0"/>
              <a:t>9  </a:t>
            </a:r>
            <a:r>
              <a:rPr lang="zh-CN" altLang="en-US" sz="2000" b="1" dirty="0"/>
              <a:t>定时器</a:t>
            </a:r>
          </a:p>
          <a:p>
            <a:pPr lvl="1">
              <a:lnSpc>
                <a:spcPct val="110000"/>
              </a:lnSpc>
            </a:pPr>
            <a:r>
              <a:rPr lang="zh-CN" altLang="en-US" sz="2000" b="1" dirty="0"/>
              <a:t>实验样例</a:t>
            </a:r>
            <a:r>
              <a:rPr lang="en-US" altLang="zh-CN" sz="2000" b="1" dirty="0"/>
              <a:t>10  </a:t>
            </a:r>
            <a:r>
              <a:rPr lang="zh-CN" altLang="en-US" sz="2000" b="1" dirty="0"/>
              <a:t>看门狗</a:t>
            </a:r>
            <a:endParaRPr lang="zh-CN" altLang="en-US" sz="1000" b="1" dirty="0"/>
          </a:p>
          <a:p>
            <a:pPr lvl="1">
              <a:lnSpc>
                <a:spcPct val="110000"/>
              </a:lnSpc>
            </a:pPr>
            <a:endParaRPr lang="en-US" altLang="zh-CN" sz="1200" b="1" dirty="0"/>
          </a:p>
          <a:p>
            <a:pPr>
              <a:lnSpc>
                <a:spcPct val="110000"/>
              </a:lnSpc>
            </a:pPr>
            <a:endParaRPr lang="zh-CN" altLang="en-US" sz="1200" dirty="0"/>
          </a:p>
        </p:txBody>
      </p:sp>
    </p:spTree>
    <p:extLst>
      <p:ext uri="{BB962C8B-B14F-4D97-AF65-F5344CB8AC3E}">
        <p14:creationId xmlns:p14="http://schemas.microsoft.com/office/powerpoint/2010/main" val="3099195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D95564-DD08-4EF1-A1DE-7E4A57CA7059}"/>
              </a:ext>
            </a:extLst>
          </p:cNvPr>
          <p:cNvSpPr>
            <a:spLocks noGrp="1"/>
          </p:cNvSpPr>
          <p:nvPr>
            <p:ph type="title"/>
          </p:nvPr>
        </p:nvSpPr>
        <p:spPr>
          <a:xfrm>
            <a:off x="1097280" y="226669"/>
            <a:ext cx="10058400" cy="1450757"/>
          </a:xfrm>
        </p:spPr>
        <p:txBody>
          <a:bodyPr/>
          <a:lstStyle/>
          <a:p>
            <a:r>
              <a:rPr lang="zh-CN" altLang="en-US" dirty="0"/>
              <a:t>实验相关资料</a:t>
            </a:r>
          </a:p>
        </p:txBody>
      </p:sp>
      <p:sp>
        <p:nvSpPr>
          <p:cNvPr id="3" name="内容占位符 2">
            <a:extLst>
              <a:ext uri="{FF2B5EF4-FFF2-40B4-BE49-F238E27FC236}">
                <a16:creationId xmlns:a16="http://schemas.microsoft.com/office/drawing/2014/main" id="{BD680E4F-ABBC-42D4-84E8-FFFBE03910FC}"/>
              </a:ext>
            </a:extLst>
          </p:cNvPr>
          <p:cNvSpPr>
            <a:spLocks noGrp="1"/>
          </p:cNvSpPr>
          <p:nvPr>
            <p:ph idx="1"/>
          </p:nvPr>
        </p:nvSpPr>
        <p:spPr>
          <a:xfrm>
            <a:off x="1097280" y="1845734"/>
            <a:ext cx="4601391" cy="4023360"/>
          </a:xfrm>
        </p:spPr>
        <p:txBody>
          <a:bodyPr>
            <a:normAutofit/>
          </a:bodyPr>
          <a:lstStyle/>
          <a:p>
            <a:pPr>
              <a:buFont typeface="Wingdings" panose="05000000000000000000" pitchFamily="2" charset="2"/>
              <a:buChar char="l"/>
            </a:pPr>
            <a:r>
              <a:rPr lang="en-US" altLang="zh-CN" sz="2400" b="1" dirty="0"/>
              <a:t> FS3399M4</a:t>
            </a:r>
            <a:r>
              <a:rPr lang="zh-CN" altLang="en-US" sz="2400" b="1" dirty="0"/>
              <a:t>使用手册</a:t>
            </a:r>
            <a:r>
              <a:rPr lang="en-US" altLang="zh-CN" sz="2400" b="1" dirty="0"/>
              <a:t>(</a:t>
            </a:r>
            <a:r>
              <a:rPr lang="zh-CN" altLang="en-US" sz="2400" b="1" dirty="0"/>
              <a:t>核心板</a:t>
            </a:r>
            <a:r>
              <a:rPr lang="en-US" altLang="zh-CN" sz="2400" b="1" dirty="0"/>
              <a:t>-</a:t>
            </a:r>
            <a:r>
              <a:rPr lang="zh-CN" altLang="en-US" sz="2400" b="1" dirty="0"/>
              <a:t>硬件</a:t>
            </a:r>
            <a:r>
              <a:rPr lang="en-US" altLang="zh-CN" sz="2400" b="1" dirty="0"/>
              <a:t>)</a:t>
            </a:r>
          </a:p>
        </p:txBody>
      </p:sp>
      <p:pic>
        <p:nvPicPr>
          <p:cNvPr id="5" name="图片 4">
            <a:extLst>
              <a:ext uri="{FF2B5EF4-FFF2-40B4-BE49-F238E27FC236}">
                <a16:creationId xmlns:a16="http://schemas.microsoft.com/office/drawing/2014/main" id="{06F827FB-60F1-4FB8-AC65-F6615FCAC0A4}"/>
              </a:ext>
            </a:extLst>
          </p:cNvPr>
          <p:cNvPicPr>
            <a:picLocks noChangeAspect="1"/>
          </p:cNvPicPr>
          <p:nvPr/>
        </p:nvPicPr>
        <p:blipFill>
          <a:blip r:embed="rId2"/>
          <a:stretch>
            <a:fillRect/>
          </a:stretch>
        </p:blipFill>
        <p:spPr>
          <a:xfrm>
            <a:off x="1754680" y="2520474"/>
            <a:ext cx="2995512" cy="3623063"/>
          </a:xfrm>
          <a:prstGeom prst="rect">
            <a:avLst/>
          </a:prstGeom>
        </p:spPr>
      </p:pic>
      <p:pic>
        <p:nvPicPr>
          <p:cNvPr id="7" name="图片 6">
            <a:extLst>
              <a:ext uri="{FF2B5EF4-FFF2-40B4-BE49-F238E27FC236}">
                <a16:creationId xmlns:a16="http://schemas.microsoft.com/office/drawing/2014/main" id="{8CA0D359-F76E-4D07-B822-42A45E0581BD}"/>
              </a:ext>
            </a:extLst>
          </p:cNvPr>
          <p:cNvPicPr>
            <a:picLocks noChangeAspect="1"/>
          </p:cNvPicPr>
          <p:nvPr/>
        </p:nvPicPr>
        <p:blipFill>
          <a:blip r:embed="rId3"/>
          <a:stretch>
            <a:fillRect/>
          </a:stretch>
        </p:blipFill>
        <p:spPr>
          <a:xfrm>
            <a:off x="7145559" y="2599431"/>
            <a:ext cx="2831198" cy="3639915"/>
          </a:xfrm>
          <a:prstGeom prst="rect">
            <a:avLst/>
          </a:prstGeom>
        </p:spPr>
      </p:pic>
      <p:sp>
        <p:nvSpPr>
          <p:cNvPr id="9" name="文本框 8">
            <a:extLst>
              <a:ext uri="{FF2B5EF4-FFF2-40B4-BE49-F238E27FC236}">
                <a16:creationId xmlns:a16="http://schemas.microsoft.com/office/drawing/2014/main" id="{7487796D-6AC2-47A8-8581-F3C7B0C7E239}"/>
              </a:ext>
            </a:extLst>
          </p:cNvPr>
          <p:cNvSpPr txBox="1"/>
          <p:nvPr/>
        </p:nvSpPr>
        <p:spPr>
          <a:xfrm>
            <a:off x="5835929" y="1857010"/>
            <a:ext cx="4601391" cy="830997"/>
          </a:xfrm>
          <a:prstGeom prst="rect">
            <a:avLst/>
          </a:prstGeom>
          <a:noFill/>
        </p:spPr>
        <p:txBody>
          <a:bodyPr wrap="square">
            <a:spAutoFit/>
          </a:bodyPr>
          <a:lstStyle/>
          <a:p>
            <a:pPr marL="449263" lvl="1" indent="-358775">
              <a:buFont typeface="Wingdings" panose="05000000000000000000" pitchFamily="2" charset="2"/>
              <a:buChar char="l"/>
            </a:pPr>
            <a:r>
              <a:rPr lang="en-US" altLang="zh-CN" sz="2400" b="1" dirty="0">
                <a:solidFill>
                  <a:schemeClr val="tx1">
                    <a:lumMod val="75000"/>
                    <a:lumOff val="25000"/>
                  </a:schemeClr>
                </a:solidFill>
              </a:rPr>
              <a:t>ARM</a:t>
            </a:r>
            <a:r>
              <a:rPr lang="zh-CN" altLang="en-US" sz="2400" b="1" dirty="0">
                <a:solidFill>
                  <a:schemeClr val="tx1">
                    <a:lumMod val="75000"/>
                    <a:lumOff val="25000"/>
                  </a:schemeClr>
                </a:solidFill>
              </a:rPr>
              <a:t>体系结构与接口技术</a:t>
            </a:r>
            <a:endParaRPr lang="en-US" altLang="zh-CN" sz="2400" b="1" dirty="0">
              <a:solidFill>
                <a:schemeClr val="tx1">
                  <a:lumMod val="75000"/>
                  <a:lumOff val="25000"/>
                </a:schemeClr>
              </a:solidFill>
            </a:endParaRPr>
          </a:p>
          <a:p>
            <a:pPr marL="90488" lvl="1"/>
            <a:r>
              <a:rPr lang="zh-CN" altLang="en-US" sz="2400" b="1" dirty="0">
                <a:solidFill>
                  <a:schemeClr val="tx1">
                    <a:lumMod val="75000"/>
                    <a:lumOff val="25000"/>
                  </a:schemeClr>
                </a:solidFill>
              </a:rPr>
              <a:t>（指令架构</a:t>
            </a:r>
            <a:r>
              <a:rPr lang="en-US" altLang="zh-CN" sz="2400" b="1" dirty="0">
                <a:solidFill>
                  <a:schemeClr val="tx1">
                    <a:lumMod val="75000"/>
                    <a:lumOff val="25000"/>
                  </a:schemeClr>
                </a:solidFill>
              </a:rPr>
              <a:t>-</a:t>
            </a:r>
            <a:r>
              <a:rPr lang="zh-CN" altLang="en-US" sz="2400" b="1" dirty="0">
                <a:solidFill>
                  <a:schemeClr val="tx1">
                    <a:lumMod val="75000"/>
                    <a:lumOff val="25000"/>
                  </a:schemeClr>
                </a:solidFill>
              </a:rPr>
              <a:t>软件）</a:t>
            </a:r>
          </a:p>
        </p:txBody>
      </p:sp>
    </p:spTree>
    <p:extLst>
      <p:ext uri="{BB962C8B-B14F-4D97-AF65-F5344CB8AC3E}">
        <p14:creationId xmlns:p14="http://schemas.microsoft.com/office/powerpoint/2010/main" val="1857104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D07FE9-7D1A-4FFD-9D01-BD67F3C9EAB4}"/>
              </a:ext>
            </a:extLst>
          </p:cNvPr>
          <p:cNvSpPr>
            <a:spLocks noGrp="1"/>
          </p:cNvSpPr>
          <p:nvPr>
            <p:ph type="title"/>
          </p:nvPr>
        </p:nvSpPr>
        <p:spPr/>
        <p:txBody>
          <a:bodyPr/>
          <a:lstStyle/>
          <a:p>
            <a:r>
              <a:rPr lang="zh-CN" altLang="en-US" dirty="0"/>
              <a:t>实验平台</a:t>
            </a:r>
          </a:p>
        </p:txBody>
      </p:sp>
      <p:sp>
        <p:nvSpPr>
          <p:cNvPr id="3" name="内容占位符 2">
            <a:extLst>
              <a:ext uri="{FF2B5EF4-FFF2-40B4-BE49-F238E27FC236}">
                <a16:creationId xmlns:a16="http://schemas.microsoft.com/office/drawing/2014/main" id="{4833E8FE-4F9E-41FD-84F9-6A1ACDB5CE97}"/>
              </a:ext>
            </a:extLst>
          </p:cNvPr>
          <p:cNvSpPr>
            <a:spLocks noGrp="1"/>
          </p:cNvSpPr>
          <p:nvPr>
            <p:ph idx="1"/>
          </p:nvPr>
        </p:nvSpPr>
        <p:spPr>
          <a:xfrm>
            <a:off x="1066800" y="1737360"/>
            <a:ext cx="3203121" cy="466997"/>
          </a:xfrm>
        </p:spPr>
        <p:txBody>
          <a:bodyPr>
            <a:normAutofit fontScale="92500"/>
          </a:bodyPr>
          <a:lstStyle/>
          <a:p>
            <a:r>
              <a:rPr lang="en-US" altLang="zh-CN" sz="2400" b="1" dirty="0"/>
              <a:t>Cortex-A72</a:t>
            </a:r>
            <a:r>
              <a:rPr lang="zh-CN" altLang="en-US" sz="2400" b="1" dirty="0"/>
              <a:t>核心板（</a:t>
            </a:r>
            <a:r>
              <a:rPr lang="en-US" altLang="zh-CN" sz="2400" b="1" dirty="0"/>
              <a:t>MPU</a:t>
            </a:r>
            <a:r>
              <a:rPr lang="zh-CN" altLang="en-US" sz="2400" b="1" dirty="0"/>
              <a:t>）</a:t>
            </a:r>
            <a:endParaRPr lang="zh-CN" altLang="en-US" sz="2400" dirty="0"/>
          </a:p>
        </p:txBody>
      </p:sp>
      <p:pic>
        <p:nvPicPr>
          <p:cNvPr id="4" name="图片 3">
            <a:extLst>
              <a:ext uri="{FF2B5EF4-FFF2-40B4-BE49-F238E27FC236}">
                <a16:creationId xmlns:a16="http://schemas.microsoft.com/office/drawing/2014/main" id="{A1B34CD7-4671-4E45-8F2B-5EF407E47E3F}"/>
              </a:ext>
            </a:extLst>
          </p:cNvPr>
          <p:cNvPicPr>
            <a:picLocks noChangeAspect="1"/>
          </p:cNvPicPr>
          <p:nvPr/>
        </p:nvPicPr>
        <p:blipFill>
          <a:blip r:embed="rId2"/>
          <a:stretch>
            <a:fillRect/>
          </a:stretch>
        </p:blipFill>
        <p:spPr>
          <a:xfrm>
            <a:off x="3298372" y="2485145"/>
            <a:ext cx="5439879" cy="3383949"/>
          </a:xfrm>
          <a:prstGeom prst="rect">
            <a:avLst/>
          </a:prstGeom>
        </p:spPr>
      </p:pic>
    </p:spTree>
    <p:extLst>
      <p:ext uri="{BB962C8B-B14F-4D97-AF65-F5344CB8AC3E}">
        <p14:creationId xmlns:p14="http://schemas.microsoft.com/office/powerpoint/2010/main" val="3909310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0FE728-B8D2-4B06-AF9C-E99E764C2E6E}"/>
              </a:ext>
            </a:extLst>
          </p:cNvPr>
          <p:cNvSpPr>
            <a:spLocks noGrp="1"/>
          </p:cNvSpPr>
          <p:nvPr>
            <p:ph type="title"/>
          </p:nvPr>
        </p:nvSpPr>
        <p:spPr/>
        <p:txBody>
          <a:bodyPr/>
          <a:lstStyle/>
          <a:p>
            <a:r>
              <a:rPr lang="en-US" altLang="zh-CN" b="1" dirty="0"/>
              <a:t>RK3399 </a:t>
            </a:r>
            <a:r>
              <a:rPr lang="zh-CN" altLang="en-US" b="1" dirty="0"/>
              <a:t>处理器</a:t>
            </a:r>
            <a:endParaRPr lang="zh-CN" altLang="en-US" dirty="0"/>
          </a:p>
        </p:txBody>
      </p:sp>
      <p:sp>
        <p:nvSpPr>
          <p:cNvPr id="3" name="内容占位符 2">
            <a:extLst>
              <a:ext uri="{FF2B5EF4-FFF2-40B4-BE49-F238E27FC236}">
                <a16:creationId xmlns:a16="http://schemas.microsoft.com/office/drawing/2014/main" id="{D1275D55-86D0-4240-A5AF-6ABA2D718339}"/>
              </a:ext>
            </a:extLst>
          </p:cNvPr>
          <p:cNvSpPr>
            <a:spLocks noGrp="1"/>
          </p:cNvSpPr>
          <p:nvPr>
            <p:ph idx="1"/>
          </p:nvPr>
        </p:nvSpPr>
        <p:spPr/>
        <p:txBody>
          <a:bodyPr>
            <a:normAutofit fontScale="92500" lnSpcReduction="10000"/>
          </a:bodyPr>
          <a:lstStyle/>
          <a:p>
            <a:pPr>
              <a:lnSpc>
                <a:spcPct val="120000"/>
              </a:lnSpc>
            </a:pPr>
            <a:r>
              <a:rPr lang="en-US" altLang="zh-CN" sz="2000" b="1" dirty="0"/>
              <a:t>RK3399 </a:t>
            </a:r>
            <a:r>
              <a:rPr lang="zh-CN" altLang="en-US" sz="2000" b="1" dirty="0"/>
              <a:t>是</a:t>
            </a:r>
            <a:r>
              <a:rPr lang="zh-CN" altLang="en-US" sz="2000" b="1" dirty="0">
                <a:solidFill>
                  <a:srgbClr val="C00000"/>
                </a:solidFill>
              </a:rPr>
              <a:t>瑞芯微公司</a:t>
            </a:r>
            <a:r>
              <a:rPr lang="zh-CN" altLang="en-US" sz="2000" b="1" dirty="0"/>
              <a:t>推出的一款 </a:t>
            </a:r>
            <a:r>
              <a:rPr lang="en-US" altLang="zh-CN" sz="2000" b="1" dirty="0">
                <a:solidFill>
                  <a:srgbClr val="C00000"/>
                </a:solidFill>
              </a:rPr>
              <a:t>64 </a:t>
            </a:r>
            <a:r>
              <a:rPr lang="zh-CN" altLang="en-US" sz="2000" b="1" dirty="0">
                <a:solidFill>
                  <a:srgbClr val="C00000"/>
                </a:solidFill>
              </a:rPr>
              <a:t>位六核处理器</a:t>
            </a:r>
            <a:r>
              <a:rPr lang="zh-CN" altLang="en-US" sz="2000" b="1" dirty="0"/>
              <a:t>，采用 </a:t>
            </a:r>
            <a:r>
              <a:rPr lang="en-US" altLang="zh-CN" sz="2000" b="1" dirty="0"/>
              <a:t>ARM </a:t>
            </a:r>
            <a:r>
              <a:rPr lang="en-US" altLang="zh-CN" sz="2000" b="1" dirty="0" err="1"/>
              <a:t>big.LITTLE</a:t>
            </a:r>
            <a:r>
              <a:rPr lang="en-US" altLang="zh-CN" sz="2000" b="1" dirty="0"/>
              <a:t> </a:t>
            </a:r>
            <a:r>
              <a:rPr lang="zh-CN" altLang="en-US" sz="2000" b="1" dirty="0"/>
              <a:t>架构，其中包括</a:t>
            </a:r>
            <a:r>
              <a:rPr lang="zh-CN" altLang="en-US" sz="2000" b="1" dirty="0">
                <a:solidFill>
                  <a:srgbClr val="C00000"/>
                </a:solidFill>
              </a:rPr>
              <a:t>两个 </a:t>
            </a:r>
            <a:r>
              <a:rPr lang="en-US" altLang="zh-CN" sz="2000" b="1" dirty="0">
                <a:solidFill>
                  <a:srgbClr val="C00000"/>
                </a:solidFill>
              </a:rPr>
              <a:t>Cortex-A72 </a:t>
            </a:r>
            <a:r>
              <a:rPr lang="zh-CN" altLang="en-US" sz="2000" b="1" dirty="0">
                <a:solidFill>
                  <a:srgbClr val="C00000"/>
                </a:solidFill>
              </a:rPr>
              <a:t>核心和四个 </a:t>
            </a:r>
            <a:r>
              <a:rPr lang="en-US" altLang="zh-CN" sz="2000" b="1" dirty="0">
                <a:solidFill>
                  <a:srgbClr val="C00000"/>
                </a:solidFill>
              </a:rPr>
              <a:t>Cortex-A53 </a:t>
            </a:r>
            <a:r>
              <a:rPr lang="zh-CN" altLang="en-US" sz="2000" b="1" dirty="0">
                <a:solidFill>
                  <a:srgbClr val="C00000"/>
                </a:solidFill>
              </a:rPr>
              <a:t>核心</a:t>
            </a:r>
            <a:r>
              <a:rPr lang="zh-CN" altLang="en-US" sz="2000" b="1" dirty="0"/>
              <a:t>，运行速度最高可以达到 </a:t>
            </a:r>
            <a:r>
              <a:rPr lang="en-US" altLang="zh-CN" sz="2000" b="1" dirty="0"/>
              <a:t>2.0GHz</a:t>
            </a:r>
            <a:r>
              <a:rPr lang="zh-CN" altLang="en-US" sz="2000" b="1" dirty="0"/>
              <a:t>。在图形处理方面， </a:t>
            </a:r>
            <a:r>
              <a:rPr lang="en-US" altLang="zh-CN" sz="2000" b="1" dirty="0"/>
              <a:t>RK3399 </a:t>
            </a:r>
            <a:r>
              <a:rPr lang="zh-CN" altLang="en-US" sz="2000" b="1" dirty="0"/>
              <a:t>集成了 </a:t>
            </a:r>
            <a:r>
              <a:rPr lang="en-US" altLang="zh-CN" sz="2000" b="1" dirty="0"/>
              <a:t>MaliT860MP4 GPU</a:t>
            </a:r>
            <a:r>
              <a:rPr lang="zh-CN" altLang="en-US" sz="2000" b="1" dirty="0"/>
              <a:t>，支持 </a:t>
            </a:r>
            <a:r>
              <a:rPr lang="en-US" altLang="zh-CN" sz="2000" b="1" dirty="0"/>
              <a:t>OpenGL ES1.1/2.0/3.0/3.1, OpenCL, DirectX11 </a:t>
            </a:r>
            <a:r>
              <a:rPr lang="zh-CN" altLang="en-US" sz="2000" b="1" dirty="0"/>
              <a:t>和 </a:t>
            </a:r>
            <a:r>
              <a:rPr lang="en-US" altLang="zh-CN" sz="2000" b="1" dirty="0"/>
              <a:t>AFBC </a:t>
            </a:r>
            <a:r>
              <a:rPr lang="zh-CN" altLang="en-US" sz="2000" b="1" dirty="0"/>
              <a:t>等多种图形处理接口。同时，它还支持 </a:t>
            </a:r>
            <a:r>
              <a:rPr lang="en-US" altLang="zh-CN" sz="2000" b="1" dirty="0"/>
              <a:t>4K H.265/H.264 </a:t>
            </a:r>
            <a:r>
              <a:rPr lang="zh-CN" altLang="en-US" sz="2000" b="1" dirty="0"/>
              <a:t>硬解码和 </a:t>
            </a:r>
            <a:r>
              <a:rPr lang="en-US" altLang="zh-CN" sz="2000" b="1" dirty="0"/>
              <a:t>1080P H.264 </a:t>
            </a:r>
            <a:r>
              <a:rPr lang="zh-CN" altLang="en-US" sz="2000" b="1" dirty="0"/>
              <a:t>硬编码，能够满足高清视频播放、人工智能、机器人控制、智能家居等多种应用场景的需求。</a:t>
            </a:r>
            <a:endParaRPr lang="en-US" altLang="zh-CN" sz="2000" b="1" dirty="0"/>
          </a:p>
          <a:p>
            <a:pPr>
              <a:lnSpc>
                <a:spcPct val="120000"/>
              </a:lnSpc>
            </a:pPr>
            <a:endParaRPr lang="en-US" altLang="zh-CN" sz="2000" b="1" dirty="0"/>
          </a:p>
          <a:p>
            <a:pPr>
              <a:lnSpc>
                <a:spcPct val="120000"/>
              </a:lnSpc>
            </a:pPr>
            <a:r>
              <a:rPr lang="en-US" altLang="zh-CN" sz="2000" b="1" dirty="0"/>
              <a:t>RK3399 </a:t>
            </a:r>
            <a:r>
              <a:rPr lang="zh-CN" altLang="en-US" sz="2000" b="1" dirty="0"/>
              <a:t>还</a:t>
            </a:r>
            <a:r>
              <a:rPr lang="zh-CN" altLang="en-US" sz="2000" b="1" dirty="0">
                <a:solidFill>
                  <a:srgbClr val="C00000"/>
                </a:solidFill>
              </a:rPr>
              <a:t>集成了多种接口和功能</a:t>
            </a:r>
            <a:r>
              <a:rPr lang="zh-CN" altLang="en-US" sz="2000" b="1" dirty="0"/>
              <a:t>，如 </a:t>
            </a:r>
            <a:r>
              <a:rPr lang="en-US" altLang="zh-CN" sz="2000" b="1" dirty="0"/>
              <a:t>USB3.0</a:t>
            </a:r>
            <a:r>
              <a:rPr lang="zh-CN" altLang="en-US" sz="2000" b="1" dirty="0"/>
              <a:t>、 </a:t>
            </a:r>
            <a:r>
              <a:rPr lang="en-US" altLang="zh-CN" sz="2000" b="1" dirty="0"/>
              <a:t>PCIe</a:t>
            </a:r>
            <a:r>
              <a:rPr lang="zh-CN" altLang="en-US" sz="2000" b="1" dirty="0"/>
              <a:t>、 </a:t>
            </a:r>
            <a:r>
              <a:rPr lang="en-US" altLang="zh-CN" sz="2000" b="1" dirty="0"/>
              <a:t>HDMI 2.0</a:t>
            </a:r>
            <a:r>
              <a:rPr lang="zh-CN" altLang="en-US" sz="2000" b="1" dirty="0"/>
              <a:t>、 </a:t>
            </a:r>
            <a:r>
              <a:rPr lang="en-US" altLang="zh-CN" sz="2000" b="1" dirty="0"/>
              <a:t>DP 1.2 </a:t>
            </a:r>
            <a:r>
              <a:rPr lang="zh-CN" altLang="en-US" sz="2000" b="1" dirty="0"/>
              <a:t>等，可以方便地与其他设备进行连接和通讯。同时，它还支持双路 </a:t>
            </a:r>
            <a:r>
              <a:rPr lang="en-US" altLang="zh-CN" sz="2000" b="1" dirty="0"/>
              <a:t>MIPI CSI </a:t>
            </a:r>
            <a:r>
              <a:rPr lang="zh-CN" altLang="en-US" sz="2000" b="1" dirty="0"/>
              <a:t>输入，最高支持 </a:t>
            </a:r>
            <a:r>
              <a:rPr lang="en-US" altLang="zh-CN" sz="2000" b="1" dirty="0"/>
              <a:t>13MP </a:t>
            </a:r>
            <a:r>
              <a:rPr lang="zh-CN" altLang="en-US" sz="2000" b="1" dirty="0"/>
              <a:t>的图像传感器。在功耗方面， </a:t>
            </a:r>
            <a:r>
              <a:rPr lang="en-US" altLang="zh-CN" sz="2000" b="1" dirty="0"/>
              <a:t>RK3399 </a:t>
            </a:r>
            <a:r>
              <a:rPr lang="zh-CN" altLang="en-US" sz="2000" b="1" dirty="0"/>
              <a:t>采用了先进的 </a:t>
            </a:r>
            <a:r>
              <a:rPr lang="en-US" altLang="zh-CN" sz="2000" b="1" dirty="0"/>
              <a:t>28nm </a:t>
            </a:r>
            <a:r>
              <a:rPr lang="zh-CN" altLang="en-US" sz="2000" b="1" dirty="0"/>
              <a:t>工艺制程和大量优化，能够实现低功耗和高性能的平衡。此外，它还支持多种省电技术，如 </a:t>
            </a:r>
            <a:r>
              <a:rPr lang="en-US" altLang="zh-CN" sz="2000" b="1" dirty="0"/>
              <a:t>DVFS</a:t>
            </a:r>
            <a:r>
              <a:rPr lang="zh-CN" altLang="en-US" sz="2000" b="1" dirty="0"/>
              <a:t>、 </a:t>
            </a:r>
            <a:r>
              <a:rPr lang="en-US" altLang="zh-CN" sz="2000" b="1" dirty="0"/>
              <a:t>CPU </a:t>
            </a:r>
            <a:r>
              <a:rPr lang="zh-CN" altLang="en-US" sz="2000" b="1" dirty="0"/>
              <a:t>低功耗模式和各种 </a:t>
            </a:r>
            <a:r>
              <a:rPr lang="en-US" altLang="zh-CN" sz="2000" b="1" dirty="0"/>
              <a:t>I/O </a:t>
            </a:r>
            <a:r>
              <a:rPr lang="zh-CN" altLang="en-US" sz="2000" b="1" dirty="0"/>
              <a:t>接口的睡眠模式等，使得 </a:t>
            </a:r>
            <a:r>
              <a:rPr lang="en-US" altLang="zh-CN" sz="2000" b="1" dirty="0"/>
              <a:t>RK3399 </a:t>
            </a:r>
            <a:r>
              <a:rPr lang="zh-CN" altLang="en-US" sz="2000" b="1" dirty="0"/>
              <a:t>适用于一些需要长时间运行的嵌入式系统和移动设备</a:t>
            </a:r>
            <a:endParaRPr lang="zh-CN" altLang="en-US" dirty="0"/>
          </a:p>
        </p:txBody>
      </p:sp>
    </p:spTree>
    <p:extLst>
      <p:ext uri="{BB962C8B-B14F-4D97-AF65-F5344CB8AC3E}">
        <p14:creationId xmlns:p14="http://schemas.microsoft.com/office/powerpoint/2010/main" val="3741968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9D2BBD-37C3-43DC-8A04-BCC807CB1B23}"/>
              </a:ext>
            </a:extLst>
          </p:cNvPr>
          <p:cNvSpPr>
            <a:spLocks noGrp="1"/>
          </p:cNvSpPr>
          <p:nvPr>
            <p:ph type="title"/>
          </p:nvPr>
        </p:nvSpPr>
        <p:spPr/>
        <p:txBody>
          <a:bodyPr/>
          <a:lstStyle/>
          <a:p>
            <a:r>
              <a:rPr lang="zh-CN" altLang="en-US" dirty="0"/>
              <a:t>实验软件</a:t>
            </a:r>
            <a:r>
              <a:rPr lang="en-US" altLang="zh-CN" dirty="0"/>
              <a:t>-</a:t>
            </a:r>
            <a:r>
              <a:rPr lang="en-US" altLang="zh-CN" dirty="0" err="1"/>
              <a:t>Vmware</a:t>
            </a:r>
            <a:r>
              <a:rPr lang="en-US" altLang="zh-CN" dirty="0"/>
              <a:t> workstation</a:t>
            </a:r>
            <a:endParaRPr lang="zh-CN" altLang="en-US" dirty="0"/>
          </a:p>
        </p:txBody>
      </p:sp>
      <p:sp>
        <p:nvSpPr>
          <p:cNvPr id="3" name="内容占位符 2">
            <a:extLst>
              <a:ext uri="{FF2B5EF4-FFF2-40B4-BE49-F238E27FC236}">
                <a16:creationId xmlns:a16="http://schemas.microsoft.com/office/drawing/2014/main" id="{C1BD6203-5B94-493D-A2C9-3B3A3A505318}"/>
              </a:ext>
            </a:extLst>
          </p:cNvPr>
          <p:cNvSpPr>
            <a:spLocks noGrp="1"/>
          </p:cNvSpPr>
          <p:nvPr>
            <p:ph idx="1"/>
          </p:nvPr>
        </p:nvSpPr>
        <p:spPr>
          <a:xfrm>
            <a:off x="1097280" y="1825534"/>
            <a:ext cx="4568734" cy="4416273"/>
          </a:xfrm>
        </p:spPr>
        <p:txBody>
          <a:bodyPr>
            <a:normAutofit/>
          </a:bodyPr>
          <a:lstStyle/>
          <a:p>
            <a:pPr>
              <a:lnSpc>
                <a:spcPct val="100000"/>
              </a:lnSpc>
            </a:pPr>
            <a:r>
              <a:rPr lang="zh-CN" altLang="en-US" b="1" i="0" dirty="0">
                <a:solidFill>
                  <a:srgbClr val="C00000"/>
                </a:solidFill>
                <a:effectLst/>
                <a:latin typeface="PingFang SC"/>
              </a:rPr>
              <a:t>桌面虚拟计算机软件</a:t>
            </a:r>
            <a:endParaRPr lang="en-US" altLang="zh-CN" b="1" i="0" dirty="0">
              <a:solidFill>
                <a:srgbClr val="C00000"/>
              </a:solidFill>
              <a:effectLst/>
              <a:latin typeface="PingFang SC"/>
            </a:endParaRPr>
          </a:p>
          <a:p>
            <a:pPr>
              <a:lnSpc>
                <a:spcPct val="100000"/>
              </a:lnSpc>
            </a:pPr>
            <a:r>
              <a:rPr lang="en-US" altLang="zh-CN" sz="1600" b="0" i="0" dirty="0">
                <a:solidFill>
                  <a:srgbClr val="333333"/>
                </a:solidFill>
                <a:effectLst/>
                <a:latin typeface="Helvetica Neue"/>
              </a:rPr>
              <a:t>VMware Workstation</a:t>
            </a:r>
            <a:r>
              <a:rPr lang="zh-CN" altLang="en-US" sz="1600" b="0" i="0" dirty="0">
                <a:solidFill>
                  <a:srgbClr val="333333"/>
                </a:solidFill>
                <a:effectLst/>
                <a:latin typeface="Helvetica Neue"/>
              </a:rPr>
              <a:t>（中文名“威睿工作站”）是一款功能强大的</a:t>
            </a:r>
            <a:r>
              <a:rPr lang="zh-CN" altLang="en-US" sz="1600" b="1" dirty="0">
                <a:solidFill>
                  <a:srgbClr val="C00000"/>
                </a:solidFill>
                <a:latin typeface="Helvetica Neue"/>
              </a:rPr>
              <a:t>桌面</a:t>
            </a:r>
            <a:r>
              <a:rPr lang="zh-CN" altLang="en-US" sz="1600" b="1" dirty="0">
                <a:solidFill>
                  <a:srgbClr val="C00000"/>
                </a:solidFill>
                <a:latin typeface="Helvetica Neue"/>
                <a:hlinkClick r:id="rId2">
                  <a:extLst>
                    <a:ext uri="{A12FA001-AC4F-418D-AE19-62706E023703}">
                      <ahyp:hlinkClr xmlns:ahyp="http://schemas.microsoft.com/office/drawing/2018/hyperlinkcolor" val="tx"/>
                    </a:ext>
                  </a:extLst>
                </a:hlinkClick>
              </a:rPr>
              <a:t>虚拟计算机</a:t>
            </a:r>
            <a:r>
              <a:rPr lang="zh-CN" altLang="en-US" sz="1600" b="1" dirty="0">
                <a:solidFill>
                  <a:srgbClr val="C00000"/>
                </a:solidFill>
                <a:latin typeface="Helvetica Neue"/>
              </a:rPr>
              <a:t>软件</a:t>
            </a:r>
            <a:r>
              <a:rPr lang="zh-CN" altLang="en-US" sz="1600" dirty="0">
                <a:solidFill>
                  <a:srgbClr val="333333"/>
                </a:solidFill>
                <a:latin typeface="Helvetica Neue"/>
              </a:rPr>
              <a:t>，提供用户</a:t>
            </a:r>
            <a:r>
              <a:rPr lang="zh-CN" altLang="en-US" sz="1600" b="0" i="0" dirty="0">
                <a:solidFill>
                  <a:srgbClr val="333333"/>
                </a:solidFill>
                <a:effectLst/>
                <a:latin typeface="Helvetica Neue"/>
              </a:rPr>
              <a:t>可在单一的桌面上同时运行不同的操作系统，和进行开发、测试 、部署新的应用程序的最佳解决方案</a:t>
            </a:r>
            <a:endParaRPr lang="en-US" altLang="zh-CN" sz="1600" b="0" i="0" dirty="0">
              <a:solidFill>
                <a:srgbClr val="333333"/>
              </a:solidFill>
              <a:effectLst/>
              <a:latin typeface="Helvetica Neue"/>
            </a:endParaRPr>
          </a:p>
          <a:p>
            <a:pPr>
              <a:lnSpc>
                <a:spcPct val="100000"/>
              </a:lnSpc>
            </a:pPr>
            <a:r>
              <a:rPr lang="en-US" altLang="zh-CN" sz="1600" b="0" i="0" dirty="0">
                <a:solidFill>
                  <a:srgbClr val="333333"/>
                </a:solidFill>
                <a:effectLst/>
                <a:latin typeface="Helvetica Neue"/>
              </a:rPr>
              <a:t>VMware Workstation</a:t>
            </a:r>
            <a:r>
              <a:rPr lang="zh-CN" altLang="en-US" sz="1600" dirty="0">
                <a:solidFill>
                  <a:srgbClr val="333333"/>
                </a:solidFill>
                <a:latin typeface="Helvetica Neue"/>
              </a:rPr>
              <a:t>允许</a:t>
            </a:r>
            <a:r>
              <a:rPr lang="zh-CN" altLang="en-US" sz="1600" dirty="0">
                <a:solidFill>
                  <a:srgbClr val="333333"/>
                </a:solidFill>
                <a:latin typeface="Helvetica Neue"/>
                <a:hlinkClick r:id="rId3">
                  <a:extLst>
                    <a:ext uri="{A12FA001-AC4F-418D-AE19-62706E023703}">
                      <ahyp:hlinkClr xmlns:ahyp="http://schemas.microsoft.com/office/drawing/2018/hyperlinkcolor" val="tx"/>
                    </a:ext>
                  </a:extLst>
                </a:hlinkClick>
              </a:rPr>
              <a:t>操作系统</a:t>
            </a:r>
            <a:r>
              <a:rPr lang="en-US" altLang="zh-CN" sz="1600" dirty="0">
                <a:solidFill>
                  <a:srgbClr val="333333"/>
                </a:solidFill>
                <a:latin typeface="Helvetica Neue"/>
              </a:rPr>
              <a:t>(OS)</a:t>
            </a:r>
            <a:r>
              <a:rPr lang="zh-CN" altLang="en-US" sz="1600" dirty="0">
                <a:solidFill>
                  <a:srgbClr val="333333"/>
                </a:solidFill>
                <a:latin typeface="Helvetica Neue"/>
              </a:rPr>
              <a:t>和</a:t>
            </a:r>
            <a:r>
              <a:rPr lang="zh-CN" altLang="en-US" sz="1600" dirty="0">
                <a:solidFill>
                  <a:srgbClr val="333333"/>
                </a:solidFill>
                <a:latin typeface="Helvetica Neue"/>
                <a:hlinkClick r:id="rId4">
                  <a:extLst>
                    <a:ext uri="{A12FA001-AC4F-418D-AE19-62706E023703}">
                      <ahyp:hlinkClr xmlns:ahyp="http://schemas.microsoft.com/office/drawing/2018/hyperlinkcolor" val="tx"/>
                    </a:ext>
                  </a:extLst>
                </a:hlinkClick>
              </a:rPr>
              <a:t>应用程序</a:t>
            </a:r>
            <a:r>
              <a:rPr lang="en-US" altLang="zh-CN" sz="1600" dirty="0">
                <a:solidFill>
                  <a:srgbClr val="333333"/>
                </a:solidFill>
                <a:latin typeface="Helvetica Neue"/>
              </a:rPr>
              <a:t>(Application)</a:t>
            </a:r>
            <a:r>
              <a:rPr lang="zh-CN" altLang="en-US" sz="1600" dirty="0">
                <a:solidFill>
                  <a:srgbClr val="333333"/>
                </a:solidFill>
                <a:latin typeface="Helvetica Neue"/>
              </a:rPr>
              <a:t>在一台</a:t>
            </a:r>
            <a:r>
              <a:rPr lang="zh-CN" altLang="en-US" sz="1600" dirty="0">
                <a:solidFill>
                  <a:srgbClr val="333333"/>
                </a:solidFill>
                <a:latin typeface="Helvetica Neue"/>
                <a:hlinkClick r:id="rId5">
                  <a:extLst>
                    <a:ext uri="{A12FA001-AC4F-418D-AE19-62706E023703}">
                      <ahyp:hlinkClr xmlns:ahyp="http://schemas.microsoft.com/office/drawing/2018/hyperlinkcolor" val="tx"/>
                    </a:ext>
                  </a:extLst>
                </a:hlinkClick>
              </a:rPr>
              <a:t>虚拟机</a:t>
            </a:r>
            <a:r>
              <a:rPr lang="zh-CN" altLang="en-US" sz="1600" dirty="0">
                <a:solidFill>
                  <a:srgbClr val="333333"/>
                </a:solidFill>
                <a:latin typeface="Helvetica Neue"/>
              </a:rPr>
              <a:t>内部运行。虚拟机是独立运行</a:t>
            </a:r>
            <a:r>
              <a:rPr lang="zh-CN" altLang="en-US" sz="1600" dirty="0">
                <a:solidFill>
                  <a:srgbClr val="333333"/>
                </a:solidFill>
                <a:latin typeface="Helvetica Neue"/>
                <a:hlinkClick r:id="rId6">
                  <a:extLst>
                    <a:ext uri="{A12FA001-AC4F-418D-AE19-62706E023703}">
                      <ahyp:hlinkClr xmlns:ahyp="http://schemas.microsoft.com/office/drawing/2018/hyperlinkcolor" val="tx"/>
                    </a:ext>
                  </a:extLst>
                </a:hlinkClick>
              </a:rPr>
              <a:t>主机操作系统</a:t>
            </a:r>
            <a:r>
              <a:rPr lang="zh-CN" altLang="en-US" sz="1600" dirty="0">
                <a:solidFill>
                  <a:srgbClr val="333333"/>
                </a:solidFill>
                <a:latin typeface="Helvetica Neue"/>
              </a:rPr>
              <a:t>的离散环境。在 </a:t>
            </a:r>
            <a:r>
              <a:rPr lang="en-US" altLang="zh-CN" sz="1600" dirty="0">
                <a:solidFill>
                  <a:srgbClr val="333333"/>
                </a:solidFill>
                <a:latin typeface="Helvetica Neue"/>
              </a:rPr>
              <a:t>VMware Workstation </a:t>
            </a:r>
            <a:r>
              <a:rPr lang="zh-CN" altLang="en-US" sz="1600" dirty="0">
                <a:solidFill>
                  <a:srgbClr val="333333"/>
                </a:solidFill>
                <a:latin typeface="Helvetica Neue"/>
              </a:rPr>
              <a:t>中，你可以在一个窗口中加载一台虚拟机，它可以运行自己的操作系统和应用程序。你可以在运行于桌面上的多台虚拟机之间切换，通过一个网络共享虚拟机</a:t>
            </a:r>
            <a:r>
              <a:rPr lang="en-US" altLang="zh-CN" sz="1600" dirty="0">
                <a:solidFill>
                  <a:srgbClr val="333333"/>
                </a:solidFill>
                <a:latin typeface="Helvetica Neue"/>
              </a:rPr>
              <a:t>(</a:t>
            </a:r>
            <a:r>
              <a:rPr lang="zh-CN" altLang="en-US" sz="1600" dirty="0">
                <a:solidFill>
                  <a:srgbClr val="333333"/>
                </a:solidFill>
                <a:latin typeface="Helvetica Neue"/>
              </a:rPr>
              <a:t>例如一个公司局域网</a:t>
            </a:r>
            <a:r>
              <a:rPr lang="en-US" altLang="zh-CN" sz="1600" dirty="0">
                <a:solidFill>
                  <a:srgbClr val="333333"/>
                </a:solidFill>
                <a:latin typeface="Helvetica Neue"/>
              </a:rPr>
              <a:t>)</a:t>
            </a:r>
            <a:r>
              <a:rPr lang="zh-CN" altLang="en-US" sz="1600" dirty="0">
                <a:solidFill>
                  <a:srgbClr val="333333"/>
                </a:solidFill>
                <a:latin typeface="Helvetica Neue"/>
              </a:rPr>
              <a:t>，挂起和恢复虚拟机以及退出虚拟机，这一切不会影响你的主机操作</a:t>
            </a:r>
            <a:r>
              <a:rPr lang="zh-CN" altLang="en-US" sz="1600" b="0" i="0" dirty="0">
                <a:solidFill>
                  <a:srgbClr val="333333"/>
                </a:solidFill>
                <a:effectLst/>
                <a:latin typeface="Helvetica Neue"/>
              </a:rPr>
              <a:t>和任何操作系统或者其它正在运行的应用程序。</a:t>
            </a:r>
            <a:endParaRPr lang="zh-CN" altLang="en-US" sz="1800" dirty="0"/>
          </a:p>
        </p:txBody>
      </p:sp>
      <p:pic>
        <p:nvPicPr>
          <p:cNvPr id="5" name="图片 4">
            <a:extLst>
              <a:ext uri="{FF2B5EF4-FFF2-40B4-BE49-F238E27FC236}">
                <a16:creationId xmlns:a16="http://schemas.microsoft.com/office/drawing/2014/main" id="{0C597398-1A83-449F-92EF-9D1A801B39DA}"/>
              </a:ext>
            </a:extLst>
          </p:cNvPr>
          <p:cNvPicPr>
            <a:picLocks noChangeAspect="1"/>
          </p:cNvPicPr>
          <p:nvPr/>
        </p:nvPicPr>
        <p:blipFill>
          <a:blip r:embed="rId7"/>
          <a:stretch>
            <a:fillRect/>
          </a:stretch>
        </p:blipFill>
        <p:spPr>
          <a:xfrm>
            <a:off x="8867473" y="635953"/>
            <a:ext cx="678239" cy="914479"/>
          </a:xfrm>
          <a:prstGeom prst="rect">
            <a:avLst/>
          </a:prstGeom>
        </p:spPr>
      </p:pic>
      <p:pic>
        <p:nvPicPr>
          <p:cNvPr id="6" name="图片 5">
            <a:extLst>
              <a:ext uri="{FF2B5EF4-FFF2-40B4-BE49-F238E27FC236}">
                <a16:creationId xmlns:a16="http://schemas.microsoft.com/office/drawing/2014/main" id="{51AE4C25-ACE1-499D-B3C6-DB141F2C86CA}"/>
              </a:ext>
            </a:extLst>
          </p:cNvPr>
          <p:cNvPicPr>
            <a:picLocks noChangeAspect="1"/>
          </p:cNvPicPr>
          <p:nvPr/>
        </p:nvPicPr>
        <p:blipFill>
          <a:blip r:embed="rId8"/>
          <a:stretch>
            <a:fillRect/>
          </a:stretch>
        </p:blipFill>
        <p:spPr>
          <a:xfrm>
            <a:off x="5768621" y="1775414"/>
            <a:ext cx="5596065" cy="4516512"/>
          </a:xfrm>
          <a:prstGeom prst="rect">
            <a:avLst/>
          </a:prstGeom>
        </p:spPr>
      </p:pic>
    </p:spTree>
    <p:extLst>
      <p:ext uri="{BB962C8B-B14F-4D97-AF65-F5344CB8AC3E}">
        <p14:creationId xmlns:p14="http://schemas.microsoft.com/office/powerpoint/2010/main" val="2913357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91511F-FA4C-4D15-B12A-5FF1C79C9FAF}"/>
              </a:ext>
            </a:extLst>
          </p:cNvPr>
          <p:cNvSpPr>
            <a:spLocks noGrp="1"/>
          </p:cNvSpPr>
          <p:nvPr>
            <p:ph type="title"/>
          </p:nvPr>
        </p:nvSpPr>
        <p:spPr/>
        <p:txBody>
          <a:bodyPr/>
          <a:lstStyle/>
          <a:p>
            <a:r>
              <a:rPr lang="en-US" altLang="zh-CN" dirty="0"/>
              <a:t> </a:t>
            </a:r>
            <a:endParaRPr lang="zh-CN" altLang="en-US" dirty="0"/>
          </a:p>
        </p:txBody>
      </p:sp>
      <p:sp>
        <p:nvSpPr>
          <p:cNvPr id="4" name="内容占位符 3">
            <a:extLst>
              <a:ext uri="{FF2B5EF4-FFF2-40B4-BE49-F238E27FC236}">
                <a16:creationId xmlns:a16="http://schemas.microsoft.com/office/drawing/2014/main" id="{CB7BD635-80A9-46C8-8CEF-8A7A6EC1B03B}"/>
              </a:ext>
            </a:extLst>
          </p:cNvPr>
          <p:cNvSpPr>
            <a:spLocks noGrp="1"/>
          </p:cNvSpPr>
          <p:nvPr>
            <p:ph idx="1"/>
          </p:nvPr>
        </p:nvSpPr>
        <p:spPr>
          <a:xfrm>
            <a:off x="1211581" y="1737359"/>
            <a:ext cx="4331970" cy="4597273"/>
          </a:xfrm>
        </p:spPr>
        <p:txBody>
          <a:bodyPr>
            <a:normAutofit lnSpcReduction="10000"/>
          </a:bodyPr>
          <a:lstStyle/>
          <a:p>
            <a:pPr>
              <a:lnSpc>
                <a:spcPct val="120000"/>
              </a:lnSpc>
            </a:pPr>
            <a:r>
              <a:rPr lang="en-US" altLang="zh-CN" sz="2800" dirty="0"/>
              <a:t>Ubuntu</a:t>
            </a:r>
          </a:p>
          <a:p>
            <a:pPr>
              <a:lnSpc>
                <a:spcPct val="120000"/>
              </a:lnSpc>
            </a:pPr>
            <a:r>
              <a:rPr lang="en-US" altLang="zh-CN" sz="1600" b="1" i="0" dirty="0">
                <a:solidFill>
                  <a:srgbClr val="333333"/>
                </a:solidFill>
                <a:effectLst/>
                <a:latin typeface="Helvetica Neue"/>
              </a:rPr>
              <a:t>Ubuntu</a:t>
            </a:r>
            <a:r>
              <a:rPr lang="zh-CN" altLang="en-US" sz="1600" b="0" i="0" dirty="0">
                <a:solidFill>
                  <a:srgbClr val="333333"/>
                </a:solidFill>
                <a:effectLst/>
                <a:latin typeface="Helvetica Neue"/>
              </a:rPr>
              <a:t>是一个以桌面应用</a:t>
            </a:r>
            <a:r>
              <a:rPr lang="zh-CN" altLang="en-US" sz="1600" dirty="0">
                <a:solidFill>
                  <a:srgbClr val="333333"/>
                </a:solidFill>
                <a:latin typeface="Helvetica Neue"/>
              </a:rPr>
              <a:t>为主的</a:t>
            </a:r>
            <a:r>
              <a:rPr lang="en-US" altLang="zh-CN" sz="1600" dirty="0">
                <a:solidFill>
                  <a:srgbClr val="333333"/>
                </a:solidFill>
                <a:latin typeface="Helvetica Neue"/>
                <a:hlinkClick r:id="rId2">
                  <a:extLst>
                    <a:ext uri="{A12FA001-AC4F-418D-AE19-62706E023703}">
                      <ahyp:hlinkClr xmlns:ahyp="http://schemas.microsoft.com/office/drawing/2018/hyperlinkcolor" val="tx"/>
                    </a:ext>
                  </a:extLst>
                </a:hlinkClick>
              </a:rPr>
              <a:t>Linux</a:t>
            </a:r>
            <a:r>
              <a:rPr lang="zh-CN" altLang="en-US" sz="1600" dirty="0">
                <a:solidFill>
                  <a:srgbClr val="333333"/>
                </a:solidFill>
                <a:latin typeface="Helvetica Neue"/>
              </a:rPr>
              <a:t>发行</a:t>
            </a:r>
            <a:r>
              <a:rPr lang="zh-CN" altLang="en-US" sz="1600" b="0" i="0" dirty="0">
                <a:solidFill>
                  <a:srgbClr val="333333"/>
                </a:solidFill>
                <a:effectLst/>
                <a:latin typeface="Helvetica Neue"/>
              </a:rPr>
              <a:t>版操作系统</a:t>
            </a:r>
            <a:r>
              <a:rPr lang="zh-CN" altLang="en-US" sz="1600" dirty="0">
                <a:solidFill>
                  <a:srgbClr val="333333"/>
                </a:solidFill>
                <a:latin typeface="Helvetica Neue"/>
              </a:rPr>
              <a:t>。</a:t>
            </a:r>
            <a:r>
              <a:rPr lang="en-US" altLang="zh-CN" sz="1600" b="1" i="0" dirty="0">
                <a:solidFill>
                  <a:srgbClr val="05073B"/>
                </a:solidFill>
                <a:effectLst/>
                <a:latin typeface="arial" panose="020B0604020202020204" pitchFamily="34" charset="0"/>
              </a:rPr>
              <a:t>Ubuntu</a:t>
            </a:r>
            <a:r>
              <a:rPr lang="zh-CN" altLang="en-US" sz="1600" b="0" i="0" dirty="0">
                <a:solidFill>
                  <a:srgbClr val="05073B"/>
                </a:solidFill>
                <a:effectLst/>
                <a:latin typeface="arial" panose="020B0604020202020204" pitchFamily="34" charset="0"/>
              </a:rPr>
              <a:t>是一种</a:t>
            </a:r>
            <a:r>
              <a:rPr lang="zh-CN" altLang="en-US" sz="1600" b="0" i="0" dirty="0">
                <a:solidFill>
                  <a:srgbClr val="C00000"/>
                </a:solidFill>
                <a:effectLst/>
                <a:latin typeface="arial" panose="020B0604020202020204" pitchFamily="34" charset="0"/>
              </a:rPr>
              <a:t>基于</a:t>
            </a:r>
            <a:r>
              <a:rPr lang="en-US" altLang="zh-CN" sz="1600" b="0" i="0" dirty="0">
                <a:solidFill>
                  <a:srgbClr val="C00000"/>
                </a:solidFill>
                <a:effectLst/>
                <a:latin typeface="arial" panose="020B0604020202020204" pitchFamily="34" charset="0"/>
              </a:rPr>
              <a:t>Linux</a:t>
            </a:r>
            <a:r>
              <a:rPr lang="zh-CN" altLang="en-US" sz="1600" b="0" i="0" dirty="0">
                <a:solidFill>
                  <a:srgbClr val="C00000"/>
                </a:solidFill>
                <a:effectLst/>
                <a:latin typeface="arial" panose="020B0604020202020204" pitchFamily="34" charset="0"/>
              </a:rPr>
              <a:t>内核的开源操作系统</a:t>
            </a:r>
            <a:r>
              <a:rPr lang="zh-CN" altLang="en-US" sz="1600" b="0" i="0" dirty="0">
                <a:solidFill>
                  <a:srgbClr val="05073B"/>
                </a:solidFill>
                <a:effectLst/>
                <a:latin typeface="arial" panose="020B0604020202020204" pitchFamily="34" charset="0"/>
              </a:rPr>
              <a:t>，由南非企业家</a:t>
            </a:r>
            <a:r>
              <a:rPr lang="en-US" altLang="zh-CN" sz="1600" b="0" i="0" dirty="0">
                <a:solidFill>
                  <a:srgbClr val="05073B"/>
                </a:solidFill>
                <a:effectLst/>
                <a:latin typeface="arial" panose="020B0604020202020204" pitchFamily="34" charset="0"/>
              </a:rPr>
              <a:t>Mark Shuttleworth</a:t>
            </a:r>
            <a:r>
              <a:rPr lang="zh-CN" altLang="en-US" sz="1600" b="0" i="0" dirty="0">
                <a:solidFill>
                  <a:srgbClr val="05073B"/>
                </a:solidFill>
                <a:effectLst/>
                <a:latin typeface="arial" panose="020B0604020202020204" pitchFamily="34" charset="0"/>
              </a:rPr>
              <a:t>于</a:t>
            </a:r>
            <a:r>
              <a:rPr lang="en-US" altLang="zh-CN" sz="1600" b="0" i="0" dirty="0">
                <a:solidFill>
                  <a:srgbClr val="05073B"/>
                </a:solidFill>
                <a:effectLst/>
                <a:latin typeface="arial" panose="020B0604020202020204" pitchFamily="34" charset="0"/>
              </a:rPr>
              <a:t>2004</a:t>
            </a:r>
            <a:r>
              <a:rPr lang="zh-CN" altLang="en-US" sz="1600" b="0" i="0" dirty="0">
                <a:solidFill>
                  <a:srgbClr val="05073B"/>
                </a:solidFill>
                <a:effectLst/>
                <a:latin typeface="arial" panose="020B0604020202020204" pitchFamily="34" charset="0"/>
              </a:rPr>
              <a:t>年创立。</a:t>
            </a:r>
            <a:r>
              <a:rPr lang="en-US" altLang="zh-CN" sz="1600" b="0" i="0" dirty="0">
                <a:solidFill>
                  <a:srgbClr val="05073B"/>
                </a:solidFill>
                <a:effectLst/>
                <a:latin typeface="arial" panose="020B0604020202020204" pitchFamily="34" charset="0"/>
              </a:rPr>
              <a:t>Ubuntu</a:t>
            </a:r>
            <a:r>
              <a:rPr lang="zh-CN" altLang="en-US" sz="1600" b="0" i="0" dirty="0">
                <a:solidFill>
                  <a:srgbClr val="05073B"/>
                </a:solidFill>
                <a:effectLst/>
                <a:latin typeface="arial" panose="020B0604020202020204" pitchFamily="34" charset="0"/>
              </a:rPr>
              <a:t>的名称源自非洲祖鲁语和科萨语，意为“人性”或“博爱”，这恰恰体现了其开放、共享和协作的核心理念。</a:t>
            </a:r>
            <a:endParaRPr lang="en-US" altLang="zh-CN" sz="1600" b="0" i="0" dirty="0">
              <a:solidFill>
                <a:srgbClr val="05073B"/>
              </a:solidFill>
              <a:effectLst/>
              <a:latin typeface="arial" panose="020B0604020202020204" pitchFamily="34" charset="0"/>
            </a:endParaRPr>
          </a:p>
          <a:p>
            <a:pPr>
              <a:lnSpc>
                <a:spcPct val="120000"/>
              </a:lnSpc>
            </a:pPr>
            <a:r>
              <a:rPr lang="en-US" altLang="zh-CN" sz="1600" b="1" dirty="0">
                <a:solidFill>
                  <a:srgbClr val="05073B"/>
                </a:solidFill>
                <a:latin typeface="arial" panose="020B0604020202020204" pitchFamily="34" charset="0"/>
              </a:rPr>
              <a:t>Ubuntu</a:t>
            </a:r>
            <a:r>
              <a:rPr lang="zh-CN" altLang="en-US" sz="1600" b="1" dirty="0">
                <a:solidFill>
                  <a:srgbClr val="05073B"/>
                </a:solidFill>
                <a:latin typeface="arial" panose="020B0604020202020204" pitchFamily="34" charset="0"/>
              </a:rPr>
              <a:t>系统烧写</a:t>
            </a:r>
            <a:endParaRPr lang="en-US" altLang="zh-CN" sz="1600" b="1" dirty="0">
              <a:solidFill>
                <a:srgbClr val="05073B"/>
              </a:solidFill>
              <a:latin typeface="arial" panose="020B0604020202020204" pitchFamily="34" charset="0"/>
            </a:endParaRPr>
          </a:p>
          <a:p>
            <a:pPr>
              <a:lnSpc>
                <a:spcPct val="120000"/>
              </a:lnSpc>
            </a:pPr>
            <a:r>
              <a:rPr lang="zh-CN" altLang="en-US" sz="1600" b="0" i="0" dirty="0">
                <a:solidFill>
                  <a:srgbClr val="000000"/>
                </a:solidFill>
                <a:effectLst/>
                <a:latin typeface="SimSun" panose="02010600030101010101" pitchFamily="2" charset="-122"/>
                <a:ea typeface="SimSun" panose="02010600030101010101" pitchFamily="2" charset="-122"/>
              </a:rPr>
              <a:t>在裸机实验程序烧写调试时，需要借助于</a:t>
            </a:r>
            <a:r>
              <a:rPr lang="zh-CN" altLang="en-US" sz="1600" b="0" i="0" dirty="0">
                <a:solidFill>
                  <a:srgbClr val="C00000"/>
                </a:solidFill>
                <a:effectLst/>
                <a:latin typeface="SimSun" panose="02010600030101010101" pitchFamily="2" charset="-122"/>
                <a:ea typeface="SimSun" panose="02010600030101010101" pitchFamily="2" charset="-122"/>
              </a:rPr>
              <a:t>启动 </a:t>
            </a:r>
            <a:r>
              <a:rPr lang="en-US" altLang="zh-CN" sz="1600" b="0" i="0" dirty="0">
                <a:solidFill>
                  <a:srgbClr val="C00000"/>
                </a:solidFill>
                <a:effectLst/>
                <a:latin typeface="TimesNewRomanPSMT"/>
              </a:rPr>
              <a:t>Ubuntu </a:t>
            </a:r>
            <a:r>
              <a:rPr lang="zh-CN" altLang="en-US" sz="1600" b="0" i="0" dirty="0">
                <a:solidFill>
                  <a:srgbClr val="C00000"/>
                </a:solidFill>
                <a:effectLst/>
                <a:latin typeface="SimSun" panose="02010600030101010101" pitchFamily="2" charset="-122"/>
                <a:ea typeface="SimSun" panose="02010600030101010101" pitchFamily="2" charset="-122"/>
              </a:rPr>
              <a:t>系统的 </a:t>
            </a:r>
            <a:r>
              <a:rPr lang="en-US" altLang="zh-CN" sz="1600" b="0" i="0" dirty="0" err="1">
                <a:solidFill>
                  <a:srgbClr val="C00000"/>
                </a:solidFill>
                <a:effectLst/>
                <a:latin typeface="TimesNewRomanPSMT"/>
              </a:rPr>
              <a:t>uboot</a:t>
            </a:r>
            <a:r>
              <a:rPr lang="zh-CN" altLang="en-US" sz="1600" b="0" i="0" dirty="0">
                <a:solidFill>
                  <a:srgbClr val="000000"/>
                </a:solidFill>
                <a:effectLst/>
                <a:latin typeface="SimSun" panose="02010600030101010101" pitchFamily="2" charset="-122"/>
                <a:ea typeface="SimSun" panose="02010600030101010101" pitchFamily="2" charset="-122"/>
              </a:rPr>
              <a:t>，所以需要先烧写 </a:t>
            </a:r>
            <a:r>
              <a:rPr lang="en-US" altLang="zh-CN" sz="1600" b="0" i="0" dirty="0">
                <a:solidFill>
                  <a:srgbClr val="000000"/>
                </a:solidFill>
                <a:effectLst/>
                <a:latin typeface="TimesNewRomanPSMT"/>
              </a:rPr>
              <a:t>Ubuntu </a:t>
            </a:r>
            <a:r>
              <a:rPr lang="zh-CN" altLang="en-US" sz="1600" b="0" i="0" dirty="0">
                <a:solidFill>
                  <a:srgbClr val="000000"/>
                </a:solidFill>
                <a:effectLst/>
                <a:latin typeface="SimSun" panose="02010600030101010101" pitchFamily="2" charset="-122"/>
                <a:ea typeface="SimSun" panose="02010600030101010101" pitchFamily="2" charset="-122"/>
              </a:rPr>
              <a:t>镜像</a:t>
            </a:r>
            <a:r>
              <a:rPr lang="zh-CN" altLang="en-US" sz="1600" dirty="0"/>
              <a:t> </a:t>
            </a:r>
            <a:endParaRPr lang="en-US" altLang="zh-CN" sz="1600" dirty="0"/>
          </a:p>
          <a:p>
            <a:pPr>
              <a:lnSpc>
                <a:spcPct val="120000"/>
              </a:lnSpc>
            </a:pPr>
            <a:r>
              <a:rPr lang="zh-CN" altLang="en-US" sz="1600" dirty="0"/>
              <a:t>烧写工具</a:t>
            </a:r>
            <a:r>
              <a:rPr lang="en-US" altLang="zh-CN" sz="1400" b="0" i="0" dirty="0" err="1">
                <a:solidFill>
                  <a:srgbClr val="000000"/>
                </a:solidFill>
                <a:effectLst/>
                <a:latin typeface="TimesNewRomanPSMT"/>
              </a:rPr>
              <a:t>RKDevTool_Linux</a:t>
            </a:r>
            <a:r>
              <a:rPr lang="en-US" altLang="zh-CN" sz="1600" dirty="0"/>
              <a:t> </a:t>
            </a:r>
            <a:br>
              <a:rPr lang="en-US" altLang="zh-CN" sz="1600" dirty="0"/>
            </a:br>
            <a:endParaRPr lang="en-US" altLang="zh-CN" sz="1600" dirty="0">
              <a:solidFill>
                <a:srgbClr val="05073B"/>
              </a:solidFill>
              <a:latin typeface="arial" panose="020B0604020202020204" pitchFamily="34" charset="0"/>
            </a:endParaRPr>
          </a:p>
          <a:p>
            <a:pPr>
              <a:lnSpc>
                <a:spcPct val="120000"/>
              </a:lnSpc>
            </a:pPr>
            <a:endParaRPr lang="zh-CN" altLang="en-US" sz="700" dirty="0"/>
          </a:p>
        </p:txBody>
      </p:sp>
      <p:pic>
        <p:nvPicPr>
          <p:cNvPr id="6" name="图片 5">
            <a:extLst>
              <a:ext uri="{FF2B5EF4-FFF2-40B4-BE49-F238E27FC236}">
                <a16:creationId xmlns:a16="http://schemas.microsoft.com/office/drawing/2014/main" id="{24DD6981-6A69-4E78-A37B-D0623A4B7E3F}"/>
              </a:ext>
            </a:extLst>
          </p:cNvPr>
          <p:cNvPicPr>
            <a:picLocks noChangeAspect="1"/>
          </p:cNvPicPr>
          <p:nvPr/>
        </p:nvPicPr>
        <p:blipFill>
          <a:blip r:embed="rId3"/>
          <a:stretch>
            <a:fillRect/>
          </a:stretch>
        </p:blipFill>
        <p:spPr>
          <a:xfrm>
            <a:off x="933994" y="523367"/>
            <a:ext cx="1741953" cy="1114850"/>
          </a:xfrm>
          <a:prstGeom prst="rect">
            <a:avLst/>
          </a:prstGeom>
        </p:spPr>
      </p:pic>
      <p:pic>
        <p:nvPicPr>
          <p:cNvPr id="5" name="图片 4">
            <a:extLst>
              <a:ext uri="{FF2B5EF4-FFF2-40B4-BE49-F238E27FC236}">
                <a16:creationId xmlns:a16="http://schemas.microsoft.com/office/drawing/2014/main" id="{1CD1CF99-A167-45A1-B395-AF92C685276E}"/>
              </a:ext>
            </a:extLst>
          </p:cNvPr>
          <p:cNvPicPr>
            <a:picLocks noChangeAspect="1"/>
          </p:cNvPicPr>
          <p:nvPr/>
        </p:nvPicPr>
        <p:blipFill>
          <a:blip r:embed="rId4"/>
          <a:stretch>
            <a:fillRect/>
          </a:stretch>
        </p:blipFill>
        <p:spPr>
          <a:xfrm>
            <a:off x="5657852" y="2197343"/>
            <a:ext cx="5457010" cy="3427850"/>
          </a:xfrm>
          <a:prstGeom prst="rect">
            <a:avLst/>
          </a:prstGeom>
        </p:spPr>
      </p:pic>
    </p:spTree>
    <p:extLst>
      <p:ext uri="{BB962C8B-B14F-4D97-AF65-F5344CB8AC3E}">
        <p14:creationId xmlns:p14="http://schemas.microsoft.com/office/powerpoint/2010/main" val="4070550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C5A5FB-5D8C-49E2-838C-4E0C3D2112A5}"/>
              </a:ext>
            </a:extLst>
          </p:cNvPr>
          <p:cNvSpPr>
            <a:spLocks noGrp="1"/>
          </p:cNvSpPr>
          <p:nvPr>
            <p:ph type="title"/>
          </p:nvPr>
        </p:nvSpPr>
        <p:spPr/>
        <p:txBody>
          <a:bodyPr/>
          <a:lstStyle/>
          <a:p>
            <a:r>
              <a:rPr lang="en-US" altLang="zh-CN" dirty="0" err="1"/>
              <a:t>uboot</a:t>
            </a:r>
            <a:endParaRPr lang="zh-CN" altLang="en-US" dirty="0"/>
          </a:p>
        </p:txBody>
      </p:sp>
      <p:sp>
        <p:nvSpPr>
          <p:cNvPr id="7" name="内容占位符 6">
            <a:extLst>
              <a:ext uri="{FF2B5EF4-FFF2-40B4-BE49-F238E27FC236}">
                <a16:creationId xmlns:a16="http://schemas.microsoft.com/office/drawing/2014/main" id="{D31B0DDE-8DCA-4487-997E-44BB525DEC3C}"/>
              </a:ext>
            </a:extLst>
          </p:cNvPr>
          <p:cNvSpPr>
            <a:spLocks noGrp="1"/>
          </p:cNvSpPr>
          <p:nvPr>
            <p:ph idx="1"/>
          </p:nvPr>
        </p:nvSpPr>
        <p:spPr>
          <a:xfrm>
            <a:off x="1162594" y="1754929"/>
            <a:ext cx="4348299" cy="4391780"/>
          </a:xfrm>
        </p:spPr>
        <p:txBody>
          <a:bodyPr>
            <a:normAutofit/>
          </a:bodyPr>
          <a:lstStyle/>
          <a:p>
            <a:pPr>
              <a:lnSpc>
                <a:spcPct val="120000"/>
              </a:lnSpc>
              <a:buFont typeface="Arial" panose="020B0604020202020204" pitchFamily="34" charset="0"/>
              <a:buChar char="•"/>
            </a:pPr>
            <a:r>
              <a:rPr lang="zh-CN" altLang="en-US" sz="2400" dirty="0"/>
              <a:t> </a:t>
            </a:r>
            <a:r>
              <a:rPr lang="zh-CN" altLang="en-US" sz="2800" dirty="0"/>
              <a:t>第</a:t>
            </a:r>
            <a:r>
              <a:rPr lang="en-US" altLang="zh-CN" sz="2800" dirty="0"/>
              <a:t>6</a:t>
            </a:r>
            <a:r>
              <a:rPr lang="zh-CN" altLang="en-US" sz="2800" dirty="0"/>
              <a:t>章 </a:t>
            </a:r>
            <a:r>
              <a:rPr lang="en-US" altLang="zh-CN" sz="2800" dirty="0"/>
              <a:t>boot loader</a:t>
            </a:r>
            <a:r>
              <a:rPr lang="zh-CN" altLang="en-US" sz="2800" dirty="0"/>
              <a:t>技术</a:t>
            </a:r>
            <a:endParaRPr lang="en-US" altLang="zh-CN" sz="2800" dirty="0"/>
          </a:p>
          <a:p>
            <a:pPr lvl="1">
              <a:lnSpc>
                <a:spcPct val="120000"/>
              </a:lnSpc>
              <a:buFont typeface="Arial" panose="020B0604020202020204" pitchFamily="34" charset="0"/>
              <a:buChar char="•"/>
            </a:pPr>
            <a:r>
              <a:rPr lang="en-US" altLang="zh-CN" sz="2400" dirty="0"/>
              <a:t>6.3 </a:t>
            </a:r>
            <a:r>
              <a:rPr lang="en-US" altLang="zh-CN" sz="2400" dirty="0" err="1"/>
              <a:t>Uboot</a:t>
            </a:r>
            <a:r>
              <a:rPr lang="zh-CN" altLang="en-US" sz="2400" dirty="0"/>
              <a:t>简介</a:t>
            </a:r>
            <a:r>
              <a:rPr lang="en-US" altLang="zh-CN" sz="2400" dirty="0"/>
              <a:t>-P118</a:t>
            </a:r>
          </a:p>
          <a:p>
            <a:pPr lvl="1">
              <a:lnSpc>
                <a:spcPct val="120000"/>
              </a:lnSpc>
              <a:buFont typeface="Arial" panose="020B0604020202020204" pitchFamily="34" charset="0"/>
              <a:buChar char="•"/>
            </a:pPr>
            <a:r>
              <a:rPr lang="en-US" altLang="zh-CN" sz="2000" dirty="0"/>
              <a:t>U-Boot</a:t>
            </a:r>
            <a:r>
              <a:rPr lang="zh-CN" altLang="en-US" sz="2000" dirty="0"/>
              <a:t> 是一个主要用于嵌入式系统的</a:t>
            </a:r>
            <a:r>
              <a:rPr lang="zh-CN" altLang="en-US" sz="2000" dirty="0">
                <a:solidFill>
                  <a:srgbClr val="C00000"/>
                </a:solidFill>
              </a:rPr>
              <a:t>引导加载程序，可以支持多种不同的计算机系统结构，</a:t>
            </a:r>
            <a:r>
              <a:rPr lang="zh-CN" altLang="en-US" sz="2000" dirty="0"/>
              <a:t>包括</a:t>
            </a:r>
            <a:r>
              <a:rPr lang="en-US" altLang="zh-CN" sz="2000" dirty="0"/>
              <a:t>PPC</a:t>
            </a:r>
            <a:r>
              <a:rPr lang="zh-CN" altLang="en-US" sz="2000" dirty="0"/>
              <a:t>、</a:t>
            </a:r>
            <a:r>
              <a:rPr lang="en-US" altLang="zh-CN" sz="2000" dirty="0"/>
              <a:t>ARM</a:t>
            </a:r>
            <a:r>
              <a:rPr lang="zh-CN" altLang="en-US" sz="2000" dirty="0"/>
              <a:t>、</a:t>
            </a:r>
            <a:r>
              <a:rPr lang="en-US" altLang="zh-CN" sz="2000" dirty="0"/>
              <a:t>AVR32</a:t>
            </a:r>
            <a:r>
              <a:rPr lang="zh-CN" altLang="en-US" sz="2000" dirty="0"/>
              <a:t>、</a:t>
            </a:r>
            <a:r>
              <a:rPr lang="en-US" altLang="zh-CN" sz="2000" dirty="0"/>
              <a:t>MIPS</a:t>
            </a:r>
            <a:r>
              <a:rPr lang="zh-CN" altLang="en-US" sz="2000" dirty="0"/>
              <a:t>、</a:t>
            </a:r>
            <a:r>
              <a:rPr lang="en-US" altLang="zh-CN" sz="2000" dirty="0"/>
              <a:t>x86</a:t>
            </a:r>
            <a:r>
              <a:rPr lang="zh-CN" altLang="en-US" sz="2000" dirty="0"/>
              <a:t>、</a:t>
            </a:r>
            <a:r>
              <a:rPr lang="en-US" altLang="zh-CN" sz="2000" dirty="0"/>
              <a:t>68k</a:t>
            </a:r>
            <a:r>
              <a:rPr lang="zh-CN" altLang="en-US" sz="2000" dirty="0"/>
              <a:t>、</a:t>
            </a:r>
            <a:r>
              <a:rPr lang="en-US" altLang="zh-CN" sz="2000" dirty="0" err="1"/>
              <a:t>Nios</a:t>
            </a:r>
            <a:r>
              <a:rPr lang="zh-CN" altLang="en-US" sz="2000" dirty="0"/>
              <a:t>与</a:t>
            </a:r>
            <a:r>
              <a:rPr lang="en-US" altLang="zh-CN" sz="2000" dirty="0" err="1"/>
              <a:t>MicroBlaze</a:t>
            </a:r>
            <a:r>
              <a:rPr lang="zh-CN" altLang="en-US" sz="2000" dirty="0"/>
              <a:t>。这也是一套在</a:t>
            </a:r>
            <a:r>
              <a:rPr lang="en-US" altLang="zh-CN" sz="2000" dirty="0"/>
              <a:t>GNU</a:t>
            </a:r>
            <a:r>
              <a:rPr lang="zh-CN" altLang="en-US" sz="2000" dirty="0"/>
              <a:t>通用公共许可证之下发布的</a:t>
            </a:r>
            <a:r>
              <a:rPr lang="zh-CN" altLang="en-US" sz="2000" dirty="0">
                <a:hlinkClick r:id="rId2">
                  <a:extLst>
                    <a:ext uri="{A12FA001-AC4F-418D-AE19-62706E023703}">
                      <ahyp:hlinkClr xmlns:ahyp="http://schemas.microsoft.com/office/drawing/2018/hyperlinkcolor" val="tx"/>
                    </a:ext>
                  </a:extLst>
                </a:hlinkClick>
              </a:rPr>
              <a:t>自由软件</a:t>
            </a:r>
            <a:r>
              <a:rPr lang="zh-CN" altLang="en-US" sz="2000" dirty="0"/>
              <a:t>。</a:t>
            </a:r>
            <a:endParaRPr lang="en-US" altLang="zh-CN" sz="2000" dirty="0"/>
          </a:p>
          <a:p>
            <a:pPr lvl="3">
              <a:lnSpc>
                <a:spcPct val="120000"/>
              </a:lnSpc>
              <a:buFont typeface="Arial" panose="020B0604020202020204" pitchFamily="34" charset="0"/>
              <a:buChar char="•"/>
            </a:pPr>
            <a:endParaRPr lang="en-US" altLang="zh-CN" sz="1600" dirty="0"/>
          </a:p>
          <a:p>
            <a:pPr lvl="1">
              <a:lnSpc>
                <a:spcPct val="120000"/>
              </a:lnSpc>
              <a:buFont typeface="Arial" panose="020B0604020202020204" pitchFamily="34" charset="0"/>
              <a:buChar char="•"/>
            </a:pPr>
            <a:endParaRPr lang="zh-CN" altLang="en-US" sz="2000" dirty="0"/>
          </a:p>
        </p:txBody>
      </p:sp>
      <p:sp>
        <p:nvSpPr>
          <p:cNvPr id="10" name="文本框 9">
            <a:extLst>
              <a:ext uri="{FF2B5EF4-FFF2-40B4-BE49-F238E27FC236}">
                <a16:creationId xmlns:a16="http://schemas.microsoft.com/office/drawing/2014/main" id="{404478B2-EB01-4C3E-940C-E16AE07B130C}"/>
              </a:ext>
            </a:extLst>
          </p:cNvPr>
          <p:cNvSpPr txBox="1"/>
          <p:nvPr/>
        </p:nvSpPr>
        <p:spPr>
          <a:xfrm>
            <a:off x="5510893" y="1834566"/>
            <a:ext cx="6062374" cy="4312143"/>
          </a:xfrm>
          <a:prstGeom prst="rect">
            <a:avLst/>
          </a:prstGeom>
          <a:noFill/>
        </p:spPr>
        <p:txBody>
          <a:bodyPr wrap="square">
            <a:spAutoFit/>
          </a:bodyPr>
          <a:lstStyle/>
          <a:p>
            <a:pPr marL="285750" indent="-106363">
              <a:lnSpc>
                <a:spcPct val="120000"/>
              </a:lnSpc>
              <a:buClr>
                <a:schemeClr val="accent1"/>
              </a:buClr>
              <a:buSzPct val="50000"/>
              <a:buFont typeface="Wingdings" panose="05000000000000000000" pitchFamily="2" charset="2"/>
              <a:buChar char="l"/>
            </a:pPr>
            <a:r>
              <a:rPr lang="en-US" altLang="zh-CN" sz="2000" b="0" i="0" dirty="0">
                <a:solidFill>
                  <a:srgbClr val="333333"/>
                </a:solidFill>
                <a:effectLst/>
                <a:latin typeface="Helvetica Neue"/>
              </a:rPr>
              <a:t> U-Boot</a:t>
            </a:r>
            <a:r>
              <a:rPr lang="zh-CN" altLang="en-US" sz="2000" b="0" i="0" dirty="0">
                <a:solidFill>
                  <a:srgbClr val="333333"/>
                </a:solidFill>
                <a:effectLst/>
                <a:latin typeface="Helvetica Neue"/>
              </a:rPr>
              <a:t>可支持的主要功能列表：</a:t>
            </a:r>
          </a:p>
          <a:p>
            <a:pPr marL="628650" lvl="1" indent="-179388">
              <a:lnSpc>
                <a:spcPct val="120000"/>
              </a:lnSpc>
              <a:buClr>
                <a:schemeClr val="accent1"/>
              </a:buClr>
              <a:buFont typeface="Arial" panose="020B0604020202020204" pitchFamily="34" charset="0"/>
              <a:buChar char="•"/>
            </a:pPr>
            <a:r>
              <a:rPr lang="zh-CN" altLang="en-US" sz="1500" b="0" i="0" dirty="0">
                <a:solidFill>
                  <a:srgbClr val="333333"/>
                </a:solidFill>
                <a:effectLst/>
                <a:latin typeface="Helvetica Neue"/>
              </a:rPr>
              <a:t>系统引导支持</a:t>
            </a:r>
            <a:r>
              <a:rPr lang="en-US" altLang="zh-CN" sz="1500" b="0" i="0" dirty="0">
                <a:solidFill>
                  <a:srgbClr val="333333"/>
                </a:solidFill>
                <a:effectLst/>
                <a:latin typeface="Helvetica Neue"/>
              </a:rPr>
              <a:t>NFS</a:t>
            </a:r>
            <a:r>
              <a:rPr lang="zh-CN" altLang="en-US" sz="1500" b="0" i="0" dirty="0">
                <a:solidFill>
                  <a:srgbClr val="333333"/>
                </a:solidFill>
                <a:effectLst/>
                <a:latin typeface="Helvetica Neue"/>
              </a:rPr>
              <a:t>挂载、</a:t>
            </a:r>
            <a:r>
              <a:rPr lang="en-US" altLang="zh-CN" sz="1500" b="0" i="0" dirty="0">
                <a:solidFill>
                  <a:srgbClr val="333333"/>
                </a:solidFill>
                <a:effectLst/>
                <a:latin typeface="Helvetica Neue"/>
              </a:rPr>
              <a:t>RAMDISK-</a:t>
            </a:r>
            <a:r>
              <a:rPr lang="zh-CN" altLang="en-US" sz="1500" dirty="0">
                <a:solidFill>
                  <a:srgbClr val="333333"/>
                </a:solidFill>
                <a:latin typeface="Helvetica Neue"/>
              </a:rPr>
              <a:t>虚拟硬盘</a:t>
            </a:r>
            <a:r>
              <a:rPr lang="en-US" altLang="zh-CN" sz="1500" b="0" i="0" dirty="0">
                <a:solidFill>
                  <a:srgbClr val="333333"/>
                </a:solidFill>
                <a:effectLst/>
                <a:latin typeface="Helvetica Neue"/>
              </a:rPr>
              <a:t>(</a:t>
            </a:r>
            <a:r>
              <a:rPr lang="zh-CN" altLang="en-US" sz="1500" b="0" i="0" dirty="0">
                <a:solidFill>
                  <a:srgbClr val="333333"/>
                </a:solidFill>
                <a:effectLst/>
                <a:latin typeface="Helvetica Neue"/>
              </a:rPr>
              <a:t>压缩或非压缩</a:t>
            </a:r>
            <a:r>
              <a:rPr lang="en-US" altLang="zh-CN" sz="1500" b="0" i="0" dirty="0">
                <a:solidFill>
                  <a:srgbClr val="333333"/>
                </a:solidFill>
                <a:effectLst/>
                <a:latin typeface="Helvetica Neue"/>
              </a:rPr>
              <a:t>)</a:t>
            </a:r>
            <a:r>
              <a:rPr lang="zh-CN" altLang="en-US" sz="1500" b="0" i="0" dirty="0">
                <a:solidFill>
                  <a:srgbClr val="333333"/>
                </a:solidFill>
                <a:effectLst/>
                <a:latin typeface="Helvetica Neue"/>
              </a:rPr>
              <a:t>形式的</a:t>
            </a:r>
            <a:r>
              <a:rPr lang="zh-CN" altLang="en-US" sz="1500" b="0" i="0" u="none" strike="noStrike" dirty="0">
                <a:solidFill>
                  <a:srgbClr val="136EC2"/>
                </a:solidFill>
                <a:effectLst/>
                <a:latin typeface="Helvetica Neue"/>
              </a:rPr>
              <a:t>根文件系统</a:t>
            </a:r>
            <a:r>
              <a:rPr lang="zh-CN" altLang="en-US" sz="1500" b="0" i="0" dirty="0">
                <a:solidFill>
                  <a:srgbClr val="333333"/>
                </a:solidFill>
                <a:effectLst/>
                <a:latin typeface="Helvetica Neue"/>
              </a:rPr>
              <a:t>；支持</a:t>
            </a:r>
            <a:r>
              <a:rPr lang="en-US" altLang="zh-CN" sz="1500" b="0" i="0" dirty="0">
                <a:solidFill>
                  <a:srgbClr val="333333"/>
                </a:solidFill>
                <a:effectLst/>
                <a:latin typeface="Helvetica Neue"/>
              </a:rPr>
              <a:t>NFS</a:t>
            </a:r>
            <a:r>
              <a:rPr lang="zh-CN" altLang="en-US" sz="1500" b="0" i="0" dirty="0">
                <a:solidFill>
                  <a:srgbClr val="333333"/>
                </a:solidFill>
                <a:effectLst/>
                <a:latin typeface="Helvetica Neue"/>
              </a:rPr>
              <a:t>挂载、从</a:t>
            </a:r>
            <a:r>
              <a:rPr lang="en-US" altLang="zh-CN" sz="1500" b="0" i="0" dirty="0">
                <a:solidFill>
                  <a:srgbClr val="333333"/>
                </a:solidFill>
                <a:effectLst/>
                <a:latin typeface="Helvetica Neue"/>
              </a:rPr>
              <a:t>FLASH</a:t>
            </a:r>
            <a:r>
              <a:rPr lang="zh-CN" altLang="en-US" sz="1500" b="0" i="0" dirty="0">
                <a:solidFill>
                  <a:srgbClr val="333333"/>
                </a:solidFill>
                <a:effectLst/>
                <a:latin typeface="Helvetica Neue"/>
              </a:rPr>
              <a:t>中引导压缩或非压缩系统</a:t>
            </a:r>
            <a:r>
              <a:rPr lang="zh-CN" altLang="en-US" sz="1500" b="0" i="0" u="none" strike="noStrike" dirty="0">
                <a:solidFill>
                  <a:srgbClr val="136EC2"/>
                </a:solidFill>
                <a:effectLst/>
                <a:latin typeface="Helvetica Neue"/>
              </a:rPr>
              <a:t>内核</a:t>
            </a:r>
            <a:r>
              <a:rPr lang="zh-CN" altLang="en-US" sz="1500" b="0" i="0" dirty="0">
                <a:solidFill>
                  <a:srgbClr val="333333"/>
                </a:solidFill>
                <a:effectLst/>
                <a:latin typeface="Helvetica Neue"/>
              </a:rPr>
              <a:t>；</a:t>
            </a:r>
          </a:p>
          <a:p>
            <a:pPr marL="628650" lvl="1" indent="-179388">
              <a:lnSpc>
                <a:spcPct val="120000"/>
              </a:lnSpc>
              <a:buClr>
                <a:schemeClr val="accent1"/>
              </a:buClr>
              <a:buFont typeface="Arial" panose="020B0604020202020204" pitchFamily="34" charset="0"/>
              <a:buChar char="•"/>
            </a:pPr>
            <a:r>
              <a:rPr lang="zh-CN" altLang="en-US" sz="1500" b="0" i="0" dirty="0">
                <a:solidFill>
                  <a:srgbClr val="333333"/>
                </a:solidFill>
                <a:effectLst/>
                <a:latin typeface="Helvetica Neue"/>
              </a:rPr>
              <a:t>基本辅助功能强大的</a:t>
            </a:r>
            <a:r>
              <a:rPr lang="zh-CN" altLang="en-US" sz="1500" b="0" i="0" u="none" strike="noStrike" dirty="0">
                <a:solidFill>
                  <a:srgbClr val="136EC2"/>
                </a:solidFill>
                <a:effectLst/>
                <a:latin typeface="Helvetica Neue"/>
              </a:rPr>
              <a:t>操作系统接口</a:t>
            </a:r>
            <a:r>
              <a:rPr lang="zh-CN" altLang="en-US" sz="1500" b="0" i="0" dirty="0">
                <a:solidFill>
                  <a:srgbClr val="333333"/>
                </a:solidFill>
                <a:effectLst/>
                <a:latin typeface="Helvetica Neue"/>
              </a:rPr>
              <a:t>功能；可灵活设置、传递多个关键参数给操作系统，适合系统在不同开发阶段的调试要求与产品发布，尤以</a:t>
            </a:r>
            <a:r>
              <a:rPr lang="en-US" altLang="zh-CN" sz="1500" b="0" i="0" dirty="0">
                <a:solidFill>
                  <a:srgbClr val="333333"/>
                </a:solidFill>
                <a:effectLst/>
                <a:latin typeface="Helvetica Neue"/>
              </a:rPr>
              <a:t>Linux</a:t>
            </a:r>
            <a:r>
              <a:rPr lang="zh-CN" altLang="en-US" sz="1500" b="0" i="0" dirty="0">
                <a:solidFill>
                  <a:srgbClr val="333333"/>
                </a:solidFill>
                <a:effectLst/>
                <a:latin typeface="Helvetica Neue"/>
              </a:rPr>
              <a:t>支持最为强劲；支持</a:t>
            </a:r>
            <a:r>
              <a:rPr lang="zh-CN" altLang="en-US" sz="1500" b="0" i="0" u="none" strike="noStrike" dirty="0">
                <a:solidFill>
                  <a:srgbClr val="136EC2"/>
                </a:solidFill>
                <a:effectLst/>
                <a:latin typeface="Helvetica Neue"/>
              </a:rPr>
              <a:t>目标板</a:t>
            </a:r>
            <a:r>
              <a:rPr lang="zh-CN" altLang="en-US" sz="1500" b="0" i="0" dirty="0">
                <a:solidFill>
                  <a:srgbClr val="333333"/>
                </a:solidFill>
                <a:effectLst/>
                <a:latin typeface="Helvetica Neue"/>
              </a:rPr>
              <a:t>环境参数多种存储方式，如</a:t>
            </a:r>
            <a:r>
              <a:rPr lang="en-US" altLang="zh-CN" sz="1500" b="0" i="0" dirty="0">
                <a:solidFill>
                  <a:srgbClr val="333333"/>
                </a:solidFill>
                <a:effectLst/>
                <a:latin typeface="Helvetica Neue"/>
              </a:rPr>
              <a:t>FLASH</a:t>
            </a:r>
            <a:r>
              <a:rPr lang="zh-CN" altLang="en-US" sz="1500" b="0" i="0" dirty="0">
                <a:solidFill>
                  <a:srgbClr val="333333"/>
                </a:solidFill>
                <a:effectLst/>
                <a:latin typeface="Helvetica Neue"/>
              </a:rPr>
              <a:t>、</a:t>
            </a:r>
            <a:r>
              <a:rPr lang="en-US" altLang="zh-CN" sz="1500" b="0" i="0" dirty="0">
                <a:solidFill>
                  <a:srgbClr val="333333"/>
                </a:solidFill>
                <a:effectLst/>
                <a:latin typeface="Helvetica Neue"/>
              </a:rPr>
              <a:t>NVRAM</a:t>
            </a:r>
            <a:r>
              <a:rPr lang="zh-CN" altLang="en-US" sz="1500" b="0" i="0" dirty="0">
                <a:solidFill>
                  <a:srgbClr val="333333"/>
                </a:solidFill>
                <a:effectLst/>
                <a:latin typeface="Helvetica Neue"/>
              </a:rPr>
              <a:t>、</a:t>
            </a:r>
            <a:r>
              <a:rPr lang="en-US" altLang="zh-CN" sz="1500" b="0" i="0" dirty="0">
                <a:solidFill>
                  <a:srgbClr val="333333"/>
                </a:solidFill>
                <a:effectLst/>
                <a:latin typeface="Helvetica Neue"/>
              </a:rPr>
              <a:t>EEPROM</a:t>
            </a:r>
            <a:r>
              <a:rPr lang="zh-CN" altLang="en-US" sz="1500" b="0" i="0" dirty="0">
                <a:solidFill>
                  <a:srgbClr val="333333"/>
                </a:solidFill>
                <a:effectLst/>
                <a:latin typeface="Helvetica Neue"/>
              </a:rPr>
              <a:t>；</a:t>
            </a:r>
          </a:p>
          <a:p>
            <a:pPr marL="628650" lvl="1" indent="-179388">
              <a:lnSpc>
                <a:spcPct val="120000"/>
              </a:lnSpc>
              <a:buClr>
                <a:schemeClr val="accent1"/>
              </a:buClr>
              <a:buFont typeface="Arial" panose="020B0604020202020204" pitchFamily="34" charset="0"/>
              <a:buChar char="•"/>
            </a:pPr>
            <a:r>
              <a:rPr lang="en-US" altLang="zh-CN" sz="1500" b="0" i="0" dirty="0">
                <a:solidFill>
                  <a:srgbClr val="333333"/>
                </a:solidFill>
                <a:effectLst/>
                <a:latin typeface="Helvetica Neue"/>
              </a:rPr>
              <a:t>CRC32</a:t>
            </a:r>
            <a:r>
              <a:rPr lang="zh-CN" altLang="en-US" sz="1500" b="0" i="0" dirty="0">
                <a:solidFill>
                  <a:srgbClr val="333333"/>
                </a:solidFill>
                <a:effectLst/>
                <a:latin typeface="Helvetica Neue"/>
              </a:rPr>
              <a:t>校验可校验</a:t>
            </a:r>
            <a:r>
              <a:rPr lang="en-US" altLang="zh-CN" sz="1500" b="0" i="0" dirty="0">
                <a:solidFill>
                  <a:srgbClr val="333333"/>
                </a:solidFill>
                <a:effectLst/>
                <a:latin typeface="Helvetica Neue"/>
              </a:rPr>
              <a:t>FLASH</a:t>
            </a:r>
            <a:r>
              <a:rPr lang="zh-CN" altLang="en-US" sz="1500" b="0" i="0" dirty="0">
                <a:solidFill>
                  <a:srgbClr val="333333"/>
                </a:solidFill>
                <a:effectLst/>
                <a:latin typeface="Helvetica Neue"/>
              </a:rPr>
              <a:t>中内核、</a:t>
            </a:r>
            <a:r>
              <a:rPr lang="en-US" altLang="zh-CN" sz="1500" b="0" i="0" dirty="0">
                <a:solidFill>
                  <a:srgbClr val="333333"/>
                </a:solidFill>
                <a:effectLst/>
                <a:latin typeface="Helvetica Neue"/>
              </a:rPr>
              <a:t>RAMDISK</a:t>
            </a:r>
            <a:r>
              <a:rPr lang="zh-CN" altLang="en-US" sz="1500" b="0" i="0" u="none" strike="noStrike" dirty="0">
                <a:solidFill>
                  <a:srgbClr val="136EC2"/>
                </a:solidFill>
                <a:effectLst/>
                <a:latin typeface="Helvetica Neue"/>
              </a:rPr>
              <a:t>镜像文件</a:t>
            </a:r>
            <a:r>
              <a:rPr lang="zh-CN" altLang="en-US" sz="1500" b="0" i="0" dirty="0">
                <a:solidFill>
                  <a:srgbClr val="333333"/>
                </a:solidFill>
                <a:effectLst/>
                <a:latin typeface="Helvetica Neue"/>
              </a:rPr>
              <a:t>是否完好；</a:t>
            </a:r>
          </a:p>
          <a:p>
            <a:pPr marL="628650" lvl="1" indent="-179388">
              <a:lnSpc>
                <a:spcPct val="120000"/>
              </a:lnSpc>
              <a:buClr>
                <a:schemeClr val="accent1"/>
              </a:buClr>
              <a:buFont typeface="Arial" panose="020B0604020202020204" pitchFamily="34" charset="0"/>
              <a:buChar char="•"/>
            </a:pPr>
            <a:r>
              <a:rPr lang="zh-CN" altLang="en-US" sz="1500" b="0" i="0" u="none" strike="noStrike" dirty="0">
                <a:solidFill>
                  <a:srgbClr val="136EC2"/>
                </a:solidFill>
                <a:effectLst/>
                <a:latin typeface="Helvetica Neue"/>
              </a:rPr>
              <a:t>设备驱动</a:t>
            </a:r>
            <a:r>
              <a:rPr lang="zh-CN" altLang="en-US" sz="1500" b="0" i="0" dirty="0">
                <a:solidFill>
                  <a:srgbClr val="333333"/>
                </a:solidFill>
                <a:effectLst/>
                <a:latin typeface="Helvetica Neue"/>
              </a:rPr>
              <a:t>串口、</a:t>
            </a:r>
            <a:r>
              <a:rPr lang="en-US" altLang="zh-CN" sz="1500" b="0" i="0" dirty="0">
                <a:solidFill>
                  <a:srgbClr val="333333"/>
                </a:solidFill>
                <a:effectLst/>
                <a:latin typeface="Helvetica Neue"/>
              </a:rPr>
              <a:t>SDRAM</a:t>
            </a:r>
            <a:r>
              <a:rPr lang="zh-CN" altLang="en-US" sz="1500" b="0" i="0" dirty="0">
                <a:solidFill>
                  <a:srgbClr val="333333"/>
                </a:solidFill>
                <a:effectLst/>
                <a:latin typeface="Helvetica Neue"/>
              </a:rPr>
              <a:t>、</a:t>
            </a:r>
            <a:r>
              <a:rPr lang="en-US" altLang="zh-CN" sz="1500" b="0" i="0" dirty="0">
                <a:solidFill>
                  <a:srgbClr val="333333"/>
                </a:solidFill>
                <a:effectLst/>
                <a:latin typeface="Helvetica Neue"/>
              </a:rPr>
              <a:t>FLASH</a:t>
            </a:r>
            <a:r>
              <a:rPr lang="zh-CN" altLang="en-US" sz="1500" b="0" i="0" dirty="0">
                <a:solidFill>
                  <a:srgbClr val="333333"/>
                </a:solidFill>
                <a:effectLst/>
                <a:latin typeface="Helvetica Neue"/>
              </a:rPr>
              <a:t>、</a:t>
            </a:r>
            <a:r>
              <a:rPr lang="zh-CN" altLang="en-US" sz="1500" b="0" i="0" u="none" strike="noStrike" dirty="0">
                <a:solidFill>
                  <a:srgbClr val="136EC2"/>
                </a:solidFill>
                <a:effectLst/>
                <a:latin typeface="Helvetica Neue"/>
              </a:rPr>
              <a:t>以太网</a:t>
            </a:r>
            <a:r>
              <a:rPr lang="zh-CN" altLang="en-US" sz="1500" b="0" i="0" dirty="0">
                <a:solidFill>
                  <a:srgbClr val="333333"/>
                </a:solidFill>
                <a:effectLst/>
                <a:latin typeface="Helvetica Neue"/>
              </a:rPr>
              <a:t>、</a:t>
            </a:r>
            <a:r>
              <a:rPr lang="en-US" altLang="zh-CN" sz="1500" b="0" i="0" dirty="0">
                <a:solidFill>
                  <a:srgbClr val="333333"/>
                </a:solidFill>
                <a:effectLst/>
                <a:latin typeface="Helvetica Neue"/>
              </a:rPr>
              <a:t>LCD</a:t>
            </a:r>
            <a:r>
              <a:rPr lang="zh-CN" altLang="en-US" sz="1500" b="0" i="0" dirty="0">
                <a:solidFill>
                  <a:srgbClr val="333333"/>
                </a:solidFill>
                <a:effectLst/>
                <a:latin typeface="Helvetica Neue"/>
              </a:rPr>
              <a:t>、</a:t>
            </a:r>
            <a:r>
              <a:rPr lang="en-US" altLang="zh-CN" sz="1500" b="0" i="0" dirty="0">
                <a:solidFill>
                  <a:srgbClr val="333333"/>
                </a:solidFill>
                <a:effectLst/>
                <a:latin typeface="Helvetica Neue"/>
              </a:rPr>
              <a:t>NVRAM</a:t>
            </a:r>
            <a:r>
              <a:rPr lang="zh-CN" altLang="en-US" sz="1500" b="0" i="0" dirty="0">
                <a:solidFill>
                  <a:srgbClr val="333333"/>
                </a:solidFill>
                <a:effectLst/>
                <a:latin typeface="Helvetica Neue"/>
              </a:rPr>
              <a:t>、</a:t>
            </a:r>
            <a:r>
              <a:rPr lang="en-US" altLang="zh-CN" sz="1500" b="0" i="0" dirty="0">
                <a:solidFill>
                  <a:srgbClr val="333333"/>
                </a:solidFill>
                <a:effectLst/>
                <a:latin typeface="Helvetica Neue"/>
              </a:rPr>
              <a:t>EEPROM</a:t>
            </a:r>
            <a:r>
              <a:rPr lang="zh-CN" altLang="en-US" sz="1500" b="0" i="0" dirty="0">
                <a:solidFill>
                  <a:srgbClr val="333333"/>
                </a:solidFill>
                <a:effectLst/>
                <a:latin typeface="Helvetica Neue"/>
              </a:rPr>
              <a:t>、键盘、</a:t>
            </a:r>
            <a:r>
              <a:rPr lang="en-US" altLang="zh-CN" sz="1500" b="0" i="0" dirty="0">
                <a:solidFill>
                  <a:srgbClr val="333333"/>
                </a:solidFill>
                <a:effectLst/>
                <a:latin typeface="Helvetica Neue"/>
              </a:rPr>
              <a:t>USB</a:t>
            </a:r>
            <a:r>
              <a:rPr lang="zh-CN" altLang="en-US" sz="1500" b="0" i="0" dirty="0">
                <a:solidFill>
                  <a:srgbClr val="333333"/>
                </a:solidFill>
                <a:effectLst/>
                <a:latin typeface="Helvetica Neue"/>
              </a:rPr>
              <a:t>、</a:t>
            </a:r>
            <a:r>
              <a:rPr lang="en-US" altLang="zh-CN" sz="1500" b="0" i="0" dirty="0">
                <a:solidFill>
                  <a:srgbClr val="333333"/>
                </a:solidFill>
                <a:effectLst/>
                <a:latin typeface="Helvetica Neue"/>
              </a:rPr>
              <a:t>PCMCIA</a:t>
            </a:r>
            <a:r>
              <a:rPr lang="zh-CN" altLang="en-US" sz="1500" b="0" i="0" dirty="0">
                <a:solidFill>
                  <a:srgbClr val="333333"/>
                </a:solidFill>
                <a:effectLst/>
                <a:latin typeface="Helvetica Neue"/>
              </a:rPr>
              <a:t>、</a:t>
            </a:r>
            <a:r>
              <a:rPr lang="en-US" altLang="zh-CN" sz="1500" b="0" i="0" dirty="0">
                <a:solidFill>
                  <a:srgbClr val="333333"/>
                </a:solidFill>
                <a:effectLst/>
                <a:latin typeface="Helvetica Neue"/>
              </a:rPr>
              <a:t>PCI</a:t>
            </a:r>
            <a:r>
              <a:rPr lang="zh-CN" altLang="en-US" sz="1500" b="0" i="0" dirty="0">
                <a:solidFill>
                  <a:srgbClr val="333333"/>
                </a:solidFill>
                <a:effectLst/>
                <a:latin typeface="Helvetica Neue"/>
              </a:rPr>
              <a:t>、</a:t>
            </a:r>
            <a:r>
              <a:rPr lang="en-US" altLang="zh-CN" sz="1500" b="0" i="0" dirty="0">
                <a:solidFill>
                  <a:srgbClr val="333333"/>
                </a:solidFill>
                <a:effectLst/>
                <a:latin typeface="Helvetica Neue"/>
              </a:rPr>
              <a:t>RTC</a:t>
            </a:r>
            <a:r>
              <a:rPr lang="zh-CN" altLang="en-US" sz="1500" b="0" i="0" dirty="0">
                <a:solidFill>
                  <a:srgbClr val="333333"/>
                </a:solidFill>
                <a:effectLst/>
                <a:latin typeface="Helvetica Neue"/>
              </a:rPr>
              <a:t>等驱动支持；</a:t>
            </a:r>
          </a:p>
          <a:p>
            <a:pPr marL="628650" lvl="1" indent="-179388">
              <a:lnSpc>
                <a:spcPct val="120000"/>
              </a:lnSpc>
              <a:buClr>
                <a:schemeClr val="accent1"/>
              </a:buClr>
              <a:buFont typeface="Arial" panose="020B0604020202020204" pitchFamily="34" charset="0"/>
              <a:buChar char="•"/>
            </a:pPr>
            <a:r>
              <a:rPr lang="zh-CN" altLang="en-US" sz="1500" b="0" i="0" u="none" strike="noStrike" dirty="0">
                <a:solidFill>
                  <a:srgbClr val="136EC2"/>
                </a:solidFill>
                <a:effectLst/>
                <a:latin typeface="Helvetica Neue"/>
              </a:rPr>
              <a:t>上电自检</a:t>
            </a:r>
            <a:r>
              <a:rPr lang="zh-CN" altLang="en-US" sz="1500" b="0" i="0" dirty="0">
                <a:solidFill>
                  <a:srgbClr val="333333"/>
                </a:solidFill>
                <a:effectLst/>
                <a:latin typeface="Helvetica Neue"/>
              </a:rPr>
              <a:t>功能</a:t>
            </a:r>
            <a:r>
              <a:rPr lang="en-US" altLang="zh-CN" sz="1500" b="0" i="0" dirty="0">
                <a:solidFill>
                  <a:srgbClr val="333333"/>
                </a:solidFill>
                <a:effectLst/>
                <a:latin typeface="Helvetica Neue"/>
              </a:rPr>
              <a:t>SDRAM</a:t>
            </a:r>
            <a:r>
              <a:rPr lang="zh-CN" altLang="en-US" sz="1500" b="0" i="0" dirty="0">
                <a:solidFill>
                  <a:srgbClr val="333333"/>
                </a:solidFill>
                <a:effectLst/>
                <a:latin typeface="Helvetica Neue"/>
              </a:rPr>
              <a:t>、</a:t>
            </a:r>
            <a:r>
              <a:rPr lang="en-US" altLang="zh-CN" sz="1500" b="0" i="0" dirty="0">
                <a:solidFill>
                  <a:srgbClr val="333333"/>
                </a:solidFill>
                <a:effectLst/>
                <a:latin typeface="Helvetica Neue"/>
              </a:rPr>
              <a:t>FLASH</a:t>
            </a:r>
            <a:r>
              <a:rPr lang="zh-CN" altLang="en-US" sz="1500" b="0" i="0" dirty="0">
                <a:solidFill>
                  <a:srgbClr val="333333"/>
                </a:solidFill>
                <a:effectLst/>
                <a:latin typeface="Helvetica Neue"/>
              </a:rPr>
              <a:t>大小自动检测；</a:t>
            </a:r>
            <a:r>
              <a:rPr lang="en-US" altLang="zh-CN" sz="1500" b="0" i="0" dirty="0">
                <a:solidFill>
                  <a:srgbClr val="333333"/>
                </a:solidFill>
                <a:effectLst/>
                <a:latin typeface="Helvetica Neue"/>
              </a:rPr>
              <a:t>SDRAM</a:t>
            </a:r>
            <a:r>
              <a:rPr lang="zh-CN" altLang="en-US" sz="1500" b="0" i="0" dirty="0">
                <a:solidFill>
                  <a:srgbClr val="333333"/>
                </a:solidFill>
                <a:effectLst/>
                <a:latin typeface="Helvetica Neue"/>
              </a:rPr>
              <a:t>故障检测；</a:t>
            </a:r>
            <a:r>
              <a:rPr lang="en-US" altLang="zh-CN" sz="1500" b="0" i="0" dirty="0">
                <a:solidFill>
                  <a:srgbClr val="333333"/>
                </a:solidFill>
                <a:effectLst/>
                <a:latin typeface="Helvetica Neue"/>
              </a:rPr>
              <a:t>CPU</a:t>
            </a:r>
            <a:r>
              <a:rPr lang="zh-CN" altLang="en-US" sz="1500" b="0" i="0" dirty="0">
                <a:solidFill>
                  <a:srgbClr val="333333"/>
                </a:solidFill>
                <a:effectLst/>
                <a:latin typeface="Helvetica Neue"/>
              </a:rPr>
              <a:t>型号；</a:t>
            </a:r>
          </a:p>
          <a:p>
            <a:pPr marL="628650" lvl="1" indent="-179388">
              <a:lnSpc>
                <a:spcPct val="120000"/>
              </a:lnSpc>
              <a:buClr>
                <a:schemeClr val="accent1"/>
              </a:buClr>
              <a:buFont typeface="Arial" panose="020B0604020202020204" pitchFamily="34" charset="0"/>
              <a:buChar char="•"/>
            </a:pPr>
            <a:r>
              <a:rPr lang="zh-CN" altLang="en-US" sz="1500" b="0" i="0" dirty="0">
                <a:solidFill>
                  <a:srgbClr val="333333"/>
                </a:solidFill>
                <a:effectLst/>
                <a:latin typeface="Helvetica Neue"/>
              </a:rPr>
              <a:t>特殊功能</a:t>
            </a:r>
            <a:r>
              <a:rPr lang="en-US" altLang="zh-CN" sz="1500" b="0" i="0" dirty="0">
                <a:solidFill>
                  <a:srgbClr val="333333"/>
                </a:solidFill>
                <a:effectLst/>
                <a:latin typeface="Helvetica Neue"/>
              </a:rPr>
              <a:t>XIP</a:t>
            </a:r>
            <a:r>
              <a:rPr lang="zh-CN" altLang="en-US" sz="1500" b="0" i="0" u="none" strike="noStrike" dirty="0">
                <a:solidFill>
                  <a:srgbClr val="136EC2"/>
                </a:solidFill>
                <a:effectLst/>
                <a:latin typeface="Helvetica Neue"/>
              </a:rPr>
              <a:t>内核</a:t>
            </a:r>
            <a:r>
              <a:rPr lang="zh-CN" altLang="en-US" sz="1500" b="0" i="0" dirty="0">
                <a:solidFill>
                  <a:srgbClr val="333333"/>
                </a:solidFill>
                <a:effectLst/>
                <a:latin typeface="Helvetica Neue"/>
              </a:rPr>
              <a:t>引导；</a:t>
            </a:r>
          </a:p>
        </p:txBody>
      </p:sp>
    </p:spTree>
    <p:extLst>
      <p:ext uri="{BB962C8B-B14F-4D97-AF65-F5344CB8AC3E}">
        <p14:creationId xmlns:p14="http://schemas.microsoft.com/office/powerpoint/2010/main" val="3514046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A0C84B-309D-4633-BCE2-CE57C36C5F56}"/>
              </a:ext>
            </a:extLst>
          </p:cNvPr>
          <p:cNvSpPr>
            <a:spLocks noGrp="1"/>
          </p:cNvSpPr>
          <p:nvPr>
            <p:ph type="title"/>
          </p:nvPr>
        </p:nvSpPr>
        <p:spPr/>
        <p:txBody>
          <a:bodyPr/>
          <a:lstStyle/>
          <a:p>
            <a:r>
              <a:rPr lang="en-US" altLang="zh-CN" dirty="0" err="1"/>
              <a:t>Uboot</a:t>
            </a:r>
            <a:endParaRPr lang="zh-CN" altLang="en-US" dirty="0"/>
          </a:p>
        </p:txBody>
      </p:sp>
      <p:sp>
        <p:nvSpPr>
          <p:cNvPr id="3" name="内容占位符 2">
            <a:extLst>
              <a:ext uri="{FF2B5EF4-FFF2-40B4-BE49-F238E27FC236}">
                <a16:creationId xmlns:a16="http://schemas.microsoft.com/office/drawing/2014/main" id="{7EA3C54B-F9FC-456B-ABC5-5D8ED76D3E75}"/>
              </a:ext>
            </a:extLst>
          </p:cNvPr>
          <p:cNvSpPr>
            <a:spLocks noGrp="1"/>
          </p:cNvSpPr>
          <p:nvPr>
            <p:ph idx="1"/>
          </p:nvPr>
        </p:nvSpPr>
        <p:spPr>
          <a:xfrm>
            <a:off x="1156608" y="1884318"/>
            <a:ext cx="9032421" cy="4023360"/>
          </a:xfrm>
        </p:spPr>
        <p:txBody>
          <a:bodyPr>
            <a:normAutofit/>
          </a:bodyPr>
          <a:lstStyle/>
          <a:p>
            <a:pPr>
              <a:lnSpc>
                <a:spcPct val="150000"/>
              </a:lnSpc>
            </a:pPr>
            <a:r>
              <a:rPr lang="en-US" altLang="zh-CN" sz="2400" b="0" i="0" dirty="0">
                <a:solidFill>
                  <a:srgbClr val="333333"/>
                </a:solidFill>
                <a:effectLst/>
                <a:latin typeface="Helvetica Neue"/>
              </a:rPr>
              <a:t>U-Boot</a:t>
            </a:r>
            <a:r>
              <a:rPr lang="zh-CN" altLang="en-US" sz="2400" b="0" i="0" dirty="0">
                <a:solidFill>
                  <a:srgbClr val="333333"/>
                </a:solidFill>
                <a:effectLst/>
                <a:latin typeface="Helvetica Neue"/>
              </a:rPr>
              <a:t>的工作模式有启动加载模式和下载模式。</a:t>
            </a:r>
            <a:endParaRPr lang="en-US" altLang="zh-CN" sz="2400" b="0" i="0" dirty="0">
              <a:solidFill>
                <a:srgbClr val="333333"/>
              </a:solidFill>
              <a:effectLst/>
              <a:latin typeface="Helvetica Neue"/>
            </a:endParaRPr>
          </a:p>
          <a:p>
            <a:pPr lvl="1">
              <a:lnSpc>
                <a:spcPct val="150000"/>
              </a:lnSpc>
              <a:buFont typeface="Arial" panose="020B0604020202020204" pitchFamily="34" charset="0"/>
              <a:buChar char="•"/>
            </a:pPr>
            <a:r>
              <a:rPr lang="zh-CN" altLang="en-US" sz="2000" b="0" i="0" dirty="0">
                <a:solidFill>
                  <a:srgbClr val="C00000"/>
                </a:solidFill>
                <a:effectLst/>
                <a:latin typeface="Helvetica Neue"/>
              </a:rPr>
              <a:t>启动加载模式</a:t>
            </a:r>
            <a:r>
              <a:rPr lang="zh-CN" altLang="en-US" sz="2000" b="0" i="0" dirty="0">
                <a:solidFill>
                  <a:srgbClr val="333333"/>
                </a:solidFill>
                <a:effectLst/>
                <a:latin typeface="Helvetica Neue"/>
              </a:rPr>
              <a:t>是</a:t>
            </a:r>
            <a:r>
              <a:rPr lang="en-US" altLang="zh-CN" sz="2000" b="0" i="0" dirty="0">
                <a:solidFill>
                  <a:srgbClr val="333333"/>
                </a:solidFill>
                <a:effectLst/>
                <a:latin typeface="Helvetica Neue"/>
              </a:rPr>
              <a:t>Bootloader</a:t>
            </a:r>
            <a:r>
              <a:rPr lang="zh-CN" altLang="en-US" sz="2000" b="0" i="0" dirty="0">
                <a:solidFill>
                  <a:srgbClr val="333333"/>
                </a:solidFill>
                <a:effectLst/>
                <a:latin typeface="Helvetica Neue"/>
              </a:rPr>
              <a:t>的正常工作模式，嵌入式产品发布时，</a:t>
            </a:r>
            <a:r>
              <a:rPr lang="en-US" altLang="zh-CN" sz="2000" b="0" i="0" dirty="0">
                <a:solidFill>
                  <a:srgbClr val="333333"/>
                </a:solidFill>
                <a:effectLst/>
                <a:latin typeface="Helvetica Neue"/>
              </a:rPr>
              <a:t>Bootloader</a:t>
            </a:r>
            <a:r>
              <a:rPr lang="zh-CN" altLang="en-US" sz="2000" b="0" i="0" dirty="0">
                <a:solidFill>
                  <a:srgbClr val="333333"/>
                </a:solidFill>
                <a:effectLst/>
                <a:latin typeface="Helvetica Neue"/>
              </a:rPr>
              <a:t>必须工作在这种模式下，</a:t>
            </a:r>
            <a:r>
              <a:rPr lang="en-US" altLang="zh-CN" sz="2000" b="0" i="0" dirty="0">
                <a:solidFill>
                  <a:srgbClr val="333333"/>
                </a:solidFill>
                <a:effectLst/>
                <a:latin typeface="Helvetica Neue"/>
              </a:rPr>
              <a:t>Bootloader</a:t>
            </a:r>
            <a:r>
              <a:rPr lang="zh-CN" altLang="en-US" sz="2000" b="0" i="0" dirty="0">
                <a:solidFill>
                  <a:srgbClr val="333333"/>
                </a:solidFill>
                <a:effectLst/>
                <a:latin typeface="Helvetica Neue"/>
              </a:rPr>
              <a:t>将嵌入式操作系统从</a:t>
            </a:r>
            <a:r>
              <a:rPr lang="en-US" altLang="zh-CN" sz="2000" b="0" i="0" dirty="0">
                <a:solidFill>
                  <a:srgbClr val="333333"/>
                </a:solidFill>
                <a:effectLst/>
                <a:latin typeface="Helvetica Neue"/>
              </a:rPr>
              <a:t>FLASH</a:t>
            </a:r>
            <a:r>
              <a:rPr lang="zh-CN" altLang="en-US" sz="2000" b="0" i="0" dirty="0">
                <a:solidFill>
                  <a:srgbClr val="333333"/>
                </a:solidFill>
                <a:effectLst/>
                <a:latin typeface="Helvetica Neue"/>
              </a:rPr>
              <a:t>中加载到</a:t>
            </a:r>
            <a:r>
              <a:rPr lang="en-US" altLang="zh-CN" sz="2000" b="0" i="0" dirty="0">
                <a:solidFill>
                  <a:srgbClr val="333333"/>
                </a:solidFill>
                <a:effectLst/>
                <a:latin typeface="Helvetica Neue"/>
              </a:rPr>
              <a:t>SDRAM</a:t>
            </a:r>
            <a:r>
              <a:rPr lang="zh-CN" altLang="en-US" sz="2000" b="0" i="0" dirty="0">
                <a:solidFill>
                  <a:srgbClr val="333333"/>
                </a:solidFill>
                <a:effectLst/>
                <a:latin typeface="Helvetica Neue"/>
              </a:rPr>
              <a:t>中运行，整个过程是自动的。</a:t>
            </a:r>
            <a:endParaRPr lang="en-US" altLang="zh-CN" sz="2000" b="0" i="0" dirty="0">
              <a:solidFill>
                <a:srgbClr val="333333"/>
              </a:solidFill>
              <a:effectLst/>
              <a:latin typeface="Helvetica Neue"/>
            </a:endParaRPr>
          </a:p>
          <a:p>
            <a:pPr lvl="1">
              <a:lnSpc>
                <a:spcPct val="150000"/>
              </a:lnSpc>
              <a:buFont typeface="Arial" panose="020B0604020202020204" pitchFamily="34" charset="0"/>
              <a:buChar char="•"/>
            </a:pPr>
            <a:r>
              <a:rPr lang="zh-CN" altLang="en-US" sz="2000" b="0" i="0" dirty="0">
                <a:solidFill>
                  <a:srgbClr val="C00000"/>
                </a:solidFill>
                <a:effectLst/>
                <a:latin typeface="Helvetica Neue"/>
              </a:rPr>
              <a:t>下载模式</a:t>
            </a:r>
            <a:r>
              <a:rPr lang="zh-CN" altLang="en-US" sz="2000" b="0" i="0" dirty="0">
                <a:solidFill>
                  <a:srgbClr val="333333"/>
                </a:solidFill>
                <a:effectLst/>
                <a:latin typeface="Helvetica Neue"/>
              </a:rPr>
              <a:t>就是</a:t>
            </a:r>
            <a:r>
              <a:rPr lang="en-US" altLang="zh-CN" sz="2000" b="0" i="0" dirty="0">
                <a:solidFill>
                  <a:srgbClr val="333333"/>
                </a:solidFill>
                <a:effectLst/>
                <a:latin typeface="Helvetica Neue"/>
              </a:rPr>
              <a:t>Bootloader</a:t>
            </a:r>
            <a:r>
              <a:rPr lang="zh-CN" altLang="en-US" sz="2000" b="0" i="0" dirty="0">
                <a:solidFill>
                  <a:srgbClr val="333333"/>
                </a:solidFill>
                <a:effectLst/>
                <a:latin typeface="Helvetica Neue"/>
              </a:rPr>
              <a:t>通过某些通信手段将</a:t>
            </a:r>
            <a:r>
              <a:rPr lang="zh-CN" altLang="en-US" sz="2000" b="0" i="0" u="none" strike="noStrike" dirty="0">
                <a:solidFill>
                  <a:srgbClr val="136EC2"/>
                </a:solidFill>
                <a:effectLst/>
                <a:latin typeface="Helvetica Neue"/>
                <a:hlinkClick r:id="rId2"/>
              </a:rPr>
              <a:t>内核</a:t>
            </a:r>
            <a:r>
              <a:rPr lang="zh-CN" altLang="en-US" sz="2000" b="0" i="0" dirty="0">
                <a:solidFill>
                  <a:srgbClr val="333333"/>
                </a:solidFill>
                <a:effectLst/>
                <a:latin typeface="Helvetica Neue"/>
              </a:rPr>
              <a:t>映像或</a:t>
            </a:r>
            <a:r>
              <a:rPr lang="zh-CN" altLang="en-US" sz="2000" b="0" i="0" u="none" strike="noStrike" dirty="0">
                <a:solidFill>
                  <a:srgbClr val="136EC2"/>
                </a:solidFill>
                <a:effectLst/>
                <a:latin typeface="Helvetica Neue"/>
                <a:hlinkClick r:id="rId3"/>
              </a:rPr>
              <a:t>根文件系统</a:t>
            </a:r>
            <a:r>
              <a:rPr lang="zh-CN" altLang="en-US" sz="2000" b="0" i="0" dirty="0">
                <a:solidFill>
                  <a:srgbClr val="333333"/>
                </a:solidFill>
                <a:effectLst/>
                <a:latin typeface="Helvetica Neue"/>
              </a:rPr>
              <a:t>映像等从</a:t>
            </a:r>
            <a:r>
              <a:rPr lang="en-US" altLang="zh-CN" sz="2000" b="0" i="0" dirty="0">
                <a:solidFill>
                  <a:srgbClr val="333333"/>
                </a:solidFill>
                <a:effectLst/>
                <a:latin typeface="Helvetica Neue"/>
              </a:rPr>
              <a:t>PC</a:t>
            </a:r>
            <a:r>
              <a:rPr lang="zh-CN" altLang="en-US" sz="2000" b="0" i="0" dirty="0">
                <a:solidFill>
                  <a:srgbClr val="333333"/>
                </a:solidFill>
                <a:effectLst/>
                <a:latin typeface="Helvetica Neue"/>
              </a:rPr>
              <a:t>机中下载到</a:t>
            </a:r>
            <a:r>
              <a:rPr lang="zh-CN" altLang="en-US" sz="2000" b="0" i="0" u="none" strike="noStrike" dirty="0">
                <a:solidFill>
                  <a:srgbClr val="136EC2"/>
                </a:solidFill>
                <a:effectLst/>
                <a:latin typeface="Helvetica Neue"/>
                <a:hlinkClick r:id="rId4"/>
              </a:rPr>
              <a:t>目标板</a:t>
            </a:r>
            <a:r>
              <a:rPr lang="zh-CN" altLang="en-US" sz="2000" b="0" i="0" dirty="0">
                <a:solidFill>
                  <a:srgbClr val="333333"/>
                </a:solidFill>
                <a:effectLst/>
                <a:latin typeface="Helvetica Neue"/>
              </a:rPr>
              <a:t>的</a:t>
            </a:r>
            <a:r>
              <a:rPr lang="en-US" altLang="zh-CN" sz="2000" b="0" i="0" dirty="0">
                <a:solidFill>
                  <a:srgbClr val="333333"/>
                </a:solidFill>
                <a:effectLst/>
                <a:latin typeface="Helvetica Neue"/>
              </a:rPr>
              <a:t>FLASH</a:t>
            </a:r>
            <a:r>
              <a:rPr lang="zh-CN" altLang="en-US" sz="2000" b="0" i="0" dirty="0">
                <a:solidFill>
                  <a:srgbClr val="333333"/>
                </a:solidFill>
                <a:effectLst/>
                <a:latin typeface="Helvetica Neue"/>
              </a:rPr>
              <a:t>中。用户可以利用</a:t>
            </a:r>
            <a:r>
              <a:rPr lang="en-US" altLang="zh-CN" sz="2000" b="0" i="0" dirty="0">
                <a:solidFill>
                  <a:srgbClr val="333333"/>
                </a:solidFill>
                <a:effectLst/>
                <a:latin typeface="Helvetica Neue"/>
              </a:rPr>
              <a:t>Bootloader</a:t>
            </a:r>
            <a:r>
              <a:rPr lang="zh-CN" altLang="en-US" sz="2000" b="0" i="0" dirty="0">
                <a:solidFill>
                  <a:srgbClr val="333333"/>
                </a:solidFill>
                <a:effectLst/>
                <a:latin typeface="Helvetica Neue"/>
              </a:rPr>
              <a:t>提供的一些命令接口来完成自己想要的操作。</a:t>
            </a:r>
            <a:endParaRPr lang="zh-CN" altLang="en-US" sz="2000" dirty="0"/>
          </a:p>
        </p:txBody>
      </p:sp>
    </p:spTree>
    <p:extLst>
      <p:ext uri="{BB962C8B-B14F-4D97-AF65-F5344CB8AC3E}">
        <p14:creationId xmlns:p14="http://schemas.microsoft.com/office/powerpoint/2010/main" val="2355945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44C37F-233C-48E2-BD68-D869E66BA019}"/>
              </a:ext>
            </a:extLst>
          </p:cNvPr>
          <p:cNvSpPr>
            <a:spLocks noGrp="1"/>
          </p:cNvSpPr>
          <p:nvPr>
            <p:ph type="title"/>
          </p:nvPr>
        </p:nvSpPr>
        <p:spPr/>
        <p:txBody>
          <a:bodyPr/>
          <a:lstStyle/>
          <a:p>
            <a:r>
              <a:rPr lang="en-US" altLang="zh-CN" dirty="0" err="1"/>
              <a:t>Uboot</a:t>
            </a:r>
            <a:r>
              <a:rPr lang="en-US" altLang="zh-CN" dirty="0"/>
              <a:t>-</a:t>
            </a:r>
            <a:r>
              <a:rPr lang="zh-CN" altLang="en-US" dirty="0"/>
              <a:t>启动流程</a:t>
            </a:r>
          </a:p>
        </p:txBody>
      </p:sp>
      <p:sp>
        <p:nvSpPr>
          <p:cNvPr id="3" name="内容占位符 2">
            <a:extLst>
              <a:ext uri="{FF2B5EF4-FFF2-40B4-BE49-F238E27FC236}">
                <a16:creationId xmlns:a16="http://schemas.microsoft.com/office/drawing/2014/main" id="{D11E6808-CEB5-4C7C-B843-AEE32EA8C2AE}"/>
              </a:ext>
            </a:extLst>
          </p:cNvPr>
          <p:cNvSpPr>
            <a:spLocks noGrp="1"/>
          </p:cNvSpPr>
          <p:nvPr>
            <p:ph idx="1"/>
          </p:nvPr>
        </p:nvSpPr>
        <p:spPr>
          <a:xfrm>
            <a:off x="1066801" y="1853897"/>
            <a:ext cx="5029200" cy="4408109"/>
          </a:xfrm>
        </p:spPr>
        <p:txBody>
          <a:bodyPr>
            <a:normAutofit fontScale="25000" lnSpcReduction="20000"/>
          </a:bodyPr>
          <a:lstStyle/>
          <a:p>
            <a:pPr>
              <a:lnSpc>
                <a:spcPct val="120000"/>
              </a:lnSpc>
            </a:pPr>
            <a:r>
              <a:rPr lang="en-US" altLang="zh-CN" sz="6400" b="0" i="0" dirty="0">
                <a:solidFill>
                  <a:srgbClr val="333333"/>
                </a:solidFill>
                <a:effectLst/>
                <a:latin typeface="Helvetica Neue"/>
              </a:rPr>
              <a:t>1</a:t>
            </a:r>
            <a:r>
              <a:rPr lang="zh-CN" altLang="en-US" sz="6400" b="0" i="0" dirty="0">
                <a:solidFill>
                  <a:srgbClr val="333333"/>
                </a:solidFill>
                <a:effectLst/>
                <a:latin typeface="Helvetica Neue"/>
              </a:rPr>
              <a:t>、 </a:t>
            </a:r>
            <a:r>
              <a:rPr lang="en-US" altLang="zh-CN" sz="6400" b="0" i="0" dirty="0">
                <a:solidFill>
                  <a:srgbClr val="333333"/>
                </a:solidFill>
                <a:effectLst/>
                <a:latin typeface="Helvetica Neue"/>
              </a:rPr>
              <a:t>stage1(</a:t>
            </a:r>
            <a:r>
              <a:rPr lang="en-US" altLang="zh-CN" sz="6400" b="0" i="0" dirty="0" err="1">
                <a:solidFill>
                  <a:srgbClr val="333333"/>
                </a:solidFill>
                <a:effectLst/>
                <a:highlight>
                  <a:srgbClr val="FFFF00"/>
                </a:highlight>
                <a:latin typeface="Helvetica Neue"/>
              </a:rPr>
              <a:t>start.s</a:t>
            </a:r>
            <a:r>
              <a:rPr lang="zh-CN" altLang="en-US" sz="6400" b="0" i="0" dirty="0">
                <a:solidFill>
                  <a:srgbClr val="333333"/>
                </a:solidFill>
                <a:effectLst/>
                <a:latin typeface="Helvetica Neue"/>
              </a:rPr>
              <a:t>代码结构</a:t>
            </a:r>
            <a:r>
              <a:rPr lang="en-US" altLang="zh-CN" sz="6400" b="0" i="0" dirty="0">
                <a:solidFill>
                  <a:srgbClr val="333333"/>
                </a:solidFill>
                <a:effectLst/>
                <a:latin typeface="Helvetica Neue"/>
              </a:rPr>
              <a:t>)</a:t>
            </a:r>
          </a:p>
          <a:p>
            <a:pPr algn="l">
              <a:lnSpc>
                <a:spcPct val="120000"/>
              </a:lnSpc>
            </a:pPr>
            <a:r>
              <a:rPr lang="en-US" altLang="zh-CN" sz="6400" b="0" i="0" dirty="0">
                <a:solidFill>
                  <a:srgbClr val="333333"/>
                </a:solidFill>
                <a:effectLst/>
                <a:latin typeface="Helvetica Neue"/>
              </a:rPr>
              <a:t>U-boot</a:t>
            </a:r>
            <a:r>
              <a:rPr lang="zh-CN" altLang="en-US" sz="6400" b="0" i="0" dirty="0">
                <a:solidFill>
                  <a:srgbClr val="333333"/>
                </a:solidFill>
                <a:effectLst/>
                <a:latin typeface="Helvetica Neue"/>
              </a:rPr>
              <a:t>的</a:t>
            </a:r>
            <a:r>
              <a:rPr lang="en-US" altLang="zh-CN" sz="6400" b="0" i="0" dirty="0">
                <a:solidFill>
                  <a:srgbClr val="333333"/>
                </a:solidFill>
                <a:effectLst/>
                <a:latin typeface="Helvetica Neue"/>
              </a:rPr>
              <a:t>stage1</a:t>
            </a:r>
            <a:r>
              <a:rPr lang="zh-CN" altLang="en-US" sz="6400" b="0" i="0" dirty="0">
                <a:solidFill>
                  <a:srgbClr val="333333"/>
                </a:solidFill>
                <a:effectLst/>
                <a:latin typeface="Helvetica Neue"/>
              </a:rPr>
              <a:t>代码通常放在</a:t>
            </a:r>
            <a:r>
              <a:rPr lang="en-US" altLang="zh-CN" sz="6400" b="0" i="0" dirty="0" err="1">
                <a:solidFill>
                  <a:srgbClr val="333333"/>
                </a:solidFill>
                <a:effectLst/>
                <a:latin typeface="Helvetica Neue"/>
              </a:rPr>
              <a:t>start.s</a:t>
            </a:r>
            <a:r>
              <a:rPr lang="zh-CN" altLang="en-US" sz="6400" b="0" i="0" dirty="0">
                <a:solidFill>
                  <a:srgbClr val="333333"/>
                </a:solidFill>
                <a:effectLst/>
                <a:latin typeface="Helvetica Neue"/>
              </a:rPr>
              <a:t>文件中，它用汇编语言写成，其主要代码部分如下：</a:t>
            </a:r>
          </a:p>
          <a:p>
            <a:pPr lvl="1">
              <a:lnSpc>
                <a:spcPct val="120000"/>
              </a:lnSpc>
              <a:buFont typeface="Wingdings" panose="05000000000000000000" pitchFamily="2" charset="2"/>
              <a:buChar char="ü"/>
            </a:pPr>
            <a:r>
              <a:rPr lang="zh-CN" altLang="en-US" sz="6400" b="0" i="0" dirty="0">
                <a:solidFill>
                  <a:srgbClr val="333333"/>
                </a:solidFill>
                <a:effectLst/>
                <a:latin typeface="Helvetica Neue"/>
              </a:rPr>
              <a:t>（</a:t>
            </a:r>
            <a:r>
              <a:rPr lang="en-US" altLang="zh-CN" sz="6400" b="0" i="0" dirty="0">
                <a:solidFill>
                  <a:srgbClr val="333333"/>
                </a:solidFill>
                <a:effectLst/>
                <a:latin typeface="Helvetica Neue"/>
              </a:rPr>
              <a:t>1</a:t>
            </a:r>
            <a:r>
              <a:rPr lang="zh-CN" altLang="en-US" sz="6400" b="0" i="0" dirty="0">
                <a:solidFill>
                  <a:srgbClr val="333333"/>
                </a:solidFill>
                <a:effectLst/>
                <a:latin typeface="Helvetica Neue"/>
              </a:rPr>
              <a:t>） 定义入口。由于一个可执行的</a:t>
            </a:r>
            <a:r>
              <a:rPr lang="en-US" altLang="zh-CN" sz="6400" b="0" i="0" dirty="0">
                <a:solidFill>
                  <a:srgbClr val="333333"/>
                </a:solidFill>
                <a:effectLst/>
                <a:latin typeface="Helvetica Neue"/>
              </a:rPr>
              <a:t>image</a:t>
            </a:r>
            <a:r>
              <a:rPr lang="zh-CN" altLang="en-US" sz="6400" b="0" i="0" dirty="0">
                <a:solidFill>
                  <a:srgbClr val="333333"/>
                </a:solidFill>
                <a:effectLst/>
                <a:latin typeface="Helvetica Neue"/>
              </a:rPr>
              <a:t>必须有一个</a:t>
            </a:r>
            <a:r>
              <a:rPr lang="zh-CN" altLang="en-US" sz="6400" b="0" i="0" u="none" strike="noStrike" dirty="0">
                <a:solidFill>
                  <a:srgbClr val="136EC2"/>
                </a:solidFill>
                <a:effectLst/>
                <a:latin typeface="Helvetica Neue"/>
                <a:hlinkClick r:id="rId2"/>
              </a:rPr>
              <a:t>入口点</a:t>
            </a:r>
            <a:r>
              <a:rPr lang="zh-CN" altLang="en-US" sz="6400" b="0" i="0" dirty="0">
                <a:solidFill>
                  <a:srgbClr val="333333"/>
                </a:solidFill>
                <a:effectLst/>
                <a:latin typeface="Helvetica Neue"/>
              </a:rPr>
              <a:t>，并且只能有一个全局入口，通常这个入口放在</a:t>
            </a:r>
            <a:r>
              <a:rPr lang="en-US" altLang="zh-CN" sz="6400" b="0" i="0" dirty="0">
                <a:solidFill>
                  <a:srgbClr val="333333"/>
                </a:solidFill>
                <a:effectLst/>
                <a:latin typeface="Helvetica Neue"/>
              </a:rPr>
              <a:t>ROM(Flash)</a:t>
            </a:r>
            <a:r>
              <a:rPr lang="zh-CN" altLang="en-US" sz="6400" b="0" i="0" dirty="0">
                <a:solidFill>
                  <a:srgbClr val="333333"/>
                </a:solidFill>
                <a:effectLst/>
                <a:latin typeface="Helvetica Neue"/>
              </a:rPr>
              <a:t>的</a:t>
            </a:r>
            <a:r>
              <a:rPr lang="en-US" altLang="zh-CN" sz="6400" b="0" i="0" dirty="0">
                <a:solidFill>
                  <a:srgbClr val="333333"/>
                </a:solidFill>
                <a:effectLst/>
                <a:latin typeface="Helvetica Neue"/>
              </a:rPr>
              <a:t>0x0</a:t>
            </a:r>
            <a:r>
              <a:rPr lang="zh-CN" altLang="en-US" sz="6400" b="0" i="0" dirty="0">
                <a:solidFill>
                  <a:srgbClr val="333333"/>
                </a:solidFill>
                <a:effectLst/>
                <a:latin typeface="Helvetica Neue"/>
              </a:rPr>
              <a:t>地址，因此，必须通知</a:t>
            </a:r>
            <a:r>
              <a:rPr lang="zh-CN" altLang="en-US" sz="6400" b="0" i="0" u="none" strike="noStrike" dirty="0">
                <a:solidFill>
                  <a:srgbClr val="136EC2"/>
                </a:solidFill>
                <a:effectLst/>
                <a:latin typeface="Helvetica Neue"/>
                <a:hlinkClick r:id="rId3"/>
              </a:rPr>
              <a:t>编译器</a:t>
            </a:r>
            <a:r>
              <a:rPr lang="zh-CN" altLang="en-US" sz="6400" b="0" i="0" dirty="0">
                <a:solidFill>
                  <a:srgbClr val="333333"/>
                </a:solidFill>
                <a:effectLst/>
                <a:latin typeface="Helvetica Neue"/>
              </a:rPr>
              <a:t>以使其知道这个入口，该工作可通过修改连接器脚本来完成</a:t>
            </a:r>
            <a:endParaRPr lang="en-US" altLang="zh-CN" sz="6400" b="0" i="0" dirty="0">
              <a:solidFill>
                <a:srgbClr val="333333"/>
              </a:solidFill>
              <a:effectLst/>
              <a:latin typeface="Helvetica Neue"/>
            </a:endParaRPr>
          </a:p>
          <a:p>
            <a:pPr lvl="1">
              <a:lnSpc>
                <a:spcPct val="120000"/>
              </a:lnSpc>
              <a:buFont typeface="Wingdings" panose="05000000000000000000" pitchFamily="2" charset="2"/>
              <a:buChar char="ü"/>
            </a:pPr>
            <a:r>
              <a:rPr lang="zh-CN" altLang="en-US" sz="6400" b="0" i="0" dirty="0">
                <a:solidFill>
                  <a:srgbClr val="333333"/>
                </a:solidFill>
                <a:effectLst/>
                <a:latin typeface="Helvetica Neue"/>
              </a:rPr>
              <a:t>（</a:t>
            </a:r>
            <a:r>
              <a:rPr lang="en-US" altLang="zh-CN" sz="6400" b="0" i="0" dirty="0">
                <a:solidFill>
                  <a:srgbClr val="333333"/>
                </a:solidFill>
                <a:effectLst/>
                <a:latin typeface="Helvetica Neue"/>
              </a:rPr>
              <a:t>2</a:t>
            </a:r>
            <a:r>
              <a:rPr lang="zh-CN" altLang="en-US" sz="6400" b="0" i="0" dirty="0">
                <a:solidFill>
                  <a:srgbClr val="333333"/>
                </a:solidFill>
                <a:effectLst/>
                <a:latin typeface="Helvetica Neue"/>
              </a:rPr>
              <a:t>）设置异常向量</a:t>
            </a:r>
            <a:r>
              <a:rPr lang="en-US" altLang="zh-CN" sz="6400" b="0" i="0" dirty="0">
                <a:solidFill>
                  <a:srgbClr val="333333"/>
                </a:solidFill>
                <a:effectLst/>
                <a:latin typeface="Helvetica Neue"/>
              </a:rPr>
              <a:t>(exception vector)</a:t>
            </a:r>
            <a:r>
              <a:rPr lang="zh-CN" altLang="en-US" sz="6400" b="0" i="0" dirty="0">
                <a:solidFill>
                  <a:srgbClr val="333333"/>
                </a:solidFill>
                <a:effectLst/>
                <a:latin typeface="Helvetica Neue"/>
              </a:rPr>
              <a:t>。</a:t>
            </a:r>
          </a:p>
          <a:p>
            <a:pPr lvl="1">
              <a:lnSpc>
                <a:spcPct val="120000"/>
              </a:lnSpc>
              <a:buFont typeface="Wingdings" panose="05000000000000000000" pitchFamily="2" charset="2"/>
              <a:buChar char="ü"/>
            </a:pPr>
            <a:r>
              <a:rPr lang="zh-CN" altLang="en-US" sz="6400" b="0" i="0" dirty="0">
                <a:solidFill>
                  <a:srgbClr val="333333"/>
                </a:solidFill>
                <a:effectLst/>
                <a:latin typeface="Helvetica Neue"/>
              </a:rPr>
              <a:t>（</a:t>
            </a:r>
            <a:r>
              <a:rPr lang="en-US" altLang="zh-CN" sz="6400" b="0" i="0" dirty="0">
                <a:solidFill>
                  <a:srgbClr val="333333"/>
                </a:solidFill>
                <a:effectLst/>
                <a:latin typeface="Helvetica Neue"/>
              </a:rPr>
              <a:t>3</a:t>
            </a:r>
            <a:r>
              <a:rPr lang="zh-CN" altLang="en-US" sz="6400" b="0" i="0" dirty="0">
                <a:solidFill>
                  <a:srgbClr val="333333"/>
                </a:solidFill>
                <a:effectLst/>
                <a:latin typeface="Helvetica Neue"/>
              </a:rPr>
              <a:t>）设置</a:t>
            </a:r>
            <a:r>
              <a:rPr lang="en-US" altLang="zh-CN" sz="6400" b="0" i="0" dirty="0">
                <a:solidFill>
                  <a:srgbClr val="333333"/>
                </a:solidFill>
                <a:effectLst/>
                <a:latin typeface="Helvetica Neue"/>
              </a:rPr>
              <a:t>CPU</a:t>
            </a:r>
            <a:r>
              <a:rPr lang="zh-CN" altLang="en-US" sz="6400" b="0" i="0" dirty="0">
                <a:solidFill>
                  <a:srgbClr val="333333"/>
                </a:solidFill>
                <a:effectLst/>
                <a:latin typeface="Helvetica Neue"/>
              </a:rPr>
              <a:t>的速度、</a:t>
            </a:r>
            <a:r>
              <a:rPr lang="zh-CN" altLang="en-US" sz="6400" b="0" i="0" u="none" strike="noStrike" dirty="0">
                <a:solidFill>
                  <a:srgbClr val="136EC2"/>
                </a:solidFill>
                <a:effectLst/>
                <a:latin typeface="Helvetica Neue"/>
                <a:hlinkClick r:id="rId4"/>
              </a:rPr>
              <a:t>时钟频率</a:t>
            </a:r>
            <a:r>
              <a:rPr lang="zh-CN" altLang="en-US" sz="6400" b="0" i="0" dirty="0">
                <a:solidFill>
                  <a:srgbClr val="333333"/>
                </a:solidFill>
                <a:effectLst/>
                <a:latin typeface="Helvetica Neue"/>
              </a:rPr>
              <a:t>及中断</a:t>
            </a:r>
            <a:r>
              <a:rPr lang="zh-CN" altLang="en-US" sz="6400" b="0" i="0" u="none" strike="noStrike" dirty="0">
                <a:solidFill>
                  <a:srgbClr val="136EC2"/>
                </a:solidFill>
                <a:effectLst/>
                <a:latin typeface="Helvetica Neue"/>
                <a:hlinkClick r:id="rId5"/>
              </a:rPr>
              <a:t>控制寄存器</a:t>
            </a:r>
            <a:r>
              <a:rPr lang="zh-CN" altLang="en-US" sz="6400" b="0" i="0" dirty="0">
                <a:solidFill>
                  <a:srgbClr val="333333"/>
                </a:solidFill>
                <a:effectLst/>
                <a:latin typeface="Helvetica Neue"/>
              </a:rPr>
              <a:t>。</a:t>
            </a:r>
          </a:p>
          <a:p>
            <a:pPr lvl="1">
              <a:lnSpc>
                <a:spcPct val="120000"/>
              </a:lnSpc>
              <a:buFont typeface="Wingdings" panose="05000000000000000000" pitchFamily="2" charset="2"/>
              <a:buChar char="ü"/>
            </a:pPr>
            <a:r>
              <a:rPr lang="zh-CN" altLang="en-US" sz="6400" b="0" i="0" dirty="0">
                <a:solidFill>
                  <a:srgbClr val="333333"/>
                </a:solidFill>
                <a:effectLst/>
                <a:latin typeface="Helvetica Neue"/>
              </a:rPr>
              <a:t>（</a:t>
            </a:r>
            <a:r>
              <a:rPr lang="en-US" altLang="zh-CN" sz="6400" b="0" i="0" dirty="0">
                <a:solidFill>
                  <a:srgbClr val="333333"/>
                </a:solidFill>
                <a:effectLst/>
                <a:latin typeface="Helvetica Neue"/>
              </a:rPr>
              <a:t>4</a:t>
            </a:r>
            <a:r>
              <a:rPr lang="zh-CN" altLang="en-US" sz="6400" b="0" i="0" dirty="0">
                <a:solidFill>
                  <a:srgbClr val="333333"/>
                </a:solidFill>
                <a:effectLst/>
                <a:latin typeface="Helvetica Neue"/>
              </a:rPr>
              <a:t>）初始化</a:t>
            </a:r>
            <a:r>
              <a:rPr lang="zh-CN" altLang="en-US" sz="6400" b="0" i="0" u="none" strike="noStrike" dirty="0">
                <a:solidFill>
                  <a:srgbClr val="136EC2"/>
                </a:solidFill>
                <a:effectLst/>
                <a:latin typeface="Helvetica Neue"/>
                <a:hlinkClick r:id="rId6"/>
              </a:rPr>
              <a:t>内存控制器</a:t>
            </a:r>
            <a:r>
              <a:rPr lang="zh-CN" altLang="en-US" sz="6400" b="0" i="0" dirty="0">
                <a:solidFill>
                  <a:srgbClr val="333333"/>
                </a:solidFill>
                <a:effectLst/>
                <a:latin typeface="Helvetica Neue"/>
              </a:rPr>
              <a:t> 。</a:t>
            </a:r>
          </a:p>
          <a:p>
            <a:pPr lvl="1">
              <a:lnSpc>
                <a:spcPct val="120000"/>
              </a:lnSpc>
              <a:buFont typeface="Wingdings" panose="05000000000000000000" pitchFamily="2" charset="2"/>
              <a:buChar char="ü"/>
            </a:pPr>
            <a:r>
              <a:rPr lang="zh-CN" altLang="en-US" sz="6400" b="0" i="0" dirty="0">
                <a:solidFill>
                  <a:srgbClr val="333333"/>
                </a:solidFill>
                <a:effectLst/>
                <a:latin typeface="Helvetica Neue"/>
              </a:rPr>
              <a:t>（</a:t>
            </a:r>
            <a:r>
              <a:rPr lang="en-US" altLang="zh-CN" sz="6400" b="0" i="0" dirty="0">
                <a:solidFill>
                  <a:srgbClr val="333333"/>
                </a:solidFill>
                <a:effectLst/>
                <a:latin typeface="Helvetica Neue"/>
              </a:rPr>
              <a:t>5</a:t>
            </a:r>
            <a:r>
              <a:rPr lang="zh-CN" altLang="en-US" sz="6400" b="0" i="0" dirty="0">
                <a:solidFill>
                  <a:srgbClr val="333333"/>
                </a:solidFill>
                <a:effectLst/>
                <a:latin typeface="Helvetica Neue"/>
              </a:rPr>
              <a:t>）将</a:t>
            </a:r>
            <a:r>
              <a:rPr lang="en-US" altLang="zh-CN" sz="6400" b="0" i="0" dirty="0">
                <a:solidFill>
                  <a:srgbClr val="333333"/>
                </a:solidFill>
                <a:effectLst/>
                <a:latin typeface="Helvetica Neue"/>
              </a:rPr>
              <a:t>ROM</a:t>
            </a:r>
            <a:r>
              <a:rPr lang="zh-CN" altLang="en-US" sz="6400" b="0" i="0" dirty="0">
                <a:solidFill>
                  <a:srgbClr val="333333"/>
                </a:solidFill>
                <a:effectLst/>
                <a:latin typeface="Helvetica Neue"/>
              </a:rPr>
              <a:t>中的程序复制到</a:t>
            </a:r>
            <a:r>
              <a:rPr lang="en-US" altLang="zh-CN" sz="6400" b="0" i="0" dirty="0">
                <a:solidFill>
                  <a:srgbClr val="333333"/>
                </a:solidFill>
                <a:effectLst/>
                <a:latin typeface="Helvetica Neue"/>
              </a:rPr>
              <a:t>RAM</a:t>
            </a:r>
            <a:r>
              <a:rPr lang="zh-CN" altLang="en-US" sz="6400" b="0" i="0" dirty="0">
                <a:solidFill>
                  <a:srgbClr val="333333"/>
                </a:solidFill>
                <a:effectLst/>
                <a:latin typeface="Helvetica Neue"/>
              </a:rPr>
              <a:t>中。</a:t>
            </a:r>
          </a:p>
          <a:p>
            <a:pPr lvl="1">
              <a:lnSpc>
                <a:spcPct val="120000"/>
              </a:lnSpc>
              <a:buFont typeface="Wingdings" panose="05000000000000000000" pitchFamily="2" charset="2"/>
              <a:buChar char="ü"/>
            </a:pPr>
            <a:r>
              <a:rPr lang="zh-CN" altLang="en-US" sz="6400" b="0" i="0" dirty="0">
                <a:solidFill>
                  <a:srgbClr val="333333"/>
                </a:solidFill>
                <a:effectLst/>
                <a:latin typeface="Helvetica Neue"/>
              </a:rPr>
              <a:t>（</a:t>
            </a:r>
            <a:r>
              <a:rPr lang="en-US" altLang="zh-CN" sz="6400" b="0" i="0" dirty="0">
                <a:solidFill>
                  <a:srgbClr val="333333"/>
                </a:solidFill>
                <a:effectLst/>
                <a:latin typeface="Helvetica Neue"/>
              </a:rPr>
              <a:t>6</a:t>
            </a:r>
            <a:r>
              <a:rPr lang="zh-CN" altLang="en-US" sz="6400" b="0" i="0" dirty="0">
                <a:solidFill>
                  <a:srgbClr val="333333"/>
                </a:solidFill>
                <a:effectLst/>
                <a:latin typeface="Helvetica Neue"/>
              </a:rPr>
              <a:t>）初始化</a:t>
            </a:r>
            <a:r>
              <a:rPr lang="zh-CN" altLang="en-US" sz="6400" b="0" i="0" u="none" strike="noStrike" dirty="0">
                <a:solidFill>
                  <a:srgbClr val="136EC2"/>
                </a:solidFill>
                <a:effectLst/>
                <a:latin typeface="Helvetica Neue"/>
                <a:hlinkClick r:id="rId7"/>
              </a:rPr>
              <a:t>堆栈</a:t>
            </a:r>
            <a:r>
              <a:rPr lang="zh-CN" altLang="en-US" sz="6400" b="0" i="0" dirty="0">
                <a:solidFill>
                  <a:srgbClr val="333333"/>
                </a:solidFill>
                <a:effectLst/>
                <a:latin typeface="Helvetica Neue"/>
              </a:rPr>
              <a:t> 。</a:t>
            </a:r>
          </a:p>
          <a:p>
            <a:pPr lvl="1">
              <a:lnSpc>
                <a:spcPct val="120000"/>
              </a:lnSpc>
              <a:buFont typeface="Wingdings" panose="05000000000000000000" pitchFamily="2" charset="2"/>
              <a:buChar char="ü"/>
            </a:pPr>
            <a:r>
              <a:rPr lang="zh-CN" altLang="en-US" sz="6400" b="0" i="0" dirty="0">
                <a:solidFill>
                  <a:srgbClr val="333333"/>
                </a:solidFill>
                <a:effectLst/>
                <a:latin typeface="Helvetica Neue"/>
              </a:rPr>
              <a:t>（</a:t>
            </a:r>
            <a:r>
              <a:rPr lang="en-US" altLang="zh-CN" sz="6400" b="0" i="0" dirty="0">
                <a:solidFill>
                  <a:srgbClr val="333333"/>
                </a:solidFill>
                <a:effectLst/>
                <a:latin typeface="Helvetica Neue"/>
              </a:rPr>
              <a:t>7</a:t>
            </a:r>
            <a:r>
              <a:rPr lang="zh-CN" altLang="en-US" sz="6400" b="0" i="0" dirty="0">
                <a:solidFill>
                  <a:srgbClr val="333333"/>
                </a:solidFill>
                <a:effectLst/>
                <a:latin typeface="Helvetica Neue"/>
              </a:rPr>
              <a:t>）转到</a:t>
            </a:r>
            <a:r>
              <a:rPr lang="en-US" altLang="zh-CN" sz="6400" b="0" i="0" dirty="0">
                <a:solidFill>
                  <a:srgbClr val="333333"/>
                </a:solidFill>
                <a:effectLst/>
                <a:latin typeface="Helvetica Neue"/>
              </a:rPr>
              <a:t>RAM</a:t>
            </a:r>
            <a:r>
              <a:rPr lang="zh-CN" altLang="en-US" sz="6400" b="0" i="0" dirty="0">
                <a:solidFill>
                  <a:srgbClr val="333333"/>
                </a:solidFill>
                <a:effectLst/>
                <a:latin typeface="Helvetica Neue"/>
              </a:rPr>
              <a:t>中执行，该工作可使用指令</a:t>
            </a:r>
            <a:r>
              <a:rPr lang="en-US" altLang="zh-CN" sz="6400" b="0" i="0" dirty="0" err="1">
                <a:solidFill>
                  <a:srgbClr val="333333"/>
                </a:solidFill>
                <a:effectLst/>
                <a:latin typeface="Helvetica Neue"/>
              </a:rPr>
              <a:t>ldrpc</a:t>
            </a:r>
            <a:r>
              <a:rPr lang="zh-CN" altLang="en-US" sz="6400" b="0" i="0" dirty="0">
                <a:solidFill>
                  <a:srgbClr val="333333"/>
                </a:solidFill>
                <a:effectLst/>
                <a:latin typeface="Helvetica Neue"/>
              </a:rPr>
              <a:t>来完成。</a:t>
            </a:r>
          </a:p>
          <a:p>
            <a:pPr>
              <a:lnSpc>
                <a:spcPct val="120000"/>
              </a:lnSpc>
            </a:pPr>
            <a:endParaRPr lang="zh-CN" altLang="en-US" dirty="0"/>
          </a:p>
        </p:txBody>
      </p:sp>
      <p:sp>
        <p:nvSpPr>
          <p:cNvPr id="5" name="文本框 4">
            <a:extLst>
              <a:ext uri="{FF2B5EF4-FFF2-40B4-BE49-F238E27FC236}">
                <a16:creationId xmlns:a16="http://schemas.microsoft.com/office/drawing/2014/main" id="{CC553B0A-2A41-484A-B5FB-6CB01584F99D}"/>
              </a:ext>
            </a:extLst>
          </p:cNvPr>
          <p:cNvSpPr txBox="1"/>
          <p:nvPr/>
        </p:nvSpPr>
        <p:spPr>
          <a:xfrm>
            <a:off x="6348957" y="1795793"/>
            <a:ext cx="4876936" cy="4031873"/>
          </a:xfrm>
          <a:prstGeom prst="rect">
            <a:avLst/>
          </a:prstGeom>
          <a:noFill/>
        </p:spPr>
        <p:txBody>
          <a:bodyPr wrap="square">
            <a:spAutoFit/>
          </a:bodyPr>
          <a:lstStyle/>
          <a:p>
            <a:pPr algn="l"/>
            <a:r>
              <a:rPr lang="en-US" altLang="zh-CN" sz="1600" b="0" i="0" dirty="0">
                <a:solidFill>
                  <a:srgbClr val="333333"/>
                </a:solidFill>
                <a:effectLst/>
                <a:latin typeface="Helvetica Neue"/>
              </a:rPr>
              <a:t>2</a:t>
            </a:r>
            <a:r>
              <a:rPr lang="zh-CN" altLang="en-US" sz="1600" b="0" i="0" dirty="0">
                <a:solidFill>
                  <a:srgbClr val="333333"/>
                </a:solidFill>
                <a:effectLst/>
                <a:latin typeface="Helvetica Neue"/>
              </a:rPr>
              <a:t>、 </a:t>
            </a:r>
            <a:r>
              <a:rPr lang="en-US" altLang="zh-CN" sz="1600" b="0" i="0" dirty="0">
                <a:solidFill>
                  <a:srgbClr val="333333"/>
                </a:solidFill>
                <a:effectLst/>
                <a:latin typeface="Helvetica Neue"/>
              </a:rPr>
              <a:t>stage2</a:t>
            </a:r>
            <a:r>
              <a:rPr lang="zh-CN" altLang="en-US" sz="1600" b="0" i="0" dirty="0">
                <a:solidFill>
                  <a:srgbClr val="333333"/>
                </a:solidFill>
                <a:effectLst/>
                <a:latin typeface="Helvetica Neue"/>
              </a:rPr>
              <a:t>（</a:t>
            </a:r>
            <a:r>
              <a:rPr lang="en-US" altLang="zh-CN" sz="1600" b="0" i="0" dirty="0">
                <a:solidFill>
                  <a:srgbClr val="333333"/>
                </a:solidFill>
                <a:effectLst/>
                <a:highlight>
                  <a:srgbClr val="FFFF00"/>
                </a:highlight>
                <a:latin typeface="Helvetica Neue"/>
              </a:rPr>
              <a:t>C</a:t>
            </a:r>
            <a:r>
              <a:rPr lang="zh-CN" altLang="en-US" sz="1600" b="0" i="0" dirty="0">
                <a:solidFill>
                  <a:srgbClr val="333333"/>
                </a:solidFill>
                <a:effectLst/>
                <a:highlight>
                  <a:srgbClr val="FFFF00"/>
                </a:highlight>
                <a:latin typeface="Helvetica Neue"/>
              </a:rPr>
              <a:t>语言代码部分</a:t>
            </a:r>
            <a:r>
              <a:rPr lang="en-US" altLang="zh-CN" sz="1600" b="0" i="0" dirty="0" err="1">
                <a:solidFill>
                  <a:srgbClr val="333333"/>
                </a:solidFill>
                <a:effectLst/>
                <a:highlight>
                  <a:srgbClr val="FFFF00"/>
                </a:highlight>
                <a:latin typeface="Helvetica Neue"/>
              </a:rPr>
              <a:t>board.c</a:t>
            </a:r>
            <a:r>
              <a:rPr lang="zh-CN" altLang="en-US" sz="1600" b="0" i="0" dirty="0">
                <a:solidFill>
                  <a:srgbClr val="333333"/>
                </a:solidFill>
                <a:effectLst/>
                <a:latin typeface="Helvetica Neue"/>
              </a:rPr>
              <a:t>）</a:t>
            </a:r>
          </a:p>
          <a:p>
            <a:pPr algn="l"/>
            <a:r>
              <a:rPr lang="en-US" altLang="zh-CN" sz="1600" b="0" i="0" dirty="0" err="1">
                <a:solidFill>
                  <a:srgbClr val="333333"/>
                </a:solidFill>
                <a:effectLst/>
                <a:latin typeface="Helvetica Neue"/>
              </a:rPr>
              <a:t>lib_arm</a:t>
            </a:r>
            <a:r>
              <a:rPr lang="en-US" altLang="zh-CN" sz="1600" b="0" i="0" dirty="0">
                <a:solidFill>
                  <a:srgbClr val="333333"/>
                </a:solidFill>
                <a:effectLst/>
                <a:latin typeface="Helvetica Neue"/>
              </a:rPr>
              <a:t>/</a:t>
            </a:r>
            <a:r>
              <a:rPr lang="en-US" altLang="zh-CN" sz="1600" b="0" i="0" dirty="0" err="1">
                <a:solidFill>
                  <a:srgbClr val="333333"/>
                </a:solidFill>
                <a:effectLst/>
                <a:latin typeface="Helvetica Neue"/>
              </a:rPr>
              <a:t>board.c</a:t>
            </a:r>
            <a:r>
              <a:rPr lang="zh-CN" altLang="en-US" sz="1600" b="0" i="0" dirty="0">
                <a:solidFill>
                  <a:srgbClr val="333333"/>
                </a:solidFill>
                <a:effectLst/>
                <a:latin typeface="Helvetica Neue"/>
              </a:rPr>
              <a:t>中的</a:t>
            </a:r>
            <a:r>
              <a:rPr lang="en-US" altLang="zh-CN" sz="1600" b="0" i="0" dirty="0">
                <a:solidFill>
                  <a:srgbClr val="333333"/>
                </a:solidFill>
                <a:effectLst/>
                <a:latin typeface="Helvetica Neue"/>
              </a:rPr>
              <a:t>start </a:t>
            </a:r>
            <a:r>
              <a:rPr lang="en-US" altLang="zh-CN" sz="1600" b="0" i="0" u="none" strike="noStrike" dirty="0" err="1">
                <a:solidFill>
                  <a:srgbClr val="136EC2"/>
                </a:solidFill>
                <a:effectLst/>
                <a:latin typeface="Helvetica Neue"/>
                <a:hlinkClick r:id="rId8"/>
              </a:rPr>
              <a:t>armboot</a:t>
            </a:r>
            <a:r>
              <a:rPr lang="zh-CN" altLang="en-US" sz="1600" b="0" i="0" dirty="0">
                <a:solidFill>
                  <a:srgbClr val="333333"/>
                </a:solidFill>
                <a:effectLst/>
                <a:latin typeface="Helvetica Neue"/>
              </a:rPr>
              <a:t>是</a:t>
            </a:r>
            <a:r>
              <a:rPr lang="en-US" altLang="zh-CN" sz="1600" b="0" i="0" dirty="0">
                <a:solidFill>
                  <a:srgbClr val="333333"/>
                </a:solidFill>
                <a:effectLst/>
                <a:latin typeface="Helvetica Neue"/>
              </a:rPr>
              <a:t>C</a:t>
            </a:r>
            <a:r>
              <a:rPr lang="zh-CN" altLang="en-US" sz="1600" b="0" i="0" dirty="0">
                <a:solidFill>
                  <a:srgbClr val="333333"/>
                </a:solidFill>
                <a:effectLst/>
                <a:latin typeface="Helvetica Neue"/>
              </a:rPr>
              <a:t>语言开始的函数，也是整个启动代码中</a:t>
            </a:r>
            <a:r>
              <a:rPr lang="en-US" altLang="zh-CN" sz="1600" b="0" i="0" dirty="0">
                <a:solidFill>
                  <a:srgbClr val="333333"/>
                </a:solidFill>
                <a:effectLst/>
                <a:latin typeface="Helvetica Neue"/>
              </a:rPr>
              <a:t>C</a:t>
            </a:r>
            <a:r>
              <a:rPr lang="zh-CN" altLang="en-US" sz="1600" b="0" i="0" dirty="0">
                <a:solidFill>
                  <a:srgbClr val="333333"/>
                </a:solidFill>
                <a:effectLst/>
                <a:latin typeface="Helvetica Neue"/>
              </a:rPr>
              <a:t>语言的</a:t>
            </a:r>
            <a:r>
              <a:rPr lang="zh-CN" altLang="en-US" sz="1600" b="0" i="0" u="none" strike="noStrike" dirty="0">
                <a:solidFill>
                  <a:srgbClr val="136EC2"/>
                </a:solidFill>
                <a:effectLst/>
                <a:latin typeface="Helvetica Neue"/>
                <a:hlinkClick r:id="rId9"/>
              </a:rPr>
              <a:t>主函数</a:t>
            </a:r>
            <a:r>
              <a:rPr lang="zh-CN" altLang="en-US" sz="1600" b="0" i="0" dirty="0">
                <a:solidFill>
                  <a:srgbClr val="333333"/>
                </a:solidFill>
                <a:effectLst/>
                <a:latin typeface="Helvetica Neue"/>
              </a:rPr>
              <a:t>，同时还是整个</a:t>
            </a:r>
            <a:r>
              <a:rPr lang="en-US" altLang="zh-CN" sz="1600" b="0" i="0" dirty="0">
                <a:solidFill>
                  <a:srgbClr val="333333"/>
                </a:solidFill>
                <a:effectLst/>
                <a:latin typeface="Helvetica Neue"/>
              </a:rPr>
              <a:t>u-boot</a:t>
            </a:r>
            <a:r>
              <a:rPr lang="zh-CN" altLang="en-US" sz="1600" b="0" i="0" dirty="0">
                <a:solidFill>
                  <a:srgbClr val="333333"/>
                </a:solidFill>
                <a:effectLst/>
                <a:latin typeface="Helvetica Neue"/>
              </a:rPr>
              <a:t>（</a:t>
            </a:r>
            <a:r>
              <a:rPr lang="en-US" altLang="zh-CN" sz="1600" b="0" i="0" dirty="0" err="1">
                <a:solidFill>
                  <a:srgbClr val="333333"/>
                </a:solidFill>
                <a:effectLst/>
                <a:latin typeface="Helvetica Neue"/>
              </a:rPr>
              <a:t>armboot</a:t>
            </a:r>
            <a:r>
              <a:rPr lang="zh-CN" altLang="en-US" sz="1600" b="0" i="0" dirty="0">
                <a:solidFill>
                  <a:srgbClr val="333333"/>
                </a:solidFill>
                <a:effectLst/>
                <a:latin typeface="Helvetica Neue"/>
              </a:rPr>
              <a:t>）的主函数，该函数主要完成如下操作：</a:t>
            </a:r>
          </a:p>
          <a:p>
            <a:pPr marL="742950" lvl="1" indent="-285750">
              <a:buFont typeface="Wingdings" panose="05000000000000000000" pitchFamily="2" charset="2"/>
              <a:buChar char="ü"/>
            </a:pPr>
            <a:r>
              <a:rPr lang="zh-CN" altLang="en-US" sz="1600" b="0" i="0" dirty="0">
                <a:solidFill>
                  <a:srgbClr val="333333"/>
                </a:solidFill>
                <a:effectLst/>
                <a:latin typeface="Helvetica Neue"/>
              </a:rPr>
              <a:t>（</a:t>
            </a:r>
            <a:r>
              <a:rPr lang="en-US" altLang="zh-CN" sz="1600" b="0" i="0" dirty="0">
                <a:solidFill>
                  <a:srgbClr val="333333"/>
                </a:solidFill>
                <a:effectLst/>
                <a:latin typeface="Helvetica Neue"/>
              </a:rPr>
              <a:t>1</a:t>
            </a:r>
            <a:r>
              <a:rPr lang="zh-CN" altLang="en-US" sz="1600" b="0" i="0" dirty="0">
                <a:solidFill>
                  <a:srgbClr val="333333"/>
                </a:solidFill>
                <a:effectLst/>
                <a:latin typeface="Helvetica Neue"/>
              </a:rPr>
              <a:t>）调用一系列的初始化函数。</a:t>
            </a:r>
          </a:p>
          <a:p>
            <a:pPr marL="742950" lvl="1" indent="-285750">
              <a:buFont typeface="Wingdings" panose="05000000000000000000" pitchFamily="2" charset="2"/>
              <a:buChar char="ü"/>
            </a:pPr>
            <a:r>
              <a:rPr lang="zh-CN" altLang="en-US" sz="1600" b="0" i="0" dirty="0">
                <a:solidFill>
                  <a:srgbClr val="333333"/>
                </a:solidFill>
                <a:effectLst/>
                <a:latin typeface="Helvetica Neue"/>
              </a:rPr>
              <a:t>（</a:t>
            </a:r>
            <a:r>
              <a:rPr lang="en-US" altLang="zh-CN" sz="1600" b="0" i="0" dirty="0">
                <a:solidFill>
                  <a:srgbClr val="333333"/>
                </a:solidFill>
                <a:effectLst/>
                <a:latin typeface="Helvetica Neue"/>
              </a:rPr>
              <a:t>2</a:t>
            </a:r>
            <a:r>
              <a:rPr lang="zh-CN" altLang="en-US" sz="1600" b="0" i="0" dirty="0">
                <a:solidFill>
                  <a:srgbClr val="333333"/>
                </a:solidFill>
                <a:effectLst/>
                <a:latin typeface="Helvetica Neue"/>
              </a:rPr>
              <a:t>）初始化</a:t>
            </a:r>
            <a:r>
              <a:rPr lang="en-US" altLang="zh-CN" sz="1600" b="0" i="0" dirty="0">
                <a:solidFill>
                  <a:srgbClr val="333333"/>
                </a:solidFill>
                <a:effectLst/>
                <a:latin typeface="Helvetica Neue"/>
              </a:rPr>
              <a:t>flash</a:t>
            </a:r>
            <a:r>
              <a:rPr lang="zh-CN" altLang="en-US" sz="1600" b="0" i="0" dirty="0">
                <a:solidFill>
                  <a:srgbClr val="333333"/>
                </a:solidFill>
                <a:effectLst/>
                <a:latin typeface="Helvetica Neue"/>
              </a:rPr>
              <a:t>设备。</a:t>
            </a:r>
          </a:p>
          <a:p>
            <a:pPr marL="742950" lvl="1" indent="-285750">
              <a:buFont typeface="Wingdings" panose="05000000000000000000" pitchFamily="2" charset="2"/>
              <a:buChar char="ü"/>
            </a:pPr>
            <a:r>
              <a:rPr lang="zh-CN" altLang="en-US" sz="1600" b="0" i="0" dirty="0">
                <a:solidFill>
                  <a:srgbClr val="333333"/>
                </a:solidFill>
                <a:effectLst/>
                <a:latin typeface="Helvetica Neue"/>
              </a:rPr>
              <a:t>（</a:t>
            </a:r>
            <a:r>
              <a:rPr lang="en-US" altLang="zh-CN" sz="1600" b="0" i="0" dirty="0">
                <a:solidFill>
                  <a:srgbClr val="333333"/>
                </a:solidFill>
                <a:effectLst/>
                <a:latin typeface="Helvetica Neue"/>
              </a:rPr>
              <a:t>3</a:t>
            </a:r>
            <a:r>
              <a:rPr lang="zh-CN" altLang="en-US" sz="1600" b="0" i="0" dirty="0">
                <a:solidFill>
                  <a:srgbClr val="333333"/>
                </a:solidFill>
                <a:effectLst/>
                <a:latin typeface="Helvetica Neue"/>
              </a:rPr>
              <a:t>）初始化系统内存分配函数。</a:t>
            </a:r>
          </a:p>
          <a:p>
            <a:pPr marL="742950" lvl="1" indent="-285750">
              <a:buFont typeface="Wingdings" panose="05000000000000000000" pitchFamily="2" charset="2"/>
              <a:buChar char="ü"/>
            </a:pPr>
            <a:r>
              <a:rPr lang="zh-CN" altLang="en-US" sz="1600" b="0" i="0" dirty="0">
                <a:solidFill>
                  <a:srgbClr val="333333"/>
                </a:solidFill>
                <a:effectLst/>
                <a:latin typeface="Helvetica Neue"/>
              </a:rPr>
              <a:t>（</a:t>
            </a:r>
            <a:r>
              <a:rPr lang="en-US" altLang="zh-CN" sz="1600" b="0" i="0" dirty="0">
                <a:solidFill>
                  <a:srgbClr val="333333"/>
                </a:solidFill>
                <a:effectLst/>
                <a:latin typeface="Helvetica Neue"/>
              </a:rPr>
              <a:t>4</a:t>
            </a:r>
            <a:r>
              <a:rPr lang="zh-CN" altLang="en-US" sz="1600" b="0" i="0" dirty="0">
                <a:solidFill>
                  <a:srgbClr val="333333"/>
                </a:solidFill>
                <a:effectLst/>
                <a:latin typeface="Helvetica Neue"/>
              </a:rPr>
              <a:t>）如果目标系统拥有</a:t>
            </a:r>
            <a:r>
              <a:rPr lang="en-US" altLang="zh-CN" sz="1600" b="0" i="0" dirty="0" err="1">
                <a:solidFill>
                  <a:srgbClr val="333333"/>
                </a:solidFill>
                <a:effectLst/>
                <a:latin typeface="Helvetica Neue"/>
              </a:rPr>
              <a:t>nand</a:t>
            </a:r>
            <a:r>
              <a:rPr lang="zh-CN" altLang="en-US" sz="1600" b="0" i="0" dirty="0">
                <a:solidFill>
                  <a:srgbClr val="333333"/>
                </a:solidFill>
                <a:effectLst/>
                <a:latin typeface="Helvetica Neue"/>
              </a:rPr>
              <a:t>设备，则初始化</a:t>
            </a:r>
            <a:r>
              <a:rPr lang="en-US" altLang="zh-CN" sz="1600" b="0" i="0" dirty="0" err="1">
                <a:solidFill>
                  <a:srgbClr val="333333"/>
                </a:solidFill>
                <a:effectLst/>
                <a:latin typeface="Helvetica Neue"/>
              </a:rPr>
              <a:t>nand</a:t>
            </a:r>
            <a:r>
              <a:rPr lang="zh-CN" altLang="en-US" sz="1600" b="0" i="0" dirty="0">
                <a:solidFill>
                  <a:srgbClr val="333333"/>
                </a:solidFill>
                <a:effectLst/>
                <a:latin typeface="Helvetica Neue"/>
              </a:rPr>
              <a:t>设备。</a:t>
            </a:r>
          </a:p>
          <a:p>
            <a:pPr marL="742950" lvl="1" indent="-285750">
              <a:buFont typeface="Wingdings" panose="05000000000000000000" pitchFamily="2" charset="2"/>
              <a:buChar char="ü"/>
            </a:pPr>
            <a:r>
              <a:rPr lang="zh-CN" altLang="en-US" sz="1600" b="0" i="0" dirty="0">
                <a:solidFill>
                  <a:srgbClr val="333333"/>
                </a:solidFill>
                <a:effectLst/>
                <a:latin typeface="Helvetica Neue"/>
              </a:rPr>
              <a:t>（</a:t>
            </a:r>
            <a:r>
              <a:rPr lang="en-US" altLang="zh-CN" sz="1600" b="0" i="0" dirty="0">
                <a:solidFill>
                  <a:srgbClr val="333333"/>
                </a:solidFill>
                <a:effectLst/>
                <a:latin typeface="Helvetica Neue"/>
              </a:rPr>
              <a:t>5</a:t>
            </a:r>
            <a:r>
              <a:rPr lang="zh-CN" altLang="en-US" sz="1600" b="0" i="0" dirty="0">
                <a:solidFill>
                  <a:srgbClr val="333333"/>
                </a:solidFill>
                <a:effectLst/>
                <a:latin typeface="Helvetica Neue"/>
              </a:rPr>
              <a:t>）如果目标系统有显示设备，则初始化该类设备。</a:t>
            </a:r>
          </a:p>
          <a:p>
            <a:pPr marL="742950" lvl="1" indent="-285750">
              <a:buFont typeface="Wingdings" panose="05000000000000000000" pitchFamily="2" charset="2"/>
              <a:buChar char="ü"/>
            </a:pPr>
            <a:r>
              <a:rPr lang="zh-CN" altLang="en-US" sz="1600" b="0" i="0" dirty="0">
                <a:solidFill>
                  <a:srgbClr val="333333"/>
                </a:solidFill>
                <a:effectLst/>
                <a:latin typeface="Helvetica Neue"/>
              </a:rPr>
              <a:t>（</a:t>
            </a:r>
            <a:r>
              <a:rPr lang="en-US" altLang="zh-CN" sz="1600" b="0" i="0" dirty="0">
                <a:solidFill>
                  <a:srgbClr val="333333"/>
                </a:solidFill>
                <a:effectLst/>
                <a:latin typeface="Helvetica Neue"/>
              </a:rPr>
              <a:t>6</a:t>
            </a:r>
            <a:r>
              <a:rPr lang="zh-CN" altLang="en-US" sz="1600" b="0" i="0" dirty="0">
                <a:solidFill>
                  <a:srgbClr val="333333"/>
                </a:solidFill>
                <a:effectLst/>
                <a:latin typeface="Helvetica Neue"/>
              </a:rPr>
              <a:t>）初始化相关网络设备，填写</a:t>
            </a:r>
            <a:r>
              <a:rPr lang="en-US" altLang="zh-CN" sz="1600" b="0" i="0" dirty="0" err="1">
                <a:solidFill>
                  <a:srgbClr val="333333"/>
                </a:solidFill>
                <a:effectLst/>
                <a:latin typeface="Helvetica Neue"/>
              </a:rPr>
              <a:t>ip,c</a:t>
            </a:r>
            <a:r>
              <a:rPr lang="zh-CN" altLang="en-US" sz="1600" b="0" i="0" dirty="0">
                <a:solidFill>
                  <a:srgbClr val="333333"/>
                </a:solidFill>
                <a:effectLst/>
                <a:latin typeface="Helvetica Neue"/>
              </a:rPr>
              <a:t>地址等。</a:t>
            </a:r>
          </a:p>
          <a:p>
            <a:pPr marL="742950" lvl="1" indent="-285750">
              <a:buFont typeface="Wingdings" panose="05000000000000000000" pitchFamily="2" charset="2"/>
              <a:buChar char="ü"/>
            </a:pPr>
            <a:r>
              <a:rPr lang="zh-CN" altLang="en-US" sz="1600" b="0" i="0" dirty="0">
                <a:solidFill>
                  <a:srgbClr val="333333"/>
                </a:solidFill>
                <a:effectLst/>
                <a:latin typeface="Helvetica Neue"/>
              </a:rPr>
              <a:t>（</a:t>
            </a:r>
            <a:r>
              <a:rPr lang="en-US" altLang="zh-CN" sz="1600" b="0" i="0" dirty="0">
                <a:solidFill>
                  <a:srgbClr val="333333"/>
                </a:solidFill>
                <a:effectLst/>
                <a:latin typeface="Helvetica Neue"/>
              </a:rPr>
              <a:t>7</a:t>
            </a:r>
            <a:r>
              <a:rPr lang="zh-CN" altLang="en-US" sz="1600" b="0" i="0" dirty="0">
                <a:solidFill>
                  <a:srgbClr val="333333"/>
                </a:solidFill>
                <a:effectLst/>
                <a:latin typeface="Helvetica Neue"/>
              </a:rPr>
              <a:t>）进入命令循环（即整个</a:t>
            </a:r>
            <a:r>
              <a:rPr lang="en-US" altLang="zh-CN" sz="1600" b="0" i="0" dirty="0">
                <a:solidFill>
                  <a:srgbClr val="333333"/>
                </a:solidFill>
                <a:effectLst/>
                <a:latin typeface="Helvetica Neue"/>
              </a:rPr>
              <a:t>boot</a:t>
            </a:r>
            <a:r>
              <a:rPr lang="zh-CN" altLang="en-US" sz="1600" b="0" i="0" dirty="0">
                <a:solidFill>
                  <a:srgbClr val="333333"/>
                </a:solidFill>
                <a:effectLst/>
                <a:latin typeface="Helvetica Neue"/>
              </a:rPr>
              <a:t>的工作循环），接受用户从串口输入的命令，然后进行相应的工作。</a:t>
            </a:r>
          </a:p>
        </p:txBody>
      </p:sp>
    </p:spTree>
    <p:extLst>
      <p:ext uri="{BB962C8B-B14F-4D97-AF65-F5344CB8AC3E}">
        <p14:creationId xmlns:p14="http://schemas.microsoft.com/office/powerpoint/2010/main" val="2346505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F153E4-DD4A-45BB-9B8B-D5B742732239}"/>
              </a:ext>
            </a:extLst>
          </p:cNvPr>
          <p:cNvSpPr>
            <a:spLocks noGrp="1"/>
          </p:cNvSpPr>
          <p:nvPr>
            <p:ph type="title"/>
          </p:nvPr>
        </p:nvSpPr>
        <p:spPr/>
        <p:txBody>
          <a:bodyPr/>
          <a:lstStyle/>
          <a:p>
            <a:r>
              <a:rPr lang="en-US" altLang="zh-CN" dirty="0"/>
              <a:t>Eclipse IDE</a:t>
            </a:r>
            <a:endParaRPr lang="zh-CN" altLang="en-US" dirty="0"/>
          </a:p>
        </p:txBody>
      </p:sp>
      <p:sp>
        <p:nvSpPr>
          <p:cNvPr id="3" name="内容占位符 2">
            <a:extLst>
              <a:ext uri="{FF2B5EF4-FFF2-40B4-BE49-F238E27FC236}">
                <a16:creationId xmlns:a16="http://schemas.microsoft.com/office/drawing/2014/main" id="{9625D971-5FF7-4A7C-89EC-4BCC94AB0FD7}"/>
              </a:ext>
            </a:extLst>
          </p:cNvPr>
          <p:cNvSpPr>
            <a:spLocks noGrp="1"/>
          </p:cNvSpPr>
          <p:nvPr>
            <p:ph idx="1"/>
          </p:nvPr>
        </p:nvSpPr>
        <p:spPr>
          <a:xfrm>
            <a:off x="1097281" y="1845734"/>
            <a:ext cx="4339221" cy="4318302"/>
          </a:xfrm>
        </p:spPr>
        <p:txBody>
          <a:bodyPr>
            <a:normAutofit fontScale="77500" lnSpcReduction="20000"/>
          </a:bodyPr>
          <a:lstStyle/>
          <a:p>
            <a:pPr lvl="1">
              <a:lnSpc>
                <a:spcPct val="120000"/>
              </a:lnSpc>
              <a:buSzPct val="60000"/>
              <a:buFont typeface="Wingdings" panose="05000000000000000000" pitchFamily="2" charset="2"/>
              <a:buChar char="l"/>
            </a:pPr>
            <a:r>
              <a:rPr lang="en-US" altLang="zh-CN" sz="2400" dirty="0">
                <a:solidFill>
                  <a:srgbClr val="333333"/>
                </a:solidFill>
                <a:latin typeface="Helvetica Neue"/>
              </a:rPr>
              <a:t>Eclipse </a:t>
            </a:r>
            <a:r>
              <a:rPr lang="zh-CN" altLang="en-US" sz="2400" dirty="0">
                <a:solidFill>
                  <a:srgbClr val="333333"/>
                </a:solidFill>
                <a:latin typeface="Helvetica Neue"/>
              </a:rPr>
              <a:t>是一个开放源代码的、基于</a:t>
            </a:r>
            <a:r>
              <a:rPr lang="en-US" altLang="zh-CN" sz="2400" dirty="0">
                <a:solidFill>
                  <a:srgbClr val="333333"/>
                </a:solidFill>
                <a:latin typeface="Helvetica Neue"/>
              </a:rPr>
              <a:t>Java</a:t>
            </a:r>
            <a:r>
              <a:rPr lang="zh-CN" altLang="en-US" sz="2400" dirty="0">
                <a:solidFill>
                  <a:srgbClr val="333333"/>
                </a:solidFill>
                <a:latin typeface="Helvetica Neue"/>
              </a:rPr>
              <a:t>的可扩展开发平台。就其本身而言，它只是一个框架和一组服务，用于通过插件组件构建开发环境。但是，</a:t>
            </a:r>
            <a:r>
              <a:rPr lang="en-US" altLang="zh-CN" sz="2400" b="0" i="0" dirty="0">
                <a:solidFill>
                  <a:srgbClr val="333333"/>
                </a:solidFill>
                <a:effectLst/>
                <a:latin typeface="Helvetica Neue"/>
              </a:rPr>
              <a:t> Eclipse </a:t>
            </a:r>
            <a:r>
              <a:rPr lang="zh-CN" altLang="en-US" sz="2400" b="0" i="0" dirty="0">
                <a:solidFill>
                  <a:srgbClr val="333333"/>
                </a:solidFill>
                <a:effectLst/>
                <a:latin typeface="Helvetica Neue"/>
              </a:rPr>
              <a:t>还包括</a:t>
            </a:r>
            <a:r>
              <a:rPr lang="zh-CN" altLang="en-US" sz="2400" b="0" i="0" u="none" strike="noStrike" dirty="0">
                <a:solidFill>
                  <a:srgbClr val="C00000"/>
                </a:solidFill>
                <a:effectLst/>
                <a:latin typeface="Helvetica Neue"/>
              </a:rPr>
              <a:t>插件</a:t>
            </a:r>
            <a:r>
              <a:rPr lang="zh-CN" altLang="en-US" sz="2400" b="0" i="0" dirty="0">
                <a:solidFill>
                  <a:srgbClr val="333333"/>
                </a:solidFill>
                <a:effectLst/>
                <a:latin typeface="Helvetica Neue"/>
              </a:rPr>
              <a:t>开发环境（</a:t>
            </a:r>
            <a:r>
              <a:rPr lang="en-US" altLang="zh-CN" sz="2400" b="0" i="0" dirty="0">
                <a:solidFill>
                  <a:srgbClr val="333333"/>
                </a:solidFill>
                <a:effectLst/>
                <a:latin typeface="Helvetica Neue"/>
              </a:rPr>
              <a:t>Plug-in Development Environment</a:t>
            </a:r>
            <a:r>
              <a:rPr lang="zh-CN" altLang="en-US" sz="2400" b="0" i="0" dirty="0">
                <a:solidFill>
                  <a:srgbClr val="333333"/>
                </a:solidFill>
                <a:effectLst/>
                <a:latin typeface="Helvetica Neue"/>
              </a:rPr>
              <a:t>，</a:t>
            </a:r>
            <a:r>
              <a:rPr lang="en-US" altLang="zh-CN" sz="2400" b="0" i="0" dirty="0">
                <a:solidFill>
                  <a:srgbClr val="333333"/>
                </a:solidFill>
                <a:effectLst/>
                <a:latin typeface="Helvetica Neue"/>
              </a:rPr>
              <a:t>PDE</a:t>
            </a:r>
            <a:r>
              <a:rPr lang="zh-CN" altLang="en-US" sz="2400" b="0" i="0" dirty="0">
                <a:solidFill>
                  <a:srgbClr val="333333"/>
                </a:solidFill>
                <a:effectLst/>
                <a:latin typeface="Helvetica Neue"/>
              </a:rPr>
              <a:t>）</a:t>
            </a:r>
            <a:endParaRPr lang="en-US" altLang="zh-CN" sz="2400" b="0" i="0" dirty="0">
              <a:solidFill>
                <a:srgbClr val="333333"/>
              </a:solidFill>
              <a:effectLst/>
              <a:latin typeface="Helvetica Neue"/>
            </a:endParaRPr>
          </a:p>
          <a:p>
            <a:pPr lvl="1">
              <a:lnSpc>
                <a:spcPct val="120000"/>
              </a:lnSpc>
              <a:buSzPct val="60000"/>
              <a:buFont typeface="Wingdings" panose="05000000000000000000" pitchFamily="2" charset="2"/>
              <a:buChar char="l"/>
            </a:pPr>
            <a:r>
              <a:rPr lang="zh-CN" altLang="en-US" sz="2400" b="0" i="0" dirty="0">
                <a:solidFill>
                  <a:srgbClr val="333333"/>
                </a:solidFill>
                <a:effectLst/>
                <a:latin typeface="Helvetica Neue"/>
              </a:rPr>
              <a:t>它允许软件开发人员构建与 </a:t>
            </a:r>
            <a:r>
              <a:rPr lang="en-US" altLang="zh-CN" sz="2400" b="0" i="0" dirty="0">
                <a:solidFill>
                  <a:srgbClr val="333333"/>
                </a:solidFill>
                <a:effectLst/>
                <a:latin typeface="Helvetica Neue"/>
              </a:rPr>
              <a:t>Eclipse </a:t>
            </a:r>
            <a:r>
              <a:rPr lang="zh-CN" altLang="en-US" sz="2400" b="0" i="0" dirty="0">
                <a:solidFill>
                  <a:srgbClr val="333333"/>
                </a:solidFill>
                <a:effectLst/>
                <a:latin typeface="Helvetica Neue"/>
              </a:rPr>
              <a:t>环境无缝集成的工具。</a:t>
            </a:r>
            <a:endParaRPr lang="en-US" altLang="zh-CN" sz="2400" b="0" i="0" dirty="0">
              <a:solidFill>
                <a:srgbClr val="333333"/>
              </a:solidFill>
              <a:effectLst/>
              <a:latin typeface="Helvetica Neue"/>
            </a:endParaRPr>
          </a:p>
          <a:p>
            <a:pPr lvl="1">
              <a:lnSpc>
                <a:spcPct val="120000"/>
              </a:lnSpc>
              <a:buSzPct val="60000"/>
              <a:buFont typeface="Wingdings" panose="05000000000000000000" pitchFamily="2" charset="2"/>
              <a:buChar char="l"/>
            </a:pPr>
            <a:r>
              <a:rPr lang="en-US" altLang="zh-CN" sz="2400" dirty="0">
                <a:solidFill>
                  <a:srgbClr val="333333"/>
                </a:solidFill>
                <a:latin typeface="Helvetica Neue"/>
              </a:rPr>
              <a:t>Eclipse</a:t>
            </a:r>
            <a:r>
              <a:rPr lang="zh-CN" altLang="en-US" sz="2400" dirty="0">
                <a:solidFill>
                  <a:srgbClr val="333333"/>
                </a:solidFill>
                <a:latin typeface="Helvetica Neue"/>
              </a:rPr>
              <a:t>最初是由</a:t>
            </a:r>
            <a:r>
              <a:rPr lang="en-US" altLang="zh-CN" sz="2400" dirty="0">
                <a:solidFill>
                  <a:srgbClr val="333333"/>
                </a:solidFill>
                <a:latin typeface="Helvetica Neue"/>
              </a:rPr>
              <a:t>IBM</a:t>
            </a:r>
            <a:r>
              <a:rPr lang="zh-CN" altLang="en-US" sz="2400" dirty="0">
                <a:solidFill>
                  <a:srgbClr val="333333"/>
                </a:solidFill>
                <a:latin typeface="Helvetica Neue"/>
              </a:rPr>
              <a:t>公司开发的替代商业软件</a:t>
            </a:r>
            <a:r>
              <a:rPr lang="en-US" altLang="zh-CN" sz="2400" dirty="0">
                <a:solidFill>
                  <a:srgbClr val="333333"/>
                </a:solidFill>
                <a:latin typeface="Helvetica Neue"/>
              </a:rPr>
              <a:t>Visual Age for Java</a:t>
            </a:r>
            <a:r>
              <a:rPr lang="zh-CN" altLang="en-US" sz="2400" dirty="0">
                <a:solidFill>
                  <a:srgbClr val="333333"/>
                </a:solidFill>
                <a:latin typeface="Helvetica Neue"/>
              </a:rPr>
              <a:t>的下一代</a:t>
            </a:r>
            <a:r>
              <a:rPr lang="en-US" altLang="zh-CN" sz="2400" dirty="0">
                <a:solidFill>
                  <a:srgbClr val="333333"/>
                </a:solidFill>
                <a:latin typeface="Helvetica Neue"/>
              </a:rPr>
              <a:t>IDE</a:t>
            </a:r>
            <a:r>
              <a:rPr lang="zh-CN" altLang="en-US" sz="2400" dirty="0">
                <a:solidFill>
                  <a:srgbClr val="333333"/>
                </a:solidFill>
                <a:latin typeface="Helvetica Neue"/>
              </a:rPr>
              <a:t>开发环境，</a:t>
            </a:r>
            <a:r>
              <a:rPr lang="en-US" altLang="zh-CN" sz="2400" dirty="0">
                <a:solidFill>
                  <a:srgbClr val="333333"/>
                </a:solidFill>
                <a:latin typeface="Helvetica Neue"/>
              </a:rPr>
              <a:t>2001</a:t>
            </a:r>
            <a:r>
              <a:rPr lang="zh-CN" altLang="en-US" sz="2400" dirty="0">
                <a:solidFill>
                  <a:srgbClr val="333333"/>
                </a:solidFill>
                <a:latin typeface="Helvetica Neue"/>
              </a:rPr>
              <a:t>年</a:t>
            </a:r>
            <a:r>
              <a:rPr lang="en-US" altLang="zh-CN" sz="2400" dirty="0">
                <a:solidFill>
                  <a:srgbClr val="333333"/>
                </a:solidFill>
                <a:latin typeface="Helvetica Neue"/>
              </a:rPr>
              <a:t>11</a:t>
            </a:r>
            <a:r>
              <a:rPr lang="zh-CN" altLang="en-US" sz="2400" dirty="0">
                <a:solidFill>
                  <a:srgbClr val="333333"/>
                </a:solidFill>
                <a:latin typeface="Helvetica Neue"/>
              </a:rPr>
              <a:t>月贡献给开源社区，它由非营利软件供应商联盟</a:t>
            </a:r>
            <a:r>
              <a:rPr lang="en-US" altLang="zh-CN" sz="2400" dirty="0">
                <a:solidFill>
                  <a:srgbClr val="333333"/>
                </a:solidFill>
                <a:latin typeface="Helvetica Neue"/>
              </a:rPr>
              <a:t>Eclipse</a:t>
            </a:r>
            <a:r>
              <a:rPr lang="zh-CN" altLang="en-US" sz="2400" dirty="0">
                <a:solidFill>
                  <a:srgbClr val="333333"/>
                </a:solidFill>
                <a:latin typeface="Helvetica Neue"/>
              </a:rPr>
              <a:t>基金会（</a:t>
            </a:r>
            <a:r>
              <a:rPr lang="en-US" altLang="zh-CN" sz="2400" dirty="0">
                <a:solidFill>
                  <a:srgbClr val="333333"/>
                </a:solidFill>
                <a:latin typeface="Helvetica Neue"/>
              </a:rPr>
              <a:t>Eclipse Foundation</a:t>
            </a:r>
            <a:r>
              <a:rPr lang="zh-CN" altLang="en-US" sz="2400" dirty="0">
                <a:solidFill>
                  <a:srgbClr val="333333"/>
                </a:solidFill>
                <a:latin typeface="Helvetica Neue"/>
              </a:rPr>
              <a:t>）管理。</a:t>
            </a:r>
          </a:p>
        </p:txBody>
      </p:sp>
      <p:pic>
        <p:nvPicPr>
          <p:cNvPr id="5" name="图片 4">
            <a:extLst>
              <a:ext uri="{FF2B5EF4-FFF2-40B4-BE49-F238E27FC236}">
                <a16:creationId xmlns:a16="http://schemas.microsoft.com/office/drawing/2014/main" id="{A9E4F051-AF80-47D7-8DB1-CBDB1E2E5181}"/>
              </a:ext>
            </a:extLst>
          </p:cNvPr>
          <p:cNvPicPr>
            <a:picLocks noChangeAspect="1"/>
          </p:cNvPicPr>
          <p:nvPr/>
        </p:nvPicPr>
        <p:blipFill>
          <a:blip r:embed="rId2"/>
          <a:stretch>
            <a:fillRect/>
          </a:stretch>
        </p:blipFill>
        <p:spPr>
          <a:xfrm>
            <a:off x="4183626" y="1099545"/>
            <a:ext cx="1662004" cy="466239"/>
          </a:xfrm>
          <a:prstGeom prst="rect">
            <a:avLst/>
          </a:prstGeom>
        </p:spPr>
      </p:pic>
      <p:pic>
        <p:nvPicPr>
          <p:cNvPr id="8" name="图片 7">
            <a:extLst>
              <a:ext uri="{FF2B5EF4-FFF2-40B4-BE49-F238E27FC236}">
                <a16:creationId xmlns:a16="http://schemas.microsoft.com/office/drawing/2014/main" id="{837A2A09-902A-4FB8-AAD5-B91650557B37}"/>
              </a:ext>
            </a:extLst>
          </p:cNvPr>
          <p:cNvPicPr>
            <a:picLocks noChangeAspect="1"/>
          </p:cNvPicPr>
          <p:nvPr/>
        </p:nvPicPr>
        <p:blipFill>
          <a:blip r:embed="rId3"/>
          <a:stretch>
            <a:fillRect/>
          </a:stretch>
        </p:blipFill>
        <p:spPr>
          <a:xfrm>
            <a:off x="5501817" y="2311782"/>
            <a:ext cx="5791702" cy="2956816"/>
          </a:xfrm>
          <a:prstGeom prst="rect">
            <a:avLst/>
          </a:prstGeom>
        </p:spPr>
      </p:pic>
    </p:spTree>
    <p:extLst>
      <p:ext uri="{BB962C8B-B14F-4D97-AF65-F5344CB8AC3E}">
        <p14:creationId xmlns:p14="http://schemas.microsoft.com/office/powerpoint/2010/main" val="3437311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FFC90A-0DDA-41E0-9BD4-77237C3780D9}"/>
              </a:ext>
            </a:extLst>
          </p:cNvPr>
          <p:cNvSpPr>
            <a:spLocks noGrp="1"/>
          </p:cNvSpPr>
          <p:nvPr>
            <p:ph type="title"/>
          </p:nvPr>
        </p:nvSpPr>
        <p:spPr/>
        <p:txBody>
          <a:bodyPr/>
          <a:lstStyle/>
          <a:p>
            <a:r>
              <a:rPr lang="en-US" altLang="zh-CN" dirty="0"/>
              <a:t>FS_JTAG</a:t>
            </a:r>
            <a:r>
              <a:rPr lang="zh-CN" altLang="en-US" dirty="0"/>
              <a:t>仿真器</a:t>
            </a:r>
          </a:p>
        </p:txBody>
      </p:sp>
      <p:sp>
        <p:nvSpPr>
          <p:cNvPr id="3" name="内容占位符 2">
            <a:extLst>
              <a:ext uri="{FF2B5EF4-FFF2-40B4-BE49-F238E27FC236}">
                <a16:creationId xmlns:a16="http://schemas.microsoft.com/office/drawing/2014/main" id="{C04FFA3C-2E75-4585-A528-963A3F7E51ED}"/>
              </a:ext>
            </a:extLst>
          </p:cNvPr>
          <p:cNvSpPr>
            <a:spLocks noGrp="1"/>
          </p:cNvSpPr>
          <p:nvPr>
            <p:ph idx="1"/>
          </p:nvPr>
        </p:nvSpPr>
        <p:spPr/>
        <p:txBody>
          <a:bodyPr>
            <a:normAutofit/>
          </a:bodyPr>
          <a:lstStyle/>
          <a:p>
            <a:r>
              <a:rPr lang="en-US" altLang="zh-CN" sz="1800" b="0" i="0" dirty="0">
                <a:solidFill>
                  <a:srgbClr val="333333"/>
                </a:solidFill>
                <a:effectLst/>
                <a:latin typeface="Helvetica Neue"/>
              </a:rPr>
              <a:t>JTAG </a:t>
            </a:r>
            <a:r>
              <a:rPr lang="zh-CN" altLang="en-US" sz="1800" b="0" i="0" dirty="0">
                <a:solidFill>
                  <a:srgbClr val="333333"/>
                </a:solidFill>
                <a:effectLst/>
                <a:latin typeface="Helvetica Neue"/>
              </a:rPr>
              <a:t>仿真器通过现有的 </a:t>
            </a:r>
            <a:r>
              <a:rPr lang="en-US" altLang="zh-CN" sz="1800" b="0" i="0" dirty="0">
                <a:solidFill>
                  <a:srgbClr val="333333"/>
                </a:solidFill>
                <a:effectLst/>
                <a:latin typeface="Helvetica Neue"/>
              </a:rPr>
              <a:t>JTAG </a:t>
            </a:r>
            <a:r>
              <a:rPr lang="zh-CN" altLang="en-US" sz="1800" b="0" i="0" dirty="0">
                <a:solidFill>
                  <a:srgbClr val="333333"/>
                </a:solidFill>
                <a:effectLst/>
                <a:latin typeface="Helvetica Neue"/>
              </a:rPr>
              <a:t>边界扫描口与 </a:t>
            </a:r>
            <a:r>
              <a:rPr lang="en-US" altLang="zh-CN" sz="1800" b="0" i="0" dirty="0">
                <a:solidFill>
                  <a:srgbClr val="333333"/>
                </a:solidFill>
                <a:effectLst/>
                <a:latin typeface="Helvetica Neue"/>
              </a:rPr>
              <a:t>ARM CPU </a:t>
            </a:r>
            <a:r>
              <a:rPr lang="zh-CN" altLang="en-US" sz="1800" b="0" i="0" dirty="0">
                <a:solidFill>
                  <a:srgbClr val="333333"/>
                </a:solidFill>
                <a:effectLst/>
                <a:latin typeface="Helvetica Neue"/>
              </a:rPr>
              <a:t>核通信，属于完全非插入式 </a:t>
            </a:r>
            <a:r>
              <a:rPr lang="en-US" altLang="zh-CN" sz="1800" b="0" i="0" dirty="0">
                <a:solidFill>
                  <a:srgbClr val="333333"/>
                </a:solidFill>
                <a:effectLst/>
                <a:latin typeface="Helvetica Neue"/>
              </a:rPr>
              <a:t>( </a:t>
            </a:r>
            <a:r>
              <a:rPr lang="zh-CN" altLang="en-US" sz="1800" b="0" i="0" dirty="0">
                <a:solidFill>
                  <a:srgbClr val="333333"/>
                </a:solidFill>
                <a:effectLst/>
                <a:latin typeface="Helvetica Neue"/>
              </a:rPr>
              <a:t>即不使用片上资源 </a:t>
            </a:r>
            <a:r>
              <a:rPr lang="en-US" altLang="zh-CN" sz="1800" b="0" i="0" dirty="0">
                <a:solidFill>
                  <a:srgbClr val="333333"/>
                </a:solidFill>
                <a:effectLst/>
                <a:latin typeface="Helvetica Neue"/>
              </a:rPr>
              <a:t>) </a:t>
            </a:r>
            <a:r>
              <a:rPr lang="zh-CN" altLang="en-US" sz="1800" b="0" i="0" dirty="0">
                <a:solidFill>
                  <a:srgbClr val="333333"/>
                </a:solidFill>
                <a:effectLst/>
                <a:latin typeface="Helvetica Neue"/>
              </a:rPr>
              <a:t>调试，它无需目标</a:t>
            </a:r>
            <a:r>
              <a:rPr lang="zh-CN" altLang="en-US" sz="1800" b="0" i="0" u="none" strike="noStrike" dirty="0">
                <a:solidFill>
                  <a:srgbClr val="136EC2"/>
                </a:solidFill>
                <a:effectLst/>
                <a:latin typeface="Helvetica Neue"/>
                <a:hlinkClick r:id="rId2"/>
              </a:rPr>
              <a:t>存储器</a:t>
            </a:r>
            <a:r>
              <a:rPr lang="zh-CN" altLang="en-US" sz="1800" b="0" i="0" dirty="0">
                <a:solidFill>
                  <a:srgbClr val="333333"/>
                </a:solidFill>
                <a:effectLst/>
                <a:latin typeface="Helvetica Neue"/>
              </a:rPr>
              <a:t>，不占用目标系统的任何端口，而这些是驻留监控软件所必需的。另外，由于 </a:t>
            </a:r>
            <a:r>
              <a:rPr lang="en-US" altLang="zh-CN" sz="1800" b="0" i="0" dirty="0">
                <a:solidFill>
                  <a:srgbClr val="333333"/>
                </a:solidFill>
                <a:effectLst/>
                <a:latin typeface="Helvetica Neue"/>
              </a:rPr>
              <a:t>JTAG </a:t>
            </a:r>
            <a:r>
              <a:rPr lang="zh-CN" altLang="en-US" sz="1800" b="0" i="0" dirty="0">
                <a:solidFill>
                  <a:srgbClr val="333333"/>
                </a:solidFill>
                <a:effectLst/>
                <a:latin typeface="Helvetica Neue"/>
              </a:rPr>
              <a:t>调试的</a:t>
            </a:r>
            <a:r>
              <a:rPr lang="zh-CN" altLang="en-US" sz="1800" b="0" i="0" u="none" strike="noStrike" dirty="0">
                <a:solidFill>
                  <a:srgbClr val="136EC2"/>
                </a:solidFill>
                <a:effectLst/>
                <a:latin typeface="Helvetica Neue"/>
                <a:hlinkClick r:id="rId3"/>
              </a:rPr>
              <a:t>目标程序</a:t>
            </a:r>
            <a:r>
              <a:rPr lang="zh-CN" altLang="en-US" sz="1800" b="0" i="0" dirty="0">
                <a:solidFill>
                  <a:srgbClr val="333333"/>
                </a:solidFill>
                <a:effectLst/>
                <a:latin typeface="Helvetica Neue"/>
              </a:rPr>
              <a:t>是在</a:t>
            </a:r>
            <a:r>
              <a:rPr lang="zh-CN" altLang="en-US" sz="1800" b="0" i="0" u="none" strike="noStrike" dirty="0">
                <a:solidFill>
                  <a:srgbClr val="136EC2"/>
                </a:solidFill>
                <a:effectLst/>
                <a:latin typeface="Helvetica Neue"/>
                <a:hlinkClick r:id="rId4"/>
              </a:rPr>
              <a:t>目标板</a:t>
            </a:r>
            <a:r>
              <a:rPr lang="zh-CN" altLang="en-US" sz="1800" b="0" i="0" dirty="0">
                <a:solidFill>
                  <a:srgbClr val="333333"/>
                </a:solidFill>
                <a:effectLst/>
                <a:latin typeface="Helvetica Neue"/>
              </a:rPr>
              <a:t>上执行，仿真更接近于目标硬件，因此，许多接口问题，如高频操作限制、 </a:t>
            </a:r>
            <a:r>
              <a:rPr lang="en-US" altLang="zh-CN" sz="1800" b="0" i="0" dirty="0">
                <a:solidFill>
                  <a:srgbClr val="333333"/>
                </a:solidFill>
                <a:effectLst/>
                <a:latin typeface="Helvetica Neue"/>
              </a:rPr>
              <a:t>AC </a:t>
            </a:r>
            <a:r>
              <a:rPr lang="zh-CN" altLang="en-US" sz="1800" b="0" i="0" dirty="0">
                <a:solidFill>
                  <a:srgbClr val="333333"/>
                </a:solidFill>
                <a:effectLst/>
                <a:latin typeface="Helvetica Neue"/>
              </a:rPr>
              <a:t>和 </a:t>
            </a:r>
            <a:r>
              <a:rPr lang="en-US" altLang="zh-CN" sz="1800" b="0" i="0" dirty="0">
                <a:solidFill>
                  <a:srgbClr val="333333"/>
                </a:solidFill>
                <a:effectLst/>
                <a:latin typeface="Helvetica Neue"/>
              </a:rPr>
              <a:t>DC </a:t>
            </a:r>
            <a:r>
              <a:rPr lang="zh-CN" altLang="en-US" sz="1800" b="0" i="0" dirty="0">
                <a:solidFill>
                  <a:srgbClr val="333333"/>
                </a:solidFill>
                <a:effectLst/>
                <a:latin typeface="Helvetica Neue"/>
              </a:rPr>
              <a:t>参数不匹配，电线长度的限制等被最小化了。使用</a:t>
            </a:r>
            <a:r>
              <a:rPr lang="zh-CN" altLang="en-US" sz="1800" b="0" i="0" u="none" strike="noStrike" dirty="0">
                <a:solidFill>
                  <a:srgbClr val="136EC2"/>
                </a:solidFill>
                <a:effectLst/>
                <a:latin typeface="Helvetica Neue"/>
                <a:hlinkClick r:id="rId5"/>
              </a:rPr>
              <a:t>集成开发环境</a:t>
            </a:r>
            <a:r>
              <a:rPr lang="zh-CN" altLang="en-US" sz="1800" b="0" i="0" dirty="0">
                <a:solidFill>
                  <a:srgbClr val="333333"/>
                </a:solidFill>
                <a:effectLst/>
                <a:latin typeface="Helvetica Neue"/>
              </a:rPr>
              <a:t>配合 </a:t>
            </a:r>
            <a:r>
              <a:rPr lang="en-US" altLang="zh-CN" sz="1800" b="0" i="0" dirty="0">
                <a:solidFill>
                  <a:srgbClr val="333333"/>
                </a:solidFill>
                <a:effectLst/>
                <a:latin typeface="Helvetica Neue"/>
              </a:rPr>
              <a:t>JTAG </a:t>
            </a:r>
            <a:r>
              <a:rPr lang="zh-CN" altLang="en-US" sz="1800" b="0" i="0" dirty="0">
                <a:solidFill>
                  <a:srgbClr val="333333"/>
                </a:solidFill>
                <a:effectLst/>
                <a:latin typeface="Helvetica Neue"/>
              </a:rPr>
              <a:t>仿真器进行开发是采用最多的一种调试方式。</a:t>
            </a:r>
            <a:endParaRPr lang="zh-CN" altLang="en-US" sz="1800" dirty="0"/>
          </a:p>
        </p:txBody>
      </p:sp>
      <p:pic>
        <p:nvPicPr>
          <p:cNvPr id="5" name="图片 4">
            <a:extLst>
              <a:ext uri="{FF2B5EF4-FFF2-40B4-BE49-F238E27FC236}">
                <a16:creationId xmlns:a16="http://schemas.microsoft.com/office/drawing/2014/main" id="{D4540F1E-1D18-4EC9-9F08-692748733BDD}"/>
              </a:ext>
            </a:extLst>
          </p:cNvPr>
          <p:cNvPicPr>
            <a:picLocks noChangeAspect="1"/>
          </p:cNvPicPr>
          <p:nvPr/>
        </p:nvPicPr>
        <p:blipFill>
          <a:blip r:embed="rId6"/>
          <a:stretch>
            <a:fillRect/>
          </a:stretch>
        </p:blipFill>
        <p:spPr>
          <a:xfrm>
            <a:off x="1230086" y="3312476"/>
            <a:ext cx="5031921" cy="1968790"/>
          </a:xfrm>
          <a:prstGeom prst="rect">
            <a:avLst/>
          </a:prstGeom>
        </p:spPr>
      </p:pic>
      <p:sp>
        <p:nvSpPr>
          <p:cNvPr id="6" name="文本框 5">
            <a:extLst>
              <a:ext uri="{FF2B5EF4-FFF2-40B4-BE49-F238E27FC236}">
                <a16:creationId xmlns:a16="http://schemas.microsoft.com/office/drawing/2014/main" id="{D0D3A463-6224-4F23-87DF-4112525956E9}"/>
              </a:ext>
            </a:extLst>
          </p:cNvPr>
          <p:cNvSpPr txBox="1"/>
          <p:nvPr/>
        </p:nvSpPr>
        <p:spPr>
          <a:xfrm>
            <a:off x="1910443" y="5389640"/>
            <a:ext cx="2367642" cy="369332"/>
          </a:xfrm>
          <a:prstGeom prst="rect">
            <a:avLst/>
          </a:prstGeom>
          <a:noFill/>
        </p:spPr>
        <p:txBody>
          <a:bodyPr wrap="square" rtlCol="0">
            <a:spAutoFit/>
          </a:bodyPr>
          <a:lstStyle/>
          <a:p>
            <a:pPr algn="ctr"/>
            <a:r>
              <a:rPr lang="zh-CN" altLang="en-US" dirty="0"/>
              <a:t>连接仿真器到虚拟机</a:t>
            </a:r>
          </a:p>
        </p:txBody>
      </p:sp>
      <p:pic>
        <p:nvPicPr>
          <p:cNvPr id="8" name="图片 7">
            <a:extLst>
              <a:ext uri="{FF2B5EF4-FFF2-40B4-BE49-F238E27FC236}">
                <a16:creationId xmlns:a16="http://schemas.microsoft.com/office/drawing/2014/main" id="{1DA8618A-5F02-4955-B505-2D88AAE80614}"/>
              </a:ext>
            </a:extLst>
          </p:cNvPr>
          <p:cNvPicPr>
            <a:picLocks noChangeAspect="1"/>
          </p:cNvPicPr>
          <p:nvPr/>
        </p:nvPicPr>
        <p:blipFill>
          <a:blip r:embed="rId7"/>
          <a:stretch>
            <a:fillRect/>
          </a:stretch>
        </p:blipFill>
        <p:spPr>
          <a:xfrm>
            <a:off x="6720518" y="3147109"/>
            <a:ext cx="3976650" cy="1232127"/>
          </a:xfrm>
          <a:prstGeom prst="rect">
            <a:avLst/>
          </a:prstGeom>
        </p:spPr>
      </p:pic>
      <p:pic>
        <p:nvPicPr>
          <p:cNvPr id="10" name="图片 9">
            <a:extLst>
              <a:ext uri="{FF2B5EF4-FFF2-40B4-BE49-F238E27FC236}">
                <a16:creationId xmlns:a16="http://schemas.microsoft.com/office/drawing/2014/main" id="{C0B44F59-1576-457C-AB2C-98C994A5FA07}"/>
              </a:ext>
            </a:extLst>
          </p:cNvPr>
          <p:cNvPicPr>
            <a:picLocks noChangeAspect="1"/>
          </p:cNvPicPr>
          <p:nvPr/>
        </p:nvPicPr>
        <p:blipFill>
          <a:blip r:embed="rId8"/>
          <a:stretch>
            <a:fillRect/>
          </a:stretch>
        </p:blipFill>
        <p:spPr>
          <a:xfrm>
            <a:off x="6720518" y="4580894"/>
            <a:ext cx="3976650" cy="1400743"/>
          </a:xfrm>
          <a:prstGeom prst="rect">
            <a:avLst/>
          </a:prstGeom>
        </p:spPr>
      </p:pic>
    </p:spTree>
    <p:extLst>
      <p:ext uri="{BB962C8B-B14F-4D97-AF65-F5344CB8AC3E}">
        <p14:creationId xmlns:p14="http://schemas.microsoft.com/office/powerpoint/2010/main" val="4292547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4A7920-F4F9-2CC2-9ABF-B47E91925F42}"/>
              </a:ext>
            </a:extLst>
          </p:cNvPr>
          <p:cNvSpPr>
            <a:spLocks noGrp="1"/>
          </p:cNvSpPr>
          <p:nvPr>
            <p:ph type="title"/>
          </p:nvPr>
        </p:nvSpPr>
        <p:spPr/>
        <p:txBody>
          <a:bodyPr/>
          <a:lstStyle/>
          <a:p>
            <a:pPr algn="ctr"/>
            <a:r>
              <a:rPr lang="en-US" altLang="zh-CN" b="1" dirty="0"/>
              <a:t>ARM</a:t>
            </a:r>
            <a:r>
              <a:rPr lang="zh-CN" altLang="en-US" b="1" dirty="0"/>
              <a:t>裸机实验样例</a:t>
            </a:r>
          </a:p>
        </p:txBody>
      </p:sp>
      <p:sp>
        <p:nvSpPr>
          <p:cNvPr id="3" name="内容占位符 2">
            <a:extLst>
              <a:ext uri="{FF2B5EF4-FFF2-40B4-BE49-F238E27FC236}">
                <a16:creationId xmlns:a16="http://schemas.microsoft.com/office/drawing/2014/main" id="{3674B010-141C-2B3B-E0BB-990EAF293E10}"/>
              </a:ext>
            </a:extLst>
          </p:cNvPr>
          <p:cNvSpPr>
            <a:spLocks noGrp="1"/>
          </p:cNvSpPr>
          <p:nvPr>
            <p:ph idx="1"/>
          </p:nvPr>
        </p:nvSpPr>
        <p:spPr>
          <a:xfrm>
            <a:off x="1164771" y="1825625"/>
            <a:ext cx="4572000" cy="4351338"/>
          </a:xfrm>
        </p:spPr>
        <p:txBody>
          <a:bodyPr>
            <a:normAutofit/>
          </a:bodyPr>
          <a:lstStyle/>
          <a:p>
            <a:r>
              <a:rPr lang="zh-CN" altLang="en-US" sz="2000" b="1" dirty="0"/>
              <a:t>共</a:t>
            </a:r>
            <a:r>
              <a:rPr lang="en-US" altLang="zh-CN" sz="2000" b="1" dirty="0"/>
              <a:t>10</a:t>
            </a:r>
            <a:r>
              <a:rPr lang="zh-CN" altLang="en-US" sz="2000" b="1" dirty="0"/>
              <a:t>个实验样例</a:t>
            </a:r>
            <a:endParaRPr lang="en-US" altLang="zh-CN" sz="2000" b="1" dirty="0"/>
          </a:p>
          <a:p>
            <a:endParaRPr lang="en-US" altLang="zh-CN" sz="2000" b="1" dirty="0"/>
          </a:p>
          <a:p>
            <a:r>
              <a:rPr lang="en-US" altLang="zh-CN" sz="2000" b="1" dirty="0"/>
              <a:t>ARM</a:t>
            </a:r>
            <a:r>
              <a:rPr lang="zh-CN" altLang="en-US" sz="2000" b="1" dirty="0"/>
              <a:t>裸机实验属于</a:t>
            </a:r>
            <a:r>
              <a:rPr lang="zh-CN" altLang="en-US" sz="2000" b="1" dirty="0">
                <a:solidFill>
                  <a:srgbClr val="C00000"/>
                </a:solidFill>
              </a:rPr>
              <a:t>无操作系统</a:t>
            </a:r>
            <a:r>
              <a:rPr lang="zh-CN" altLang="en-US" sz="2000" b="1" dirty="0"/>
              <a:t>的实验，即实验箱的</a:t>
            </a:r>
            <a:r>
              <a:rPr lang="en-US" altLang="zh-CN" sz="2000" b="1" dirty="0"/>
              <a:t>MPU</a:t>
            </a:r>
            <a:r>
              <a:rPr lang="zh-CN" altLang="en-US" sz="2000" b="1" dirty="0"/>
              <a:t>开发板不需要运行操作系统（实验箱的</a:t>
            </a:r>
            <a:r>
              <a:rPr lang="en-US" altLang="zh-CN" sz="2000" b="1" dirty="0"/>
              <a:t>MPU</a:t>
            </a:r>
            <a:r>
              <a:rPr lang="zh-CN" altLang="en-US" sz="2000" b="1" dirty="0"/>
              <a:t>开发板只需要烧写</a:t>
            </a:r>
            <a:r>
              <a:rPr lang="en-US" altLang="zh-CN" sz="2000" b="1" dirty="0"/>
              <a:t>Ubuntu</a:t>
            </a:r>
            <a:r>
              <a:rPr lang="zh-CN" altLang="en-US" sz="2000" b="1" dirty="0"/>
              <a:t>镜像）</a:t>
            </a:r>
            <a:endParaRPr lang="en-US" altLang="zh-CN" sz="2000" b="1" dirty="0"/>
          </a:p>
          <a:p>
            <a:endParaRPr lang="en-US" altLang="zh-CN" sz="2000" b="1" dirty="0"/>
          </a:p>
          <a:p>
            <a:r>
              <a:rPr lang="en-US" altLang="zh-CN" sz="2000" b="1" dirty="0"/>
              <a:t>ARM</a:t>
            </a:r>
            <a:r>
              <a:rPr lang="zh-CN" altLang="en-US" sz="2000" b="1" dirty="0"/>
              <a:t>裸机实验的程序有两种：</a:t>
            </a:r>
            <a:r>
              <a:rPr lang="zh-CN" altLang="en-US" sz="2000" b="1" dirty="0">
                <a:solidFill>
                  <a:srgbClr val="C00000"/>
                </a:solidFill>
              </a:rPr>
              <a:t>纯汇编语言程序</a:t>
            </a:r>
            <a:r>
              <a:rPr lang="zh-CN" altLang="en-US" sz="2000" b="1" dirty="0"/>
              <a:t>（</a:t>
            </a:r>
            <a:r>
              <a:rPr lang="en-US" altLang="zh-CN" sz="2000" b="1" dirty="0"/>
              <a:t>01-fs_assembly_led</a:t>
            </a:r>
            <a:r>
              <a:rPr lang="zh-CN" altLang="en-US" sz="2000" b="1" dirty="0"/>
              <a:t>），</a:t>
            </a:r>
            <a:r>
              <a:rPr lang="zh-CN" altLang="en-US" sz="2000" b="1" dirty="0">
                <a:solidFill>
                  <a:srgbClr val="C00000"/>
                </a:solidFill>
              </a:rPr>
              <a:t>汇编语言与</a:t>
            </a:r>
            <a:r>
              <a:rPr lang="en-US" altLang="zh-CN" sz="2000" b="1" dirty="0">
                <a:solidFill>
                  <a:srgbClr val="C00000"/>
                </a:solidFill>
              </a:rPr>
              <a:t>C</a:t>
            </a:r>
            <a:r>
              <a:rPr lang="zh-CN" altLang="en-US" sz="2000" b="1" dirty="0">
                <a:solidFill>
                  <a:srgbClr val="C00000"/>
                </a:solidFill>
              </a:rPr>
              <a:t>语言混合编程的程序</a:t>
            </a:r>
            <a:r>
              <a:rPr lang="zh-CN" altLang="en-US" sz="2000" b="1" dirty="0"/>
              <a:t>（</a:t>
            </a:r>
            <a:r>
              <a:rPr lang="en-US" altLang="zh-CN" sz="2000" b="1" dirty="0"/>
              <a:t>02-fs_pwm</a:t>
            </a:r>
            <a:r>
              <a:rPr lang="zh-CN" altLang="en-US" sz="2000" b="1" dirty="0"/>
              <a:t>）</a:t>
            </a:r>
          </a:p>
        </p:txBody>
      </p:sp>
      <p:pic>
        <p:nvPicPr>
          <p:cNvPr id="6" name="图片 5">
            <a:extLst>
              <a:ext uri="{FF2B5EF4-FFF2-40B4-BE49-F238E27FC236}">
                <a16:creationId xmlns:a16="http://schemas.microsoft.com/office/drawing/2014/main" id="{E5788B0D-E425-35EF-F4AF-1163A7CAE031}"/>
              </a:ext>
            </a:extLst>
          </p:cNvPr>
          <p:cNvPicPr>
            <a:picLocks noChangeAspect="1"/>
          </p:cNvPicPr>
          <p:nvPr/>
        </p:nvPicPr>
        <p:blipFill>
          <a:blip r:embed="rId2"/>
          <a:stretch>
            <a:fillRect/>
          </a:stretch>
        </p:blipFill>
        <p:spPr>
          <a:xfrm>
            <a:off x="6899345" y="2019182"/>
            <a:ext cx="2391109" cy="3286584"/>
          </a:xfrm>
          <a:prstGeom prst="rect">
            <a:avLst/>
          </a:prstGeom>
        </p:spPr>
      </p:pic>
    </p:spTree>
    <p:extLst>
      <p:ext uri="{BB962C8B-B14F-4D97-AF65-F5344CB8AC3E}">
        <p14:creationId xmlns:p14="http://schemas.microsoft.com/office/powerpoint/2010/main" val="1850110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5B9C2-11EB-449B-3E8A-68F6F4C5BE6E}"/>
              </a:ext>
            </a:extLst>
          </p:cNvPr>
          <p:cNvSpPr>
            <a:spLocks noGrp="1"/>
          </p:cNvSpPr>
          <p:nvPr>
            <p:ph type="title"/>
          </p:nvPr>
        </p:nvSpPr>
        <p:spPr>
          <a:xfrm>
            <a:off x="838200" y="2620645"/>
            <a:ext cx="10515600" cy="1325563"/>
          </a:xfrm>
        </p:spPr>
        <p:txBody>
          <a:bodyPr/>
          <a:lstStyle/>
          <a:p>
            <a:pPr algn="ctr"/>
            <a:r>
              <a:rPr lang="zh-CN" altLang="en-US" b="1" dirty="0"/>
              <a:t>实验</a:t>
            </a:r>
            <a:r>
              <a:rPr lang="en-US" altLang="zh-CN" b="1" dirty="0"/>
              <a:t>1    </a:t>
            </a:r>
            <a:r>
              <a:rPr lang="zh-CN" altLang="en-US" b="1" dirty="0"/>
              <a:t>控制</a:t>
            </a:r>
            <a:r>
              <a:rPr lang="en-US" altLang="zh-CN" b="1" dirty="0"/>
              <a:t>3</a:t>
            </a:r>
            <a:r>
              <a:rPr lang="zh-CN" altLang="en-US" b="1" dirty="0"/>
              <a:t>个</a:t>
            </a:r>
            <a:r>
              <a:rPr lang="en-US" altLang="zh-CN" b="1" dirty="0"/>
              <a:t>LED</a:t>
            </a:r>
            <a:r>
              <a:rPr lang="zh-CN" altLang="en-US" b="1" dirty="0"/>
              <a:t>灯的亮灭</a:t>
            </a:r>
          </a:p>
        </p:txBody>
      </p:sp>
    </p:spTree>
    <p:extLst>
      <p:ext uri="{BB962C8B-B14F-4D97-AF65-F5344CB8AC3E}">
        <p14:creationId xmlns:p14="http://schemas.microsoft.com/office/powerpoint/2010/main" val="897859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B7386E2-0602-98B5-7F2F-CABD2DA99706}"/>
              </a:ext>
            </a:extLst>
          </p:cNvPr>
          <p:cNvPicPr>
            <a:picLocks noChangeAspect="1"/>
          </p:cNvPicPr>
          <p:nvPr/>
        </p:nvPicPr>
        <p:blipFill>
          <a:blip r:embed="rId2"/>
          <a:stretch>
            <a:fillRect/>
          </a:stretch>
        </p:blipFill>
        <p:spPr>
          <a:xfrm>
            <a:off x="1234440" y="1792825"/>
            <a:ext cx="8897439" cy="4388193"/>
          </a:xfrm>
          <a:prstGeom prst="rect">
            <a:avLst/>
          </a:prstGeom>
        </p:spPr>
      </p:pic>
      <p:sp>
        <p:nvSpPr>
          <p:cNvPr id="2" name="标题 1">
            <a:extLst>
              <a:ext uri="{FF2B5EF4-FFF2-40B4-BE49-F238E27FC236}">
                <a16:creationId xmlns:a16="http://schemas.microsoft.com/office/drawing/2014/main" id="{0C26E598-5439-46FE-2F7B-E350ADE01465}"/>
              </a:ext>
            </a:extLst>
          </p:cNvPr>
          <p:cNvSpPr>
            <a:spLocks noGrp="1"/>
          </p:cNvSpPr>
          <p:nvPr>
            <p:ph type="title"/>
          </p:nvPr>
        </p:nvSpPr>
        <p:spPr>
          <a:xfrm>
            <a:off x="838200" y="365125"/>
            <a:ext cx="10515600" cy="1325563"/>
          </a:xfrm>
        </p:spPr>
        <p:txBody>
          <a:bodyPr/>
          <a:lstStyle/>
          <a:p>
            <a:pPr algn="ctr"/>
            <a:r>
              <a:rPr lang="en-US" altLang="zh-CN" b="1" dirty="0"/>
              <a:t>3</a:t>
            </a:r>
            <a:r>
              <a:rPr lang="zh-CN" altLang="en-US" b="1" dirty="0"/>
              <a:t>个</a:t>
            </a:r>
            <a:r>
              <a:rPr lang="en-US" altLang="zh-CN" b="1" dirty="0"/>
              <a:t>LED</a:t>
            </a:r>
            <a:r>
              <a:rPr lang="zh-CN" altLang="en-US" b="1" dirty="0"/>
              <a:t>灯的电原理图</a:t>
            </a:r>
          </a:p>
        </p:txBody>
      </p:sp>
      <p:sp>
        <p:nvSpPr>
          <p:cNvPr id="4" name="文本框 3">
            <a:extLst>
              <a:ext uri="{FF2B5EF4-FFF2-40B4-BE49-F238E27FC236}">
                <a16:creationId xmlns:a16="http://schemas.microsoft.com/office/drawing/2014/main" id="{34E6E826-B0B8-F734-AEEA-5954227DB16F}"/>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1</a:t>
            </a:r>
            <a:endParaRPr lang="zh-CN" altLang="en-US" b="1" dirty="0"/>
          </a:p>
        </p:txBody>
      </p:sp>
      <p:sp>
        <p:nvSpPr>
          <p:cNvPr id="3" name="文本框 2">
            <a:extLst>
              <a:ext uri="{FF2B5EF4-FFF2-40B4-BE49-F238E27FC236}">
                <a16:creationId xmlns:a16="http://schemas.microsoft.com/office/drawing/2014/main" id="{26DD762F-16B4-47B6-0379-92BB2818821A}"/>
              </a:ext>
            </a:extLst>
          </p:cNvPr>
          <p:cNvSpPr txBox="1"/>
          <p:nvPr/>
        </p:nvSpPr>
        <p:spPr>
          <a:xfrm>
            <a:off x="9016523" y="4435336"/>
            <a:ext cx="941283" cy="369332"/>
          </a:xfrm>
          <a:prstGeom prst="rect">
            <a:avLst/>
          </a:prstGeom>
          <a:solidFill>
            <a:srgbClr val="FFFF00"/>
          </a:solidFill>
        </p:spPr>
        <p:txBody>
          <a:bodyPr wrap="none" rtlCol="0">
            <a:spAutoFit/>
          </a:bodyPr>
          <a:lstStyle/>
          <a:p>
            <a:r>
              <a:rPr lang="en-US" altLang="zh-CN" b="1" dirty="0"/>
              <a:t>LED1</a:t>
            </a:r>
            <a:r>
              <a:rPr lang="zh-CN" altLang="en-US" b="1" dirty="0"/>
              <a:t>灯</a:t>
            </a:r>
          </a:p>
        </p:txBody>
      </p:sp>
      <p:sp>
        <p:nvSpPr>
          <p:cNvPr id="6" name="文本框 5">
            <a:extLst>
              <a:ext uri="{FF2B5EF4-FFF2-40B4-BE49-F238E27FC236}">
                <a16:creationId xmlns:a16="http://schemas.microsoft.com/office/drawing/2014/main" id="{7B8FB4A5-86F9-562A-8114-0396583EAA3B}"/>
              </a:ext>
            </a:extLst>
          </p:cNvPr>
          <p:cNvSpPr txBox="1"/>
          <p:nvPr/>
        </p:nvSpPr>
        <p:spPr>
          <a:xfrm>
            <a:off x="6654323" y="4435336"/>
            <a:ext cx="941283" cy="369332"/>
          </a:xfrm>
          <a:prstGeom prst="rect">
            <a:avLst/>
          </a:prstGeom>
          <a:solidFill>
            <a:srgbClr val="FFFF00"/>
          </a:solidFill>
        </p:spPr>
        <p:txBody>
          <a:bodyPr wrap="none" rtlCol="0">
            <a:spAutoFit/>
          </a:bodyPr>
          <a:lstStyle/>
          <a:p>
            <a:r>
              <a:rPr lang="en-US" altLang="zh-CN" b="1" dirty="0"/>
              <a:t>LED2</a:t>
            </a:r>
            <a:r>
              <a:rPr lang="zh-CN" altLang="en-US" b="1" dirty="0"/>
              <a:t>灯</a:t>
            </a:r>
          </a:p>
        </p:txBody>
      </p:sp>
      <p:sp>
        <p:nvSpPr>
          <p:cNvPr id="7" name="文本框 6">
            <a:extLst>
              <a:ext uri="{FF2B5EF4-FFF2-40B4-BE49-F238E27FC236}">
                <a16:creationId xmlns:a16="http://schemas.microsoft.com/office/drawing/2014/main" id="{D8C092C1-4EE3-F908-6756-B48582E574C5}"/>
              </a:ext>
            </a:extLst>
          </p:cNvPr>
          <p:cNvSpPr txBox="1"/>
          <p:nvPr/>
        </p:nvSpPr>
        <p:spPr>
          <a:xfrm>
            <a:off x="3812062" y="4435336"/>
            <a:ext cx="941283" cy="369332"/>
          </a:xfrm>
          <a:prstGeom prst="rect">
            <a:avLst/>
          </a:prstGeom>
          <a:solidFill>
            <a:srgbClr val="FFFF00"/>
          </a:solidFill>
        </p:spPr>
        <p:txBody>
          <a:bodyPr wrap="none" rtlCol="0">
            <a:spAutoFit/>
          </a:bodyPr>
          <a:lstStyle/>
          <a:p>
            <a:r>
              <a:rPr lang="en-US" altLang="zh-CN" b="1" dirty="0"/>
              <a:t>LED3</a:t>
            </a:r>
            <a:r>
              <a:rPr lang="zh-CN" altLang="en-US" b="1" dirty="0"/>
              <a:t>灯</a:t>
            </a:r>
          </a:p>
        </p:txBody>
      </p:sp>
    </p:spTree>
    <p:extLst>
      <p:ext uri="{BB962C8B-B14F-4D97-AF65-F5344CB8AC3E}">
        <p14:creationId xmlns:p14="http://schemas.microsoft.com/office/powerpoint/2010/main" val="525589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D380DB1-2045-1D44-4ABF-6A33790C67A8}"/>
              </a:ext>
            </a:extLst>
          </p:cNvPr>
          <p:cNvPicPr>
            <a:picLocks noChangeAspect="1"/>
          </p:cNvPicPr>
          <p:nvPr/>
        </p:nvPicPr>
        <p:blipFill>
          <a:blip r:embed="rId2"/>
          <a:stretch>
            <a:fillRect/>
          </a:stretch>
        </p:blipFill>
        <p:spPr>
          <a:xfrm>
            <a:off x="3007135" y="1875354"/>
            <a:ext cx="5970270" cy="4299990"/>
          </a:xfrm>
          <a:prstGeom prst="rect">
            <a:avLst/>
          </a:prstGeom>
        </p:spPr>
      </p:pic>
      <p:sp>
        <p:nvSpPr>
          <p:cNvPr id="6" name="文本框 5">
            <a:extLst>
              <a:ext uri="{FF2B5EF4-FFF2-40B4-BE49-F238E27FC236}">
                <a16:creationId xmlns:a16="http://schemas.microsoft.com/office/drawing/2014/main" id="{DED3353A-9754-56BD-8505-26EF2889CBA3}"/>
              </a:ext>
            </a:extLst>
          </p:cNvPr>
          <p:cNvSpPr txBox="1"/>
          <p:nvPr/>
        </p:nvSpPr>
        <p:spPr>
          <a:xfrm>
            <a:off x="9864469" y="2615862"/>
            <a:ext cx="941283" cy="369332"/>
          </a:xfrm>
          <a:prstGeom prst="rect">
            <a:avLst/>
          </a:prstGeom>
          <a:solidFill>
            <a:srgbClr val="FFFF00"/>
          </a:solidFill>
        </p:spPr>
        <p:txBody>
          <a:bodyPr wrap="none" rtlCol="0">
            <a:spAutoFit/>
          </a:bodyPr>
          <a:lstStyle/>
          <a:p>
            <a:r>
              <a:rPr lang="en-US" altLang="zh-CN" b="1" dirty="0"/>
              <a:t>LED1</a:t>
            </a:r>
            <a:r>
              <a:rPr lang="zh-CN" altLang="en-US" b="1" dirty="0"/>
              <a:t>灯</a:t>
            </a:r>
          </a:p>
        </p:txBody>
      </p:sp>
      <p:sp>
        <p:nvSpPr>
          <p:cNvPr id="7" name="文本框 6">
            <a:extLst>
              <a:ext uri="{FF2B5EF4-FFF2-40B4-BE49-F238E27FC236}">
                <a16:creationId xmlns:a16="http://schemas.microsoft.com/office/drawing/2014/main" id="{9C9316E7-66E6-2372-8C38-1251BFED928B}"/>
              </a:ext>
            </a:extLst>
          </p:cNvPr>
          <p:cNvSpPr txBox="1"/>
          <p:nvPr/>
        </p:nvSpPr>
        <p:spPr>
          <a:xfrm>
            <a:off x="9907790" y="3998227"/>
            <a:ext cx="941283" cy="369332"/>
          </a:xfrm>
          <a:prstGeom prst="rect">
            <a:avLst/>
          </a:prstGeom>
          <a:solidFill>
            <a:srgbClr val="FFFF00"/>
          </a:solidFill>
        </p:spPr>
        <p:txBody>
          <a:bodyPr wrap="square" rtlCol="0">
            <a:spAutoFit/>
          </a:bodyPr>
          <a:lstStyle/>
          <a:p>
            <a:r>
              <a:rPr lang="en-US" altLang="zh-CN" b="1" dirty="0"/>
              <a:t>LED2</a:t>
            </a:r>
            <a:r>
              <a:rPr lang="zh-CN" altLang="en-US" b="1" dirty="0"/>
              <a:t>灯</a:t>
            </a:r>
          </a:p>
        </p:txBody>
      </p:sp>
      <p:sp>
        <p:nvSpPr>
          <p:cNvPr id="8" name="文本框 7">
            <a:extLst>
              <a:ext uri="{FF2B5EF4-FFF2-40B4-BE49-F238E27FC236}">
                <a16:creationId xmlns:a16="http://schemas.microsoft.com/office/drawing/2014/main" id="{9BC8F7F6-3E0D-81CF-74F1-AD18DE2CBF1B}"/>
              </a:ext>
            </a:extLst>
          </p:cNvPr>
          <p:cNvSpPr txBox="1"/>
          <p:nvPr/>
        </p:nvSpPr>
        <p:spPr>
          <a:xfrm>
            <a:off x="9932746" y="5380592"/>
            <a:ext cx="941283" cy="369332"/>
          </a:xfrm>
          <a:prstGeom prst="rect">
            <a:avLst/>
          </a:prstGeom>
          <a:solidFill>
            <a:srgbClr val="FFFF00"/>
          </a:solidFill>
        </p:spPr>
        <p:txBody>
          <a:bodyPr wrap="square" rtlCol="0">
            <a:spAutoFit/>
          </a:bodyPr>
          <a:lstStyle/>
          <a:p>
            <a:r>
              <a:rPr lang="en-US" altLang="zh-CN" b="1" dirty="0"/>
              <a:t>LED3</a:t>
            </a:r>
            <a:r>
              <a:rPr lang="zh-CN" altLang="en-US" b="1" dirty="0"/>
              <a:t>灯</a:t>
            </a:r>
          </a:p>
        </p:txBody>
      </p:sp>
      <p:sp>
        <p:nvSpPr>
          <p:cNvPr id="2" name="文本框 1">
            <a:extLst>
              <a:ext uri="{FF2B5EF4-FFF2-40B4-BE49-F238E27FC236}">
                <a16:creationId xmlns:a16="http://schemas.microsoft.com/office/drawing/2014/main" id="{B51CBC22-8FB7-F860-46E5-5D53578F708E}"/>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1</a:t>
            </a:r>
            <a:endParaRPr lang="zh-CN" altLang="en-US" b="1" dirty="0"/>
          </a:p>
        </p:txBody>
      </p:sp>
      <p:sp>
        <p:nvSpPr>
          <p:cNvPr id="3" name="标题 1">
            <a:extLst>
              <a:ext uri="{FF2B5EF4-FFF2-40B4-BE49-F238E27FC236}">
                <a16:creationId xmlns:a16="http://schemas.microsoft.com/office/drawing/2014/main" id="{EB282676-5F64-7B76-DD2B-C05F199A7724}"/>
              </a:ext>
            </a:extLst>
          </p:cNvPr>
          <p:cNvSpPr>
            <a:spLocks noGrp="1"/>
          </p:cNvSpPr>
          <p:nvPr>
            <p:ph type="title"/>
          </p:nvPr>
        </p:nvSpPr>
        <p:spPr>
          <a:xfrm>
            <a:off x="838200" y="365125"/>
            <a:ext cx="10515600" cy="1325563"/>
          </a:xfrm>
        </p:spPr>
        <p:txBody>
          <a:bodyPr/>
          <a:lstStyle/>
          <a:p>
            <a:pPr algn="ctr"/>
            <a:r>
              <a:rPr lang="en-US" altLang="zh-CN" b="1" dirty="0"/>
              <a:t>3</a:t>
            </a:r>
            <a:r>
              <a:rPr lang="zh-CN" altLang="en-US" b="1" dirty="0"/>
              <a:t>个</a:t>
            </a:r>
            <a:r>
              <a:rPr lang="en-US" altLang="zh-CN" b="1" dirty="0"/>
              <a:t>LED</a:t>
            </a:r>
            <a:r>
              <a:rPr lang="zh-CN" altLang="en-US" b="1" dirty="0"/>
              <a:t>灯的</a:t>
            </a:r>
            <a:r>
              <a:rPr lang="en-US" altLang="zh-CN" b="1" dirty="0"/>
              <a:t>GPIO</a:t>
            </a:r>
            <a:r>
              <a:rPr lang="zh-CN" altLang="en-US" b="1" dirty="0"/>
              <a:t>引脚</a:t>
            </a:r>
          </a:p>
        </p:txBody>
      </p:sp>
      <p:pic>
        <p:nvPicPr>
          <p:cNvPr id="9" name="图片 8">
            <a:extLst>
              <a:ext uri="{FF2B5EF4-FFF2-40B4-BE49-F238E27FC236}">
                <a16:creationId xmlns:a16="http://schemas.microsoft.com/office/drawing/2014/main" id="{FEEBBAAC-B4FA-7927-33DB-C32CD91A1629}"/>
              </a:ext>
            </a:extLst>
          </p:cNvPr>
          <p:cNvPicPr>
            <a:picLocks noChangeAspect="1"/>
          </p:cNvPicPr>
          <p:nvPr/>
        </p:nvPicPr>
        <p:blipFill>
          <a:blip r:embed="rId3"/>
          <a:stretch>
            <a:fillRect/>
          </a:stretch>
        </p:blipFill>
        <p:spPr>
          <a:xfrm>
            <a:off x="2451544" y="1543646"/>
            <a:ext cx="466790" cy="2144433"/>
          </a:xfrm>
          <a:prstGeom prst="rect">
            <a:avLst/>
          </a:prstGeom>
        </p:spPr>
      </p:pic>
      <p:sp>
        <p:nvSpPr>
          <p:cNvPr id="4" name="对话气泡: 圆角矩形 3">
            <a:extLst>
              <a:ext uri="{FF2B5EF4-FFF2-40B4-BE49-F238E27FC236}">
                <a16:creationId xmlns:a16="http://schemas.microsoft.com/office/drawing/2014/main" id="{2DE8F1F3-42BC-4CC0-968D-3BEB0641F03D}"/>
              </a:ext>
            </a:extLst>
          </p:cNvPr>
          <p:cNvSpPr/>
          <p:nvPr/>
        </p:nvSpPr>
        <p:spPr>
          <a:xfrm>
            <a:off x="1997919" y="2065621"/>
            <a:ext cx="1131369" cy="519224"/>
          </a:xfrm>
          <a:prstGeom prst="wedgeRoundRectCallout">
            <a:avLst>
              <a:gd name="adj1" fmla="val 107829"/>
              <a:gd name="adj2" fmla="val 71935"/>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t>对应核心板引脚</a:t>
            </a:r>
          </a:p>
        </p:txBody>
      </p:sp>
      <p:sp>
        <p:nvSpPr>
          <p:cNvPr id="10" name="对话气泡: 圆角矩形 9">
            <a:extLst>
              <a:ext uri="{FF2B5EF4-FFF2-40B4-BE49-F238E27FC236}">
                <a16:creationId xmlns:a16="http://schemas.microsoft.com/office/drawing/2014/main" id="{80FA1F07-7410-42DA-95BE-18AD77A28BC3}"/>
              </a:ext>
            </a:extLst>
          </p:cNvPr>
          <p:cNvSpPr/>
          <p:nvPr/>
        </p:nvSpPr>
        <p:spPr>
          <a:xfrm>
            <a:off x="8627798" y="1937592"/>
            <a:ext cx="1279992" cy="519224"/>
          </a:xfrm>
          <a:prstGeom prst="wedgeRoundRectCallout">
            <a:avLst>
              <a:gd name="adj1" fmla="val -66068"/>
              <a:gd name="adj2" fmla="val 11910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t>底板引脚</a:t>
            </a:r>
          </a:p>
        </p:txBody>
      </p:sp>
    </p:spTree>
    <p:extLst>
      <p:ext uri="{BB962C8B-B14F-4D97-AF65-F5344CB8AC3E}">
        <p14:creationId xmlns:p14="http://schemas.microsoft.com/office/powerpoint/2010/main" val="4258036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9C155A-F1C3-2086-77D1-EC2FC46C6DED}"/>
              </a:ext>
            </a:extLst>
          </p:cNvPr>
          <p:cNvSpPr>
            <a:spLocks noGrp="1"/>
          </p:cNvSpPr>
          <p:nvPr>
            <p:ph type="title"/>
          </p:nvPr>
        </p:nvSpPr>
        <p:spPr/>
        <p:txBody>
          <a:bodyPr/>
          <a:lstStyle/>
          <a:p>
            <a:pPr algn="ctr"/>
            <a:r>
              <a:rPr lang="zh-CN" altLang="en-US" b="1" dirty="0"/>
              <a:t>怎么控制</a:t>
            </a:r>
            <a:r>
              <a:rPr lang="en-US" altLang="zh-CN" b="1" dirty="0"/>
              <a:t>LED1</a:t>
            </a:r>
            <a:r>
              <a:rPr lang="zh-CN" altLang="en-US" b="1" dirty="0"/>
              <a:t>灯亮？</a:t>
            </a:r>
          </a:p>
        </p:txBody>
      </p:sp>
      <p:sp>
        <p:nvSpPr>
          <p:cNvPr id="3" name="内容占位符 2">
            <a:extLst>
              <a:ext uri="{FF2B5EF4-FFF2-40B4-BE49-F238E27FC236}">
                <a16:creationId xmlns:a16="http://schemas.microsoft.com/office/drawing/2014/main" id="{FF904466-AC0F-44C2-4838-1BF543DFC446}"/>
              </a:ext>
            </a:extLst>
          </p:cNvPr>
          <p:cNvSpPr>
            <a:spLocks noGrp="1"/>
          </p:cNvSpPr>
          <p:nvPr>
            <p:ph idx="1"/>
          </p:nvPr>
        </p:nvSpPr>
        <p:spPr>
          <a:xfrm>
            <a:off x="1170758" y="1737360"/>
            <a:ext cx="10058400" cy="4416273"/>
          </a:xfrm>
        </p:spPr>
        <p:txBody>
          <a:bodyPr>
            <a:normAutofit/>
          </a:bodyPr>
          <a:lstStyle/>
          <a:p>
            <a:pPr>
              <a:lnSpc>
                <a:spcPct val="120000"/>
              </a:lnSpc>
            </a:pPr>
            <a:r>
              <a:rPr lang="en-US" altLang="zh-CN" b="1" dirty="0"/>
              <a:t>LED1</a:t>
            </a:r>
            <a:r>
              <a:rPr lang="zh-CN" altLang="en-US" b="1" dirty="0"/>
              <a:t>灯的引脚是</a:t>
            </a:r>
            <a:r>
              <a:rPr lang="en-US" altLang="zh-CN" b="1" dirty="0">
                <a:solidFill>
                  <a:srgbClr val="C00000"/>
                </a:solidFill>
              </a:rPr>
              <a:t>GPIO4_C6</a:t>
            </a:r>
            <a:endParaRPr lang="zh-CN" altLang="en-US" b="1" dirty="0">
              <a:solidFill>
                <a:srgbClr val="C00000"/>
              </a:solidFill>
            </a:endParaRPr>
          </a:p>
          <a:p>
            <a:pPr>
              <a:lnSpc>
                <a:spcPct val="120000"/>
              </a:lnSpc>
            </a:pPr>
            <a:r>
              <a:rPr lang="en-US" altLang="zh-CN" b="1" dirty="0"/>
              <a:t>GPIO4</a:t>
            </a:r>
            <a:r>
              <a:rPr lang="zh-CN" altLang="en-US" b="1" dirty="0"/>
              <a:t>的基地址</a:t>
            </a:r>
            <a:r>
              <a:rPr lang="en-US" altLang="zh-CN" b="1" dirty="0"/>
              <a:t>=0xFF79_0000</a:t>
            </a:r>
          </a:p>
          <a:p>
            <a:pPr>
              <a:lnSpc>
                <a:spcPct val="120000"/>
              </a:lnSpc>
            </a:pPr>
            <a:r>
              <a:rPr lang="en-US" altLang="zh-CN" b="1" dirty="0"/>
              <a:t>GPIO4</a:t>
            </a:r>
            <a:r>
              <a:rPr lang="zh-CN" altLang="en-US" b="1" dirty="0"/>
              <a:t>数据寄存器</a:t>
            </a:r>
            <a:r>
              <a:rPr lang="en-US" altLang="zh-CN" b="1" dirty="0"/>
              <a:t>DR</a:t>
            </a:r>
            <a:r>
              <a:rPr lang="zh-CN" altLang="en-US" b="1" dirty="0"/>
              <a:t>的操作地址</a:t>
            </a:r>
            <a:r>
              <a:rPr lang="en-US" altLang="zh-CN" b="1" dirty="0"/>
              <a:t>=0xFF79_0000 + 0x0000</a:t>
            </a:r>
          </a:p>
          <a:p>
            <a:pPr>
              <a:lnSpc>
                <a:spcPct val="120000"/>
              </a:lnSpc>
            </a:pPr>
            <a:r>
              <a:rPr lang="en-US" altLang="zh-CN" b="1" dirty="0"/>
              <a:t>GPIO4</a:t>
            </a:r>
            <a:r>
              <a:rPr lang="zh-CN" altLang="en-US" b="1" dirty="0">
                <a:solidFill>
                  <a:srgbClr val="C00000"/>
                </a:solidFill>
              </a:rPr>
              <a:t>方向</a:t>
            </a:r>
            <a:r>
              <a:rPr lang="zh-CN" altLang="en-US" b="1" dirty="0"/>
              <a:t>寄存器</a:t>
            </a:r>
            <a:r>
              <a:rPr lang="en-US" altLang="zh-CN" b="1" dirty="0"/>
              <a:t>DDR</a:t>
            </a:r>
            <a:r>
              <a:rPr lang="zh-CN" altLang="en-US" b="1" dirty="0"/>
              <a:t>的操作地址</a:t>
            </a:r>
            <a:r>
              <a:rPr lang="en-US" altLang="zh-CN" b="1" dirty="0"/>
              <a:t>=0xFF79_0000 + 0x0004</a:t>
            </a:r>
          </a:p>
          <a:p>
            <a:pPr marL="538163" lvl="1" indent="-268288">
              <a:lnSpc>
                <a:spcPct val="120000"/>
              </a:lnSpc>
              <a:buFont typeface="Wingdings" panose="05000000000000000000" pitchFamily="2" charset="2"/>
              <a:buChar char="l"/>
            </a:pPr>
            <a:r>
              <a:rPr lang="zh-CN" altLang="en-US" b="1" dirty="0"/>
              <a:t>首先置方向寄存器</a:t>
            </a:r>
            <a:r>
              <a:rPr lang="en-US" altLang="zh-CN" b="1" dirty="0"/>
              <a:t>DDR</a:t>
            </a:r>
            <a:r>
              <a:rPr lang="zh-CN" altLang="en-US" b="1" dirty="0"/>
              <a:t>的</a:t>
            </a:r>
            <a:r>
              <a:rPr lang="en-US" altLang="zh-CN" b="1" dirty="0">
                <a:solidFill>
                  <a:srgbClr val="C00000"/>
                </a:solidFill>
              </a:rPr>
              <a:t>C6</a:t>
            </a:r>
            <a:r>
              <a:rPr lang="zh-CN" altLang="en-US" b="1" dirty="0"/>
              <a:t>（第</a:t>
            </a:r>
            <a:r>
              <a:rPr lang="en-US" altLang="zh-CN" b="1" dirty="0"/>
              <a:t>22</a:t>
            </a:r>
            <a:r>
              <a:rPr lang="zh-CN" altLang="en-US" b="1" dirty="0"/>
              <a:t>位，</a:t>
            </a:r>
            <a:r>
              <a:rPr lang="en-US" altLang="zh-CN" b="1" dirty="0"/>
              <a:t>D7-D0</a:t>
            </a:r>
            <a:r>
              <a:rPr lang="zh-CN" altLang="en-US" b="1" dirty="0"/>
              <a:t>、</a:t>
            </a:r>
            <a:r>
              <a:rPr lang="en-US" altLang="zh-CN" b="1" dirty="0"/>
              <a:t>C7-C0</a:t>
            </a:r>
            <a:r>
              <a:rPr lang="zh-CN" altLang="en-US" b="1" dirty="0"/>
              <a:t>、</a:t>
            </a:r>
            <a:r>
              <a:rPr lang="en-US" altLang="zh-CN" b="1" dirty="0"/>
              <a:t>B7-B0</a:t>
            </a:r>
            <a:r>
              <a:rPr lang="zh-CN" altLang="en-US" b="1" dirty="0"/>
              <a:t>、</a:t>
            </a:r>
            <a:r>
              <a:rPr lang="en-US" altLang="zh-CN" b="1" dirty="0"/>
              <a:t>A7-A0</a:t>
            </a:r>
            <a:r>
              <a:rPr lang="zh-CN" altLang="en-US" b="1" dirty="0"/>
              <a:t>）为</a:t>
            </a:r>
            <a:r>
              <a:rPr lang="en-US" altLang="zh-CN" b="1" dirty="0"/>
              <a:t>1</a:t>
            </a:r>
            <a:r>
              <a:rPr lang="zh-CN" altLang="en-US" b="1" dirty="0"/>
              <a:t>，即设置</a:t>
            </a:r>
            <a:r>
              <a:rPr lang="en-US" altLang="zh-CN" b="1" dirty="0"/>
              <a:t>GPIO4_C6</a:t>
            </a:r>
            <a:r>
              <a:rPr lang="zh-CN" altLang="en-US" b="1" dirty="0"/>
              <a:t>为</a:t>
            </a:r>
            <a:r>
              <a:rPr lang="zh-CN" altLang="en-US" b="1" dirty="0">
                <a:solidFill>
                  <a:srgbClr val="C00000"/>
                </a:solidFill>
              </a:rPr>
              <a:t>输出模式</a:t>
            </a:r>
          </a:p>
          <a:p>
            <a:pPr marL="538163" lvl="1" indent="-268288">
              <a:lnSpc>
                <a:spcPct val="120000"/>
              </a:lnSpc>
              <a:buFont typeface="Wingdings" panose="05000000000000000000" pitchFamily="2" charset="2"/>
              <a:buChar char="l"/>
            </a:pPr>
            <a:r>
              <a:rPr lang="zh-CN" altLang="en-US" b="1" dirty="0"/>
              <a:t>然后置数据寄存器</a:t>
            </a:r>
            <a:r>
              <a:rPr lang="en-US" altLang="zh-CN" b="1" dirty="0"/>
              <a:t>DR</a:t>
            </a:r>
            <a:r>
              <a:rPr lang="zh-CN" altLang="en-US" b="1" dirty="0"/>
              <a:t>的</a:t>
            </a:r>
            <a:r>
              <a:rPr lang="en-US" altLang="zh-CN" b="1" dirty="0">
                <a:solidFill>
                  <a:srgbClr val="C00000"/>
                </a:solidFill>
              </a:rPr>
              <a:t>C6</a:t>
            </a:r>
            <a:r>
              <a:rPr lang="zh-CN" altLang="en-US" b="1" dirty="0"/>
              <a:t>（第</a:t>
            </a:r>
            <a:r>
              <a:rPr lang="en-US" altLang="zh-CN" b="1" dirty="0"/>
              <a:t>22</a:t>
            </a:r>
            <a:r>
              <a:rPr lang="zh-CN" altLang="en-US" b="1" dirty="0"/>
              <a:t>位，</a:t>
            </a:r>
            <a:r>
              <a:rPr lang="en-US" altLang="zh-CN" b="1" dirty="0"/>
              <a:t>D7-D0</a:t>
            </a:r>
            <a:r>
              <a:rPr lang="zh-CN" altLang="en-US" b="1" dirty="0"/>
              <a:t>、</a:t>
            </a:r>
            <a:r>
              <a:rPr lang="en-US" altLang="zh-CN" b="1" dirty="0"/>
              <a:t>C7-C0</a:t>
            </a:r>
            <a:r>
              <a:rPr lang="zh-CN" altLang="en-US" b="1" dirty="0"/>
              <a:t>、</a:t>
            </a:r>
            <a:r>
              <a:rPr lang="en-US" altLang="zh-CN" b="1" dirty="0"/>
              <a:t>B7-B0</a:t>
            </a:r>
            <a:r>
              <a:rPr lang="zh-CN" altLang="en-US" b="1" dirty="0"/>
              <a:t>、</a:t>
            </a:r>
            <a:r>
              <a:rPr lang="en-US" altLang="zh-CN" b="1" dirty="0"/>
              <a:t>A7-A0</a:t>
            </a:r>
            <a:r>
              <a:rPr lang="zh-CN" altLang="en-US" b="1" dirty="0"/>
              <a:t>）为</a:t>
            </a:r>
            <a:r>
              <a:rPr lang="en-US" altLang="zh-CN" b="1" dirty="0"/>
              <a:t>1</a:t>
            </a:r>
            <a:r>
              <a:rPr lang="zh-CN" altLang="en-US" b="1" dirty="0"/>
              <a:t>，即设置</a:t>
            </a:r>
            <a:r>
              <a:rPr lang="en-US" altLang="zh-CN" b="1" dirty="0"/>
              <a:t>GPIO4_C6</a:t>
            </a:r>
            <a:r>
              <a:rPr lang="zh-CN" altLang="en-US" b="1" dirty="0"/>
              <a:t>为</a:t>
            </a:r>
            <a:r>
              <a:rPr lang="zh-CN" altLang="en-US" b="1" dirty="0">
                <a:solidFill>
                  <a:srgbClr val="C00000"/>
                </a:solidFill>
              </a:rPr>
              <a:t>输出高电平（灯亮）</a:t>
            </a:r>
          </a:p>
          <a:p>
            <a:pPr marL="538163" lvl="1" indent="-268288">
              <a:lnSpc>
                <a:spcPct val="120000"/>
              </a:lnSpc>
              <a:buFont typeface="Wingdings" panose="05000000000000000000" pitchFamily="2" charset="2"/>
              <a:buChar char="l"/>
            </a:pPr>
            <a:r>
              <a:rPr lang="zh-CN" altLang="en-US" b="1" dirty="0"/>
              <a:t>再置数据寄存器</a:t>
            </a:r>
            <a:r>
              <a:rPr lang="en-US" altLang="zh-CN" b="1" dirty="0"/>
              <a:t>DR</a:t>
            </a:r>
            <a:r>
              <a:rPr lang="zh-CN" altLang="en-US" b="1" dirty="0"/>
              <a:t>的</a:t>
            </a:r>
            <a:r>
              <a:rPr lang="en-US" altLang="zh-CN" b="1" dirty="0">
                <a:solidFill>
                  <a:srgbClr val="C00000"/>
                </a:solidFill>
              </a:rPr>
              <a:t>C6</a:t>
            </a:r>
            <a:r>
              <a:rPr lang="zh-CN" altLang="en-US" b="1" dirty="0"/>
              <a:t>（第</a:t>
            </a:r>
            <a:r>
              <a:rPr lang="en-US" altLang="zh-CN" b="1" dirty="0"/>
              <a:t>22</a:t>
            </a:r>
            <a:r>
              <a:rPr lang="zh-CN" altLang="en-US" b="1" dirty="0"/>
              <a:t>位，</a:t>
            </a:r>
            <a:r>
              <a:rPr lang="en-US" altLang="zh-CN" b="1" dirty="0"/>
              <a:t>D7-D0</a:t>
            </a:r>
            <a:r>
              <a:rPr lang="zh-CN" altLang="en-US" b="1" dirty="0"/>
              <a:t>、</a:t>
            </a:r>
            <a:r>
              <a:rPr lang="en-US" altLang="zh-CN" b="1" dirty="0"/>
              <a:t>C7-C0</a:t>
            </a:r>
            <a:r>
              <a:rPr lang="zh-CN" altLang="en-US" b="1" dirty="0"/>
              <a:t>、</a:t>
            </a:r>
            <a:r>
              <a:rPr lang="en-US" altLang="zh-CN" b="1" dirty="0"/>
              <a:t>B7-B0</a:t>
            </a:r>
            <a:r>
              <a:rPr lang="zh-CN" altLang="en-US" b="1" dirty="0"/>
              <a:t>、</a:t>
            </a:r>
            <a:r>
              <a:rPr lang="en-US" altLang="zh-CN" b="1" dirty="0"/>
              <a:t>A7-A0</a:t>
            </a:r>
            <a:r>
              <a:rPr lang="zh-CN" altLang="en-US" b="1" dirty="0"/>
              <a:t>）为</a:t>
            </a:r>
            <a:r>
              <a:rPr lang="en-US" altLang="zh-CN" b="1" dirty="0"/>
              <a:t>0</a:t>
            </a:r>
            <a:r>
              <a:rPr lang="zh-CN" altLang="en-US" b="1" dirty="0"/>
              <a:t>，即设置</a:t>
            </a:r>
            <a:r>
              <a:rPr lang="en-US" altLang="zh-CN" b="1" dirty="0"/>
              <a:t>GPIO4_C6</a:t>
            </a:r>
            <a:r>
              <a:rPr lang="zh-CN" altLang="en-US" b="1" dirty="0"/>
              <a:t>为</a:t>
            </a:r>
            <a:r>
              <a:rPr lang="zh-CN" altLang="en-US" b="1" dirty="0">
                <a:solidFill>
                  <a:srgbClr val="C00000"/>
                </a:solidFill>
              </a:rPr>
              <a:t>输出低电平（灯灭）</a:t>
            </a:r>
          </a:p>
        </p:txBody>
      </p:sp>
      <p:sp>
        <p:nvSpPr>
          <p:cNvPr id="4" name="文本框 3">
            <a:extLst>
              <a:ext uri="{FF2B5EF4-FFF2-40B4-BE49-F238E27FC236}">
                <a16:creationId xmlns:a16="http://schemas.microsoft.com/office/drawing/2014/main" id="{3B0592E4-3692-C437-4D60-2DC99A1780FC}"/>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1</a:t>
            </a:r>
            <a:endParaRPr lang="zh-CN" altLang="en-US" b="1" dirty="0"/>
          </a:p>
        </p:txBody>
      </p:sp>
      <p:sp>
        <p:nvSpPr>
          <p:cNvPr id="5" name="文本框 4">
            <a:extLst>
              <a:ext uri="{FF2B5EF4-FFF2-40B4-BE49-F238E27FC236}">
                <a16:creationId xmlns:a16="http://schemas.microsoft.com/office/drawing/2014/main" id="{6C3A2B79-D498-4A85-B669-961C6237C069}"/>
              </a:ext>
            </a:extLst>
          </p:cNvPr>
          <p:cNvSpPr txBox="1"/>
          <p:nvPr/>
        </p:nvSpPr>
        <p:spPr>
          <a:xfrm>
            <a:off x="8999250" y="1011981"/>
            <a:ext cx="2406256" cy="2585323"/>
          </a:xfrm>
          <a:prstGeom prst="rect">
            <a:avLst/>
          </a:prstGeom>
          <a:noFill/>
          <a:ln w="19050">
            <a:solidFill>
              <a:schemeClr val="tx1"/>
            </a:solidFill>
          </a:ln>
        </p:spPr>
        <p:txBody>
          <a:bodyPr wrap="square">
            <a:spAutoFit/>
          </a:bodyPr>
          <a:lstStyle/>
          <a:p>
            <a:r>
              <a:rPr lang="zh-CN" altLang="en-US" sz="1800" b="1" i="0" dirty="0">
                <a:solidFill>
                  <a:srgbClr val="C00000"/>
                </a:solidFill>
                <a:effectLst/>
                <a:latin typeface="SimSun" panose="02010600030101010101" pitchFamily="2" charset="-122"/>
                <a:ea typeface="SimSun" panose="02010600030101010101" pitchFamily="2" charset="-122"/>
              </a:rPr>
              <a:t>编程思路：</a:t>
            </a:r>
          </a:p>
          <a:p>
            <a:pPr marL="179388" indent="-179388">
              <a:buFont typeface="Arial" panose="020B0604020202020204" pitchFamily="34" charset="0"/>
              <a:buChar char="•"/>
            </a:pPr>
            <a:r>
              <a:rPr lang="en-US" altLang="zh-CN" sz="1800" b="1" i="0" dirty="0">
                <a:solidFill>
                  <a:srgbClr val="002060"/>
                </a:solidFill>
                <a:effectLst/>
                <a:latin typeface="TimesNewRomanPSMT"/>
              </a:rPr>
              <a:t>a) </a:t>
            </a:r>
            <a:r>
              <a:rPr lang="zh-CN" altLang="en-US" sz="1800" b="1" i="0" dirty="0">
                <a:solidFill>
                  <a:srgbClr val="002060"/>
                </a:solidFill>
                <a:effectLst/>
                <a:latin typeface="SimSun" panose="02010600030101010101" pitchFamily="2" charset="-122"/>
                <a:ea typeface="SimSun" panose="02010600030101010101" pitchFamily="2" charset="-122"/>
              </a:rPr>
              <a:t>使能 </a:t>
            </a:r>
            <a:r>
              <a:rPr lang="en-US" altLang="zh-CN" sz="1800" b="1" i="0" dirty="0">
                <a:solidFill>
                  <a:srgbClr val="002060"/>
                </a:solidFill>
                <a:effectLst/>
                <a:latin typeface="TimesNewRomanPSMT"/>
              </a:rPr>
              <a:t>GPIO </a:t>
            </a:r>
            <a:r>
              <a:rPr lang="zh-CN" altLang="en-US" sz="1800" b="1" i="0" dirty="0">
                <a:solidFill>
                  <a:srgbClr val="002060"/>
                </a:solidFill>
                <a:effectLst/>
                <a:latin typeface="SimSun" panose="02010600030101010101" pitchFamily="2" charset="-122"/>
                <a:ea typeface="SimSun" panose="02010600030101010101" pitchFamily="2" charset="-122"/>
              </a:rPr>
              <a:t>控制器时钟</a:t>
            </a:r>
            <a:r>
              <a:rPr lang="en-US" altLang="zh-CN" sz="1800" b="1" i="0" dirty="0">
                <a:solidFill>
                  <a:srgbClr val="002060"/>
                </a:solidFill>
                <a:effectLst/>
                <a:latin typeface="TimesNewRomanPSMT"/>
              </a:rPr>
              <a:t>(</a:t>
            </a:r>
            <a:r>
              <a:rPr lang="zh-CN" altLang="en-US" sz="1800" b="1" i="0" dirty="0">
                <a:solidFill>
                  <a:srgbClr val="002060"/>
                </a:solidFill>
                <a:effectLst/>
                <a:latin typeface="SimSun" panose="02010600030101010101" pitchFamily="2" charset="-122"/>
                <a:ea typeface="SimSun" panose="02010600030101010101" pitchFamily="2" charset="-122"/>
              </a:rPr>
              <a:t>基于 </a:t>
            </a:r>
            <a:r>
              <a:rPr lang="en-US" altLang="zh-CN" sz="1800" b="1" i="0" dirty="0" err="1">
                <a:solidFill>
                  <a:srgbClr val="002060"/>
                </a:solidFill>
                <a:effectLst/>
                <a:latin typeface="TimesNewRomanPSMT"/>
              </a:rPr>
              <a:t>Uboot</a:t>
            </a:r>
            <a:r>
              <a:rPr lang="en-US" altLang="zh-CN" sz="1800" b="1" i="0" dirty="0">
                <a:solidFill>
                  <a:srgbClr val="002060"/>
                </a:solidFill>
                <a:effectLst/>
                <a:latin typeface="TimesNewRomanPSMT"/>
              </a:rPr>
              <a:t> </a:t>
            </a:r>
            <a:r>
              <a:rPr lang="zh-CN" altLang="en-US" sz="1800" b="1" i="0" dirty="0">
                <a:solidFill>
                  <a:srgbClr val="002060"/>
                </a:solidFill>
                <a:effectLst/>
                <a:latin typeface="SimSun" panose="02010600030101010101" pitchFamily="2" charset="-122"/>
                <a:ea typeface="SimSun" panose="02010600030101010101" pitchFamily="2" charset="-122"/>
              </a:rPr>
              <a:t>的裸机实验，默认时钟已经打开，这里不需要配置</a:t>
            </a:r>
            <a:r>
              <a:rPr lang="en-US" altLang="zh-CN" sz="1800" b="1" i="0" dirty="0">
                <a:solidFill>
                  <a:srgbClr val="002060"/>
                </a:solidFill>
                <a:effectLst/>
                <a:latin typeface="TimesNewRomanPSMT"/>
              </a:rPr>
              <a:t>)</a:t>
            </a:r>
          </a:p>
          <a:p>
            <a:pPr marL="179388" indent="-179388">
              <a:buFont typeface="Arial" panose="020B0604020202020204" pitchFamily="34" charset="0"/>
              <a:buChar char="•"/>
            </a:pPr>
            <a:r>
              <a:rPr lang="en-US" altLang="zh-CN" sz="1800" b="1" i="0" dirty="0">
                <a:solidFill>
                  <a:srgbClr val="002060"/>
                </a:solidFill>
                <a:effectLst/>
                <a:latin typeface="TimesNewRomanPSMT"/>
              </a:rPr>
              <a:t>b) </a:t>
            </a:r>
            <a:r>
              <a:rPr lang="zh-CN" altLang="en-US" sz="1800" b="1" i="0" dirty="0">
                <a:solidFill>
                  <a:srgbClr val="002060"/>
                </a:solidFill>
                <a:effectLst/>
                <a:latin typeface="SimSun" panose="02010600030101010101" pitchFamily="2" charset="-122"/>
                <a:ea typeface="SimSun" panose="02010600030101010101" pitchFamily="2" charset="-122"/>
              </a:rPr>
              <a:t>配置模式为输出模式</a:t>
            </a:r>
          </a:p>
          <a:p>
            <a:pPr marL="179388" indent="-179388">
              <a:buFont typeface="Arial" panose="020B0604020202020204" pitchFamily="34" charset="0"/>
              <a:buChar char="•"/>
            </a:pPr>
            <a:r>
              <a:rPr lang="en-US" altLang="zh-CN" sz="1800" b="1" i="0" dirty="0">
                <a:solidFill>
                  <a:srgbClr val="002060"/>
                </a:solidFill>
                <a:effectLst/>
                <a:latin typeface="TimesNewRomanPSMT"/>
              </a:rPr>
              <a:t>c) </a:t>
            </a:r>
            <a:r>
              <a:rPr lang="zh-CN" altLang="en-US" sz="1800" b="1" i="0" dirty="0">
                <a:solidFill>
                  <a:srgbClr val="002060"/>
                </a:solidFill>
                <a:effectLst/>
                <a:latin typeface="SimSun" panose="02010600030101010101" pitchFamily="2" charset="-122"/>
                <a:ea typeface="SimSun" panose="02010600030101010101" pitchFamily="2" charset="-122"/>
              </a:rPr>
              <a:t>配置数据寄存器</a:t>
            </a:r>
            <a:r>
              <a:rPr lang="zh-CN" altLang="en-US" b="1" dirty="0">
                <a:solidFill>
                  <a:srgbClr val="002060"/>
                </a:solidFill>
              </a:rPr>
              <a:t> </a:t>
            </a:r>
          </a:p>
        </p:txBody>
      </p:sp>
    </p:spTree>
    <p:extLst>
      <p:ext uri="{BB962C8B-B14F-4D97-AF65-F5344CB8AC3E}">
        <p14:creationId xmlns:p14="http://schemas.microsoft.com/office/powerpoint/2010/main" val="2196954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9C155A-F1C3-2086-77D1-EC2FC46C6DED}"/>
              </a:ext>
            </a:extLst>
          </p:cNvPr>
          <p:cNvSpPr>
            <a:spLocks noGrp="1"/>
          </p:cNvSpPr>
          <p:nvPr>
            <p:ph type="title"/>
          </p:nvPr>
        </p:nvSpPr>
        <p:spPr/>
        <p:txBody>
          <a:bodyPr/>
          <a:lstStyle/>
          <a:p>
            <a:pPr algn="ctr"/>
            <a:r>
              <a:rPr lang="zh-CN" altLang="en-US" b="1" dirty="0"/>
              <a:t>怎么控制</a:t>
            </a:r>
            <a:r>
              <a:rPr lang="en-US" altLang="zh-CN" b="1" dirty="0"/>
              <a:t>LED2</a:t>
            </a:r>
            <a:r>
              <a:rPr lang="zh-CN" altLang="en-US" b="1" dirty="0"/>
              <a:t>灯亮？</a:t>
            </a:r>
          </a:p>
        </p:txBody>
      </p:sp>
      <p:sp>
        <p:nvSpPr>
          <p:cNvPr id="3" name="内容占位符 2">
            <a:extLst>
              <a:ext uri="{FF2B5EF4-FFF2-40B4-BE49-F238E27FC236}">
                <a16:creationId xmlns:a16="http://schemas.microsoft.com/office/drawing/2014/main" id="{FF904466-AC0F-44C2-4838-1BF543DFC446}"/>
              </a:ext>
            </a:extLst>
          </p:cNvPr>
          <p:cNvSpPr>
            <a:spLocks noGrp="1"/>
          </p:cNvSpPr>
          <p:nvPr>
            <p:ph idx="1"/>
          </p:nvPr>
        </p:nvSpPr>
        <p:spPr>
          <a:xfrm>
            <a:off x="1097280" y="1845734"/>
            <a:ext cx="10058400" cy="4269316"/>
          </a:xfrm>
        </p:spPr>
        <p:txBody>
          <a:bodyPr>
            <a:normAutofit fontScale="92500" lnSpcReduction="10000"/>
          </a:bodyPr>
          <a:lstStyle/>
          <a:p>
            <a:pPr>
              <a:lnSpc>
                <a:spcPct val="110000"/>
              </a:lnSpc>
            </a:pPr>
            <a:r>
              <a:rPr lang="en-US" altLang="zh-CN" b="1" dirty="0"/>
              <a:t>LED2</a:t>
            </a:r>
            <a:r>
              <a:rPr lang="zh-CN" altLang="en-US" b="1" dirty="0"/>
              <a:t>灯的引脚是</a:t>
            </a:r>
            <a:r>
              <a:rPr lang="en-US" altLang="zh-CN" b="1" dirty="0">
                <a:solidFill>
                  <a:srgbClr val="C00000"/>
                </a:solidFill>
              </a:rPr>
              <a:t>GPIO0_A2</a:t>
            </a:r>
            <a:endParaRPr lang="zh-CN" altLang="en-US" b="1" dirty="0">
              <a:solidFill>
                <a:srgbClr val="C00000"/>
              </a:solidFill>
            </a:endParaRPr>
          </a:p>
          <a:p>
            <a:pPr>
              <a:lnSpc>
                <a:spcPct val="110000"/>
              </a:lnSpc>
            </a:pPr>
            <a:r>
              <a:rPr lang="en-US" altLang="zh-CN" b="1" dirty="0"/>
              <a:t>GPIO0</a:t>
            </a:r>
            <a:r>
              <a:rPr lang="zh-CN" altLang="en-US" b="1" dirty="0"/>
              <a:t>的基地址</a:t>
            </a:r>
            <a:r>
              <a:rPr lang="en-US" altLang="zh-CN" b="1" dirty="0"/>
              <a:t>=0xFF72_0000</a:t>
            </a:r>
          </a:p>
          <a:p>
            <a:pPr>
              <a:lnSpc>
                <a:spcPct val="110000"/>
              </a:lnSpc>
            </a:pPr>
            <a:r>
              <a:rPr lang="en-US" altLang="zh-CN" b="1" dirty="0"/>
              <a:t>GPIO0</a:t>
            </a:r>
            <a:r>
              <a:rPr lang="zh-CN" altLang="en-US" b="1" dirty="0"/>
              <a:t>数据寄存器</a:t>
            </a:r>
            <a:r>
              <a:rPr lang="en-US" altLang="zh-CN" b="1" dirty="0"/>
              <a:t>DR</a:t>
            </a:r>
            <a:r>
              <a:rPr lang="zh-CN" altLang="en-US" b="1" dirty="0"/>
              <a:t>的操作地址</a:t>
            </a:r>
            <a:r>
              <a:rPr lang="en-US" altLang="zh-CN" b="1" dirty="0"/>
              <a:t>=0xFF72_0000 + 0x0000</a:t>
            </a:r>
          </a:p>
          <a:p>
            <a:pPr>
              <a:lnSpc>
                <a:spcPct val="110000"/>
              </a:lnSpc>
            </a:pPr>
            <a:r>
              <a:rPr lang="en-US" altLang="zh-CN" b="1" dirty="0"/>
              <a:t>GPIO0</a:t>
            </a:r>
            <a:r>
              <a:rPr lang="zh-CN" altLang="en-US" b="1" dirty="0"/>
              <a:t>方向寄存器</a:t>
            </a:r>
            <a:r>
              <a:rPr lang="en-US" altLang="zh-CN" b="1" dirty="0"/>
              <a:t>DDR</a:t>
            </a:r>
            <a:r>
              <a:rPr lang="zh-CN" altLang="en-US" b="1" dirty="0"/>
              <a:t>的操作地址</a:t>
            </a:r>
            <a:r>
              <a:rPr lang="en-US" altLang="zh-CN" b="1" dirty="0"/>
              <a:t>=0xFF72_0000 + 0x0004</a:t>
            </a:r>
          </a:p>
          <a:p>
            <a:pPr>
              <a:lnSpc>
                <a:spcPct val="110000"/>
              </a:lnSpc>
            </a:pPr>
            <a:endParaRPr lang="en-US" altLang="zh-CN" b="1" dirty="0"/>
          </a:p>
          <a:p>
            <a:pPr marL="538163" lvl="1" indent="-268288">
              <a:lnSpc>
                <a:spcPct val="110000"/>
              </a:lnSpc>
              <a:buFont typeface="Wingdings" panose="05000000000000000000" pitchFamily="2" charset="2"/>
              <a:buChar char="l"/>
            </a:pPr>
            <a:r>
              <a:rPr lang="zh-CN" altLang="en-US" sz="2000" b="1" dirty="0"/>
              <a:t>首先置方向寄存器</a:t>
            </a:r>
            <a:r>
              <a:rPr lang="en-US" altLang="zh-CN" sz="2000" b="1" dirty="0"/>
              <a:t>DDR</a:t>
            </a:r>
            <a:r>
              <a:rPr lang="zh-CN" altLang="en-US" sz="2000" b="1" dirty="0"/>
              <a:t>的</a:t>
            </a:r>
            <a:r>
              <a:rPr lang="en-US" altLang="zh-CN" sz="2000" b="1" dirty="0">
                <a:solidFill>
                  <a:srgbClr val="C00000"/>
                </a:solidFill>
              </a:rPr>
              <a:t>A2</a:t>
            </a:r>
            <a:r>
              <a:rPr lang="zh-CN" altLang="en-US" sz="2000" b="1" dirty="0"/>
              <a:t>（第</a:t>
            </a:r>
            <a:r>
              <a:rPr lang="en-US" altLang="zh-CN" sz="2000" b="1" dirty="0"/>
              <a:t>3</a:t>
            </a:r>
            <a:r>
              <a:rPr lang="zh-CN" altLang="en-US" sz="2000" b="1" dirty="0"/>
              <a:t>位，</a:t>
            </a:r>
            <a:r>
              <a:rPr lang="en-US" altLang="zh-CN" sz="2000" b="1" dirty="0"/>
              <a:t>D7-D0</a:t>
            </a:r>
            <a:r>
              <a:rPr lang="zh-CN" altLang="en-US" sz="2000" b="1" dirty="0"/>
              <a:t>、</a:t>
            </a:r>
            <a:r>
              <a:rPr lang="en-US" altLang="zh-CN" sz="2000" b="1" dirty="0"/>
              <a:t>C7-C0</a:t>
            </a:r>
            <a:r>
              <a:rPr lang="zh-CN" altLang="en-US" sz="2000" b="1" dirty="0"/>
              <a:t>、</a:t>
            </a:r>
            <a:r>
              <a:rPr lang="en-US" altLang="zh-CN" sz="2000" b="1" dirty="0"/>
              <a:t>B7-B0</a:t>
            </a:r>
            <a:r>
              <a:rPr lang="zh-CN" altLang="en-US" sz="2000" b="1" dirty="0"/>
              <a:t>、</a:t>
            </a:r>
            <a:r>
              <a:rPr lang="en-US" altLang="zh-CN" sz="2000" b="1" dirty="0"/>
              <a:t>A7-A0</a:t>
            </a:r>
            <a:r>
              <a:rPr lang="zh-CN" altLang="en-US" sz="2000" b="1" dirty="0"/>
              <a:t>）为</a:t>
            </a:r>
            <a:r>
              <a:rPr lang="en-US" altLang="zh-CN" sz="2000" b="1" dirty="0"/>
              <a:t>1</a:t>
            </a:r>
            <a:r>
              <a:rPr lang="zh-CN" altLang="en-US" sz="2000" b="1" dirty="0"/>
              <a:t>，即设置</a:t>
            </a:r>
            <a:r>
              <a:rPr lang="en-US" altLang="zh-CN" sz="2000" b="1" dirty="0"/>
              <a:t>GPIO4_A2</a:t>
            </a:r>
            <a:r>
              <a:rPr lang="zh-CN" altLang="en-US" sz="2000" b="1" dirty="0"/>
              <a:t>为输出模式</a:t>
            </a:r>
          </a:p>
          <a:p>
            <a:pPr marL="538163" lvl="1" indent="-268288">
              <a:lnSpc>
                <a:spcPct val="110000"/>
              </a:lnSpc>
              <a:buFont typeface="Wingdings" panose="05000000000000000000" pitchFamily="2" charset="2"/>
              <a:buChar char="l"/>
            </a:pPr>
            <a:r>
              <a:rPr lang="zh-CN" altLang="en-US" sz="2000" b="1" dirty="0"/>
              <a:t>然后置数据寄存器</a:t>
            </a:r>
            <a:r>
              <a:rPr lang="en-US" altLang="zh-CN" sz="2000" b="1" dirty="0"/>
              <a:t>DR</a:t>
            </a:r>
            <a:r>
              <a:rPr lang="zh-CN" altLang="en-US" sz="2000" b="1" dirty="0"/>
              <a:t>的</a:t>
            </a:r>
            <a:r>
              <a:rPr lang="en-US" altLang="zh-CN" sz="2000" b="1" dirty="0">
                <a:solidFill>
                  <a:srgbClr val="C00000"/>
                </a:solidFill>
              </a:rPr>
              <a:t>A2</a:t>
            </a:r>
            <a:r>
              <a:rPr lang="zh-CN" altLang="en-US" sz="2000" b="1" dirty="0"/>
              <a:t>（第</a:t>
            </a:r>
            <a:r>
              <a:rPr lang="en-US" altLang="zh-CN" sz="2000" b="1" dirty="0"/>
              <a:t>3</a:t>
            </a:r>
            <a:r>
              <a:rPr lang="zh-CN" altLang="en-US" sz="2000" b="1" dirty="0"/>
              <a:t>位，</a:t>
            </a:r>
            <a:r>
              <a:rPr lang="en-US" altLang="zh-CN" sz="2000" b="1" dirty="0"/>
              <a:t>D7-D0</a:t>
            </a:r>
            <a:r>
              <a:rPr lang="zh-CN" altLang="en-US" sz="2000" b="1" dirty="0"/>
              <a:t>、</a:t>
            </a:r>
            <a:r>
              <a:rPr lang="en-US" altLang="zh-CN" sz="2000" b="1" dirty="0"/>
              <a:t>C7-C0</a:t>
            </a:r>
            <a:r>
              <a:rPr lang="zh-CN" altLang="en-US" sz="2000" b="1" dirty="0"/>
              <a:t>、</a:t>
            </a:r>
            <a:r>
              <a:rPr lang="en-US" altLang="zh-CN" sz="2000" b="1" dirty="0"/>
              <a:t>B7-B0</a:t>
            </a:r>
            <a:r>
              <a:rPr lang="zh-CN" altLang="en-US" sz="2000" b="1" dirty="0"/>
              <a:t>、</a:t>
            </a:r>
            <a:r>
              <a:rPr lang="en-US" altLang="zh-CN" sz="2000" b="1" dirty="0"/>
              <a:t>A7-A0</a:t>
            </a:r>
            <a:r>
              <a:rPr lang="zh-CN" altLang="en-US" sz="2000" b="1" dirty="0"/>
              <a:t>）为</a:t>
            </a:r>
            <a:r>
              <a:rPr lang="en-US" altLang="zh-CN" sz="2000" b="1" dirty="0"/>
              <a:t>1</a:t>
            </a:r>
            <a:r>
              <a:rPr lang="zh-CN" altLang="en-US" sz="2000" b="1" dirty="0"/>
              <a:t>，即设置</a:t>
            </a:r>
            <a:r>
              <a:rPr lang="en-US" altLang="zh-CN" sz="2000" b="1" dirty="0"/>
              <a:t>GPIO4_A2</a:t>
            </a:r>
            <a:r>
              <a:rPr lang="zh-CN" altLang="en-US" sz="2000" b="1" dirty="0"/>
              <a:t>为输出高电平（灯亮）</a:t>
            </a:r>
          </a:p>
          <a:p>
            <a:pPr marL="538163" lvl="1" indent="-268288">
              <a:lnSpc>
                <a:spcPct val="110000"/>
              </a:lnSpc>
              <a:buFont typeface="Wingdings" panose="05000000000000000000" pitchFamily="2" charset="2"/>
              <a:buChar char="l"/>
            </a:pPr>
            <a:r>
              <a:rPr lang="zh-CN" altLang="en-US" sz="2000" b="1" dirty="0"/>
              <a:t>再置数据寄存器</a:t>
            </a:r>
            <a:r>
              <a:rPr lang="en-US" altLang="zh-CN" sz="2000" b="1" dirty="0"/>
              <a:t>DR</a:t>
            </a:r>
            <a:r>
              <a:rPr lang="zh-CN" altLang="en-US" sz="2000" b="1" dirty="0"/>
              <a:t>的</a:t>
            </a:r>
            <a:r>
              <a:rPr lang="en-US" altLang="zh-CN" sz="2000" b="1" dirty="0">
                <a:solidFill>
                  <a:srgbClr val="C00000"/>
                </a:solidFill>
              </a:rPr>
              <a:t>A2</a:t>
            </a:r>
            <a:r>
              <a:rPr lang="zh-CN" altLang="en-US" sz="2000" b="1" dirty="0"/>
              <a:t>（第</a:t>
            </a:r>
            <a:r>
              <a:rPr lang="en-US" altLang="zh-CN" sz="2000" b="1" dirty="0"/>
              <a:t>3</a:t>
            </a:r>
            <a:r>
              <a:rPr lang="zh-CN" altLang="en-US" sz="2000" b="1" dirty="0"/>
              <a:t>位，</a:t>
            </a:r>
            <a:r>
              <a:rPr lang="en-US" altLang="zh-CN" sz="2000" b="1" dirty="0"/>
              <a:t>D7-D0</a:t>
            </a:r>
            <a:r>
              <a:rPr lang="zh-CN" altLang="en-US" sz="2000" b="1" dirty="0"/>
              <a:t>、</a:t>
            </a:r>
            <a:r>
              <a:rPr lang="en-US" altLang="zh-CN" sz="2000" b="1" dirty="0"/>
              <a:t>C7-C0</a:t>
            </a:r>
            <a:r>
              <a:rPr lang="zh-CN" altLang="en-US" sz="2000" b="1" dirty="0"/>
              <a:t>、</a:t>
            </a:r>
            <a:r>
              <a:rPr lang="en-US" altLang="zh-CN" sz="2000" b="1" dirty="0"/>
              <a:t>B7-B0</a:t>
            </a:r>
            <a:r>
              <a:rPr lang="zh-CN" altLang="en-US" sz="2000" b="1" dirty="0"/>
              <a:t>、</a:t>
            </a:r>
            <a:r>
              <a:rPr lang="en-US" altLang="zh-CN" sz="2000" b="1" dirty="0"/>
              <a:t>A7-A0</a:t>
            </a:r>
            <a:r>
              <a:rPr lang="zh-CN" altLang="en-US" sz="2000" b="1" dirty="0"/>
              <a:t>）为</a:t>
            </a:r>
            <a:r>
              <a:rPr lang="en-US" altLang="zh-CN" sz="2000" b="1" dirty="0"/>
              <a:t>0</a:t>
            </a:r>
            <a:r>
              <a:rPr lang="zh-CN" altLang="en-US" sz="2000" b="1" dirty="0"/>
              <a:t>，即设置</a:t>
            </a:r>
            <a:r>
              <a:rPr lang="en-US" altLang="zh-CN" sz="2000" b="1" dirty="0"/>
              <a:t>GPIO4_A2</a:t>
            </a:r>
            <a:r>
              <a:rPr lang="zh-CN" altLang="en-US" sz="2000" b="1" dirty="0"/>
              <a:t>为输出低电平（</a:t>
            </a:r>
            <a:r>
              <a:rPr lang="zh-CN" altLang="en-US" sz="2000" b="1" dirty="0">
                <a:solidFill>
                  <a:srgbClr val="C00000"/>
                </a:solidFill>
              </a:rPr>
              <a:t>灯灭</a:t>
            </a:r>
            <a:r>
              <a:rPr lang="zh-CN" altLang="en-US" sz="2000" b="1" dirty="0"/>
              <a:t>）</a:t>
            </a:r>
          </a:p>
        </p:txBody>
      </p:sp>
      <p:sp>
        <p:nvSpPr>
          <p:cNvPr id="4" name="文本框 3">
            <a:extLst>
              <a:ext uri="{FF2B5EF4-FFF2-40B4-BE49-F238E27FC236}">
                <a16:creationId xmlns:a16="http://schemas.microsoft.com/office/drawing/2014/main" id="{4ED5B2FD-448D-FA89-F88E-F44895422C21}"/>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1</a:t>
            </a:r>
            <a:endParaRPr lang="zh-CN" altLang="en-US" b="1" dirty="0"/>
          </a:p>
        </p:txBody>
      </p:sp>
    </p:spTree>
    <p:extLst>
      <p:ext uri="{BB962C8B-B14F-4D97-AF65-F5344CB8AC3E}">
        <p14:creationId xmlns:p14="http://schemas.microsoft.com/office/powerpoint/2010/main" val="481801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9C155A-F1C3-2086-77D1-EC2FC46C6DED}"/>
              </a:ext>
            </a:extLst>
          </p:cNvPr>
          <p:cNvSpPr>
            <a:spLocks noGrp="1"/>
          </p:cNvSpPr>
          <p:nvPr>
            <p:ph type="title"/>
          </p:nvPr>
        </p:nvSpPr>
        <p:spPr/>
        <p:txBody>
          <a:bodyPr/>
          <a:lstStyle/>
          <a:p>
            <a:pPr algn="ctr"/>
            <a:r>
              <a:rPr lang="zh-CN" altLang="en-US" b="1" dirty="0"/>
              <a:t>怎么控制</a:t>
            </a:r>
            <a:r>
              <a:rPr lang="en-US" altLang="zh-CN" b="1" dirty="0"/>
              <a:t>LED3</a:t>
            </a:r>
            <a:r>
              <a:rPr lang="zh-CN" altLang="en-US" b="1" dirty="0"/>
              <a:t>灯亮？</a:t>
            </a:r>
          </a:p>
        </p:txBody>
      </p:sp>
      <p:sp>
        <p:nvSpPr>
          <p:cNvPr id="3" name="内容占位符 2">
            <a:extLst>
              <a:ext uri="{FF2B5EF4-FFF2-40B4-BE49-F238E27FC236}">
                <a16:creationId xmlns:a16="http://schemas.microsoft.com/office/drawing/2014/main" id="{FF904466-AC0F-44C2-4838-1BF543DFC446}"/>
              </a:ext>
            </a:extLst>
          </p:cNvPr>
          <p:cNvSpPr>
            <a:spLocks noGrp="1"/>
          </p:cNvSpPr>
          <p:nvPr>
            <p:ph idx="1"/>
          </p:nvPr>
        </p:nvSpPr>
        <p:spPr>
          <a:xfrm>
            <a:off x="1097280" y="1843503"/>
            <a:ext cx="10058400" cy="4426667"/>
          </a:xfrm>
        </p:spPr>
        <p:txBody>
          <a:bodyPr>
            <a:normAutofit lnSpcReduction="10000"/>
          </a:bodyPr>
          <a:lstStyle/>
          <a:p>
            <a:pPr>
              <a:lnSpc>
                <a:spcPct val="110000"/>
              </a:lnSpc>
            </a:pPr>
            <a:r>
              <a:rPr lang="en-US" altLang="zh-CN" b="1" dirty="0"/>
              <a:t>LED3</a:t>
            </a:r>
            <a:r>
              <a:rPr lang="zh-CN" altLang="en-US" b="1" dirty="0"/>
              <a:t>灯的引脚是</a:t>
            </a:r>
            <a:r>
              <a:rPr lang="en-US" altLang="zh-CN" b="1" dirty="0">
                <a:solidFill>
                  <a:srgbClr val="C00000"/>
                </a:solidFill>
              </a:rPr>
              <a:t>GPIO0_B4</a:t>
            </a:r>
            <a:endParaRPr lang="zh-CN" altLang="en-US" b="1" dirty="0">
              <a:solidFill>
                <a:srgbClr val="C00000"/>
              </a:solidFill>
            </a:endParaRPr>
          </a:p>
          <a:p>
            <a:pPr>
              <a:lnSpc>
                <a:spcPct val="110000"/>
              </a:lnSpc>
            </a:pPr>
            <a:r>
              <a:rPr lang="en-US" altLang="zh-CN" b="1" dirty="0"/>
              <a:t>GPIO0</a:t>
            </a:r>
            <a:r>
              <a:rPr lang="zh-CN" altLang="en-US" b="1" dirty="0"/>
              <a:t>的基地址</a:t>
            </a:r>
            <a:r>
              <a:rPr lang="en-US" altLang="zh-CN" b="1" dirty="0"/>
              <a:t>=0xFF72_0000</a:t>
            </a:r>
          </a:p>
          <a:p>
            <a:pPr>
              <a:lnSpc>
                <a:spcPct val="110000"/>
              </a:lnSpc>
            </a:pPr>
            <a:r>
              <a:rPr lang="en-US" altLang="zh-CN" b="1" dirty="0"/>
              <a:t>GPIO0</a:t>
            </a:r>
            <a:r>
              <a:rPr lang="zh-CN" altLang="en-US" b="1" dirty="0"/>
              <a:t>数据寄存器</a:t>
            </a:r>
            <a:r>
              <a:rPr lang="en-US" altLang="zh-CN" b="1" dirty="0"/>
              <a:t>DR</a:t>
            </a:r>
            <a:r>
              <a:rPr lang="zh-CN" altLang="en-US" b="1" dirty="0"/>
              <a:t>的操作地址</a:t>
            </a:r>
            <a:r>
              <a:rPr lang="en-US" altLang="zh-CN" b="1" dirty="0"/>
              <a:t>=0xFF72_0000 + 0x0000</a:t>
            </a:r>
          </a:p>
          <a:p>
            <a:pPr>
              <a:lnSpc>
                <a:spcPct val="110000"/>
              </a:lnSpc>
            </a:pPr>
            <a:r>
              <a:rPr lang="en-US" altLang="zh-CN" b="1" dirty="0"/>
              <a:t>GPIO0</a:t>
            </a:r>
            <a:r>
              <a:rPr lang="zh-CN" altLang="en-US" b="1" dirty="0"/>
              <a:t>方向寄存器</a:t>
            </a:r>
            <a:r>
              <a:rPr lang="en-US" altLang="zh-CN" b="1" dirty="0"/>
              <a:t>DDR</a:t>
            </a:r>
            <a:r>
              <a:rPr lang="zh-CN" altLang="en-US" b="1" dirty="0"/>
              <a:t>的操作地址</a:t>
            </a:r>
            <a:r>
              <a:rPr lang="en-US" altLang="zh-CN" b="1" dirty="0"/>
              <a:t>=0xFF72_0000 + 0x0004</a:t>
            </a:r>
          </a:p>
          <a:p>
            <a:pPr>
              <a:lnSpc>
                <a:spcPct val="110000"/>
              </a:lnSpc>
            </a:pPr>
            <a:endParaRPr lang="en-US" altLang="zh-CN" b="1" dirty="0"/>
          </a:p>
          <a:p>
            <a:pPr lvl="1">
              <a:lnSpc>
                <a:spcPct val="110000"/>
              </a:lnSpc>
              <a:buFont typeface="Wingdings" panose="05000000000000000000" pitchFamily="2" charset="2"/>
              <a:buChar char="l"/>
            </a:pPr>
            <a:r>
              <a:rPr lang="zh-CN" altLang="en-US" sz="2000" b="1" dirty="0"/>
              <a:t>首先置方向寄存器</a:t>
            </a:r>
            <a:r>
              <a:rPr lang="en-US" altLang="zh-CN" sz="2000" b="1" dirty="0"/>
              <a:t>DDR</a:t>
            </a:r>
            <a:r>
              <a:rPr lang="zh-CN" altLang="en-US" sz="2000" b="1" dirty="0"/>
              <a:t>的</a:t>
            </a:r>
            <a:r>
              <a:rPr lang="en-US" altLang="zh-CN" sz="2000" b="1" dirty="0">
                <a:solidFill>
                  <a:srgbClr val="C00000"/>
                </a:solidFill>
              </a:rPr>
              <a:t>B4</a:t>
            </a:r>
            <a:r>
              <a:rPr lang="zh-CN" altLang="en-US" sz="2000" b="1" dirty="0"/>
              <a:t>（第</a:t>
            </a:r>
            <a:r>
              <a:rPr lang="en-US" altLang="zh-CN" sz="2000" b="1" dirty="0"/>
              <a:t>12</a:t>
            </a:r>
            <a:r>
              <a:rPr lang="zh-CN" altLang="en-US" sz="2000" b="1" dirty="0"/>
              <a:t>位，</a:t>
            </a:r>
            <a:r>
              <a:rPr lang="en-US" altLang="zh-CN" sz="2000" b="1" dirty="0"/>
              <a:t>D7-D0</a:t>
            </a:r>
            <a:r>
              <a:rPr lang="zh-CN" altLang="en-US" sz="2000" b="1" dirty="0"/>
              <a:t>、</a:t>
            </a:r>
            <a:r>
              <a:rPr lang="en-US" altLang="zh-CN" sz="2000" b="1" dirty="0"/>
              <a:t>C7-C0</a:t>
            </a:r>
            <a:r>
              <a:rPr lang="zh-CN" altLang="en-US" sz="2000" b="1" dirty="0"/>
              <a:t>、</a:t>
            </a:r>
            <a:r>
              <a:rPr lang="en-US" altLang="zh-CN" sz="2000" b="1" dirty="0"/>
              <a:t>B7-B0</a:t>
            </a:r>
            <a:r>
              <a:rPr lang="zh-CN" altLang="en-US" sz="2000" b="1" dirty="0"/>
              <a:t>、</a:t>
            </a:r>
            <a:r>
              <a:rPr lang="en-US" altLang="zh-CN" sz="2000" b="1" dirty="0"/>
              <a:t>A7-A0</a:t>
            </a:r>
            <a:r>
              <a:rPr lang="zh-CN" altLang="en-US" sz="2000" b="1" dirty="0"/>
              <a:t>）为</a:t>
            </a:r>
            <a:r>
              <a:rPr lang="en-US" altLang="zh-CN" sz="2000" b="1" dirty="0"/>
              <a:t>1</a:t>
            </a:r>
            <a:r>
              <a:rPr lang="zh-CN" altLang="en-US" sz="2000" b="1" dirty="0"/>
              <a:t>，则设置</a:t>
            </a:r>
            <a:r>
              <a:rPr lang="en-US" altLang="zh-CN" sz="2000" b="1" dirty="0"/>
              <a:t>GPIO4_B4</a:t>
            </a:r>
            <a:r>
              <a:rPr lang="zh-CN" altLang="en-US" sz="2000" b="1" dirty="0"/>
              <a:t>为输出模式</a:t>
            </a:r>
          </a:p>
          <a:p>
            <a:pPr lvl="1">
              <a:lnSpc>
                <a:spcPct val="110000"/>
              </a:lnSpc>
              <a:buFont typeface="Wingdings" panose="05000000000000000000" pitchFamily="2" charset="2"/>
              <a:buChar char="l"/>
            </a:pPr>
            <a:r>
              <a:rPr lang="zh-CN" altLang="en-US" sz="2000" b="1" dirty="0"/>
              <a:t>然后置数据寄存器</a:t>
            </a:r>
            <a:r>
              <a:rPr lang="en-US" altLang="zh-CN" sz="2000" b="1" dirty="0"/>
              <a:t>DR</a:t>
            </a:r>
            <a:r>
              <a:rPr lang="zh-CN" altLang="en-US" sz="2000" b="1" dirty="0"/>
              <a:t>的</a:t>
            </a:r>
            <a:r>
              <a:rPr lang="en-US" altLang="zh-CN" sz="2000" b="1" dirty="0">
                <a:solidFill>
                  <a:srgbClr val="C00000"/>
                </a:solidFill>
              </a:rPr>
              <a:t>B4</a:t>
            </a:r>
            <a:r>
              <a:rPr lang="zh-CN" altLang="en-US" sz="2000" b="1" dirty="0"/>
              <a:t>（第</a:t>
            </a:r>
            <a:r>
              <a:rPr lang="en-US" altLang="zh-CN" sz="2000" b="1" dirty="0"/>
              <a:t>12</a:t>
            </a:r>
            <a:r>
              <a:rPr lang="zh-CN" altLang="en-US" sz="2000" b="1" dirty="0"/>
              <a:t>位，</a:t>
            </a:r>
            <a:r>
              <a:rPr lang="en-US" altLang="zh-CN" sz="2000" b="1" dirty="0"/>
              <a:t>D7-D0</a:t>
            </a:r>
            <a:r>
              <a:rPr lang="zh-CN" altLang="en-US" sz="2000" b="1" dirty="0"/>
              <a:t>、</a:t>
            </a:r>
            <a:r>
              <a:rPr lang="en-US" altLang="zh-CN" sz="2000" b="1" dirty="0"/>
              <a:t>C7-C0</a:t>
            </a:r>
            <a:r>
              <a:rPr lang="zh-CN" altLang="en-US" sz="2000" b="1" dirty="0"/>
              <a:t>、</a:t>
            </a:r>
            <a:r>
              <a:rPr lang="en-US" altLang="zh-CN" sz="2000" b="1" dirty="0"/>
              <a:t>B7-B0</a:t>
            </a:r>
            <a:r>
              <a:rPr lang="zh-CN" altLang="en-US" sz="2000" b="1" dirty="0"/>
              <a:t>、</a:t>
            </a:r>
            <a:r>
              <a:rPr lang="en-US" altLang="zh-CN" sz="2000" b="1" dirty="0"/>
              <a:t>A7-A0</a:t>
            </a:r>
            <a:r>
              <a:rPr lang="zh-CN" altLang="en-US" sz="2000" b="1" dirty="0"/>
              <a:t>）为</a:t>
            </a:r>
            <a:r>
              <a:rPr lang="en-US" altLang="zh-CN" sz="2000" b="1" dirty="0"/>
              <a:t>1</a:t>
            </a:r>
            <a:r>
              <a:rPr lang="zh-CN" altLang="en-US" sz="2000" b="1" dirty="0"/>
              <a:t>，则设置</a:t>
            </a:r>
            <a:r>
              <a:rPr lang="en-US" altLang="zh-CN" sz="2000" b="1" dirty="0"/>
              <a:t>GPIO4_B4</a:t>
            </a:r>
            <a:r>
              <a:rPr lang="zh-CN" altLang="en-US" sz="2000" b="1" dirty="0"/>
              <a:t>为输出高电平（灯亮）</a:t>
            </a:r>
          </a:p>
          <a:p>
            <a:pPr lvl="1">
              <a:lnSpc>
                <a:spcPct val="110000"/>
              </a:lnSpc>
              <a:buFont typeface="Wingdings" panose="05000000000000000000" pitchFamily="2" charset="2"/>
              <a:buChar char="l"/>
            </a:pPr>
            <a:r>
              <a:rPr lang="zh-CN" altLang="en-US" sz="2000" b="1" dirty="0"/>
              <a:t>再置数据寄存器</a:t>
            </a:r>
            <a:r>
              <a:rPr lang="en-US" altLang="zh-CN" sz="2000" b="1" dirty="0"/>
              <a:t>DR</a:t>
            </a:r>
            <a:r>
              <a:rPr lang="zh-CN" altLang="en-US" sz="2000" b="1" dirty="0"/>
              <a:t>的</a:t>
            </a:r>
            <a:r>
              <a:rPr lang="en-US" altLang="zh-CN" sz="2000" b="1" dirty="0">
                <a:solidFill>
                  <a:srgbClr val="C00000"/>
                </a:solidFill>
              </a:rPr>
              <a:t>B4</a:t>
            </a:r>
            <a:r>
              <a:rPr lang="zh-CN" altLang="en-US" sz="2000" b="1" dirty="0"/>
              <a:t>（第</a:t>
            </a:r>
            <a:r>
              <a:rPr lang="en-US" altLang="zh-CN" sz="2000" b="1" dirty="0"/>
              <a:t>12</a:t>
            </a:r>
            <a:r>
              <a:rPr lang="zh-CN" altLang="en-US" sz="2000" b="1" dirty="0"/>
              <a:t>位，</a:t>
            </a:r>
            <a:r>
              <a:rPr lang="en-US" altLang="zh-CN" sz="2000" b="1" dirty="0"/>
              <a:t>D7-D0</a:t>
            </a:r>
            <a:r>
              <a:rPr lang="zh-CN" altLang="en-US" sz="2000" b="1" dirty="0"/>
              <a:t>、</a:t>
            </a:r>
            <a:r>
              <a:rPr lang="en-US" altLang="zh-CN" sz="2000" b="1" dirty="0"/>
              <a:t>C7-C0</a:t>
            </a:r>
            <a:r>
              <a:rPr lang="zh-CN" altLang="en-US" sz="2000" b="1" dirty="0"/>
              <a:t>、</a:t>
            </a:r>
            <a:r>
              <a:rPr lang="en-US" altLang="zh-CN" sz="2000" b="1" dirty="0"/>
              <a:t>B7-B0</a:t>
            </a:r>
            <a:r>
              <a:rPr lang="zh-CN" altLang="en-US" sz="2000" b="1" dirty="0"/>
              <a:t>、</a:t>
            </a:r>
            <a:r>
              <a:rPr lang="en-US" altLang="zh-CN" sz="2000" b="1" dirty="0"/>
              <a:t>A7-A0</a:t>
            </a:r>
            <a:r>
              <a:rPr lang="zh-CN" altLang="en-US" sz="2000" b="1" dirty="0"/>
              <a:t>）为</a:t>
            </a:r>
            <a:r>
              <a:rPr lang="en-US" altLang="zh-CN" sz="2000" b="1" dirty="0"/>
              <a:t>0</a:t>
            </a:r>
            <a:r>
              <a:rPr lang="zh-CN" altLang="en-US" sz="2000" b="1" dirty="0"/>
              <a:t>，则设置</a:t>
            </a:r>
            <a:r>
              <a:rPr lang="en-US" altLang="zh-CN" sz="2000" b="1" dirty="0"/>
              <a:t>GPIO4_B4</a:t>
            </a:r>
            <a:r>
              <a:rPr lang="zh-CN" altLang="en-US" sz="2000" b="1" dirty="0"/>
              <a:t>为输出低电平（灯灭）</a:t>
            </a:r>
          </a:p>
        </p:txBody>
      </p:sp>
      <p:sp>
        <p:nvSpPr>
          <p:cNvPr id="4" name="文本框 3">
            <a:extLst>
              <a:ext uri="{FF2B5EF4-FFF2-40B4-BE49-F238E27FC236}">
                <a16:creationId xmlns:a16="http://schemas.microsoft.com/office/drawing/2014/main" id="{68C2665C-AF8F-FA3F-02BD-132F63428E05}"/>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1</a:t>
            </a:r>
            <a:endParaRPr lang="zh-CN" altLang="en-US" b="1" dirty="0"/>
          </a:p>
        </p:txBody>
      </p:sp>
    </p:spTree>
    <p:extLst>
      <p:ext uri="{BB962C8B-B14F-4D97-AF65-F5344CB8AC3E}">
        <p14:creationId xmlns:p14="http://schemas.microsoft.com/office/powerpoint/2010/main" val="2339099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20EF7056-F178-FD1F-5827-75EBC6F4928E}"/>
              </a:ext>
            </a:extLst>
          </p:cNvPr>
          <p:cNvSpPr>
            <a:spLocks noGrp="1"/>
          </p:cNvSpPr>
          <p:nvPr>
            <p:ph type="title"/>
          </p:nvPr>
        </p:nvSpPr>
        <p:spPr>
          <a:xfrm>
            <a:off x="838200" y="365125"/>
            <a:ext cx="10515600" cy="1325563"/>
          </a:xfrm>
        </p:spPr>
        <p:txBody>
          <a:bodyPr/>
          <a:lstStyle/>
          <a:p>
            <a:pPr algn="ctr"/>
            <a:r>
              <a:rPr lang="en-US" altLang="zh-CN" b="1" dirty="0" err="1"/>
              <a:t>fs_assembly_led</a:t>
            </a:r>
            <a:r>
              <a:rPr lang="zh-CN" altLang="en-US" b="1" dirty="0"/>
              <a:t>实验工程文件夹</a:t>
            </a:r>
          </a:p>
        </p:txBody>
      </p:sp>
      <p:sp>
        <p:nvSpPr>
          <p:cNvPr id="6" name="文本框 5">
            <a:extLst>
              <a:ext uri="{FF2B5EF4-FFF2-40B4-BE49-F238E27FC236}">
                <a16:creationId xmlns:a16="http://schemas.microsoft.com/office/drawing/2014/main" id="{23B70603-B82F-45CF-EFE5-9FD2E6E753EC}"/>
              </a:ext>
            </a:extLst>
          </p:cNvPr>
          <p:cNvSpPr txBox="1"/>
          <p:nvPr/>
        </p:nvSpPr>
        <p:spPr>
          <a:xfrm>
            <a:off x="5604985" y="180459"/>
            <a:ext cx="768159" cy="369332"/>
          </a:xfrm>
          <a:prstGeom prst="rect">
            <a:avLst/>
          </a:prstGeom>
          <a:solidFill>
            <a:srgbClr val="FFC000"/>
          </a:solidFill>
        </p:spPr>
        <p:txBody>
          <a:bodyPr wrap="none" rtlCol="0">
            <a:spAutoFit/>
          </a:bodyPr>
          <a:lstStyle/>
          <a:p>
            <a:r>
              <a:rPr lang="zh-CN" altLang="en-US" b="1" dirty="0"/>
              <a:t>实验</a:t>
            </a:r>
            <a:r>
              <a:rPr lang="en-US" altLang="zh-CN" b="1" dirty="0"/>
              <a:t>1</a:t>
            </a:r>
            <a:endParaRPr lang="zh-CN" altLang="en-US" b="1" dirty="0"/>
          </a:p>
        </p:txBody>
      </p:sp>
      <p:sp>
        <p:nvSpPr>
          <p:cNvPr id="2" name="内容占位符 2">
            <a:extLst>
              <a:ext uri="{FF2B5EF4-FFF2-40B4-BE49-F238E27FC236}">
                <a16:creationId xmlns:a16="http://schemas.microsoft.com/office/drawing/2014/main" id="{C746B659-FF87-0E0C-48AA-0B371B9E9B9B}"/>
              </a:ext>
            </a:extLst>
          </p:cNvPr>
          <p:cNvSpPr>
            <a:spLocks noGrp="1"/>
          </p:cNvSpPr>
          <p:nvPr>
            <p:ph idx="1"/>
          </p:nvPr>
        </p:nvSpPr>
        <p:spPr>
          <a:xfrm>
            <a:off x="1151541" y="1875354"/>
            <a:ext cx="3559252" cy="625961"/>
          </a:xfrm>
        </p:spPr>
        <p:txBody>
          <a:bodyPr>
            <a:normAutofit fontScale="92500"/>
          </a:bodyPr>
          <a:lstStyle/>
          <a:p>
            <a:r>
              <a:rPr lang="zh-CN" altLang="en-US" sz="1800" b="1" dirty="0"/>
              <a:t>   </a:t>
            </a:r>
            <a:r>
              <a:rPr lang="zh-CN" altLang="en-US" sz="2200" b="1" dirty="0"/>
              <a:t>用</a:t>
            </a:r>
            <a:r>
              <a:rPr lang="zh-CN" altLang="en-US" sz="2200" b="1" dirty="0">
                <a:solidFill>
                  <a:srgbClr val="C00000"/>
                </a:solidFill>
              </a:rPr>
              <a:t>汇编语言</a:t>
            </a:r>
            <a:r>
              <a:rPr lang="zh-CN" altLang="en-US" sz="2200" b="1" dirty="0"/>
              <a:t>写的程序文件包：</a:t>
            </a:r>
            <a:endParaRPr lang="zh-CN" altLang="en-US" sz="1800" b="1" dirty="0"/>
          </a:p>
        </p:txBody>
      </p:sp>
      <p:pic>
        <p:nvPicPr>
          <p:cNvPr id="7" name="图片 6">
            <a:extLst>
              <a:ext uri="{FF2B5EF4-FFF2-40B4-BE49-F238E27FC236}">
                <a16:creationId xmlns:a16="http://schemas.microsoft.com/office/drawing/2014/main" id="{E3F4E6DE-8418-4476-BFE3-3718EB23F641}"/>
              </a:ext>
            </a:extLst>
          </p:cNvPr>
          <p:cNvPicPr>
            <a:picLocks noChangeAspect="1"/>
          </p:cNvPicPr>
          <p:nvPr/>
        </p:nvPicPr>
        <p:blipFill>
          <a:blip r:embed="rId2"/>
          <a:stretch>
            <a:fillRect/>
          </a:stretch>
        </p:blipFill>
        <p:spPr>
          <a:xfrm>
            <a:off x="1626039" y="2325660"/>
            <a:ext cx="2707344" cy="2961996"/>
          </a:xfrm>
          <a:prstGeom prst="rect">
            <a:avLst/>
          </a:prstGeom>
        </p:spPr>
      </p:pic>
      <p:sp>
        <p:nvSpPr>
          <p:cNvPr id="8" name="对话气泡: 圆角矩形 7">
            <a:extLst>
              <a:ext uri="{FF2B5EF4-FFF2-40B4-BE49-F238E27FC236}">
                <a16:creationId xmlns:a16="http://schemas.microsoft.com/office/drawing/2014/main" id="{D3A528B6-51C8-47D1-BF9C-C3577CEF13C7}"/>
              </a:ext>
            </a:extLst>
          </p:cNvPr>
          <p:cNvSpPr/>
          <p:nvPr/>
        </p:nvSpPr>
        <p:spPr>
          <a:xfrm>
            <a:off x="4294226" y="3024995"/>
            <a:ext cx="1183822" cy="416379"/>
          </a:xfrm>
          <a:prstGeom prst="wedgeRoundRectCallout">
            <a:avLst>
              <a:gd name="adj1" fmla="val -83592"/>
              <a:gd name="adj2" fmla="val 6250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t>主程序</a:t>
            </a:r>
          </a:p>
        </p:txBody>
      </p:sp>
      <p:sp>
        <p:nvSpPr>
          <p:cNvPr id="10" name="对话气泡: 圆角矩形 9">
            <a:extLst>
              <a:ext uri="{FF2B5EF4-FFF2-40B4-BE49-F238E27FC236}">
                <a16:creationId xmlns:a16="http://schemas.microsoft.com/office/drawing/2014/main" id="{49C9B84C-4CB5-433E-9947-6E07B38B9D11}"/>
              </a:ext>
            </a:extLst>
          </p:cNvPr>
          <p:cNvSpPr/>
          <p:nvPr/>
        </p:nvSpPr>
        <p:spPr>
          <a:xfrm>
            <a:off x="3471659" y="4356944"/>
            <a:ext cx="1804308" cy="529319"/>
          </a:xfrm>
          <a:prstGeom prst="wedgeRoundRectCallout">
            <a:avLst>
              <a:gd name="adj1" fmla="val -69611"/>
              <a:gd name="adj2" fmla="val 349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i="0" dirty="0">
                <a:solidFill>
                  <a:srgbClr val="333333"/>
                </a:solidFill>
                <a:effectLst/>
                <a:latin typeface="-apple-system"/>
              </a:rPr>
              <a:t>简化或组织编译代码的工具</a:t>
            </a:r>
            <a:endParaRPr lang="zh-CN" altLang="en-US" sz="1600" b="1" dirty="0"/>
          </a:p>
        </p:txBody>
      </p:sp>
      <p:sp>
        <p:nvSpPr>
          <p:cNvPr id="12" name="文本框 11">
            <a:extLst>
              <a:ext uri="{FF2B5EF4-FFF2-40B4-BE49-F238E27FC236}">
                <a16:creationId xmlns:a16="http://schemas.microsoft.com/office/drawing/2014/main" id="{F1225839-E5C1-4ABF-B662-F6AE448108F2}"/>
              </a:ext>
            </a:extLst>
          </p:cNvPr>
          <p:cNvSpPr txBox="1"/>
          <p:nvPr/>
        </p:nvSpPr>
        <p:spPr>
          <a:xfrm>
            <a:off x="5989064" y="2027880"/>
            <a:ext cx="5167993" cy="3046988"/>
          </a:xfrm>
          <a:prstGeom prst="rect">
            <a:avLst/>
          </a:prstGeom>
          <a:noFill/>
        </p:spPr>
        <p:txBody>
          <a:bodyPr wrap="square">
            <a:spAutoFit/>
          </a:bodyPr>
          <a:lstStyle/>
          <a:p>
            <a:pPr marL="269875" indent="-269875" defTabSz="358775">
              <a:buFont typeface="Wingdings" panose="05000000000000000000" pitchFamily="2" charset="2"/>
              <a:buChar char="l"/>
            </a:pPr>
            <a:r>
              <a:rPr lang="zh-CN" altLang="en-US" sz="1600" b="1" i="0" dirty="0">
                <a:solidFill>
                  <a:srgbClr val="333333"/>
                </a:solidFill>
                <a:effectLst/>
                <a:latin typeface="Helvetica Neue"/>
              </a:rPr>
              <a:t>一个工程中的源文件不计其数，其按类型、功能、模块分别放在若干个目录中，</a:t>
            </a:r>
            <a:r>
              <a:rPr lang="en-US" altLang="zh-CN" sz="1600" b="1" i="0" dirty="0" err="1">
                <a:solidFill>
                  <a:srgbClr val="333333"/>
                </a:solidFill>
                <a:effectLst/>
                <a:latin typeface="Helvetica Neue"/>
              </a:rPr>
              <a:t>makefile</a:t>
            </a:r>
            <a:r>
              <a:rPr lang="zh-CN" altLang="en-US" sz="1600" b="1" i="0" dirty="0">
                <a:solidFill>
                  <a:srgbClr val="C00000"/>
                </a:solidFill>
                <a:effectLst/>
                <a:latin typeface="Helvetica Neue"/>
              </a:rPr>
              <a:t>定义了一系列的规则</a:t>
            </a:r>
            <a:r>
              <a:rPr lang="zh-CN" altLang="en-US" sz="1600" b="1" i="0" dirty="0">
                <a:solidFill>
                  <a:srgbClr val="333333"/>
                </a:solidFill>
                <a:effectLst/>
                <a:latin typeface="Helvetica Neue"/>
              </a:rPr>
              <a:t>来指定哪些文件需要先编译，哪些文件需要后编译，哪些文件需要重新编译，甚至于进行更复杂的功能操作，因为 </a:t>
            </a:r>
            <a:r>
              <a:rPr lang="en-US" altLang="zh-CN" sz="1600" b="1" i="0" dirty="0" err="1">
                <a:solidFill>
                  <a:srgbClr val="333333"/>
                </a:solidFill>
                <a:effectLst/>
                <a:latin typeface="Helvetica Neue"/>
              </a:rPr>
              <a:t>makefile</a:t>
            </a:r>
            <a:r>
              <a:rPr lang="zh-CN" altLang="en-US" sz="1600" b="1" i="0" dirty="0">
                <a:solidFill>
                  <a:srgbClr val="333333"/>
                </a:solidFill>
                <a:effectLst/>
                <a:latin typeface="Helvetica Neue"/>
              </a:rPr>
              <a:t>就像一个</a:t>
            </a:r>
            <a:r>
              <a:rPr lang="en-US" altLang="zh-CN" sz="1600" b="1" i="0" u="none" strike="noStrike" dirty="0">
                <a:solidFill>
                  <a:srgbClr val="C00000"/>
                </a:solidFill>
                <a:effectLst/>
                <a:latin typeface="Helvetica Neue"/>
              </a:rPr>
              <a:t>Shell</a:t>
            </a:r>
            <a:r>
              <a:rPr lang="zh-CN" altLang="en-US" sz="1600" b="1" i="0" u="none" strike="noStrike" dirty="0">
                <a:solidFill>
                  <a:srgbClr val="C00000"/>
                </a:solidFill>
                <a:effectLst/>
                <a:latin typeface="Helvetica Neue"/>
              </a:rPr>
              <a:t>脚本</a:t>
            </a:r>
            <a:r>
              <a:rPr lang="zh-CN" altLang="en-US" sz="1600" b="1" i="0" dirty="0">
                <a:solidFill>
                  <a:srgbClr val="333333"/>
                </a:solidFill>
                <a:effectLst/>
                <a:latin typeface="Helvetica Neue"/>
              </a:rPr>
              <a:t>一样，也可以执行操作系统的</a:t>
            </a:r>
            <a:r>
              <a:rPr lang="zh-CN" altLang="en-US" sz="1600" b="1" i="0" u="none" strike="noStrike" dirty="0">
                <a:solidFill>
                  <a:srgbClr val="C00000"/>
                </a:solidFill>
                <a:effectLst/>
                <a:latin typeface="Helvetica Neue"/>
              </a:rPr>
              <a:t>命令</a:t>
            </a:r>
            <a:r>
              <a:rPr lang="zh-CN" altLang="en-US" sz="1600" b="1" i="0" dirty="0">
                <a:solidFill>
                  <a:srgbClr val="333333"/>
                </a:solidFill>
                <a:effectLst/>
                <a:latin typeface="Helvetica Neue"/>
              </a:rPr>
              <a:t>。</a:t>
            </a:r>
            <a:endParaRPr lang="en-US" altLang="zh-CN" sz="1600" b="1" i="0" dirty="0">
              <a:solidFill>
                <a:srgbClr val="333333"/>
              </a:solidFill>
              <a:effectLst/>
              <a:latin typeface="Helvetica Neue"/>
            </a:endParaRPr>
          </a:p>
          <a:p>
            <a:pPr marL="269875" indent="-269875" defTabSz="358775">
              <a:buFont typeface="Wingdings" panose="05000000000000000000" pitchFamily="2" charset="2"/>
              <a:buChar char="l"/>
            </a:pPr>
            <a:r>
              <a:rPr lang="en-US" altLang="zh-CN" sz="1600" b="1" i="0" dirty="0">
                <a:solidFill>
                  <a:srgbClr val="333333"/>
                </a:solidFill>
                <a:effectLst/>
                <a:latin typeface="Helvetica Neue"/>
              </a:rPr>
              <a:t>make</a:t>
            </a:r>
            <a:r>
              <a:rPr lang="zh-CN" altLang="en-US" sz="1600" b="1" i="0" dirty="0">
                <a:solidFill>
                  <a:srgbClr val="333333"/>
                </a:solidFill>
                <a:effectLst/>
                <a:latin typeface="Helvetica Neue"/>
              </a:rPr>
              <a:t>是一个</a:t>
            </a:r>
            <a:r>
              <a:rPr lang="zh-CN" altLang="en-US" sz="1600" b="1" i="0" dirty="0">
                <a:solidFill>
                  <a:srgbClr val="C00000"/>
                </a:solidFill>
                <a:effectLst/>
                <a:latin typeface="Helvetica Neue"/>
              </a:rPr>
              <a:t>命令工具</a:t>
            </a:r>
            <a:r>
              <a:rPr lang="zh-CN" altLang="en-US" sz="1600" b="1" i="0" dirty="0">
                <a:solidFill>
                  <a:srgbClr val="333333"/>
                </a:solidFill>
                <a:effectLst/>
                <a:latin typeface="Helvetica Neue"/>
              </a:rPr>
              <a:t>，它解释</a:t>
            </a:r>
            <a:r>
              <a:rPr lang="en-US" altLang="zh-CN" sz="1600" b="1" i="0" dirty="0" err="1">
                <a:solidFill>
                  <a:srgbClr val="333333"/>
                </a:solidFill>
                <a:effectLst/>
                <a:latin typeface="Helvetica Neue"/>
              </a:rPr>
              <a:t>Makefile</a:t>
            </a:r>
            <a:r>
              <a:rPr lang="en-US" altLang="zh-CN" sz="1600" b="1" i="0" dirty="0">
                <a:solidFill>
                  <a:srgbClr val="333333"/>
                </a:solidFill>
                <a:effectLst/>
                <a:latin typeface="Helvetica Neue"/>
              </a:rPr>
              <a:t> </a:t>
            </a:r>
            <a:r>
              <a:rPr lang="zh-CN" altLang="en-US" sz="1600" b="1" i="0" dirty="0">
                <a:solidFill>
                  <a:srgbClr val="333333"/>
                </a:solidFill>
                <a:effectLst/>
                <a:latin typeface="Helvetica Neue"/>
              </a:rPr>
              <a:t>中的指令。在</a:t>
            </a:r>
            <a:r>
              <a:rPr lang="en-US" altLang="zh-CN" sz="1600" b="1" i="0" dirty="0" err="1">
                <a:solidFill>
                  <a:srgbClr val="333333"/>
                </a:solidFill>
                <a:effectLst/>
                <a:latin typeface="Helvetica Neue"/>
              </a:rPr>
              <a:t>Makefile</a:t>
            </a:r>
            <a:r>
              <a:rPr lang="zh-CN" altLang="en-US" sz="1600" b="1" i="0" dirty="0">
                <a:solidFill>
                  <a:srgbClr val="333333"/>
                </a:solidFill>
                <a:effectLst/>
                <a:latin typeface="Helvetica Neue"/>
              </a:rPr>
              <a:t>文件中描述了整个工程所有文件的编译顺序、编译规则。</a:t>
            </a:r>
            <a:r>
              <a:rPr lang="en-US" altLang="zh-CN" sz="1600" b="1" i="0" dirty="0" err="1">
                <a:solidFill>
                  <a:srgbClr val="333333"/>
                </a:solidFill>
                <a:effectLst/>
                <a:latin typeface="Helvetica Neue"/>
              </a:rPr>
              <a:t>Makefile</a:t>
            </a:r>
            <a:r>
              <a:rPr lang="en-US" altLang="zh-CN" sz="1600" b="1" i="0" dirty="0">
                <a:solidFill>
                  <a:srgbClr val="333333"/>
                </a:solidFill>
                <a:effectLst/>
                <a:latin typeface="Helvetica Neue"/>
              </a:rPr>
              <a:t> </a:t>
            </a:r>
            <a:r>
              <a:rPr lang="zh-CN" altLang="en-US" sz="1600" b="1" i="0" dirty="0">
                <a:solidFill>
                  <a:srgbClr val="333333"/>
                </a:solidFill>
                <a:effectLst/>
                <a:latin typeface="Helvetica Neue"/>
              </a:rPr>
              <a:t>有自己的书写格式、关键字、函数</a:t>
            </a:r>
            <a:endParaRPr lang="en-US" altLang="zh-CN" sz="1600" b="1" i="0" dirty="0">
              <a:solidFill>
                <a:srgbClr val="333333"/>
              </a:solidFill>
              <a:effectLst/>
              <a:latin typeface="Helvetica Neue"/>
            </a:endParaRPr>
          </a:p>
          <a:p>
            <a:pPr marL="269875" indent="-269875" defTabSz="358775">
              <a:buFont typeface="Wingdings" panose="05000000000000000000" pitchFamily="2" charset="2"/>
              <a:buChar char="l"/>
            </a:pPr>
            <a:endParaRPr lang="en-US" altLang="zh-CN" sz="1600" b="1" dirty="0">
              <a:solidFill>
                <a:srgbClr val="333333"/>
              </a:solidFill>
              <a:latin typeface="Helvetica Neue"/>
            </a:endParaRPr>
          </a:p>
          <a:p>
            <a:pPr marL="269875" indent="-269875" defTabSz="358775">
              <a:buFont typeface="Wingdings" panose="05000000000000000000" pitchFamily="2" charset="2"/>
              <a:buChar char="l"/>
            </a:pPr>
            <a:r>
              <a:rPr lang="en-US" altLang="zh-CN" sz="1600" b="1" dirty="0" err="1">
                <a:solidFill>
                  <a:srgbClr val="C00000"/>
                </a:solidFill>
                <a:hlinkClick r:id="rId3">
                  <a:extLst>
                    <a:ext uri="{A12FA001-AC4F-418D-AE19-62706E023703}">
                      <ahyp:hlinkClr xmlns:ahyp="http://schemas.microsoft.com/office/drawing/2018/hyperlinkcolor" val="tx"/>
                    </a:ext>
                  </a:extLst>
                </a:hlinkClick>
              </a:rPr>
              <a:t>Makefile</a:t>
            </a:r>
            <a:r>
              <a:rPr lang="en-US" altLang="zh-CN" sz="1600" b="1" dirty="0">
                <a:solidFill>
                  <a:srgbClr val="C00000"/>
                </a:solidFill>
                <a:hlinkClick r:id="rId3">
                  <a:extLst>
                    <a:ext uri="{A12FA001-AC4F-418D-AE19-62706E023703}">
                      <ahyp:hlinkClr xmlns:ahyp="http://schemas.microsoft.com/office/drawing/2018/hyperlinkcolor" val="tx"/>
                    </a:ext>
                  </a:extLst>
                </a:hlinkClick>
              </a:rPr>
              <a:t>(</a:t>
            </a:r>
            <a:r>
              <a:rPr lang="zh-CN" altLang="en-US" sz="1600" b="1" dirty="0">
                <a:solidFill>
                  <a:srgbClr val="C00000"/>
                </a:solidFill>
                <a:hlinkClick r:id="rId3">
                  <a:extLst>
                    <a:ext uri="{A12FA001-AC4F-418D-AE19-62706E023703}">
                      <ahyp:hlinkClr xmlns:ahyp="http://schemas.microsoft.com/office/drawing/2018/hyperlinkcolor" val="tx"/>
                    </a:ext>
                  </a:extLst>
                </a:hlinkClick>
              </a:rPr>
              <a:t>超详细一文读懂</a:t>
            </a:r>
            <a:r>
              <a:rPr lang="en-US" altLang="zh-CN" sz="1600" b="1" dirty="0">
                <a:solidFill>
                  <a:srgbClr val="C00000"/>
                </a:solidFill>
                <a:hlinkClick r:id="rId3">
                  <a:extLst>
                    <a:ext uri="{A12FA001-AC4F-418D-AE19-62706E023703}">
                      <ahyp:hlinkClr xmlns:ahyp="http://schemas.microsoft.com/office/drawing/2018/hyperlinkcolor" val="tx"/>
                    </a:ext>
                  </a:extLst>
                </a:hlinkClick>
              </a:rPr>
              <a:t>)-CSDN</a:t>
            </a:r>
            <a:r>
              <a:rPr lang="zh-CN" altLang="en-US" sz="1600" b="1" dirty="0">
                <a:solidFill>
                  <a:srgbClr val="C00000"/>
                </a:solidFill>
                <a:hlinkClick r:id="rId3">
                  <a:extLst>
                    <a:ext uri="{A12FA001-AC4F-418D-AE19-62706E023703}">
                      <ahyp:hlinkClr xmlns:ahyp="http://schemas.microsoft.com/office/drawing/2018/hyperlinkcolor" val="tx"/>
                    </a:ext>
                  </a:extLst>
                </a:hlinkClick>
              </a:rPr>
              <a:t>博客</a:t>
            </a:r>
            <a:endParaRPr lang="zh-CN" altLang="en-US" sz="1600" b="1" dirty="0">
              <a:solidFill>
                <a:srgbClr val="C00000"/>
              </a:solidFill>
            </a:endParaRPr>
          </a:p>
        </p:txBody>
      </p:sp>
      <p:sp>
        <p:nvSpPr>
          <p:cNvPr id="13" name="对话气泡: 圆角矩形 12">
            <a:extLst>
              <a:ext uri="{FF2B5EF4-FFF2-40B4-BE49-F238E27FC236}">
                <a16:creationId xmlns:a16="http://schemas.microsoft.com/office/drawing/2014/main" id="{F7A78177-9C56-4013-B732-3E0D33D906BC}"/>
              </a:ext>
            </a:extLst>
          </p:cNvPr>
          <p:cNvSpPr/>
          <p:nvPr/>
        </p:nvSpPr>
        <p:spPr>
          <a:xfrm>
            <a:off x="3360080" y="5074868"/>
            <a:ext cx="1336222" cy="529319"/>
          </a:xfrm>
          <a:prstGeom prst="wedgeRoundRectCallout">
            <a:avLst>
              <a:gd name="adj1" fmla="val -76871"/>
              <a:gd name="adj2" fmla="val -5626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t>链接脚本</a:t>
            </a:r>
          </a:p>
        </p:txBody>
      </p:sp>
      <p:sp>
        <p:nvSpPr>
          <p:cNvPr id="16" name="对话气泡: 圆角矩形 15">
            <a:extLst>
              <a:ext uri="{FF2B5EF4-FFF2-40B4-BE49-F238E27FC236}">
                <a16:creationId xmlns:a16="http://schemas.microsoft.com/office/drawing/2014/main" id="{1ADB0BF1-6220-4396-BF85-3E15DDA106A9}"/>
              </a:ext>
            </a:extLst>
          </p:cNvPr>
          <p:cNvSpPr/>
          <p:nvPr/>
        </p:nvSpPr>
        <p:spPr>
          <a:xfrm>
            <a:off x="2806348" y="2389576"/>
            <a:ext cx="2492273" cy="529319"/>
          </a:xfrm>
          <a:prstGeom prst="wedgeRoundRectCallout">
            <a:avLst>
              <a:gd name="adj1" fmla="val -60759"/>
              <a:gd name="adj2" fmla="val 5170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600" b="1" dirty="0"/>
              <a:t>为系统内核文件，二进制格式，不可显示</a:t>
            </a:r>
          </a:p>
        </p:txBody>
      </p:sp>
      <p:sp>
        <p:nvSpPr>
          <p:cNvPr id="19" name="对话气泡: 圆角矩形 18">
            <a:extLst>
              <a:ext uri="{FF2B5EF4-FFF2-40B4-BE49-F238E27FC236}">
                <a16:creationId xmlns:a16="http://schemas.microsoft.com/office/drawing/2014/main" id="{30C22ADC-0658-4B1E-BE32-6937CE308FA3}"/>
              </a:ext>
            </a:extLst>
          </p:cNvPr>
          <p:cNvSpPr/>
          <p:nvPr/>
        </p:nvSpPr>
        <p:spPr>
          <a:xfrm>
            <a:off x="3902521" y="3723883"/>
            <a:ext cx="1336222" cy="529319"/>
          </a:xfrm>
          <a:prstGeom prst="wedgeRoundRectCallout">
            <a:avLst>
              <a:gd name="adj1" fmla="val -92146"/>
              <a:gd name="adj2" fmla="val 1777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b="1" dirty="0"/>
              <a:t>Fs3399</a:t>
            </a:r>
            <a:r>
              <a:rPr lang="zh-CN" altLang="en-US" sz="1600" b="1" dirty="0"/>
              <a:t>硬件初始化文件</a:t>
            </a:r>
          </a:p>
        </p:txBody>
      </p:sp>
    </p:spTree>
    <p:extLst>
      <p:ext uri="{BB962C8B-B14F-4D97-AF65-F5344CB8AC3E}">
        <p14:creationId xmlns:p14="http://schemas.microsoft.com/office/powerpoint/2010/main" val="1977560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20EF7056-F178-FD1F-5827-75EBC6F4928E}"/>
              </a:ext>
            </a:extLst>
          </p:cNvPr>
          <p:cNvSpPr>
            <a:spLocks noGrp="1"/>
          </p:cNvSpPr>
          <p:nvPr>
            <p:ph type="title"/>
          </p:nvPr>
        </p:nvSpPr>
        <p:spPr>
          <a:xfrm>
            <a:off x="838200" y="365125"/>
            <a:ext cx="10515600" cy="1325563"/>
          </a:xfrm>
        </p:spPr>
        <p:txBody>
          <a:bodyPr/>
          <a:lstStyle/>
          <a:p>
            <a:pPr algn="ctr"/>
            <a:r>
              <a:rPr lang="en-US" altLang="zh-CN" b="1" dirty="0" err="1"/>
              <a:t>fs_assembly_led</a:t>
            </a:r>
            <a:r>
              <a:rPr lang="zh-CN" altLang="en-US" b="1" dirty="0"/>
              <a:t>实验程序（</a:t>
            </a:r>
            <a:r>
              <a:rPr lang="en-US" altLang="zh-CN" b="1" dirty="0"/>
              <a:t>1</a:t>
            </a:r>
            <a:r>
              <a:rPr lang="zh-CN" altLang="en-US" b="1" dirty="0"/>
              <a:t>）</a:t>
            </a:r>
          </a:p>
        </p:txBody>
      </p:sp>
      <p:sp>
        <p:nvSpPr>
          <p:cNvPr id="10" name="内容占位符 2">
            <a:extLst>
              <a:ext uri="{FF2B5EF4-FFF2-40B4-BE49-F238E27FC236}">
                <a16:creationId xmlns:a16="http://schemas.microsoft.com/office/drawing/2014/main" id="{5FEDF826-638F-FCDA-AAB4-1CCD89133348}"/>
              </a:ext>
            </a:extLst>
          </p:cNvPr>
          <p:cNvSpPr>
            <a:spLocks noGrp="1"/>
          </p:cNvSpPr>
          <p:nvPr>
            <p:ph idx="1"/>
          </p:nvPr>
        </p:nvSpPr>
        <p:spPr>
          <a:xfrm>
            <a:off x="1115344" y="1825625"/>
            <a:ext cx="4602442" cy="466492"/>
          </a:xfrm>
        </p:spPr>
        <p:txBody>
          <a:bodyPr>
            <a:normAutofit/>
          </a:bodyPr>
          <a:lstStyle/>
          <a:p>
            <a:r>
              <a:rPr lang="en-US" altLang="zh-CN" sz="2000" b="1" dirty="0"/>
              <a:t>1</a:t>
            </a:r>
            <a:r>
              <a:rPr lang="zh-CN" altLang="en-US" sz="2000" b="1" dirty="0"/>
              <a:t>、</a:t>
            </a:r>
            <a:r>
              <a:rPr lang="en-US" altLang="zh-CN" sz="2000" b="1" dirty="0" err="1"/>
              <a:t>fs_assembly_led.s</a:t>
            </a:r>
            <a:r>
              <a:rPr lang="zh-CN" altLang="en-US" sz="2000" b="1" dirty="0"/>
              <a:t>（汇编语言程序）</a:t>
            </a:r>
          </a:p>
        </p:txBody>
      </p:sp>
      <p:sp>
        <p:nvSpPr>
          <p:cNvPr id="6" name="文本框 5">
            <a:extLst>
              <a:ext uri="{FF2B5EF4-FFF2-40B4-BE49-F238E27FC236}">
                <a16:creationId xmlns:a16="http://schemas.microsoft.com/office/drawing/2014/main" id="{23B70603-B82F-45CF-EFE5-9FD2E6E753EC}"/>
              </a:ext>
            </a:extLst>
          </p:cNvPr>
          <p:cNvSpPr txBox="1"/>
          <p:nvPr/>
        </p:nvSpPr>
        <p:spPr>
          <a:xfrm>
            <a:off x="5604985" y="180459"/>
            <a:ext cx="768159" cy="369332"/>
          </a:xfrm>
          <a:prstGeom prst="rect">
            <a:avLst/>
          </a:prstGeom>
          <a:solidFill>
            <a:srgbClr val="FFC000"/>
          </a:solidFill>
        </p:spPr>
        <p:txBody>
          <a:bodyPr wrap="none" rtlCol="0">
            <a:spAutoFit/>
          </a:bodyPr>
          <a:lstStyle/>
          <a:p>
            <a:r>
              <a:rPr lang="zh-CN" altLang="en-US" b="1" dirty="0"/>
              <a:t>实验</a:t>
            </a:r>
            <a:r>
              <a:rPr lang="en-US" altLang="zh-CN" b="1" dirty="0"/>
              <a:t>1</a:t>
            </a:r>
            <a:endParaRPr lang="zh-CN" altLang="en-US" b="1" dirty="0"/>
          </a:p>
        </p:txBody>
      </p:sp>
      <p:pic>
        <p:nvPicPr>
          <p:cNvPr id="15" name="图片 14">
            <a:extLst>
              <a:ext uri="{FF2B5EF4-FFF2-40B4-BE49-F238E27FC236}">
                <a16:creationId xmlns:a16="http://schemas.microsoft.com/office/drawing/2014/main" id="{59AEA5AD-A32B-8B81-7AD0-1503F7F44B66}"/>
              </a:ext>
            </a:extLst>
          </p:cNvPr>
          <p:cNvPicPr>
            <a:picLocks noChangeAspect="1"/>
          </p:cNvPicPr>
          <p:nvPr/>
        </p:nvPicPr>
        <p:blipFill>
          <a:blip r:embed="rId2"/>
          <a:stretch>
            <a:fillRect/>
          </a:stretch>
        </p:blipFill>
        <p:spPr>
          <a:xfrm>
            <a:off x="1115344" y="2221534"/>
            <a:ext cx="4039758" cy="4159921"/>
          </a:xfrm>
          <a:prstGeom prst="rect">
            <a:avLst/>
          </a:prstGeom>
        </p:spPr>
      </p:pic>
      <p:pic>
        <p:nvPicPr>
          <p:cNvPr id="17" name="图片 16">
            <a:extLst>
              <a:ext uri="{FF2B5EF4-FFF2-40B4-BE49-F238E27FC236}">
                <a16:creationId xmlns:a16="http://schemas.microsoft.com/office/drawing/2014/main" id="{A9C822E3-FD61-4ABA-0531-37D567754E32}"/>
              </a:ext>
            </a:extLst>
          </p:cNvPr>
          <p:cNvPicPr>
            <a:picLocks noChangeAspect="1"/>
          </p:cNvPicPr>
          <p:nvPr/>
        </p:nvPicPr>
        <p:blipFill>
          <a:blip r:embed="rId3"/>
          <a:stretch>
            <a:fillRect/>
          </a:stretch>
        </p:blipFill>
        <p:spPr>
          <a:xfrm>
            <a:off x="5885424" y="1825625"/>
            <a:ext cx="5655172" cy="4555830"/>
          </a:xfrm>
          <a:prstGeom prst="rect">
            <a:avLst/>
          </a:prstGeom>
        </p:spPr>
      </p:pic>
      <p:sp>
        <p:nvSpPr>
          <p:cNvPr id="2" name="文本框 1">
            <a:extLst>
              <a:ext uri="{FF2B5EF4-FFF2-40B4-BE49-F238E27FC236}">
                <a16:creationId xmlns:a16="http://schemas.microsoft.com/office/drawing/2014/main" id="{270B46CB-5E1B-06B3-7E81-A51DAD9CBEF9}"/>
              </a:ext>
            </a:extLst>
          </p:cNvPr>
          <p:cNvSpPr txBox="1"/>
          <p:nvPr/>
        </p:nvSpPr>
        <p:spPr>
          <a:xfrm>
            <a:off x="4126140" y="3228902"/>
            <a:ext cx="1544012" cy="276999"/>
          </a:xfrm>
          <a:prstGeom prst="rect">
            <a:avLst/>
          </a:prstGeom>
          <a:solidFill>
            <a:srgbClr val="FFFF00"/>
          </a:solidFill>
        </p:spPr>
        <p:txBody>
          <a:bodyPr wrap="none" rtlCol="0">
            <a:spAutoFit/>
          </a:bodyPr>
          <a:lstStyle/>
          <a:p>
            <a:r>
              <a:rPr lang="zh-CN" altLang="en-US" sz="1200" b="1" dirty="0"/>
              <a:t>设置</a:t>
            </a:r>
            <a:r>
              <a:rPr lang="en-US" altLang="zh-CN" sz="1200" b="1" dirty="0"/>
              <a:t>DDR</a:t>
            </a:r>
            <a:r>
              <a:rPr lang="zh-CN" altLang="en-US" sz="1200" b="1" dirty="0"/>
              <a:t>方向寄存器</a:t>
            </a:r>
          </a:p>
        </p:txBody>
      </p:sp>
      <p:sp>
        <p:nvSpPr>
          <p:cNvPr id="4" name="文本框 3">
            <a:extLst>
              <a:ext uri="{FF2B5EF4-FFF2-40B4-BE49-F238E27FC236}">
                <a16:creationId xmlns:a16="http://schemas.microsoft.com/office/drawing/2014/main" id="{EC276CF8-0789-5B0E-5E16-42FBCD456B77}"/>
              </a:ext>
            </a:extLst>
          </p:cNvPr>
          <p:cNvSpPr txBox="1"/>
          <p:nvPr/>
        </p:nvSpPr>
        <p:spPr>
          <a:xfrm>
            <a:off x="4126140" y="4323792"/>
            <a:ext cx="1271502" cy="276999"/>
          </a:xfrm>
          <a:prstGeom prst="rect">
            <a:avLst/>
          </a:prstGeom>
          <a:solidFill>
            <a:srgbClr val="FFFF00"/>
          </a:solidFill>
        </p:spPr>
        <p:txBody>
          <a:bodyPr wrap="none" rtlCol="0">
            <a:spAutoFit/>
          </a:bodyPr>
          <a:lstStyle/>
          <a:p>
            <a:r>
              <a:rPr lang="zh-CN" altLang="en-US" sz="1200" b="1" dirty="0"/>
              <a:t>设置</a:t>
            </a:r>
            <a:r>
              <a:rPr lang="en-US" altLang="zh-CN" sz="1200" b="1" dirty="0"/>
              <a:t>DDR</a:t>
            </a:r>
            <a:r>
              <a:rPr lang="zh-CN" altLang="en-US" sz="1200" b="1" dirty="0"/>
              <a:t>寄存器</a:t>
            </a:r>
          </a:p>
        </p:txBody>
      </p:sp>
      <p:sp>
        <p:nvSpPr>
          <p:cNvPr id="5" name="文本框 4">
            <a:extLst>
              <a:ext uri="{FF2B5EF4-FFF2-40B4-BE49-F238E27FC236}">
                <a16:creationId xmlns:a16="http://schemas.microsoft.com/office/drawing/2014/main" id="{FFC731B9-DD08-50C3-4CCF-F1A96A01434B}"/>
              </a:ext>
            </a:extLst>
          </p:cNvPr>
          <p:cNvSpPr txBox="1"/>
          <p:nvPr/>
        </p:nvSpPr>
        <p:spPr>
          <a:xfrm>
            <a:off x="4126140" y="5289140"/>
            <a:ext cx="1271502" cy="276999"/>
          </a:xfrm>
          <a:prstGeom prst="rect">
            <a:avLst/>
          </a:prstGeom>
          <a:solidFill>
            <a:srgbClr val="FFFF00"/>
          </a:solidFill>
        </p:spPr>
        <p:txBody>
          <a:bodyPr wrap="none" rtlCol="0">
            <a:spAutoFit/>
          </a:bodyPr>
          <a:lstStyle/>
          <a:p>
            <a:r>
              <a:rPr lang="zh-CN" altLang="en-US" sz="1200" b="1" dirty="0"/>
              <a:t>设置</a:t>
            </a:r>
            <a:r>
              <a:rPr lang="en-US" altLang="zh-CN" sz="1200" b="1" dirty="0"/>
              <a:t>DDR</a:t>
            </a:r>
            <a:r>
              <a:rPr lang="zh-CN" altLang="en-US" sz="1200" b="1" dirty="0"/>
              <a:t>寄存器</a:t>
            </a:r>
          </a:p>
        </p:txBody>
      </p:sp>
      <p:sp>
        <p:nvSpPr>
          <p:cNvPr id="7" name="文本框 6">
            <a:extLst>
              <a:ext uri="{FF2B5EF4-FFF2-40B4-BE49-F238E27FC236}">
                <a16:creationId xmlns:a16="http://schemas.microsoft.com/office/drawing/2014/main" id="{2AD97421-300C-2551-B4A6-10A711417CA2}"/>
              </a:ext>
            </a:extLst>
          </p:cNvPr>
          <p:cNvSpPr txBox="1"/>
          <p:nvPr/>
        </p:nvSpPr>
        <p:spPr>
          <a:xfrm>
            <a:off x="8940718" y="2292117"/>
            <a:ext cx="1160895" cy="276999"/>
          </a:xfrm>
          <a:prstGeom prst="rect">
            <a:avLst/>
          </a:prstGeom>
          <a:solidFill>
            <a:srgbClr val="FFFF00"/>
          </a:solidFill>
        </p:spPr>
        <p:txBody>
          <a:bodyPr wrap="none" rtlCol="0">
            <a:spAutoFit/>
          </a:bodyPr>
          <a:lstStyle/>
          <a:p>
            <a:r>
              <a:rPr lang="zh-CN" altLang="en-US" sz="1200" b="1" dirty="0"/>
              <a:t>设置</a:t>
            </a:r>
            <a:r>
              <a:rPr lang="en-US" altLang="zh-CN" sz="1200" b="1" dirty="0"/>
              <a:t>DR</a:t>
            </a:r>
            <a:r>
              <a:rPr lang="zh-CN" altLang="en-US" sz="1200" b="1" dirty="0"/>
              <a:t>寄存器</a:t>
            </a:r>
          </a:p>
        </p:txBody>
      </p:sp>
      <p:sp>
        <p:nvSpPr>
          <p:cNvPr id="8" name="文本框 7">
            <a:extLst>
              <a:ext uri="{FF2B5EF4-FFF2-40B4-BE49-F238E27FC236}">
                <a16:creationId xmlns:a16="http://schemas.microsoft.com/office/drawing/2014/main" id="{9A4170B6-0BE5-5C82-A4EE-E61011858971}"/>
              </a:ext>
            </a:extLst>
          </p:cNvPr>
          <p:cNvSpPr txBox="1"/>
          <p:nvPr/>
        </p:nvSpPr>
        <p:spPr>
          <a:xfrm>
            <a:off x="9211365" y="4323792"/>
            <a:ext cx="1160895" cy="276999"/>
          </a:xfrm>
          <a:prstGeom prst="rect">
            <a:avLst/>
          </a:prstGeom>
          <a:solidFill>
            <a:srgbClr val="FFFF00"/>
          </a:solidFill>
        </p:spPr>
        <p:txBody>
          <a:bodyPr wrap="none" rtlCol="0">
            <a:spAutoFit/>
          </a:bodyPr>
          <a:lstStyle/>
          <a:p>
            <a:r>
              <a:rPr lang="zh-CN" altLang="en-US" sz="1200" b="1" dirty="0"/>
              <a:t>设置</a:t>
            </a:r>
            <a:r>
              <a:rPr lang="en-US" altLang="zh-CN" sz="1200" b="1" dirty="0"/>
              <a:t>DR</a:t>
            </a:r>
            <a:r>
              <a:rPr lang="zh-CN" altLang="en-US" sz="1200" b="1" dirty="0"/>
              <a:t>寄存器</a:t>
            </a:r>
          </a:p>
        </p:txBody>
      </p:sp>
      <p:sp>
        <p:nvSpPr>
          <p:cNvPr id="11" name="文本框 10">
            <a:extLst>
              <a:ext uri="{FF2B5EF4-FFF2-40B4-BE49-F238E27FC236}">
                <a16:creationId xmlns:a16="http://schemas.microsoft.com/office/drawing/2014/main" id="{1CA77099-3F25-FCB7-0BE0-C9148AFB2BC8}"/>
              </a:ext>
            </a:extLst>
          </p:cNvPr>
          <p:cNvSpPr txBox="1"/>
          <p:nvPr/>
        </p:nvSpPr>
        <p:spPr>
          <a:xfrm>
            <a:off x="8165898" y="5027530"/>
            <a:ext cx="3419675" cy="261610"/>
          </a:xfrm>
          <a:prstGeom prst="rect">
            <a:avLst/>
          </a:prstGeom>
          <a:solidFill>
            <a:srgbClr val="FFFF00"/>
          </a:solidFill>
        </p:spPr>
        <p:txBody>
          <a:bodyPr wrap="square" rtlCol="0">
            <a:spAutoFit/>
          </a:bodyPr>
          <a:lstStyle/>
          <a:p>
            <a:r>
              <a:rPr lang="en-US" altLang="zh-CN" sz="1100" b="1" dirty="0"/>
              <a:t>FFBFFFFF=1111 1111 1</a:t>
            </a:r>
            <a:r>
              <a:rPr lang="en-US" altLang="zh-CN" sz="1100" b="1" dirty="0">
                <a:solidFill>
                  <a:srgbClr val="C00000"/>
                </a:solidFill>
              </a:rPr>
              <a:t>0</a:t>
            </a:r>
            <a:r>
              <a:rPr lang="en-US" altLang="zh-CN" sz="1100" b="1" dirty="0"/>
              <a:t>11 1111 1111 1111 1111 1111</a:t>
            </a:r>
            <a:endParaRPr lang="zh-CN" altLang="en-US" sz="1100" b="1" dirty="0"/>
          </a:p>
        </p:txBody>
      </p:sp>
      <p:sp>
        <p:nvSpPr>
          <p:cNvPr id="12" name="对话气泡: 圆角矩形 11">
            <a:extLst>
              <a:ext uri="{FF2B5EF4-FFF2-40B4-BE49-F238E27FC236}">
                <a16:creationId xmlns:a16="http://schemas.microsoft.com/office/drawing/2014/main" id="{3F5BEA77-DC2D-4390-A955-1A028EC057C4}"/>
              </a:ext>
            </a:extLst>
          </p:cNvPr>
          <p:cNvSpPr/>
          <p:nvPr/>
        </p:nvSpPr>
        <p:spPr>
          <a:xfrm>
            <a:off x="458285" y="3367401"/>
            <a:ext cx="1146481" cy="1325563"/>
          </a:xfrm>
          <a:prstGeom prst="wedgeRoundRectCallout">
            <a:avLst>
              <a:gd name="adj1" fmla="val 61389"/>
              <a:gd name="adj2" fmla="val -3409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200" dirty="0" err="1">
                <a:solidFill>
                  <a:srgbClr val="C00000"/>
                </a:solidFill>
              </a:rPr>
              <a:t>Ldr</a:t>
            </a:r>
            <a:r>
              <a:rPr lang="zh-CN" altLang="en-US" sz="1200" dirty="0">
                <a:solidFill>
                  <a:srgbClr val="C00000"/>
                </a:solidFill>
              </a:rPr>
              <a:t>：伪指令，用于加载</a:t>
            </a:r>
            <a:r>
              <a:rPr lang="en-US" altLang="zh-CN" sz="1200" dirty="0">
                <a:solidFill>
                  <a:srgbClr val="C00000"/>
                </a:solidFill>
              </a:rPr>
              <a:t>32bit</a:t>
            </a:r>
            <a:r>
              <a:rPr lang="zh-CN" altLang="en-US" sz="1200" dirty="0">
                <a:solidFill>
                  <a:srgbClr val="C00000"/>
                </a:solidFill>
              </a:rPr>
              <a:t>的立即数或者一个地址值（参教材</a:t>
            </a:r>
            <a:r>
              <a:rPr lang="en-US" altLang="zh-CN" sz="1200" dirty="0">
                <a:solidFill>
                  <a:srgbClr val="C00000"/>
                </a:solidFill>
              </a:rPr>
              <a:t>P45</a:t>
            </a:r>
            <a:r>
              <a:rPr lang="zh-CN" altLang="en-US" sz="1200" dirty="0">
                <a:solidFill>
                  <a:srgbClr val="C00000"/>
                </a:solidFill>
              </a:rPr>
              <a:t>）</a:t>
            </a:r>
          </a:p>
        </p:txBody>
      </p:sp>
      <p:sp>
        <p:nvSpPr>
          <p:cNvPr id="16" name="对话气泡: 圆角矩形 15">
            <a:extLst>
              <a:ext uri="{FF2B5EF4-FFF2-40B4-BE49-F238E27FC236}">
                <a16:creationId xmlns:a16="http://schemas.microsoft.com/office/drawing/2014/main" id="{37CA96EA-3969-4E8C-B862-E211DDC73E02}"/>
              </a:ext>
            </a:extLst>
          </p:cNvPr>
          <p:cNvSpPr/>
          <p:nvPr/>
        </p:nvSpPr>
        <p:spPr>
          <a:xfrm>
            <a:off x="552660" y="5027530"/>
            <a:ext cx="978843" cy="441701"/>
          </a:xfrm>
          <a:prstGeom prst="wedgeRoundRectCallout">
            <a:avLst>
              <a:gd name="adj1" fmla="val 68509"/>
              <a:gd name="adj2" fmla="val -52575"/>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200" dirty="0" err="1">
                <a:solidFill>
                  <a:srgbClr val="C00000"/>
                </a:solidFill>
              </a:rPr>
              <a:t>orr</a:t>
            </a:r>
            <a:r>
              <a:rPr lang="zh-CN" altLang="en-US" sz="1200" dirty="0">
                <a:solidFill>
                  <a:srgbClr val="C00000"/>
                </a:solidFill>
              </a:rPr>
              <a:t>：按位或指令</a:t>
            </a:r>
          </a:p>
        </p:txBody>
      </p:sp>
    </p:spTree>
    <p:extLst>
      <p:ext uri="{BB962C8B-B14F-4D97-AF65-F5344CB8AC3E}">
        <p14:creationId xmlns:p14="http://schemas.microsoft.com/office/powerpoint/2010/main" val="3912370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DAB3612-BEE7-9001-70C3-0A979776DF11}"/>
              </a:ext>
            </a:extLst>
          </p:cNvPr>
          <p:cNvPicPr>
            <a:picLocks noChangeAspect="1"/>
          </p:cNvPicPr>
          <p:nvPr/>
        </p:nvPicPr>
        <p:blipFill>
          <a:blip r:embed="rId2"/>
          <a:stretch>
            <a:fillRect/>
          </a:stretch>
        </p:blipFill>
        <p:spPr>
          <a:xfrm>
            <a:off x="175260" y="891781"/>
            <a:ext cx="6547872" cy="5264090"/>
          </a:xfrm>
          <a:prstGeom prst="rect">
            <a:avLst/>
          </a:prstGeom>
        </p:spPr>
      </p:pic>
      <p:pic>
        <p:nvPicPr>
          <p:cNvPr id="10" name="图片 9">
            <a:extLst>
              <a:ext uri="{FF2B5EF4-FFF2-40B4-BE49-F238E27FC236}">
                <a16:creationId xmlns:a16="http://schemas.microsoft.com/office/drawing/2014/main" id="{3F0AC1BC-7D40-F9FC-905C-A338153993C8}"/>
              </a:ext>
            </a:extLst>
          </p:cNvPr>
          <p:cNvPicPr>
            <a:picLocks noChangeAspect="1"/>
          </p:cNvPicPr>
          <p:nvPr/>
        </p:nvPicPr>
        <p:blipFill>
          <a:blip r:embed="rId3"/>
          <a:stretch>
            <a:fillRect/>
          </a:stretch>
        </p:blipFill>
        <p:spPr>
          <a:xfrm>
            <a:off x="5794078" y="891781"/>
            <a:ext cx="6187352" cy="5468198"/>
          </a:xfrm>
          <a:prstGeom prst="rect">
            <a:avLst/>
          </a:prstGeom>
        </p:spPr>
      </p:pic>
      <p:sp>
        <p:nvSpPr>
          <p:cNvPr id="11" name="文本框 10">
            <a:extLst>
              <a:ext uri="{FF2B5EF4-FFF2-40B4-BE49-F238E27FC236}">
                <a16:creationId xmlns:a16="http://schemas.microsoft.com/office/drawing/2014/main" id="{4E8E530E-9CFC-864D-DD21-17C4987780F6}"/>
              </a:ext>
            </a:extLst>
          </p:cNvPr>
          <p:cNvSpPr txBox="1"/>
          <p:nvPr/>
        </p:nvSpPr>
        <p:spPr>
          <a:xfrm>
            <a:off x="5374899" y="498021"/>
            <a:ext cx="838357" cy="369332"/>
          </a:xfrm>
          <a:prstGeom prst="rect">
            <a:avLst/>
          </a:prstGeom>
          <a:solidFill>
            <a:srgbClr val="FFC000"/>
          </a:solidFill>
        </p:spPr>
        <p:txBody>
          <a:bodyPr wrap="square" rtlCol="0">
            <a:spAutoFit/>
          </a:bodyPr>
          <a:lstStyle/>
          <a:p>
            <a:r>
              <a:rPr lang="zh-CN" altLang="en-US" b="1" dirty="0"/>
              <a:t>实验</a:t>
            </a:r>
            <a:r>
              <a:rPr lang="en-US" altLang="zh-CN" b="1" dirty="0"/>
              <a:t>1</a:t>
            </a:r>
            <a:endParaRPr lang="zh-CN" altLang="en-US" b="1" dirty="0"/>
          </a:p>
        </p:txBody>
      </p:sp>
      <p:sp>
        <p:nvSpPr>
          <p:cNvPr id="2" name="文本框 1">
            <a:extLst>
              <a:ext uri="{FF2B5EF4-FFF2-40B4-BE49-F238E27FC236}">
                <a16:creationId xmlns:a16="http://schemas.microsoft.com/office/drawing/2014/main" id="{D29A5C40-C420-7C4A-3D81-810C50A983E1}"/>
              </a:ext>
            </a:extLst>
          </p:cNvPr>
          <p:cNvSpPr txBox="1"/>
          <p:nvPr/>
        </p:nvSpPr>
        <p:spPr>
          <a:xfrm>
            <a:off x="3205028" y="1353559"/>
            <a:ext cx="1160895" cy="276999"/>
          </a:xfrm>
          <a:prstGeom prst="rect">
            <a:avLst/>
          </a:prstGeom>
          <a:solidFill>
            <a:srgbClr val="FFFF00"/>
          </a:solidFill>
        </p:spPr>
        <p:txBody>
          <a:bodyPr wrap="none" rtlCol="0">
            <a:spAutoFit/>
          </a:bodyPr>
          <a:lstStyle/>
          <a:p>
            <a:r>
              <a:rPr lang="zh-CN" altLang="en-US" sz="1200" b="1" dirty="0"/>
              <a:t>设置</a:t>
            </a:r>
            <a:r>
              <a:rPr lang="en-US" altLang="zh-CN" sz="1200" b="1" dirty="0"/>
              <a:t>DR</a:t>
            </a:r>
            <a:r>
              <a:rPr lang="zh-CN" altLang="en-US" sz="1200" b="1" dirty="0"/>
              <a:t>寄存器</a:t>
            </a:r>
          </a:p>
        </p:txBody>
      </p:sp>
      <p:sp>
        <p:nvSpPr>
          <p:cNvPr id="3" name="文本框 2">
            <a:extLst>
              <a:ext uri="{FF2B5EF4-FFF2-40B4-BE49-F238E27FC236}">
                <a16:creationId xmlns:a16="http://schemas.microsoft.com/office/drawing/2014/main" id="{67B76433-AB47-2F2D-D601-BFAC375E54B0}"/>
              </a:ext>
            </a:extLst>
          </p:cNvPr>
          <p:cNvSpPr txBox="1"/>
          <p:nvPr/>
        </p:nvSpPr>
        <p:spPr>
          <a:xfrm>
            <a:off x="3205028" y="3641637"/>
            <a:ext cx="1160895" cy="276999"/>
          </a:xfrm>
          <a:prstGeom prst="rect">
            <a:avLst/>
          </a:prstGeom>
          <a:solidFill>
            <a:srgbClr val="FFFF00"/>
          </a:solidFill>
        </p:spPr>
        <p:txBody>
          <a:bodyPr wrap="none" rtlCol="0">
            <a:spAutoFit/>
          </a:bodyPr>
          <a:lstStyle/>
          <a:p>
            <a:r>
              <a:rPr lang="zh-CN" altLang="en-US" sz="1200" b="1" dirty="0"/>
              <a:t>设置</a:t>
            </a:r>
            <a:r>
              <a:rPr lang="en-US" altLang="zh-CN" sz="1200" b="1" dirty="0"/>
              <a:t>DR</a:t>
            </a:r>
            <a:r>
              <a:rPr lang="zh-CN" altLang="en-US" sz="1200" b="1" dirty="0"/>
              <a:t>寄存器</a:t>
            </a:r>
          </a:p>
        </p:txBody>
      </p:sp>
      <p:sp>
        <p:nvSpPr>
          <p:cNvPr id="4" name="文本框 3">
            <a:extLst>
              <a:ext uri="{FF2B5EF4-FFF2-40B4-BE49-F238E27FC236}">
                <a16:creationId xmlns:a16="http://schemas.microsoft.com/office/drawing/2014/main" id="{C065FBAD-9486-53F1-8D9F-E5842FA78C8E}"/>
              </a:ext>
            </a:extLst>
          </p:cNvPr>
          <p:cNvSpPr txBox="1"/>
          <p:nvPr/>
        </p:nvSpPr>
        <p:spPr>
          <a:xfrm>
            <a:off x="8887754" y="1215059"/>
            <a:ext cx="1160895" cy="276999"/>
          </a:xfrm>
          <a:prstGeom prst="rect">
            <a:avLst/>
          </a:prstGeom>
          <a:solidFill>
            <a:srgbClr val="FFFF00"/>
          </a:solidFill>
        </p:spPr>
        <p:txBody>
          <a:bodyPr wrap="none" rtlCol="0">
            <a:spAutoFit/>
          </a:bodyPr>
          <a:lstStyle/>
          <a:p>
            <a:r>
              <a:rPr lang="zh-CN" altLang="en-US" sz="1200" b="1" dirty="0"/>
              <a:t>设置</a:t>
            </a:r>
            <a:r>
              <a:rPr lang="en-US" altLang="zh-CN" sz="1200" b="1" dirty="0"/>
              <a:t>DR</a:t>
            </a:r>
            <a:r>
              <a:rPr lang="zh-CN" altLang="en-US" sz="1200" b="1" dirty="0"/>
              <a:t>寄存器</a:t>
            </a:r>
          </a:p>
        </p:txBody>
      </p:sp>
      <p:sp>
        <p:nvSpPr>
          <p:cNvPr id="6" name="文本框 5">
            <a:extLst>
              <a:ext uri="{FF2B5EF4-FFF2-40B4-BE49-F238E27FC236}">
                <a16:creationId xmlns:a16="http://schemas.microsoft.com/office/drawing/2014/main" id="{171D5517-8B32-4F38-A19C-748786F0193E}"/>
              </a:ext>
            </a:extLst>
          </p:cNvPr>
          <p:cNvSpPr txBox="1"/>
          <p:nvPr/>
        </p:nvSpPr>
        <p:spPr>
          <a:xfrm>
            <a:off x="8930505" y="3411672"/>
            <a:ext cx="1160895" cy="276999"/>
          </a:xfrm>
          <a:prstGeom prst="rect">
            <a:avLst/>
          </a:prstGeom>
          <a:solidFill>
            <a:srgbClr val="FFFF00"/>
          </a:solidFill>
        </p:spPr>
        <p:txBody>
          <a:bodyPr wrap="none" rtlCol="0">
            <a:spAutoFit/>
          </a:bodyPr>
          <a:lstStyle/>
          <a:p>
            <a:r>
              <a:rPr lang="zh-CN" altLang="en-US" sz="1200" b="1" dirty="0"/>
              <a:t>设置</a:t>
            </a:r>
            <a:r>
              <a:rPr lang="en-US" altLang="zh-CN" sz="1200" b="1" dirty="0"/>
              <a:t>DR</a:t>
            </a:r>
            <a:r>
              <a:rPr lang="zh-CN" altLang="en-US" sz="1200" b="1" dirty="0"/>
              <a:t>寄存器</a:t>
            </a:r>
          </a:p>
        </p:txBody>
      </p:sp>
      <p:sp>
        <p:nvSpPr>
          <p:cNvPr id="7" name="文本框 6">
            <a:extLst>
              <a:ext uri="{FF2B5EF4-FFF2-40B4-BE49-F238E27FC236}">
                <a16:creationId xmlns:a16="http://schemas.microsoft.com/office/drawing/2014/main" id="{14AE9856-F405-F0A8-40B0-FB5BA1D08B58}"/>
              </a:ext>
            </a:extLst>
          </p:cNvPr>
          <p:cNvSpPr txBox="1"/>
          <p:nvPr/>
        </p:nvSpPr>
        <p:spPr>
          <a:xfrm>
            <a:off x="8383558" y="4255837"/>
            <a:ext cx="3643946" cy="261610"/>
          </a:xfrm>
          <a:prstGeom prst="rect">
            <a:avLst/>
          </a:prstGeom>
          <a:solidFill>
            <a:srgbClr val="FFFF00"/>
          </a:solidFill>
        </p:spPr>
        <p:txBody>
          <a:bodyPr wrap="none" rtlCol="0">
            <a:spAutoFit/>
          </a:bodyPr>
          <a:lstStyle/>
          <a:p>
            <a:r>
              <a:rPr lang="en-US" altLang="zh-CN" sz="1100" b="1" dirty="0"/>
              <a:t>FFFFEFFF=1111 1111 1111 1111 1110 1111 1111 1111</a:t>
            </a:r>
            <a:endParaRPr lang="zh-CN" altLang="en-US" sz="1100" b="1" dirty="0"/>
          </a:p>
        </p:txBody>
      </p:sp>
      <p:sp>
        <p:nvSpPr>
          <p:cNvPr id="8" name="文本框 7">
            <a:extLst>
              <a:ext uri="{FF2B5EF4-FFF2-40B4-BE49-F238E27FC236}">
                <a16:creationId xmlns:a16="http://schemas.microsoft.com/office/drawing/2014/main" id="{12500CFA-F8E5-D80A-4118-99B9EE074F34}"/>
              </a:ext>
            </a:extLst>
          </p:cNvPr>
          <p:cNvSpPr txBox="1"/>
          <p:nvPr/>
        </p:nvSpPr>
        <p:spPr>
          <a:xfrm>
            <a:off x="1897253" y="4525551"/>
            <a:ext cx="3643946" cy="261610"/>
          </a:xfrm>
          <a:prstGeom prst="rect">
            <a:avLst/>
          </a:prstGeom>
          <a:solidFill>
            <a:srgbClr val="FFFF00"/>
          </a:solidFill>
        </p:spPr>
        <p:txBody>
          <a:bodyPr wrap="none" rtlCol="0">
            <a:spAutoFit/>
          </a:bodyPr>
          <a:lstStyle/>
          <a:p>
            <a:r>
              <a:rPr lang="en-US" altLang="zh-CN" sz="1100" b="1" dirty="0"/>
              <a:t>FFFFFFFB=1111 1111 1111 1111 1111 1111 1111 1011</a:t>
            </a:r>
            <a:endParaRPr lang="zh-CN" altLang="en-US" sz="1100" b="1" dirty="0"/>
          </a:p>
        </p:txBody>
      </p:sp>
    </p:spTree>
    <p:extLst>
      <p:ext uri="{BB962C8B-B14F-4D97-AF65-F5344CB8AC3E}">
        <p14:creationId xmlns:p14="http://schemas.microsoft.com/office/powerpoint/2010/main" val="1772147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a:extLst>
              <a:ext uri="{FF2B5EF4-FFF2-40B4-BE49-F238E27FC236}">
                <a16:creationId xmlns:a16="http://schemas.microsoft.com/office/drawing/2014/main" id="{5FEDF826-638F-FCDA-AAB4-1CCD89133348}"/>
              </a:ext>
            </a:extLst>
          </p:cNvPr>
          <p:cNvSpPr>
            <a:spLocks noGrp="1"/>
          </p:cNvSpPr>
          <p:nvPr>
            <p:ph idx="1"/>
          </p:nvPr>
        </p:nvSpPr>
        <p:spPr>
          <a:xfrm>
            <a:off x="1109541" y="1940683"/>
            <a:ext cx="5559880" cy="402467"/>
          </a:xfrm>
        </p:spPr>
        <p:txBody>
          <a:bodyPr>
            <a:normAutofit/>
          </a:bodyPr>
          <a:lstStyle/>
          <a:p>
            <a:r>
              <a:rPr lang="en-US" altLang="zh-CN" sz="2000" b="1" dirty="0"/>
              <a:t>2</a:t>
            </a:r>
            <a:r>
              <a:rPr lang="zh-CN" altLang="en-US" sz="2000" b="1" dirty="0"/>
              <a:t>、</a:t>
            </a:r>
            <a:r>
              <a:rPr lang="en-US" altLang="zh-CN" sz="2000" b="1" dirty="0" err="1"/>
              <a:t>Makefile</a:t>
            </a:r>
            <a:r>
              <a:rPr lang="en-US" altLang="zh-CN" sz="2000" b="1" dirty="0"/>
              <a:t> </a:t>
            </a:r>
            <a:r>
              <a:rPr lang="zh-CN" altLang="en-US" sz="2000" b="1" dirty="0"/>
              <a:t>（参教材第</a:t>
            </a:r>
            <a:r>
              <a:rPr lang="en-US" altLang="zh-CN" sz="2000" b="1" dirty="0"/>
              <a:t>4</a:t>
            </a:r>
            <a:r>
              <a:rPr lang="zh-CN" altLang="en-US" sz="2000" b="1" dirty="0"/>
              <a:t>章 嵌入式软件编程技术）</a:t>
            </a:r>
          </a:p>
        </p:txBody>
      </p:sp>
      <p:sp>
        <p:nvSpPr>
          <p:cNvPr id="4" name="文本框 3">
            <a:extLst>
              <a:ext uri="{FF2B5EF4-FFF2-40B4-BE49-F238E27FC236}">
                <a16:creationId xmlns:a16="http://schemas.microsoft.com/office/drawing/2014/main" id="{32BC97B1-3450-A160-0BC8-F72F04694FAE}"/>
              </a:ext>
            </a:extLst>
          </p:cNvPr>
          <p:cNvSpPr txBox="1"/>
          <p:nvPr/>
        </p:nvSpPr>
        <p:spPr>
          <a:xfrm>
            <a:off x="5604985" y="180459"/>
            <a:ext cx="768159" cy="369332"/>
          </a:xfrm>
          <a:prstGeom prst="rect">
            <a:avLst/>
          </a:prstGeom>
          <a:solidFill>
            <a:srgbClr val="FFC000"/>
          </a:solidFill>
        </p:spPr>
        <p:txBody>
          <a:bodyPr wrap="none" rtlCol="0">
            <a:spAutoFit/>
          </a:bodyPr>
          <a:lstStyle/>
          <a:p>
            <a:r>
              <a:rPr lang="zh-CN" altLang="en-US" b="1" dirty="0"/>
              <a:t>实验</a:t>
            </a:r>
            <a:r>
              <a:rPr lang="en-US" altLang="zh-CN" b="1" dirty="0"/>
              <a:t>1</a:t>
            </a:r>
            <a:endParaRPr lang="zh-CN" altLang="en-US" b="1" dirty="0"/>
          </a:p>
        </p:txBody>
      </p:sp>
      <p:pic>
        <p:nvPicPr>
          <p:cNvPr id="8" name="图片 7">
            <a:extLst>
              <a:ext uri="{FF2B5EF4-FFF2-40B4-BE49-F238E27FC236}">
                <a16:creationId xmlns:a16="http://schemas.microsoft.com/office/drawing/2014/main" id="{11C990A7-B865-EF91-8C6B-FAAB473AC252}"/>
              </a:ext>
            </a:extLst>
          </p:cNvPr>
          <p:cNvPicPr>
            <a:picLocks noChangeAspect="1"/>
          </p:cNvPicPr>
          <p:nvPr/>
        </p:nvPicPr>
        <p:blipFill>
          <a:blip r:embed="rId2"/>
          <a:stretch>
            <a:fillRect/>
          </a:stretch>
        </p:blipFill>
        <p:spPr>
          <a:xfrm>
            <a:off x="7035452" y="1763115"/>
            <a:ext cx="4441612" cy="4476358"/>
          </a:xfrm>
          <a:prstGeom prst="rect">
            <a:avLst/>
          </a:prstGeom>
        </p:spPr>
      </p:pic>
      <p:sp>
        <p:nvSpPr>
          <p:cNvPr id="13" name="标题 1">
            <a:extLst>
              <a:ext uri="{FF2B5EF4-FFF2-40B4-BE49-F238E27FC236}">
                <a16:creationId xmlns:a16="http://schemas.microsoft.com/office/drawing/2014/main" id="{7BFE8FEC-EEB9-86D5-4EA4-8CE3EB0718C3}"/>
              </a:ext>
            </a:extLst>
          </p:cNvPr>
          <p:cNvSpPr>
            <a:spLocks noGrp="1"/>
          </p:cNvSpPr>
          <p:nvPr>
            <p:ph type="title"/>
          </p:nvPr>
        </p:nvSpPr>
        <p:spPr>
          <a:xfrm>
            <a:off x="838200" y="365125"/>
            <a:ext cx="10515600" cy="1325563"/>
          </a:xfrm>
        </p:spPr>
        <p:txBody>
          <a:bodyPr/>
          <a:lstStyle/>
          <a:p>
            <a:pPr algn="ctr"/>
            <a:r>
              <a:rPr lang="en-US" altLang="zh-CN" b="1" dirty="0" err="1"/>
              <a:t>fs_assembly_led</a:t>
            </a:r>
            <a:r>
              <a:rPr lang="zh-CN" altLang="en-US" b="1" dirty="0"/>
              <a:t>实验程序（</a:t>
            </a:r>
            <a:r>
              <a:rPr lang="en-US" altLang="zh-CN" b="1" dirty="0"/>
              <a:t>2</a:t>
            </a:r>
            <a:r>
              <a:rPr lang="zh-CN" altLang="en-US" b="1" dirty="0"/>
              <a:t>）</a:t>
            </a:r>
          </a:p>
        </p:txBody>
      </p:sp>
      <p:pic>
        <p:nvPicPr>
          <p:cNvPr id="3" name="图片 2">
            <a:extLst>
              <a:ext uri="{FF2B5EF4-FFF2-40B4-BE49-F238E27FC236}">
                <a16:creationId xmlns:a16="http://schemas.microsoft.com/office/drawing/2014/main" id="{78AFBFCE-DB04-B43F-A91E-8D6DEBA83E9C}"/>
              </a:ext>
            </a:extLst>
          </p:cNvPr>
          <p:cNvPicPr>
            <a:picLocks noChangeAspect="1"/>
          </p:cNvPicPr>
          <p:nvPr/>
        </p:nvPicPr>
        <p:blipFill>
          <a:blip r:embed="rId3"/>
          <a:stretch>
            <a:fillRect/>
          </a:stretch>
        </p:blipFill>
        <p:spPr>
          <a:xfrm>
            <a:off x="1232806" y="2594058"/>
            <a:ext cx="5679381" cy="826477"/>
          </a:xfrm>
          <a:prstGeom prst="rect">
            <a:avLst/>
          </a:prstGeom>
        </p:spPr>
      </p:pic>
      <p:cxnSp>
        <p:nvCxnSpPr>
          <p:cNvPr id="7" name="直接箭头连接符 6">
            <a:extLst>
              <a:ext uri="{FF2B5EF4-FFF2-40B4-BE49-F238E27FC236}">
                <a16:creationId xmlns:a16="http://schemas.microsoft.com/office/drawing/2014/main" id="{6F1065BA-E2D7-4F76-6B1E-AB31FCD6E65F}"/>
              </a:ext>
            </a:extLst>
          </p:cNvPr>
          <p:cNvCxnSpPr>
            <a:cxnSpLocks/>
          </p:cNvCxnSpPr>
          <p:nvPr/>
        </p:nvCxnSpPr>
        <p:spPr>
          <a:xfrm flipV="1">
            <a:off x="2656519" y="3479577"/>
            <a:ext cx="0" cy="41291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D6605F52-22BB-2D1A-E4A9-AA46235CEDBB}"/>
              </a:ext>
            </a:extLst>
          </p:cNvPr>
          <p:cNvCxnSpPr>
            <a:cxnSpLocks/>
          </p:cNvCxnSpPr>
          <p:nvPr/>
        </p:nvCxnSpPr>
        <p:spPr>
          <a:xfrm flipV="1">
            <a:off x="3380419" y="3479577"/>
            <a:ext cx="0" cy="41291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7CCE560A-7B49-1B92-5B60-E82C343ECF63}"/>
              </a:ext>
            </a:extLst>
          </p:cNvPr>
          <p:cNvCxnSpPr>
            <a:cxnSpLocks/>
          </p:cNvCxnSpPr>
          <p:nvPr/>
        </p:nvCxnSpPr>
        <p:spPr>
          <a:xfrm flipV="1">
            <a:off x="4066219" y="3479577"/>
            <a:ext cx="0" cy="41291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45539299-CAD2-1F44-CD69-77FC727C3F0D}"/>
              </a:ext>
            </a:extLst>
          </p:cNvPr>
          <p:cNvCxnSpPr>
            <a:cxnSpLocks/>
          </p:cNvCxnSpPr>
          <p:nvPr/>
        </p:nvCxnSpPr>
        <p:spPr>
          <a:xfrm flipV="1">
            <a:off x="4790119" y="3479577"/>
            <a:ext cx="0" cy="41291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FE21CB13-C647-334C-DFB7-18B542674EF9}"/>
              </a:ext>
            </a:extLst>
          </p:cNvPr>
          <p:cNvCxnSpPr>
            <a:cxnSpLocks/>
          </p:cNvCxnSpPr>
          <p:nvPr/>
        </p:nvCxnSpPr>
        <p:spPr>
          <a:xfrm flipH="1">
            <a:off x="9037296" y="2927384"/>
            <a:ext cx="57478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02E3B3EE-8059-05E5-31AB-9966F552E905}"/>
              </a:ext>
            </a:extLst>
          </p:cNvPr>
          <p:cNvSpPr txBox="1"/>
          <p:nvPr/>
        </p:nvSpPr>
        <p:spPr>
          <a:xfrm>
            <a:off x="2268368" y="3957816"/>
            <a:ext cx="3576180" cy="646331"/>
          </a:xfrm>
          <a:prstGeom prst="rect">
            <a:avLst/>
          </a:prstGeom>
          <a:solidFill>
            <a:srgbClr val="FFFF00"/>
          </a:solidFill>
        </p:spPr>
        <p:txBody>
          <a:bodyPr wrap="square" rtlCol="0">
            <a:spAutoFit/>
          </a:bodyPr>
          <a:lstStyle/>
          <a:p>
            <a:r>
              <a:rPr lang="zh-CN" altLang="en-US" b="1" dirty="0"/>
              <a:t>编译后生成上述</a:t>
            </a:r>
            <a:r>
              <a:rPr lang="en-US" altLang="zh-CN" b="1" dirty="0"/>
              <a:t>4</a:t>
            </a:r>
            <a:r>
              <a:rPr lang="zh-CN" altLang="en-US" b="1" dirty="0"/>
              <a:t>个文件，</a:t>
            </a:r>
            <a:r>
              <a:rPr lang="en-US" altLang="zh-CN" b="1" dirty="0" err="1"/>
              <a:t>fs_assembly_led.elf</a:t>
            </a:r>
            <a:r>
              <a:rPr lang="zh-CN" altLang="en-US" b="1" dirty="0"/>
              <a:t>为可执行文件</a:t>
            </a:r>
          </a:p>
        </p:txBody>
      </p:sp>
      <p:sp>
        <p:nvSpPr>
          <p:cNvPr id="5" name="对话气泡: 圆角矩形 4">
            <a:extLst>
              <a:ext uri="{FF2B5EF4-FFF2-40B4-BE49-F238E27FC236}">
                <a16:creationId xmlns:a16="http://schemas.microsoft.com/office/drawing/2014/main" id="{A9888074-B8D5-49B1-BAB2-8337CAB1BB0A}"/>
              </a:ext>
            </a:extLst>
          </p:cNvPr>
          <p:cNvSpPr/>
          <p:nvPr/>
        </p:nvSpPr>
        <p:spPr>
          <a:xfrm>
            <a:off x="6025243" y="4988379"/>
            <a:ext cx="720555" cy="320873"/>
          </a:xfrm>
          <a:prstGeom prst="wedgeRoundRectCallout">
            <a:avLst>
              <a:gd name="adj1" fmla="val 76088"/>
              <a:gd name="adj2" fmla="val 6250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b="1" dirty="0"/>
              <a:t>伪目标</a:t>
            </a:r>
          </a:p>
        </p:txBody>
      </p:sp>
      <p:sp>
        <p:nvSpPr>
          <p:cNvPr id="15" name="对话气泡: 圆角矩形 14">
            <a:extLst>
              <a:ext uri="{FF2B5EF4-FFF2-40B4-BE49-F238E27FC236}">
                <a16:creationId xmlns:a16="http://schemas.microsoft.com/office/drawing/2014/main" id="{FAE2C2A8-0DA5-45E6-A37B-4A87696214B1}"/>
              </a:ext>
            </a:extLst>
          </p:cNvPr>
          <p:cNvSpPr/>
          <p:nvPr/>
        </p:nvSpPr>
        <p:spPr>
          <a:xfrm>
            <a:off x="5934895" y="5491842"/>
            <a:ext cx="901250" cy="565848"/>
          </a:xfrm>
          <a:prstGeom prst="wedgeRoundRectCallout">
            <a:avLst>
              <a:gd name="adj1" fmla="val 76088"/>
              <a:gd name="adj2" fmla="val 39415"/>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200" b="1" dirty="0"/>
              <a:t>显式声明</a:t>
            </a:r>
            <a:r>
              <a:rPr lang="en-US" altLang="zh-CN" sz="1200" b="1" dirty="0"/>
              <a:t>clean</a:t>
            </a:r>
            <a:r>
              <a:rPr lang="zh-CN" altLang="en-US" sz="1200" b="1" dirty="0"/>
              <a:t>是一个伪目标</a:t>
            </a:r>
          </a:p>
        </p:txBody>
      </p:sp>
    </p:spTree>
    <p:extLst>
      <p:ext uri="{BB962C8B-B14F-4D97-AF65-F5344CB8AC3E}">
        <p14:creationId xmlns:p14="http://schemas.microsoft.com/office/powerpoint/2010/main" val="223571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a:extLst>
              <a:ext uri="{FF2B5EF4-FFF2-40B4-BE49-F238E27FC236}">
                <a16:creationId xmlns:a16="http://schemas.microsoft.com/office/drawing/2014/main" id="{5FEDF826-638F-FCDA-AAB4-1CCD89133348}"/>
              </a:ext>
            </a:extLst>
          </p:cNvPr>
          <p:cNvSpPr>
            <a:spLocks noGrp="1"/>
          </p:cNvSpPr>
          <p:nvPr>
            <p:ph idx="1"/>
          </p:nvPr>
        </p:nvSpPr>
        <p:spPr>
          <a:xfrm>
            <a:off x="1340249" y="1894815"/>
            <a:ext cx="2951745" cy="1232106"/>
          </a:xfrm>
        </p:spPr>
        <p:txBody>
          <a:bodyPr>
            <a:normAutofit/>
          </a:bodyPr>
          <a:lstStyle/>
          <a:p>
            <a:r>
              <a:rPr lang="en-US" altLang="zh-CN" sz="2000" b="1" dirty="0"/>
              <a:t>3</a:t>
            </a:r>
            <a:r>
              <a:rPr lang="zh-CN" altLang="en-US" sz="2000" b="1" dirty="0"/>
              <a:t>、</a:t>
            </a:r>
            <a:r>
              <a:rPr lang="en-US" altLang="zh-CN" sz="2000" b="1" dirty="0" err="1"/>
              <a:t>map.lds</a:t>
            </a:r>
            <a:r>
              <a:rPr lang="zh-CN" altLang="en-US" sz="2000" b="1" dirty="0"/>
              <a:t>（链接脚本）</a:t>
            </a:r>
            <a:endParaRPr lang="en-US" altLang="zh-CN" sz="2000" b="1" dirty="0"/>
          </a:p>
          <a:p>
            <a:pPr marL="0" indent="0">
              <a:buNone/>
            </a:pPr>
            <a:r>
              <a:rPr lang="zh-CN" altLang="en-US" sz="1600" b="1" dirty="0"/>
              <a:t>给编译器进行使用，告诉编译器各个段如何分布</a:t>
            </a:r>
          </a:p>
        </p:txBody>
      </p:sp>
      <p:cxnSp>
        <p:nvCxnSpPr>
          <p:cNvPr id="3" name="直接箭头连接符 2">
            <a:extLst>
              <a:ext uri="{FF2B5EF4-FFF2-40B4-BE49-F238E27FC236}">
                <a16:creationId xmlns:a16="http://schemas.microsoft.com/office/drawing/2014/main" id="{8F1A76F9-64A4-6686-72A1-07AEB02CCCA0}"/>
              </a:ext>
            </a:extLst>
          </p:cNvPr>
          <p:cNvCxnSpPr>
            <a:cxnSpLocks/>
          </p:cNvCxnSpPr>
          <p:nvPr/>
        </p:nvCxnSpPr>
        <p:spPr>
          <a:xfrm flipH="1">
            <a:off x="5714232" y="3429000"/>
            <a:ext cx="534443"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EFEC37B1-1FE6-28AC-86E8-DF67C513CE1D}"/>
              </a:ext>
            </a:extLst>
          </p:cNvPr>
          <p:cNvSpPr txBox="1"/>
          <p:nvPr/>
        </p:nvSpPr>
        <p:spPr>
          <a:xfrm>
            <a:off x="5604985" y="180459"/>
            <a:ext cx="768159" cy="369332"/>
          </a:xfrm>
          <a:prstGeom prst="rect">
            <a:avLst/>
          </a:prstGeom>
          <a:solidFill>
            <a:srgbClr val="FFC000"/>
          </a:solidFill>
        </p:spPr>
        <p:txBody>
          <a:bodyPr wrap="none" rtlCol="0">
            <a:spAutoFit/>
          </a:bodyPr>
          <a:lstStyle/>
          <a:p>
            <a:r>
              <a:rPr lang="zh-CN" altLang="en-US" b="1" dirty="0"/>
              <a:t>实验</a:t>
            </a:r>
            <a:r>
              <a:rPr lang="en-US" altLang="zh-CN" b="1" dirty="0"/>
              <a:t>1</a:t>
            </a:r>
            <a:endParaRPr lang="zh-CN" altLang="en-US" b="1" dirty="0"/>
          </a:p>
        </p:txBody>
      </p:sp>
      <p:sp>
        <p:nvSpPr>
          <p:cNvPr id="8" name="标题 1">
            <a:extLst>
              <a:ext uri="{FF2B5EF4-FFF2-40B4-BE49-F238E27FC236}">
                <a16:creationId xmlns:a16="http://schemas.microsoft.com/office/drawing/2014/main" id="{EEEA9C7B-7E09-3D9E-35A4-76FFC05712BD}"/>
              </a:ext>
            </a:extLst>
          </p:cNvPr>
          <p:cNvSpPr>
            <a:spLocks noGrp="1"/>
          </p:cNvSpPr>
          <p:nvPr>
            <p:ph type="title"/>
          </p:nvPr>
        </p:nvSpPr>
        <p:spPr>
          <a:xfrm>
            <a:off x="838200" y="365125"/>
            <a:ext cx="10515600" cy="1325563"/>
          </a:xfrm>
        </p:spPr>
        <p:txBody>
          <a:bodyPr/>
          <a:lstStyle/>
          <a:p>
            <a:pPr algn="ctr"/>
            <a:r>
              <a:rPr lang="en-US" altLang="zh-CN" b="1" dirty="0" err="1"/>
              <a:t>fs_assembly_led</a:t>
            </a:r>
            <a:r>
              <a:rPr lang="zh-CN" altLang="en-US" b="1" dirty="0"/>
              <a:t>实验程序（</a:t>
            </a:r>
            <a:r>
              <a:rPr lang="en-US" altLang="zh-CN" b="1" dirty="0"/>
              <a:t>3</a:t>
            </a:r>
            <a:r>
              <a:rPr lang="zh-CN" altLang="en-US" b="1" dirty="0"/>
              <a:t>）</a:t>
            </a:r>
          </a:p>
        </p:txBody>
      </p:sp>
      <p:pic>
        <p:nvPicPr>
          <p:cNvPr id="12" name="图片 11">
            <a:extLst>
              <a:ext uri="{FF2B5EF4-FFF2-40B4-BE49-F238E27FC236}">
                <a16:creationId xmlns:a16="http://schemas.microsoft.com/office/drawing/2014/main" id="{28EF61F5-539B-2206-AFDE-DB482E12610D}"/>
              </a:ext>
            </a:extLst>
          </p:cNvPr>
          <p:cNvPicPr>
            <a:picLocks noChangeAspect="1"/>
          </p:cNvPicPr>
          <p:nvPr/>
        </p:nvPicPr>
        <p:blipFill>
          <a:blip r:embed="rId2"/>
          <a:stretch>
            <a:fillRect/>
          </a:stretch>
        </p:blipFill>
        <p:spPr>
          <a:xfrm>
            <a:off x="5115905" y="1690687"/>
            <a:ext cx="5709898" cy="4734605"/>
          </a:xfrm>
          <a:prstGeom prst="rect">
            <a:avLst/>
          </a:prstGeom>
        </p:spPr>
      </p:pic>
      <p:sp>
        <p:nvSpPr>
          <p:cNvPr id="7" name="文本框 6">
            <a:extLst>
              <a:ext uri="{FF2B5EF4-FFF2-40B4-BE49-F238E27FC236}">
                <a16:creationId xmlns:a16="http://schemas.microsoft.com/office/drawing/2014/main" id="{6513F51E-7894-1652-C98D-6FCE38728A91}"/>
              </a:ext>
            </a:extLst>
          </p:cNvPr>
          <p:cNvSpPr txBox="1"/>
          <p:nvPr/>
        </p:nvSpPr>
        <p:spPr>
          <a:xfrm>
            <a:off x="1773309" y="2884389"/>
            <a:ext cx="2666232" cy="338554"/>
          </a:xfrm>
          <a:prstGeom prst="rect">
            <a:avLst/>
          </a:prstGeom>
          <a:solidFill>
            <a:srgbClr val="FFFF00"/>
          </a:solidFill>
        </p:spPr>
        <p:txBody>
          <a:bodyPr wrap="square">
            <a:spAutoFit/>
          </a:bodyPr>
          <a:lstStyle/>
          <a:p>
            <a:r>
              <a:rPr lang="zh-CN" altLang="en-US" sz="1600" b="1" dirty="0"/>
              <a:t>指定可执行文件的输出格式</a:t>
            </a:r>
          </a:p>
        </p:txBody>
      </p:sp>
      <p:sp>
        <p:nvSpPr>
          <p:cNvPr id="11" name="文本框 10">
            <a:extLst>
              <a:ext uri="{FF2B5EF4-FFF2-40B4-BE49-F238E27FC236}">
                <a16:creationId xmlns:a16="http://schemas.microsoft.com/office/drawing/2014/main" id="{77614486-92B0-179A-EC58-57D3B4D6B179}"/>
              </a:ext>
            </a:extLst>
          </p:cNvPr>
          <p:cNvSpPr txBox="1"/>
          <p:nvPr/>
        </p:nvSpPr>
        <p:spPr>
          <a:xfrm>
            <a:off x="8129729" y="2545835"/>
            <a:ext cx="2865663" cy="338554"/>
          </a:xfrm>
          <a:prstGeom prst="rect">
            <a:avLst/>
          </a:prstGeom>
          <a:solidFill>
            <a:srgbClr val="FFFF00"/>
          </a:solidFill>
        </p:spPr>
        <p:txBody>
          <a:bodyPr wrap="square">
            <a:spAutoFit/>
          </a:bodyPr>
          <a:lstStyle>
            <a:defPPr>
              <a:defRPr lang="zh-CN"/>
            </a:defPPr>
            <a:lvl1pPr>
              <a:defRPr sz="1600" b="1"/>
            </a:lvl1pPr>
          </a:lstStyle>
          <a:p>
            <a:r>
              <a:rPr lang="zh-CN" altLang="en-US" dirty="0"/>
              <a:t>指定输出文件的机器体系结构</a:t>
            </a:r>
          </a:p>
        </p:txBody>
      </p:sp>
      <p:sp>
        <p:nvSpPr>
          <p:cNvPr id="14" name="文本框 13">
            <a:extLst>
              <a:ext uri="{FF2B5EF4-FFF2-40B4-BE49-F238E27FC236}">
                <a16:creationId xmlns:a16="http://schemas.microsoft.com/office/drawing/2014/main" id="{104EB369-6BF2-0981-3512-DD3AE8F501A1}"/>
              </a:ext>
            </a:extLst>
          </p:cNvPr>
          <p:cNvSpPr txBox="1"/>
          <p:nvPr/>
        </p:nvSpPr>
        <p:spPr>
          <a:xfrm>
            <a:off x="8502937" y="3485883"/>
            <a:ext cx="2247900" cy="338554"/>
          </a:xfrm>
          <a:prstGeom prst="rect">
            <a:avLst/>
          </a:prstGeom>
          <a:solidFill>
            <a:srgbClr val="FFFF00"/>
          </a:solidFill>
        </p:spPr>
        <p:txBody>
          <a:bodyPr wrap="square">
            <a:spAutoFit/>
          </a:bodyPr>
          <a:lstStyle>
            <a:defPPr>
              <a:defRPr lang="zh-CN"/>
            </a:defPPr>
            <a:lvl1pPr>
              <a:defRPr sz="1600" b="1"/>
            </a:lvl1pPr>
          </a:lstStyle>
          <a:p>
            <a:r>
              <a:rPr lang="zh-CN" altLang="en-US" dirty="0"/>
              <a:t>指定程序入口点的指令</a:t>
            </a:r>
          </a:p>
        </p:txBody>
      </p:sp>
      <p:sp>
        <p:nvSpPr>
          <p:cNvPr id="16" name="文本框 15">
            <a:extLst>
              <a:ext uri="{FF2B5EF4-FFF2-40B4-BE49-F238E27FC236}">
                <a16:creationId xmlns:a16="http://schemas.microsoft.com/office/drawing/2014/main" id="{7AE0ABEC-8618-0DA6-F521-D5B744733A1A}"/>
              </a:ext>
            </a:extLst>
          </p:cNvPr>
          <p:cNvSpPr txBox="1"/>
          <p:nvPr/>
        </p:nvSpPr>
        <p:spPr>
          <a:xfrm>
            <a:off x="2483430" y="3617389"/>
            <a:ext cx="2104478" cy="338554"/>
          </a:xfrm>
          <a:prstGeom prst="rect">
            <a:avLst/>
          </a:prstGeom>
          <a:solidFill>
            <a:srgbClr val="FFFF00"/>
          </a:solidFill>
        </p:spPr>
        <p:txBody>
          <a:bodyPr wrap="square">
            <a:spAutoFit/>
          </a:bodyPr>
          <a:lstStyle>
            <a:defPPr>
              <a:defRPr lang="zh-CN"/>
            </a:defPPr>
            <a:lvl1pPr>
              <a:defRPr sz="1600" b="1"/>
            </a:lvl1pPr>
          </a:lstStyle>
          <a:p>
            <a:r>
              <a:rPr lang="zh-CN" altLang="en-US" dirty="0"/>
              <a:t>定义输出文件的布局</a:t>
            </a:r>
          </a:p>
        </p:txBody>
      </p:sp>
      <p:cxnSp>
        <p:nvCxnSpPr>
          <p:cNvPr id="18" name="直接箭头连接符 17">
            <a:extLst>
              <a:ext uri="{FF2B5EF4-FFF2-40B4-BE49-F238E27FC236}">
                <a16:creationId xmlns:a16="http://schemas.microsoft.com/office/drawing/2014/main" id="{C2A850B5-B09D-2800-2E2A-CE59466B7489}"/>
              </a:ext>
            </a:extLst>
          </p:cNvPr>
          <p:cNvCxnSpPr>
            <a:cxnSpLocks/>
          </p:cNvCxnSpPr>
          <p:nvPr/>
        </p:nvCxnSpPr>
        <p:spPr>
          <a:xfrm flipV="1">
            <a:off x="4236856" y="2263128"/>
            <a:ext cx="947871" cy="5173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6AE7B828-8B40-14EC-447F-74020660B980}"/>
              </a:ext>
            </a:extLst>
          </p:cNvPr>
          <p:cNvCxnSpPr>
            <a:cxnSpLocks/>
          </p:cNvCxnSpPr>
          <p:nvPr/>
        </p:nvCxnSpPr>
        <p:spPr>
          <a:xfrm flipV="1">
            <a:off x="4241389" y="2963314"/>
            <a:ext cx="833531" cy="62080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84BBF67B-67F0-E16A-16C8-4243FD72259E}"/>
              </a:ext>
            </a:extLst>
          </p:cNvPr>
          <p:cNvCxnSpPr>
            <a:cxnSpLocks/>
          </p:cNvCxnSpPr>
          <p:nvPr/>
        </p:nvCxnSpPr>
        <p:spPr>
          <a:xfrm flipH="1" flipV="1">
            <a:off x="6934200" y="2521812"/>
            <a:ext cx="1205593" cy="1877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CBFB8B95-C970-D80F-CE62-8B27EF22743D}"/>
              </a:ext>
            </a:extLst>
          </p:cNvPr>
          <p:cNvCxnSpPr>
            <a:cxnSpLocks/>
          </p:cNvCxnSpPr>
          <p:nvPr/>
        </p:nvCxnSpPr>
        <p:spPr>
          <a:xfrm flipH="1" flipV="1">
            <a:off x="6248675" y="2709551"/>
            <a:ext cx="2217689" cy="8723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ABDA2BFC-D587-8AD4-6B67-A031FA6DA507}"/>
              </a:ext>
            </a:extLst>
          </p:cNvPr>
          <p:cNvSpPr txBox="1"/>
          <p:nvPr/>
        </p:nvSpPr>
        <p:spPr>
          <a:xfrm>
            <a:off x="8502937" y="4455926"/>
            <a:ext cx="1359695" cy="338554"/>
          </a:xfrm>
          <a:prstGeom prst="rect">
            <a:avLst/>
          </a:prstGeom>
          <a:solidFill>
            <a:srgbClr val="FFFF00"/>
          </a:solidFill>
        </p:spPr>
        <p:txBody>
          <a:bodyPr wrap="square">
            <a:spAutoFit/>
          </a:bodyPr>
          <a:lstStyle>
            <a:defPPr>
              <a:defRPr lang="zh-CN"/>
            </a:defPPr>
            <a:lvl1pPr>
              <a:defRPr sz="1600" b="1"/>
            </a:lvl1pPr>
          </a:lstStyle>
          <a:p>
            <a:r>
              <a:rPr lang="en-US" altLang="zh-CN" dirty="0"/>
              <a:t>OBJ</a:t>
            </a:r>
            <a:r>
              <a:rPr lang="zh-CN" altLang="en-US" dirty="0"/>
              <a:t>文件名称</a:t>
            </a:r>
          </a:p>
        </p:txBody>
      </p:sp>
      <p:cxnSp>
        <p:nvCxnSpPr>
          <p:cNvPr id="4" name="直接箭头连接符 3">
            <a:extLst>
              <a:ext uri="{FF2B5EF4-FFF2-40B4-BE49-F238E27FC236}">
                <a16:creationId xmlns:a16="http://schemas.microsoft.com/office/drawing/2014/main" id="{73338F5D-233E-BAF0-4A07-951DABDBD99A}"/>
              </a:ext>
            </a:extLst>
          </p:cNvPr>
          <p:cNvCxnSpPr>
            <a:cxnSpLocks/>
          </p:cNvCxnSpPr>
          <p:nvPr/>
        </p:nvCxnSpPr>
        <p:spPr>
          <a:xfrm flipH="1" flipV="1">
            <a:off x="7617279" y="4080029"/>
            <a:ext cx="849085" cy="5207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对话气泡: 圆角矩形 20">
            <a:extLst>
              <a:ext uri="{FF2B5EF4-FFF2-40B4-BE49-F238E27FC236}">
                <a16:creationId xmlns:a16="http://schemas.microsoft.com/office/drawing/2014/main" id="{83E35167-3580-490C-82E3-EB32B0DED5D0}"/>
              </a:ext>
            </a:extLst>
          </p:cNvPr>
          <p:cNvSpPr/>
          <p:nvPr/>
        </p:nvSpPr>
        <p:spPr>
          <a:xfrm>
            <a:off x="1200989" y="4116496"/>
            <a:ext cx="2951745" cy="1673334"/>
          </a:xfrm>
          <a:prstGeom prst="wedgeRoundRectCallout">
            <a:avLst>
              <a:gd name="adj1" fmla="val 56086"/>
              <a:gd name="adj2" fmla="val 52707"/>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400" b="1" dirty="0" err="1">
                <a:effectLst/>
                <a:latin typeface="-apple-system"/>
              </a:rPr>
              <a:t>bss</a:t>
            </a:r>
            <a:r>
              <a:rPr lang="zh-CN" altLang="en-US" sz="1400" b="1" dirty="0">
                <a:effectLst/>
                <a:latin typeface="-apple-system"/>
              </a:rPr>
              <a:t>段</a:t>
            </a:r>
            <a:r>
              <a:rPr lang="zh-CN" altLang="en-US" sz="1400" dirty="0"/>
              <a:t>‌</a:t>
            </a:r>
            <a:r>
              <a:rPr lang="zh-CN" altLang="en-US" sz="1400" b="0" i="0" dirty="0">
                <a:solidFill>
                  <a:srgbClr val="333333"/>
                </a:solidFill>
                <a:effectLst/>
                <a:latin typeface="-apple-system"/>
              </a:rPr>
              <a:t>（</a:t>
            </a:r>
            <a:r>
              <a:rPr lang="en-US" altLang="zh-CN" sz="1400" b="0" i="0" dirty="0">
                <a:solidFill>
                  <a:srgbClr val="333333"/>
                </a:solidFill>
                <a:effectLst/>
                <a:latin typeface="-apple-system"/>
              </a:rPr>
              <a:t>Block Started by Symbol</a:t>
            </a:r>
            <a:r>
              <a:rPr lang="zh-CN" altLang="en-US" sz="1400" b="0" i="0" dirty="0">
                <a:solidFill>
                  <a:srgbClr val="333333"/>
                </a:solidFill>
                <a:effectLst/>
                <a:latin typeface="-apple-system"/>
              </a:rPr>
              <a:t>）是</a:t>
            </a:r>
            <a:r>
              <a:rPr lang="en-US" altLang="zh-CN" sz="1400" b="0" i="0" dirty="0">
                <a:solidFill>
                  <a:srgbClr val="333333"/>
                </a:solidFill>
                <a:effectLst/>
                <a:latin typeface="-apple-system"/>
              </a:rPr>
              <a:t>Unix</a:t>
            </a:r>
            <a:r>
              <a:rPr lang="zh-CN" altLang="en-US" sz="1400" b="0" i="0" dirty="0">
                <a:solidFill>
                  <a:srgbClr val="333333"/>
                </a:solidFill>
                <a:effectLst/>
                <a:latin typeface="-apple-system"/>
              </a:rPr>
              <a:t>链接器产生的</a:t>
            </a:r>
            <a:r>
              <a:rPr lang="zh-CN" altLang="en-US" sz="1400" b="0" i="0" dirty="0">
                <a:solidFill>
                  <a:srgbClr val="C00000"/>
                </a:solidFill>
                <a:effectLst/>
                <a:latin typeface="-apple-system"/>
              </a:rPr>
              <a:t>未初始化数据段</a:t>
            </a:r>
            <a:r>
              <a:rPr lang="zh-CN" altLang="en-US" sz="1400" b="0" i="0" dirty="0">
                <a:solidFill>
                  <a:srgbClr val="333333"/>
                </a:solidFill>
                <a:effectLst/>
                <a:latin typeface="-apple-system"/>
              </a:rPr>
              <a:t>。它通常用于存放程序中未初始化的全局变量和静态变量。这些变量在程序执行之前会被清零，属于‌</a:t>
            </a:r>
            <a:r>
              <a:rPr lang="zh-CN" altLang="en-US" sz="1400" b="0" i="0" u="none" strike="noStrike" dirty="0">
                <a:effectLst/>
                <a:latin typeface="-apple-system"/>
              </a:rPr>
              <a:t>静态内存分配</a:t>
            </a:r>
            <a:r>
              <a:rPr lang="zh-CN" altLang="en-US" sz="1400" b="0" i="0" dirty="0">
                <a:solidFill>
                  <a:srgbClr val="333333"/>
                </a:solidFill>
                <a:effectLst/>
                <a:latin typeface="-apple-system"/>
              </a:rPr>
              <a:t>的一部分。</a:t>
            </a:r>
            <a:endParaRPr lang="zh-CN" altLang="en-US" sz="1400" dirty="0"/>
          </a:p>
        </p:txBody>
      </p:sp>
      <p:sp>
        <p:nvSpPr>
          <p:cNvPr id="23" name="文本框 22">
            <a:extLst>
              <a:ext uri="{FF2B5EF4-FFF2-40B4-BE49-F238E27FC236}">
                <a16:creationId xmlns:a16="http://schemas.microsoft.com/office/drawing/2014/main" id="{EB72F763-CC95-4539-BD3B-84B44345EC2C}"/>
              </a:ext>
            </a:extLst>
          </p:cNvPr>
          <p:cNvSpPr txBox="1"/>
          <p:nvPr/>
        </p:nvSpPr>
        <p:spPr>
          <a:xfrm>
            <a:off x="4236856" y="4561219"/>
            <a:ext cx="1107363" cy="307777"/>
          </a:xfrm>
          <a:prstGeom prst="rect">
            <a:avLst/>
          </a:prstGeom>
          <a:solidFill>
            <a:srgbClr val="0070C0"/>
          </a:solidFill>
        </p:spPr>
        <p:txBody>
          <a:bodyPr wrap="square" rtlCol="0">
            <a:spAutoFit/>
          </a:bodyPr>
          <a:lstStyle/>
          <a:p>
            <a:r>
              <a:rPr lang="zh-CN" altLang="en-US" sz="1400" b="1" dirty="0">
                <a:solidFill>
                  <a:schemeClr val="bg1"/>
                </a:solidFill>
              </a:rPr>
              <a:t>只读数据段</a:t>
            </a:r>
          </a:p>
        </p:txBody>
      </p:sp>
      <p:sp>
        <p:nvSpPr>
          <p:cNvPr id="25" name="文本框 24">
            <a:extLst>
              <a:ext uri="{FF2B5EF4-FFF2-40B4-BE49-F238E27FC236}">
                <a16:creationId xmlns:a16="http://schemas.microsoft.com/office/drawing/2014/main" id="{80BE68D2-AE65-46D3-800F-34F96BEB82F2}"/>
              </a:ext>
            </a:extLst>
          </p:cNvPr>
          <p:cNvSpPr txBox="1"/>
          <p:nvPr/>
        </p:nvSpPr>
        <p:spPr>
          <a:xfrm>
            <a:off x="4949372" y="3487824"/>
            <a:ext cx="805220" cy="307777"/>
          </a:xfrm>
          <a:prstGeom prst="rect">
            <a:avLst/>
          </a:prstGeom>
          <a:solidFill>
            <a:srgbClr val="0070C0"/>
          </a:solidFill>
        </p:spPr>
        <p:txBody>
          <a:bodyPr wrap="square" rtlCol="0">
            <a:spAutoFit/>
          </a:bodyPr>
          <a:lstStyle/>
          <a:p>
            <a:r>
              <a:rPr lang="zh-CN" altLang="en-US" sz="1400" b="1" dirty="0">
                <a:solidFill>
                  <a:schemeClr val="bg1"/>
                </a:solidFill>
              </a:rPr>
              <a:t> 代码段</a:t>
            </a:r>
          </a:p>
        </p:txBody>
      </p:sp>
      <p:sp>
        <p:nvSpPr>
          <p:cNvPr id="26" name="文本框 25">
            <a:extLst>
              <a:ext uri="{FF2B5EF4-FFF2-40B4-BE49-F238E27FC236}">
                <a16:creationId xmlns:a16="http://schemas.microsoft.com/office/drawing/2014/main" id="{22EAEA9F-EE4E-459E-A655-7B169DC34689}"/>
              </a:ext>
            </a:extLst>
          </p:cNvPr>
          <p:cNvSpPr txBox="1"/>
          <p:nvPr/>
        </p:nvSpPr>
        <p:spPr>
          <a:xfrm>
            <a:off x="4439541" y="5122877"/>
            <a:ext cx="730142" cy="307777"/>
          </a:xfrm>
          <a:prstGeom prst="rect">
            <a:avLst/>
          </a:prstGeom>
          <a:solidFill>
            <a:srgbClr val="0070C0"/>
          </a:solidFill>
        </p:spPr>
        <p:txBody>
          <a:bodyPr wrap="square" rtlCol="0">
            <a:spAutoFit/>
          </a:bodyPr>
          <a:lstStyle/>
          <a:p>
            <a:r>
              <a:rPr lang="zh-CN" altLang="en-US" sz="1400" b="1" dirty="0">
                <a:solidFill>
                  <a:schemeClr val="bg1"/>
                </a:solidFill>
              </a:rPr>
              <a:t>数据段</a:t>
            </a:r>
          </a:p>
        </p:txBody>
      </p:sp>
      <p:sp>
        <p:nvSpPr>
          <p:cNvPr id="28" name="文本框 27">
            <a:extLst>
              <a:ext uri="{FF2B5EF4-FFF2-40B4-BE49-F238E27FC236}">
                <a16:creationId xmlns:a16="http://schemas.microsoft.com/office/drawing/2014/main" id="{D205018F-AECA-4909-AEB7-ECD052CF2A18}"/>
              </a:ext>
            </a:extLst>
          </p:cNvPr>
          <p:cNvSpPr txBox="1"/>
          <p:nvPr/>
        </p:nvSpPr>
        <p:spPr>
          <a:xfrm>
            <a:off x="4378581" y="5592737"/>
            <a:ext cx="823911" cy="461665"/>
          </a:xfrm>
          <a:prstGeom prst="rect">
            <a:avLst/>
          </a:prstGeom>
          <a:solidFill>
            <a:srgbClr val="0070C0"/>
          </a:solidFill>
        </p:spPr>
        <p:txBody>
          <a:bodyPr wrap="square" rtlCol="0">
            <a:spAutoFit/>
          </a:bodyPr>
          <a:lstStyle/>
          <a:p>
            <a:pPr algn="ctr"/>
            <a:r>
              <a:rPr lang="zh-CN" altLang="en-US" sz="1200" b="1" dirty="0">
                <a:solidFill>
                  <a:schemeClr val="bg1"/>
                </a:solidFill>
              </a:rPr>
              <a:t>未初始化</a:t>
            </a:r>
            <a:endParaRPr lang="en-US" altLang="zh-CN" sz="1200" b="1" dirty="0">
              <a:solidFill>
                <a:schemeClr val="bg1"/>
              </a:solidFill>
            </a:endParaRPr>
          </a:p>
          <a:p>
            <a:pPr algn="ctr"/>
            <a:r>
              <a:rPr lang="zh-CN" altLang="en-US" sz="1200" b="1" dirty="0">
                <a:solidFill>
                  <a:schemeClr val="bg1"/>
                </a:solidFill>
              </a:rPr>
              <a:t>数据段</a:t>
            </a:r>
          </a:p>
        </p:txBody>
      </p:sp>
      <p:sp>
        <p:nvSpPr>
          <p:cNvPr id="27" name="文本框 26">
            <a:extLst>
              <a:ext uri="{FF2B5EF4-FFF2-40B4-BE49-F238E27FC236}">
                <a16:creationId xmlns:a16="http://schemas.microsoft.com/office/drawing/2014/main" id="{168C9864-C903-46D1-A8CA-1BEA8FE9688E}"/>
              </a:ext>
            </a:extLst>
          </p:cNvPr>
          <p:cNvSpPr txBox="1"/>
          <p:nvPr/>
        </p:nvSpPr>
        <p:spPr>
          <a:xfrm>
            <a:off x="7691953" y="5130770"/>
            <a:ext cx="1272434" cy="338554"/>
          </a:xfrm>
          <a:prstGeom prst="rect">
            <a:avLst/>
          </a:prstGeom>
          <a:solidFill>
            <a:srgbClr val="FFFF00"/>
          </a:solidFill>
        </p:spPr>
        <p:txBody>
          <a:bodyPr wrap="square">
            <a:spAutoFit/>
          </a:bodyPr>
          <a:lstStyle>
            <a:defPPr>
              <a:defRPr lang="zh-CN"/>
            </a:defPPr>
            <a:lvl1pPr>
              <a:defRPr sz="1600" b="1"/>
            </a:lvl1pPr>
          </a:lstStyle>
          <a:p>
            <a:r>
              <a:rPr lang="zh-CN" altLang="en-US" dirty="0"/>
              <a:t>对齐</a:t>
            </a:r>
            <a:r>
              <a:rPr lang="en-US" altLang="zh-CN" dirty="0"/>
              <a:t>8</a:t>
            </a:r>
            <a:r>
              <a:rPr lang="zh-CN" altLang="en-US" dirty="0"/>
              <a:t>字节</a:t>
            </a:r>
          </a:p>
        </p:txBody>
      </p:sp>
      <p:cxnSp>
        <p:nvCxnSpPr>
          <p:cNvPr id="29" name="直接箭头连接符 28">
            <a:extLst>
              <a:ext uri="{FF2B5EF4-FFF2-40B4-BE49-F238E27FC236}">
                <a16:creationId xmlns:a16="http://schemas.microsoft.com/office/drawing/2014/main" id="{9C2EEDA5-7DCE-468C-A22F-4916553EAF31}"/>
              </a:ext>
            </a:extLst>
          </p:cNvPr>
          <p:cNvCxnSpPr>
            <a:cxnSpLocks/>
          </p:cNvCxnSpPr>
          <p:nvPr/>
        </p:nvCxnSpPr>
        <p:spPr>
          <a:xfrm flipH="1" flipV="1">
            <a:off x="6780781" y="4600770"/>
            <a:ext cx="1091452" cy="5207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3322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a:extLst>
              <a:ext uri="{FF2B5EF4-FFF2-40B4-BE49-F238E27FC236}">
                <a16:creationId xmlns:a16="http://schemas.microsoft.com/office/drawing/2014/main" id="{5FEDF826-638F-FCDA-AAB4-1CCD89133348}"/>
              </a:ext>
            </a:extLst>
          </p:cNvPr>
          <p:cNvSpPr>
            <a:spLocks noGrp="1"/>
          </p:cNvSpPr>
          <p:nvPr>
            <p:ph idx="1"/>
          </p:nvPr>
        </p:nvSpPr>
        <p:spPr>
          <a:xfrm>
            <a:off x="1205593" y="1869228"/>
            <a:ext cx="2909207" cy="608929"/>
          </a:xfrm>
        </p:spPr>
        <p:txBody>
          <a:bodyPr>
            <a:normAutofit/>
          </a:bodyPr>
          <a:lstStyle/>
          <a:p>
            <a:r>
              <a:rPr lang="en-US" altLang="zh-CN" sz="2000" b="1" dirty="0"/>
              <a:t>4</a:t>
            </a:r>
            <a:r>
              <a:rPr lang="zh-CN" altLang="en-US" sz="2000" b="1" dirty="0"/>
              <a:t>、</a:t>
            </a:r>
            <a:r>
              <a:rPr lang="en-US" altLang="zh-CN" sz="2000" b="1" dirty="0"/>
              <a:t>fs3399.init</a:t>
            </a:r>
            <a:endParaRPr lang="zh-CN" altLang="en-US" sz="2000" b="1" dirty="0"/>
          </a:p>
        </p:txBody>
      </p:sp>
      <p:sp>
        <p:nvSpPr>
          <p:cNvPr id="2" name="文本框 1">
            <a:extLst>
              <a:ext uri="{FF2B5EF4-FFF2-40B4-BE49-F238E27FC236}">
                <a16:creationId xmlns:a16="http://schemas.microsoft.com/office/drawing/2014/main" id="{DB2DE89A-9E60-8BD9-3052-454EB8BD62B1}"/>
              </a:ext>
            </a:extLst>
          </p:cNvPr>
          <p:cNvSpPr txBox="1"/>
          <p:nvPr/>
        </p:nvSpPr>
        <p:spPr>
          <a:xfrm>
            <a:off x="5604985" y="180459"/>
            <a:ext cx="768159" cy="369332"/>
          </a:xfrm>
          <a:prstGeom prst="rect">
            <a:avLst/>
          </a:prstGeom>
          <a:solidFill>
            <a:srgbClr val="FFC000"/>
          </a:solidFill>
        </p:spPr>
        <p:txBody>
          <a:bodyPr wrap="none" rtlCol="0">
            <a:spAutoFit/>
          </a:bodyPr>
          <a:lstStyle/>
          <a:p>
            <a:r>
              <a:rPr lang="zh-CN" altLang="en-US" b="1" dirty="0"/>
              <a:t>实验</a:t>
            </a:r>
            <a:r>
              <a:rPr lang="en-US" altLang="zh-CN" b="1" dirty="0"/>
              <a:t>1</a:t>
            </a:r>
            <a:endParaRPr lang="zh-CN" altLang="en-US" b="1" dirty="0"/>
          </a:p>
        </p:txBody>
      </p:sp>
      <p:sp>
        <p:nvSpPr>
          <p:cNvPr id="11" name="标题 1">
            <a:extLst>
              <a:ext uri="{FF2B5EF4-FFF2-40B4-BE49-F238E27FC236}">
                <a16:creationId xmlns:a16="http://schemas.microsoft.com/office/drawing/2014/main" id="{618DC260-5928-A691-C33A-ACC57FCD8E48}"/>
              </a:ext>
            </a:extLst>
          </p:cNvPr>
          <p:cNvSpPr>
            <a:spLocks noGrp="1"/>
          </p:cNvSpPr>
          <p:nvPr>
            <p:ph type="title"/>
          </p:nvPr>
        </p:nvSpPr>
        <p:spPr>
          <a:xfrm>
            <a:off x="851010" y="362062"/>
            <a:ext cx="10515600" cy="1325563"/>
          </a:xfrm>
        </p:spPr>
        <p:txBody>
          <a:bodyPr/>
          <a:lstStyle/>
          <a:p>
            <a:pPr algn="ctr"/>
            <a:r>
              <a:rPr lang="en-US" altLang="zh-CN" b="1" dirty="0" err="1"/>
              <a:t>fs_assembly_led</a:t>
            </a:r>
            <a:r>
              <a:rPr lang="zh-CN" altLang="en-US" b="1" dirty="0"/>
              <a:t>实验程序（</a:t>
            </a:r>
            <a:r>
              <a:rPr lang="en-US" altLang="zh-CN" b="1" dirty="0"/>
              <a:t>4</a:t>
            </a:r>
            <a:r>
              <a:rPr lang="zh-CN" altLang="en-US" b="1" dirty="0"/>
              <a:t>）</a:t>
            </a:r>
          </a:p>
        </p:txBody>
      </p:sp>
      <p:pic>
        <p:nvPicPr>
          <p:cNvPr id="13" name="图片 12">
            <a:extLst>
              <a:ext uri="{FF2B5EF4-FFF2-40B4-BE49-F238E27FC236}">
                <a16:creationId xmlns:a16="http://schemas.microsoft.com/office/drawing/2014/main" id="{E4F13057-F053-29B3-C5FB-3E489FDBD132}"/>
              </a:ext>
            </a:extLst>
          </p:cNvPr>
          <p:cNvPicPr>
            <a:picLocks noChangeAspect="1"/>
          </p:cNvPicPr>
          <p:nvPr/>
        </p:nvPicPr>
        <p:blipFill>
          <a:blip r:embed="rId2"/>
          <a:stretch>
            <a:fillRect/>
          </a:stretch>
        </p:blipFill>
        <p:spPr>
          <a:xfrm>
            <a:off x="1082331" y="2616157"/>
            <a:ext cx="3261208" cy="1221057"/>
          </a:xfrm>
          <a:prstGeom prst="rect">
            <a:avLst/>
          </a:prstGeom>
        </p:spPr>
      </p:pic>
      <p:pic>
        <p:nvPicPr>
          <p:cNvPr id="4" name="图片 3">
            <a:extLst>
              <a:ext uri="{FF2B5EF4-FFF2-40B4-BE49-F238E27FC236}">
                <a16:creationId xmlns:a16="http://schemas.microsoft.com/office/drawing/2014/main" id="{FAC60D24-BAF8-D7A5-044B-7C9DF8346836}"/>
              </a:ext>
            </a:extLst>
          </p:cNvPr>
          <p:cNvPicPr>
            <a:picLocks noChangeAspect="1"/>
          </p:cNvPicPr>
          <p:nvPr/>
        </p:nvPicPr>
        <p:blipFill>
          <a:blip r:embed="rId3"/>
          <a:stretch>
            <a:fillRect/>
          </a:stretch>
        </p:blipFill>
        <p:spPr>
          <a:xfrm>
            <a:off x="4774660" y="2053159"/>
            <a:ext cx="6335009" cy="3896269"/>
          </a:xfrm>
          <a:prstGeom prst="rect">
            <a:avLst/>
          </a:prstGeom>
        </p:spPr>
      </p:pic>
      <p:cxnSp>
        <p:nvCxnSpPr>
          <p:cNvPr id="3" name="直接箭头连接符 2">
            <a:extLst>
              <a:ext uri="{FF2B5EF4-FFF2-40B4-BE49-F238E27FC236}">
                <a16:creationId xmlns:a16="http://schemas.microsoft.com/office/drawing/2014/main" id="{754F8BF7-52E8-33AE-0586-D8603E1D90D4}"/>
              </a:ext>
            </a:extLst>
          </p:cNvPr>
          <p:cNvCxnSpPr>
            <a:cxnSpLocks/>
          </p:cNvCxnSpPr>
          <p:nvPr/>
        </p:nvCxnSpPr>
        <p:spPr>
          <a:xfrm flipV="1">
            <a:off x="3400674" y="3286304"/>
            <a:ext cx="0" cy="41291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56BDF2E1-5898-AED4-619B-64DF1E7F52EE}"/>
              </a:ext>
            </a:extLst>
          </p:cNvPr>
          <p:cNvCxnSpPr>
            <a:cxnSpLocks/>
          </p:cNvCxnSpPr>
          <p:nvPr/>
        </p:nvCxnSpPr>
        <p:spPr>
          <a:xfrm flipH="1">
            <a:off x="7942164" y="5342106"/>
            <a:ext cx="498589" cy="789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0372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5B9C2-11EB-449B-3E8A-68F6F4C5BE6E}"/>
              </a:ext>
            </a:extLst>
          </p:cNvPr>
          <p:cNvSpPr>
            <a:spLocks noGrp="1"/>
          </p:cNvSpPr>
          <p:nvPr>
            <p:ph type="title"/>
          </p:nvPr>
        </p:nvSpPr>
        <p:spPr>
          <a:xfrm>
            <a:off x="838200" y="2620645"/>
            <a:ext cx="10515600" cy="1325563"/>
          </a:xfrm>
        </p:spPr>
        <p:txBody>
          <a:bodyPr/>
          <a:lstStyle/>
          <a:p>
            <a:pPr algn="ctr"/>
            <a:r>
              <a:rPr lang="zh-CN" altLang="en-US" b="1" dirty="0"/>
              <a:t>实验</a:t>
            </a:r>
            <a:r>
              <a:rPr lang="en-US" altLang="zh-CN" b="1" dirty="0"/>
              <a:t>2    </a:t>
            </a:r>
            <a:r>
              <a:rPr lang="zh-CN" altLang="en-US" b="1" dirty="0"/>
              <a:t>呼吸灯（</a:t>
            </a:r>
            <a:r>
              <a:rPr lang="en-US" altLang="zh-CN" b="1" dirty="0"/>
              <a:t>LED1</a:t>
            </a:r>
            <a:r>
              <a:rPr lang="zh-CN" altLang="en-US" b="1" dirty="0"/>
              <a:t>灯）</a:t>
            </a:r>
          </a:p>
        </p:txBody>
      </p:sp>
    </p:spTree>
    <p:extLst>
      <p:ext uri="{BB962C8B-B14F-4D97-AF65-F5344CB8AC3E}">
        <p14:creationId xmlns:p14="http://schemas.microsoft.com/office/powerpoint/2010/main" val="25475545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3462088A-D770-208A-5799-B4593B35B5EF}"/>
              </a:ext>
            </a:extLst>
          </p:cNvPr>
          <p:cNvSpPr>
            <a:spLocks noGrp="1"/>
          </p:cNvSpPr>
          <p:nvPr>
            <p:ph type="title"/>
          </p:nvPr>
        </p:nvSpPr>
        <p:spPr>
          <a:xfrm>
            <a:off x="838200" y="365125"/>
            <a:ext cx="10515600" cy="1325563"/>
          </a:xfrm>
        </p:spPr>
        <p:txBody>
          <a:bodyPr/>
          <a:lstStyle/>
          <a:p>
            <a:pPr algn="ctr"/>
            <a:r>
              <a:rPr lang="zh-CN" altLang="en-US" b="1" dirty="0"/>
              <a:t>呼吸灯（</a:t>
            </a:r>
            <a:r>
              <a:rPr lang="en-US" altLang="zh-CN" b="1" dirty="0"/>
              <a:t>LED1</a:t>
            </a:r>
            <a:r>
              <a:rPr lang="zh-CN" altLang="en-US" b="1" dirty="0"/>
              <a:t>灯）的电原理图</a:t>
            </a:r>
          </a:p>
        </p:txBody>
      </p:sp>
      <p:sp>
        <p:nvSpPr>
          <p:cNvPr id="7" name="文本框 6">
            <a:extLst>
              <a:ext uri="{FF2B5EF4-FFF2-40B4-BE49-F238E27FC236}">
                <a16:creationId xmlns:a16="http://schemas.microsoft.com/office/drawing/2014/main" id="{65C8230B-C5FC-F1DF-2F06-B2C15BE4B30D}"/>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pic>
        <p:nvPicPr>
          <p:cNvPr id="3" name="图片 2">
            <a:extLst>
              <a:ext uri="{FF2B5EF4-FFF2-40B4-BE49-F238E27FC236}">
                <a16:creationId xmlns:a16="http://schemas.microsoft.com/office/drawing/2014/main" id="{ACEFA595-93D1-5BD0-69D8-7D8E00796DF1}"/>
              </a:ext>
            </a:extLst>
          </p:cNvPr>
          <p:cNvPicPr>
            <a:picLocks noChangeAspect="1"/>
          </p:cNvPicPr>
          <p:nvPr/>
        </p:nvPicPr>
        <p:blipFill>
          <a:blip r:embed="rId2"/>
          <a:stretch>
            <a:fillRect/>
          </a:stretch>
        </p:blipFill>
        <p:spPr>
          <a:xfrm>
            <a:off x="4270635" y="2153827"/>
            <a:ext cx="3295085" cy="3917936"/>
          </a:xfrm>
          <a:prstGeom prst="rect">
            <a:avLst/>
          </a:prstGeom>
        </p:spPr>
      </p:pic>
      <p:pic>
        <p:nvPicPr>
          <p:cNvPr id="8" name="图片 7">
            <a:extLst>
              <a:ext uri="{FF2B5EF4-FFF2-40B4-BE49-F238E27FC236}">
                <a16:creationId xmlns:a16="http://schemas.microsoft.com/office/drawing/2014/main" id="{F44B4D7D-612C-7BA9-4F53-8C0DDDFD59EA}"/>
              </a:ext>
            </a:extLst>
          </p:cNvPr>
          <p:cNvPicPr>
            <a:picLocks noChangeAspect="1"/>
          </p:cNvPicPr>
          <p:nvPr/>
        </p:nvPicPr>
        <p:blipFill>
          <a:blip r:embed="rId3"/>
          <a:stretch>
            <a:fillRect/>
          </a:stretch>
        </p:blipFill>
        <p:spPr>
          <a:xfrm>
            <a:off x="6801792" y="5519236"/>
            <a:ext cx="504895" cy="552527"/>
          </a:xfrm>
          <a:prstGeom prst="rect">
            <a:avLst/>
          </a:prstGeom>
        </p:spPr>
      </p:pic>
      <p:sp>
        <p:nvSpPr>
          <p:cNvPr id="2" name="文本框 1">
            <a:extLst>
              <a:ext uri="{FF2B5EF4-FFF2-40B4-BE49-F238E27FC236}">
                <a16:creationId xmlns:a16="http://schemas.microsoft.com/office/drawing/2014/main" id="{F718E156-6626-1D7B-6451-82D956C73C3F}"/>
              </a:ext>
            </a:extLst>
          </p:cNvPr>
          <p:cNvSpPr txBox="1"/>
          <p:nvPr/>
        </p:nvSpPr>
        <p:spPr>
          <a:xfrm>
            <a:off x="7848600" y="3649980"/>
            <a:ext cx="941283" cy="369332"/>
          </a:xfrm>
          <a:prstGeom prst="rect">
            <a:avLst/>
          </a:prstGeom>
          <a:solidFill>
            <a:srgbClr val="FFFF00"/>
          </a:solidFill>
        </p:spPr>
        <p:txBody>
          <a:bodyPr wrap="none" rtlCol="0">
            <a:spAutoFit/>
          </a:bodyPr>
          <a:lstStyle/>
          <a:p>
            <a:r>
              <a:rPr lang="en-US" altLang="zh-CN" b="1" dirty="0"/>
              <a:t>LED1</a:t>
            </a:r>
            <a:r>
              <a:rPr lang="zh-CN" altLang="en-US" b="1" dirty="0"/>
              <a:t>灯</a:t>
            </a:r>
          </a:p>
        </p:txBody>
      </p:sp>
    </p:spTree>
    <p:extLst>
      <p:ext uri="{BB962C8B-B14F-4D97-AF65-F5344CB8AC3E}">
        <p14:creationId xmlns:p14="http://schemas.microsoft.com/office/powerpoint/2010/main" val="146949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9C155A-F1C3-2086-77D1-EC2FC46C6DED}"/>
              </a:ext>
            </a:extLst>
          </p:cNvPr>
          <p:cNvSpPr>
            <a:spLocks noGrp="1"/>
          </p:cNvSpPr>
          <p:nvPr>
            <p:ph type="title"/>
          </p:nvPr>
        </p:nvSpPr>
        <p:spPr/>
        <p:txBody>
          <a:bodyPr/>
          <a:lstStyle/>
          <a:p>
            <a:pPr algn="ctr"/>
            <a:r>
              <a:rPr lang="zh-CN" altLang="en-US" b="1" dirty="0"/>
              <a:t>怎么控制呼吸灯（</a:t>
            </a:r>
            <a:r>
              <a:rPr lang="en-US" altLang="zh-CN" b="1" dirty="0"/>
              <a:t>LED1</a:t>
            </a:r>
            <a:r>
              <a:rPr lang="zh-CN" altLang="en-US" b="1" dirty="0"/>
              <a:t>灯）？</a:t>
            </a:r>
          </a:p>
        </p:txBody>
      </p:sp>
      <p:sp>
        <p:nvSpPr>
          <p:cNvPr id="3" name="内容占位符 2">
            <a:extLst>
              <a:ext uri="{FF2B5EF4-FFF2-40B4-BE49-F238E27FC236}">
                <a16:creationId xmlns:a16="http://schemas.microsoft.com/office/drawing/2014/main" id="{FF904466-AC0F-44C2-4838-1BF543DFC446}"/>
              </a:ext>
            </a:extLst>
          </p:cNvPr>
          <p:cNvSpPr>
            <a:spLocks noGrp="1"/>
          </p:cNvSpPr>
          <p:nvPr>
            <p:ph idx="1"/>
          </p:nvPr>
        </p:nvSpPr>
        <p:spPr/>
        <p:txBody>
          <a:bodyPr>
            <a:noAutofit/>
          </a:bodyPr>
          <a:lstStyle/>
          <a:p>
            <a:pPr>
              <a:lnSpc>
                <a:spcPct val="100000"/>
              </a:lnSpc>
            </a:pPr>
            <a:r>
              <a:rPr lang="en-US" altLang="zh-CN" sz="2400" b="1" dirty="0"/>
              <a:t>LED1</a:t>
            </a:r>
            <a:r>
              <a:rPr lang="zh-CN" altLang="en-US" sz="2400" b="1" dirty="0"/>
              <a:t>灯控制端的引脚是</a:t>
            </a:r>
            <a:r>
              <a:rPr lang="en-US" altLang="zh-CN" sz="2400" b="1" dirty="0"/>
              <a:t>GPIO4_C6/PWM1_D</a:t>
            </a:r>
            <a:r>
              <a:rPr lang="zh-CN" altLang="en-US" sz="2400" b="1" dirty="0"/>
              <a:t>，该引脚是</a:t>
            </a:r>
            <a:r>
              <a:rPr lang="zh-CN" altLang="en-US" sz="2400" b="1" dirty="0">
                <a:highlight>
                  <a:srgbClr val="FFFF00"/>
                </a:highlight>
              </a:rPr>
              <a:t>复用引脚</a:t>
            </a:r>
            <a:r>
              <a:rPr lang="zh-CN" altLang="en-US" sz="2400" b="1" dirty="0"/>
              <a:t>，普通灯时（亮灭）为</a:t>
            </a:r>
            <a:r>
              <a:rPr lang="en-US" altLang="zh-CN" sz="2400" b="1" dirty="0"/>
              <a:t>GPIO4_C6</a:t>
            </a:r>
            <a:r>
              <a:rPr lang="zh-CN" altLang="en-US" sz="2400" b="1" dirty="0"/>
              <a:t>，呼吸灯时为</a:t>
            </a:r>
            <a:r>
              <a:rPr lang="en-US" altLang="zh-CN" sz="2400" b="1" dirty="0">
                <a:solidFill>
                  <a:srgbClr val="C00000"/>
                </a:solidFill>
              </a:rPr>
              <a:t>PWM1_D</a:t>
            </a:r>
          </a:p>
          <a:p>
            <a:pPr>
              <a:lnSpc>
                <a:spcPct val="100000"/>
              </a:lnSpc>
            </a:pPr>
            <a:endParaRPr lang="en-US" altLang="zh-CN" b="1" dirty="0">
              <a:solidFill>
                <a:srgbClr val="FF0000"/>
              </a:solidFill>
            </a:endParaRPr>
          </a:p>
          <a:p>
            <a:pPr>
              <a:lnSpc>
                <a:spcPct val="100000"/>
              </a:lnSpc>
            </a:pPr>
            <a:endParaRPr lang="en-US" altLang="zh-CN" b="1" dirty="0">
              <a:solidFill>
                <a:srgbClr val="FF0000"/>
              </a:solidFill>
            </a:endParaRPr>
          </a:p>
          <a:p>
            <a:pPr lvl="1">
              <a:lnSpc>
                <a:spcPct val="100000"/>
              </a:lnSpc>
              <a:buSzPct val="60000"/>
              <a:buFont typeface="Wingdings" panose="05000000000000000000" pitchFamily="2" charset="2"/>
              <a:buChar char="l"/>
            </a:pPr>
            <a:r>
              <a:rPr lang="zh-CN" altLang="en-US" sz="2000" b="1" dirty="0"/>
              <a:t>通过设置</a:t>
            </a:r>
            <a:r>
              <a:rPr lang="en-US" altLang="zh-CN" sz="2000" b="1" dirty="0">
                <a:solidFill>
                  <a:srgbClr val="C00000"/>
                </a:solidFill>
              </a:rPr>
              <a:t>GRF_GPIO4C_IOMUX</a:t>
            </a:r>
            <a:r>
              <a:rPr lang="zh-CN" altLang="en-US" sz="2000" b="1" dirty="0"/>
              <a:t>寄存器，可以定义</a:t>
            </a:r>
            <a:r>
              <a:rPr lang="en-US" altLang="zh-CN" sz="2000" b="1" dirty="0"/>
              <a:t>GPIO4_C6/PWM1_D</a:t>
            </a:r>
            <a:r>
              <a:rPr lang="zh-CN" altLang="en-US" sz="2000" b="1" dirty="0"/>
              <a:t>引脚为</a:t>
            </a:r>
            <a:r>
              <a:rPr lang="en-US" altLang="zh-CN" sz="2000" b="1" dirty="0">
                <a:solidFill>
                  <a:srgbClr val="C00000"/>
                </a:solidFill>
              </a:rPr>
              <a:t>PWM1_D</a:t>
            </a:r>
            <a:r>
              <a:rPr lang="zh-CN" altLang="en-US" sz="2000" b="1" dirty="0">
                <a:solidFill>
                  <a:srgbClr val="C00000"/>
                </a:solidFill>
              </a:rPr>
              <a:t>方式</a:t>
            </a:r>
            <a:r>
              <a:rPr lang="zh-CN" altLang="en-US" sz="2000" b="1" dirty="0"/>
              <a:t>（</a:t>
            </a:r>
            <a:r>
              <a:rPr lang="en-US" altLang="zh-CN" sz="2000" b="1" dirty="0"/>
              <a:t>PWM</a:t>
            </a:r>
            <a:r>
              <a:rPr lang="zh-CN" altLang="en-US" sz="2000" b="1" dirty="0"/>
              <a:t>方式，呼吸灯方式）</a:t>
            </a:r>
            <a:endParaRPr lang="en-US" altLang="zh-CN" sz="2000" b="1" dirty="0"/>
          </a:p>
          <a:p>
            <a:pPr lvl="1">
              <a:lnSpc>
                <a:spcPct val="100000"/>
              </a:lnSpc>
              <a:buSzPct val="60000"/>
              <a:buFont typeface="Wingdings" panose="05000000000000000000" pitchFamily="2" charset="2"/>
              <a:buChar char="l"/>
            </a:pPr>
            <a:r>
              <a:rPr lang="zh-CN" altLang="en-US" sz="2000" b="1" dirty="0"/>
              <a:t>通过</a:t>
            </a:r>
            <a:r>
              <a:rPr lang="en-US" altLang="zh-CN" sz="2000" b="1" dirty="0">
                <a:solidFill>
                  <a:srgbClr val="C00000"/>
                </a:solidFill>
              </a:rPr>
              <a:t>PWM1-&gt;CTRL</a:t>
            </a:r>
            <a:r>
              <a:rPr lang="zh-CN" altLang="en-US" sz="2000" b="1" dirty="0"/>
              <a:t>寄存器可以控制</a:t>
            </a:r>
            <a:r>
              <a:rPr lang="en-US" altLang="zh-CN" sz="2000" b="1" dirty="0"/>
              <a:t>PWM</a:t>
            </a:r>
            <a:r>
              <a:rPr lang="zh-CN" altLang="en-US" sz="2000" b="1" dirty="0"/>
              <a:t>开启、关闭，设置</a:t>
            </a:r>
            <a:r>
              <a:rPr lang="en-US" altLang="zh-CN" sz="2000" b="1" dirty="0"/>
              <a:t>PWM</a:t>
            </a:r>
            <a:r>
              <a:rPr lang="zh-CN" altLang="en-US" sz="2000" b="1" dirty="0"/>
              <a:t>时钟源、分频因子、预分频，设置</a:t>
            </a:r>
            <a:r>
              <a:rPr lang="en-US" altLang="zh-CN" sz="2000" b="1" dirty="0"/>
              <a:t>PWM</a:t>
            </a:r>
            <a:r>
              <a:rPr lang="zh-CN" altLang="en-US" sz="2000" b="1" dirty="0"/>
              <a:t>的模式、输出波形起始极性、对齐方式，即设置</a:t>
            </a:r>
            <a:r>
              <a:rPr lang="en-US" altLang="zh-CN" sz="2000" b="1" dirty="0">
                <a:solidFill>
                  <a:srgbClr val="C00000"/>
                </a:solidFill>
              </a:rPr>
              <a:t>PWM</a:t>
            </a:r>
            <a:r>
              <a:rPr lang="zh-CN" altLang="en-US" sz="2000" b="1" dirty="0">
                <a:solidFill>
                  <a:srgbClr val="C00000"/>
                </a:solidFill>
              </a:rPr>
              <a:t>的工作模式</a:t>
            </a:r>
            <a:endParaRPr lang="en-US" altLang="zh-CN" sz="2000" b="1" dirty="0">
              <a:solidFill>
                <a:srgbClr val="C00000"/>
              </a:solidFill>
            </a:endParaRPr>
          </a:p>
          <a:p>
            <a:pPr lvl="1">
              <a:lnSpc>
                <a:spcPct val="100000"/>
              </a:lnSpc>
              <a:buSzPct val="60000"/>
              <a:buFont typeface="Wingdings" panose="05000000000000000000" pitchFamily="2" charset="2"/>
              <a:buChar char="l"/>
            </a:pPr>
            <a:r>
              <a:rPr lang="zh-CN" altLang="en-US" sz="2000" b="1" dirty="0"/>
              <a:t>通过</a:t>
            </a:r>
            <a:r>
              <a:rPr lang="zh-CN" altLang="en-US" sz="2000" b="1" dirty="0">
                <a:solidFill>
                  <a:srgbClr val="C00000"/>
                </a:solidFill>
              </a:rPr>
              <a:t>PWM1-&gt;PERIOD_HPR</a:t>
            </a:r>
            <a:r>
              <a:rPr lang="zh-CN" altLang="en-US" sz="2000" b="1" dirty="0"/>
              <a:t>寄存器、</a:t>
            </a:r>
            <a:r>
              <a:rPr lang="zh-CN" altLang="en-US" sz="2000" b="1" dirty="0">
                <a:solidFill>
                  <a:srgbClr val="FF0000"/>
                </a:solidFill>
              </a:rPr>
              <a:t> </a:t>
            </a:r>
            <a:r>
              <a:rPr lang="zh-CN" altLang="en-US" sz="2000" b="1" dirty="0">
                <a:solidFill>
                  <a:srgbClr val="C00000"/>
                </a:solidFill>
              </a:rPr>
              <a:t>PWM1-&gt;DUTY_LPR</a:t>
            </a:r>
            <a:r>
              <a:rPr lang="zh-CN" altLang="en-US" sz="2000" b="1" dirty="0"/>
              <a:t>寄存器可以设置</a:t>
            </a:r>
            <a:r>
              <a:rPr lang="en-US" altLang="zh-CN" sz="2000" b="1" dirty="0">
                <a:solidFill>
                  <a:srgbClr val="C00000"/>
                </a:solidFill>
              </a:rPr>
              <a:t>PWM</a:t>
            </a:r>
            <a:r>
              <a:rPr lang="zh-CN" altLang="en-US" sz="2000" b="1" dirty="0">
                <a:solidFill>
                  <a:srgbClr val="C00000"/>
                </a:solidFill>
              </a:rPr>
              <a:t>的占空比</a:t>
            </a:r>
            <a:r>
              <a:rPr lang="zh-CN" altLang="en-US" sz="2000" b="1" dirty="0"/>
              <a:t>（从而改变</a:t>
            </a:r>
            <a:r>
              <a:rPr lang="en-US" altLang="zh-CN" sz="2000" b="1" dirty="0"/>
              <a:t>LED1</a:t>
            </a:r>
            <a:r>
              <a:rPr lang="zh-CN" altLang="en-US" sz="2000" b="1" dirty="0"/>
              <a:t>灯控制端的电平大小，</a:t>
            </a:r>
            <a:r>
              <a:rPr lang="zh-CN" altLang="en-US" sz="2000" b="1" dirty="0">
                <a:highlight>
                  <a:srgbClr val="FFFF00"/>
                </a:highlight>
              </a:rPr>
              <a:t>改变</a:t>
            </a:r>
            <a:r>
              <a:rPr lang="en-US" altLang="zh-CN" sz="2000" b="1" dirty="0">
                <a:highlight>
                  <a:srgbClr val="FFFF00"/>
                </a:highlight>
              </a:rPr>
              <a:t>LED</a:t>
            </a:r>
            <a:r>
              <a:rPr lang="zh-CN" altLang="en-US" sz="2000" b="1" dirty="0">
                <a:highlight>
                  <a:srgbClr val="FFFF00"/>
                </a:highlight>
              </a:rPr>
              <a:t>灯的亮度</a:t>
            </a:r>
            <a:r>
              <a:rPr lang="zh-CN" altLang="en-US" sz="2000" b="1" dirty="0"/>
              <a:t>）</a:t>
            </a:r>
            <a:endParaRPr lang="en-US" altLang="zh-CN" sz="2000" b="1" dirty="0"/>
          </a:p>
          <a:p>
            <a:pPr>
              <a:lnSpc>
                <a:spcPct val="100000"/>
              </a:lnSpc>
            </a:pPr>
            <a:endParaRPr lang="en-US" altLang="zh-CN" b="1" dirty="0"/>
          </a:p>
        </p:txBody>
      </p:sp>
      <p:sp>
        <p:nvSpPr>
          <p:cNvPr id="4" name="文本框 3">
            <a:extLst>
              <a:ext uri="{FF2B5EF4-FFF2-40B4-BE49-F238E27FC236}">
                <a16:creationId xmlns:a16="http://schemas.microsoft.com/office/drawing/2014/main" id="{8883115B-B088-1215-3EBC-16304178E41D}"/>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spTree>
    <p:extLst>
      <p:ext uri="{BB962C8B-B14F-4D97-AF65-F5344CB8AC3E}">
        <p14:creationId xmlns:p14="http://schemas.microsoft.com/office/powerpoint/2010/main" val="3921429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4219157-E05A-80C8-3CA1-E0AB6642F381}"/>
              </a:ext>
            </a:extLst>
          </p:cNvPr>
          <p:cNvSpPr>
            <a:spLocks noGrp="1"/>
          </p:cNvSpPr>
          <p:nvPr>
            <p:ph type="title"/>
          </p:nvPr>
        </p:nvSpPr>
        <p:spPr>
          <a:xfrm>
            <a:off x="838200" y="365125"/>
            <a:ext cx="10515600" cy="1325563"/>
          </a:xfrm>
        </p:spPr>
        <p:txBody>
          <a:bodyPr/>
          <a:lstStyle/>
          <a:p>
            <a:pPr algn="ctr"/>
            <a:r>
              <a:rPr lang="zh-CN" altLang="en-US" b="1" dirty="0"/>
              <a:t>呼吸灯（</a:t>
            </a:r>
            <a:r>
              <a:rPr lang="en-US" altLang="zh-CN" b="1" dirty="0"/>
              <a:t>LED1</a:t>
            </a:r>
            <a:r>
              <a:rPr lang="zh-CN" altLang="en-US" b="1" dirty="0"/>
              <a:t>灯）实验工程文件夹</a:t>
            </a:r>
          </a:p>
        </p:txBody>
      </p:sp>
      <p:pic>
        <p:nvPicPr>
          <p:cNvPr id="6" name="图片 5">
            <a:extLst>
              <a:ext uri="{FF2B5EF4-FFF2-40B4-BE49-F238E27FC236}">
                <a16:creationId xmlns:a16="http://schemas.microsoft.com/office/drawing/2014/main" id="{4D446ECE-246F-C2C7-BFD9-2682DC48CB32}"/>
              </a:ext>
            </a:extLst>
          </p:cNvPr>
          <p:cNvPicPr>
            <a:picLocks noChangeAspect="1"/>
          </p:cNvPicPr>
          <p:nvPr/>
        </p:nvPicPr>
        <p:blipFill>
          <a:blip r:embed="rId2"/>
          <a:stretch>
            <a:fillRect/>
          </a:stretch>
        </p:blipFill>
        <p:spPr>
          <a:xfrm>
            <a:off x="2245679" y="2491741"/>
            <a:ext cx="7886813" cy="2850150"/>
          </a:xfrm>
          <a:prstGeom prst="rect">
            <a:avLst/>
          </a:prstGeom>
        </p:spPr>
      </p:pic>
      <p:cxnSp>
        <p:nvCxnSpPr>
          <p:cNvPr id="8" name="直接箭头连接符 7">
            <a:extLst>
              <a:ext uri="{FF2B5EF4-FFF2-40B4-BE49-F238E27FC236}">
                <a16:creationId xmlns:a16="http://schemas.microsoft.com/office/drawing/2014/main" id="{A5A467E1-1FAB-F32E-D33C-5003B9CA3B1E}"/>
              </a:ext>
            </a:extLst>
          </p:cNvPr>
          <p:cNvCxnSpPr>
            <a:cxnSpLocks/>
          </p:cNvCxnSpPr>
          <p:nvPr/>
        </p:nvCxnSpPr>
        <p:spPr>
          <a:xfrm>
            <a:off x="6096000" y="1905001"/>
            <a:ext cx="0" cy="58674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A676EEA5-4417-0465-C78A-0ADF4245C826}"/>
              </a:ext>
            </a:extLst>
          </p:cNvPr>
          <p:cNvPicPr>
            <a:picLocks noChangeAspect="1"/>
          </p:cNvPicPr>
          <p:nvPr/>
        </p:nvPicPr>
        <p:blipFill>
          <a:blip r:embed="rId3"/>
          <a:stretch>
            <a:fillRect/>
          </a:stretch>
        </p:blipFill>
        <p:spPr>
          <a:xfrm>
            <a:off x="4611580" y="5040845"/>
            <a:ext cx="1733792" cy="800212"/>
          </a:xfrm>
          <a:prstGeom prst="rect">
            <a:avLst/>
          </a:prstGeom>
        </p:spPr>
      </p:pic>
      <p:pic>
        <p:nvPicPr>
          <p:cNvPr id="15" name="图片 14">
            <a:extLst>
              <a:ext uri="{FF2B5EF4-FFF2-40B4-BE49-F238E27FC236}">
                <a16:creationId xmlns:a16="http://schemas.microsoft.com/office/drawing/2014/main" id="{5F940A73-C9B3-935C-7505-6A1EFA8D7A6E}"/>
              </a:ext>
            </a:extLst>
          </p:cNvPr>
          <p:cNvPicPr>
            <a:picLocks noChangeAspect="1"/>
          </p:cNvPicPr>
          <p:nvPr/>
        </p:nvPicPr>
        <p:blipFill>
          <a:blip r:embed="rId4"/>
          <a:stretch>
            <a:fillRect/>
          </a:stretch>
        </p:blipFill>
        <p:spPr>
          <a:xfrm>
            <a:off x="4747260" y="5834520"/>
            <a:ext cx="1181265" cy="504895"/>
          </a:xfrm>
          <a:prstGeom prst="rect">
            <a:avLst/>
          </a:prstGeom>
        </p:spPr>
      </p:pic>
      <p:pic>
        <p:nvPicPr>
          <p:cNvPr id="21" name="图片 20">
            <a:extLst>
              <a:ext uri="{FF2B5EF4-FFF2-40B4-BE49-F238E27FC236}">
                <a16:creationId xmlns:a16="http://schemas.microsoft.com/office/drawing/2014/main" id="{D7874EB4-E753-6E99-3A6B-C1A18AA87312}"/>
              </a:ext>
            </a:extLst>
          </p:cNvPr>
          <p:cNvPicPr>
            <a:picLocks noChangeAspect="1"/>
          </p:cNvPicPr>
          <p:nvPr/>
        </p:nvPicPr>
        <p:blipFill>
          <a:blip r:embed="rId5"/>
          <a:stretch>
            <a:fillRect/>
          </a:stretch>
        </p:blipFill>
        <p:spPr>
          <a:xfrm>
            <a:off x="6768390" y="2794598"/>
            <a:ext cx="3362178" cy="2850149"/>
          </a:xfrm>
          <a:prstGeom prst="rect">
            <a:avLst/>
          </a:prstGeom>
        </p:spPr>
      </p:pic>
      <p:pic>
        <p:nvPicPr>
          <p:cNvPr id="22" name="图片 21">
            <a:extLst>
              <a:ext uri="{FF2B5EF4-FFF2-40B4-BE49-F238E27FC236}">
                <a16:creationId xmlns:a16="http://schemas.microsoft.com/office/drawing/2014/main" id="{2D96296A-08CD-F9F1-C199-9272307EE81F}"/>
              </a:ext>
            </a:extLst>
          </p:cNvPr>
          <p:cNvPicPr>
            <a:picLocks noChangeAspect="1"/>
          </p:cNvPicPr>
          <p:nvPr/>
        </p:nvPicPr>
        <p:blipFill>
          <a:blip r:embed="rId6"/>
          <a:stretch>
            <a:fillRect/>
          </a:stretch>
        </p:blipFill>
        <p:spPr>
          <a:xfrm>
            <a:off x="4459158" y="2950838"/>
            <a:ext cx="1486107" cy="809738"/>
          </a:xfrm>
          <a:prstGeom prst="rect">
            <a:avLst/>
          </a:prstGeom>
        </p:spPr>
      </p:pic>
      <p:pic>
        <p:nvPicPr>
          <p:cNvPr id="24" name="图片 23">
            <a:extLst>
              <a:ext uri="{FF2B5EF4-FFF2-40B4-BE49-F238E27FC236}">
                <a16:creationId xmlns:a16="http://schemas.microsoft.com/office/drawing/2014/main" id="{77FD2F22-45FB-214E-B4D9-E2CECDA90AE9}"/>
              </a:ext>
            </a:extLst>
          </p:cNvPr>
          <p:cNvPicPr>
            <a:picLocks noChangeAspect="1"/>
          </p:cNvPicPr>
          <p:nvPr/>
        </p:nvPicPr>
        <p:blipFill>
          <a:blip r:embed="rId7"/>
          <a:stretch>
            <a:fillRect/>
          </a:stretch>
        </p:blipFill>
        <p:spPr>
          <a:xfrm>
            <a:off x="7515717" y="3600437"/>
            <a:ext cx="1562318" cy="523948"/>
          </a:xfrm>
          <a:prstGeom prst="rect">
            <a:avLst/>
          </a:prstGeom>
        </p:spPr>
      </p:pic>
      <p:pic>
        <p:nvPicPr>
          <p:cNvPr id="26" name="图片 25">
            <a:extLst>
              <a:ext uri="{FF2B5EF4-FFF2-40B4-BE49-F238E27FC236}">
                <a16:creationId xmlns:a16="http://schemas.microsoft.com/office/drawing/2014/main" id="{4B8E8A64-855C-6AAE-6CAA-B24F405DD162}"/>
              </a:ext>
            </a:extLst>
          </p:cNvPr>
          <p:cNvPicPr>
            <a:picLocks noChangeAspect="1"/>
          </p:cNvPicPr>
          <p:nvPr/>
        </p:nvPicPr>
        <p:blipFill>
          <a:blip r:embed="rId8"/>
          <a:stretch>
            <a:fillRect/>
          </a:stretch>
        </p:blipFill>
        <p:spPr>
          <a:xfrm>
            <a:off x="7515717" y="2736471"/>
            <a:ext cx="1286054" cy="828791"/>
          </a:xfrm>
          <a:prstGeom prst="rect">
            <a:avLst/>
          </a:prstGeom>
        </p:spPr>
      </p:pic>
      <p:cxnSp>
        <p:nvCxnSpPr>
          <p:cNvPr id="28" name="直接箭头连接符 27">
            <a:extLst>
              <a:ext uri="{FF2B5EF4-FFF2-40B4-BE49-F238E27FC236}">
                <a16:creationId xmlns:a16="http://schemas.microsoft.com/office/drawing/2014/main" id="{7601EA06-752D-0B8E-4CC6-55BF044676FD}"/>
              </a:ext>
            </a:extLst>
          </p:cNvPr>
          <p:cNvCxnSpPr>
            <a:cxnSpLocks/>
          </p:cNvCxnSpPr>
          <p:nvPr/>
        </p:nvCxnSpPr>
        <p:spPr>
          <a:xfrm>
            <a:off x="2994660" y="4219673"/>
            <a:ext cx="1920240" cy="177008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01FB0524-E9E6-A028-60CF-7D8BB6FEAD17}"/>
              </a:ext>
            </a:extLst>
          </p:cNvPr>
          <p:cNvCxnSpPr>
            <a:cxnSpLocks/>
          </p:cNvCxnSpPr>
          <p:nvPr/>
        </p:nvCxnSpPr>
        <p:spPr>
          <a:xfrm>
            <a:off x="3101340" y="4005305"/>
            <a:ext cx="1645920" cy="14356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736879F0-465F-2337-E6D2-6CF8CF8C99F5}"/>
              </a:ext>
            </a:extLst>
          </p:cNvPr>
          <p:cNvCxnSpPr>
            <a:cxnSpLocks/>
          </p:cNvCxnSpPr>
          <p:nvPr/>
        </p:nvCxnSpPr>
        <p:spPr>
          <a:xfrm>
            <a:off x="3276600" y="3297759"/>
            <a:ext cx="133498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9BD3CBFB-F087-6932-337F-0C7344566AA3}"/>
              </a:ext>
            </a:extLst>
          </p:cNvPr>
          <p:cNvCxnSpPr>
            <a:cxnSpLocks/>
            <a:endCxn id="26" idx="1"/>
          </p:cNvCxnSpPr>
          <p:nvPr/>
        </p:nvCxnSpPr>
        <p:spPr>
          <a:xfrm flipV="1">
            <a:off x="5661660" y="3150867"/>
            <a:ext cx="1854057" cy="3319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CF1851BF-B0C8-878F-FFAA-D4AF6EC552A0}"/>
              </a:ext>
            </a:extLst>
          </p:cNvPr>
          <p:cNvCxnSpPr>
            <a:cxnSpLocks/>
            <a:endCxn id="24" idx="1"/>
          </p:cNvCxnSpPr>
          <p:nvPr/>
        </p:nvCxnSpPr>
        <p:spPr>
          <a:xfrm>
            <a:off x="5268802" y="3527332"/>
            <a:ext cx="2246915" cy="3350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8A3CE6F4-B23A-8B87-4131-10059C9B7DE2}"/>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sp>
        <p:nvSpPr>
          <p:cNvPr id="52" name="内容占位符 2">
            <a:extLst>
              <a:ext uri="{FF2B5EF4-FFF2-40B4-BE49-F238E27FC236}">
                <a16:creationId xmlns:a16="http://schemas.microsoft.com/office/drawing/2014/main" id="{7F0CA286-EEB0-5125-DB2D-F6E5489B5709}"/>
              </a:ext>
            </a:extLst>
          </p:cNvPr>
          <p:cNvSpPr>
            <a:spLocks noGrp="1"/>
          </p:cNvSpPr>
          <p:nvPr>
            <p:ph idx="1"/>
          </p:nvPr>
        </p:nvSpPr>
        <p:spPr>
          <a:xfrm>
            <a:off x="1134459" y="1875354"/>
            <a:ext cx="3902900" cy="467686"/>
          </a:xfrm>
        </p:spPr>
        <p:txBody>
          <a:bodyPr>
            <a:normAutofit fontScale="85000" lnSpcReduction="10000"/>
          </a:bodyPr>
          <a:lstStyle/>
          <a:p>
            <a:r>
              <a:rPr lang="zh-CN" altLang="en-US" sz="2400" b="1" dirty="0"/>
              <a:t>汇编语言与</a:t>
            </a:r>
            <a:r>
              <a:rPr lang="en-US" altLang="zh-CN" sz="2400" b="1" dirty="0"/>
              <a:t>C</a:t>
            </a:r>
            <a:r>
              <a:rPr lang="zh-CN" altLang="en-US" sz="2400" b="1" dirty="0"/>
              <a:t>语言</a:t>
            </a:r>
            <a:r>
              <a:rPr lang="zh-CN" altLang="en-US" sz="2400" b="1" dirty="0">
                <a:solidFill>
                  <a:srgbClr val="C00000"/>
                </a:solidFill>
              </a:rPr>
              <a:t>混合编程</a:t>
            </a:r>
            <a:r>
              <a:rPr lang="zh-CN" altLang="en-US" sz="2400" b="1" dirty="0"/>
              <a:t>的程序</a:t>
            </a:r>
          </a:p>
        </p:txBody>
      </p:sp>
      <p:pic>
        <p:nvPicPr>
          <p:cNvPr id="54" name="图片 53">
            <a:extLst>
              <a:ext uri="{FF2B5EF4-FFF2-40B4-BE49-F238E27FC236}">
                <a16:creationId xmlns:a16="http://schemas.microsoft.com/office/drawing/2014/main" id="{51044E6B-5CDC-9865-B86F-9485244127E2}"/>
              </a:ext>
            </a:extLst>
          </p:cNvPr>
          <p:cNvPicPr>
            <a:picLocks noChangeAspect="1"/>
          </p:cNvPicPr>
          <p:nvPr/>
        </p:nvPicPr>
        <p:blipFill>
          <a:blip r:embed="rId9"/>
          <a:stretch>
            <a:fillRect/>
          </a:stretch>
        </p:blipFill>
        <p:spPr>
          <a:xfrm>
            <a:off x="4576525" y="3897844"/>
            <a:ext cx="1562318" cy="1112436"/>
          </a:xfrm>
          <a:prstGeom prst="rect">
            <a:avLst/>
          </a:prstGeom>
        </p:spPr>
      </p:pic>
      <p:cxnSp>
        <p:nvCxnSpPr>
          <p:cNvPr id="55" name="直接箭头连接符 54">
            <a:extLst>
              <a:ext uri="{FF2B5EF4-FFF2-40B4-BE49-F238E27FC236}">
                <a16:creationId xmlns:a16="http://schemas.microsoft.com/office/drawing/2014/main" id="{37BB6C18-5CB4-30C2-EDAE-E58FEAD46837}"/>
              </a:ext>
            </a:extLst>
          </p:cNvPr>
          <p:cNvCxnSpPr>
            <a:cxnSpLocks/>
          </p:cNvCxnSpPr>
          <p:nvPr/>
        </p:nvCxnSpPr>
        <p:spPr>
          <a:xfrm>
            <a:off x="3173719" y="3542489"/>
            <a:ext cx="1536017" cy="93370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6777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0CB0EB-4CC6-4492-8563-F656272CEBE2}"/>
              </a:ext>
            </a:extLst>
          </p:cNvPr>
          <p:cNvSpPr>
            <a:spLocks noGrp="1"/>
          </p:cNvSpPr>
          <p:nvPr>
            <p:ph type="title"/>
          </p:nvPr>
        </p:nvSpPr>
        <p:spPr>
          <a:xfrm>
            <a:off x="838200" y="365125"/>
            <a:ext cx="10515600" cy="1325563"/>
          </a:xfrm>
        </p:spPr>
        <p:txBody>
          <a:bodyPr/>
          <a:lstStyle/>
          <a:p>
            <a:pPr algn="ctr"/>
            <a:r>
              <a:rPr lang="en-US" altLang="zh-CN" b="1" dirty="0" err="1"/>
              <a:t>fs_pwm</a:t>
            </a:r>
            <a:r>
              <a:rPr lang="zh-CN" altLang="en-US" b="1" dirty="0"/>
              <a:t>实验程序（</a:t>
            </a:r>
            <a:r>
              <a:rPr lang="en-US" altLang="zh-CN" b="1" dirty="0"/>
              <a:t>1</a:t>
            </a:r>
            <a:r>
              <a:rPr lang="zh-CN" altLang="en-US" b="1" dirty="0"/>
              <a:t>）</a:t>
            </a:r>
          </a:p>
        </p:txBody>
      </p:sp>
      <p:sp>
        <p:nvSpPr>
          <p:cNvPr id="7" name="内容占位符 2">
            <a:extLst>
              <a:ext uri="{FF2B5EF4-FFF2-40B4-BE49-F238E27FC236}">
                <a16:creationId xmlns:a16="http://schemas.microsoft.com/office/drawing/2014/main" id="{1C485E96-7126-F9E9-87D0-C4A2AC754A53}"/>
              </a:ext>
            </a:extLst>
          </p:cNvPr>
          <p:cNvSpPr>
            <a:spLocks noGrp="1"/>
          </p:cNvSpPr>
          <p:nvPr>
            <p:ph idx="1"/>
          </p:nvPr>
        </p:nvSpPr>
        <p:spPr>
          <a:xfrm>
            <a:off x="934163" y="1875354"/>
            <a:ext cx="10515600" cy="317663"/>
          </a:xfrm>
        </p:spPr>
        <p:txBody>
          <a:bodyPr>
            <a:normAutofit fontScale="92500" lnSpcReduction="20000"/>
          </a:bodyPr>
          <a:lstStyle/>
          <a:p>
            <a:r>
              <a:rPr lang="en-US" altLang="zh-CN" sz="2000" b="1" dirty="0"/>
              <a:t>1</a:t>
            </a:r>
            <a:r>
              <a:rPr lang="zh-CN" altLang="en-US" sz="2000" b="1" dirty="0"/>
              <a:t>、</a:t>
            </a:r>
            <a:r>
              <a:rPr lang="en-US" altLang="zh-CN" sz="2000" b="1" dirty="0" err="1"/>
              <a:t>start.S</a:t>
            </a:r>
            <a:r>
              <a:rPr lang="zh-CN" altLang="en-US" sz="2000" b="1" dirty="0"/>
              <a:t>（汇编语言程序，这是一个通用的程序，采用混合编程时该程序都是这样）</a:t>
            </a:r>
          </a:p>
        </p:txBody>
      </p:sp>
      <p:pic>
        <p:nvPicPr>
          <p:cNvPr id="13" name="图片 12">
            <a:extLst>
              <a:ext uri="{FF2B5EF4-FFF2-40B4-BE49-F238E27FC236}">
                <a16:creationId xmlns:a16="http://schemas.microsoft.com/office/drawing/2014/main" id="{80D879F0-562F-0AAC-AF7D-6B8A2600DDD1}"/>
              </a:ext>
            </a:extLst>
          </p:cNvPr>
          <p:cNvPicPr>
            <a:picLocks noChangeAspect="1"/>
          </p:cNvPicPr>
          <p:nvPr/>
        </p:nvPicPr>
        <p:blipFill>
          <a:blip r:embed="rId2"/>
          <a:stretch>
            <a:fillRect/>
          </a:stretch>
        </p:blipFill>
        <p:spPr>
          <a:xfrm>
            <a:off x="6469380" y="2760548"/>
            <a:ext cx="5606138" cy="3346043"/>
          </a:xfrm>
          <a:prstGeom prst="rect">
            <a:avLst/>
          </a:prstGeom>
        </p:spPr>
      </p:pic>
      <p:pic>
        <p:nvPicPr>
          <p:cNvPr id="3" name="图片 2">
            <a:extLst>
              <a:ext uri="{FF2B5EF4-FFF2-40B4-BE49-F238E27FC236}">
                <a16:creationId xmlns:a16="http://schemas.microsoft.com/office/drawing/2014/main" id="{48C9E370-3084-B255-7B62-020AC8418B46}"/>
              </a:ext>
            </a:extLst>
          </p:cNvPr>
          <p:cNvPicPr>
            <a:picLocks noChangeAspect="1"/>
          </p:cNvPicPr>
          <p:nvPr/>
        </p:nvPicPr>
        <p:blipFill>
          <a:blip r:embed="rId3"/>
          <a:stretch>
            <a:fillRect/>
          </a:stretch>
        </p:blipFill>
        <p:spPr>
          <a:xfrm>
            <a:off x="1193515" y="2377683"/>
            <a:ext cx="5104049" cy="3756660"/>
          </a:xfrm>
          <a:prstGeom prst="rect">
            <a:avLst/>
          </a:prstGeom>
        </p:spPr>
      </p:pic>
      <p:cxnSp>
        <p:nvCxnSpPr>
          <p:cNvPr id="5" name="直接箭头连接符 4">
            <a:extLst>
              <a:ext uri="{FF2B5EF4-FFF2-40B4-BE49-F238E27FC236}">
                <a16:creationId xmlns:a16="http://schemas.microsoft.com/office/drawing/2014/main" id="{1E3270C0-052F-76C8-5732-FAC095836601}"/>
              </a:ext>
            </a:extLst>
          </p:cNvPr>
          <p:cNvCxnSpPr>
            <a:cxnSpLocks/>
          </p:cNvCxnSpPr>
          <p:nvPr/>
        </p:nvCxnSpPr>
        <p:spPr>
          <a:xfrm flipH="1">
            <a:off x="7681742" y="5763883"/>
            <a:ext cx="498589" cy="789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AC614BD8-E80C-5A66-C984-10360381B113}"/>
              </a:ext>
            </a:extLst>
          </p:cNvPr>
          <p:cNvCxnSpPr>
            <a:cxnSpLocks/>
          </p:cNvCxnSpPr>
          <p:nvPr/>
        </p:nvCxnSpPr>
        <p:spPr>
          <a:xfrm flipH="1">
            <a:off x="2244067" y="3199527"/>
            <a:ext cx="490969"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4F409DED-A695-6C45-48BB-E990F07995C7}"/>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sp>
        <p:nvSpPr>
          <p:cNvPr id="2" name="文本框 1">
            <a:extLst>
              <a:ext uri="{FF2B5EF4-FFF2-40B4-BE49-F238E27FC236}">
                <a16:creationId xmlns:a16="http://schemas.microsoft.com/office/drawing/2014/main" id="{228ACC53-6DD7-3663-1BF7-4A8E629144D0}"/>
              </a:ext>
            </a:extLst>
          </p:cNvPr>
          <p:cNvSpPr txBox="1"/>
          <p:nvPr/>
        </p:nvSpPr>
        <p:spPr>
          <a:xfrm>
            <a:off x="8523962" y="5580345"/>
            <a:ext cx="2925801" cy="369332"/>
          </a:xfrm>
          <a:prstGeom prst="rect">
            <a:avLst/>
          </a:prstGeom>
          <a:solidFill>
            <a:srgbClr val="FFFF00"/>
          </a:solidFill>
        </p:spPr>
        <p:txBody>
          <a:bodyPr wrap="none" rtlCol="0">
            <a:spAutoFit/>
          </a:bodyPr>
          <a:lstStyle/>
          <a:p>
            <a:r>
              <a:rPr lang="zh-CN" altLang="en-US" b="1" dirty="0"/>
              <a:t>转到</a:t>
            </a:r>
            <a:r>
              <a:rPr lang="en-US" altLang="zh-CN" b="1" dirty="0"/>
              <a:t>C</a:t>
            </a:r>
            <a:r>
              <a:rPr lang="zh-CN" altLang="en-US" b="1" dirty="0"/>
              <a:t>语言程序的</a:t>
            </a:r>
            <a:r>
              <a:rPr lang="en-US" altLang="zh-CN" b="1" dirty="0"/>
              <a:t>main</a:t>
            </a:r>
            <a:r>
              <a:rPr lang="zh-CN" altLang="en-US" b="1" dirty="0"/>
              <a:t>函数</a:t>
            </a:r>
          </a:p>
        </p:txBody>
      </p:sp>
      <p:sp>
        <p:nvSpPr>
          <p:cNvPr id="11" name="文本框 10">
            <a:extLst>
              <a:ext uri="{FF2B5EF4-FFF2-40B4-BE49-F238E27FC236}">
                <a16:creationId xmlns:a16="http://schemas.microsoft.com/office/drawing/2014/main" id="{2A3BC809-04D6-4708-B4F8-E9A1938FD1E2}"/>
              </a:ext>
            </a:extLst>
          </p:cNvPr>
          <p:cNvSpPr txBox="1"/>
          <p:nvPr/>
        </p:nvSpPr>
        <p:spPr>
          <a:xfrm>
            <a:off x="8765966" y="4031947"/>
            <a:ext cx="3309552" cy="276999"/>
          </a:xfrm>
          <a:prstGeom prst="rect">
            <a:avLst/>
          </a:prstGeom>
          <a:solidFill>
            <a:srgbClr val="FFFF00"/>
          </a:solidFill>
        </p:spPr>
        <p:txBody>
          <a:bodyPr wrap="square" rtlCol="0">
            <a:spAutoFit/>
          </a:bodyPr>
          <a:lstStyle/>
          <a:p>
            <a:r>
              <a:rPr lang="zh-CN" altLang="en-US" sz="1200" b="1" dirty="0"/>
              <a:t>比较寄存器中值是否为</a:t>
            </a:r>
            <a:r>
              <a:rPr lang="en-US" altLang="zh-CN" sz="1200" b="1" dirty="0"/>
              <a:t>0</a:t>
            </a:r>
            <a:r>
              <a:rPr lang="zh-CN" altLang="en-US" sz="1200" b="1" dirty="0"/>
              <a:t>，然后根据结果跳转</a:t>
            </a:r>
          </a:p>
        </p:txBody>
      </p:sp>
    </p:spTree>
    <p:extLst>
      <p:ext uri="{BB962C8B-B14F-4D97-AF65-F5344CB8AC3E}">
        <p14:creationId xmlns:p14="http://schemas.microsoft.com/office/powerpoint/2010/main" val="3146421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66EC2BB9-B4A5-4AC8-835A-D97BD6C1A443}"/>
              </a:ext>
            </a:extLst>
          </p:cNvPr>
          <p:cNvPicPr>
            <a:picLocks noChangeAspect="1"/>
          </p:cNvPicPr>
          <p:nvPr/>
        </p:nvPicPr>
        <p:blipFill>
          <a:blip r:embed="rId2"/>
          <a:stretch>
            <a:fillRect/>
          </a:stretch>
        </p:blipFill>
        <p:spPr>
          <a:xfrm>
            <a:off x="3414915" y="1734706"/>
            <a:ext cx="3592894" cy="4954865"/>
          </a:xfrm>
          <a:prstGeom prst="rect">
            <a:avLst/>
          </a:prstGeom>
        </p:spPr>
      </p:pic>
      <p:sp>
        <p:nvSpPr>
          <p:cNvPr id="6" name="内容占位符 2">
            <a:extLst>
              <a:ext uri="{FF2B5EF4-FFF2-40B4-BE49-F238E27FC236}">
                <a16:creationId xmlns:a16="http://schemas.microsoft.com/office/drawing/2014/main" id="{4A68396C-F89C-9CB6-C8E7-E7C2471F1049}"/>
              </a:ext>
            </a:extLst>
          </p:cNvPr>
          <p:cNvSpPr>
            <a:spLocks noGrp="1"/>
          </p:cNvSpPr>
          <p:nvPr>
            <p:ph idx="1"/>
          </p:nvPr>
        </p:nvSpPr>
        <p:spPr>
          <a:xfrm>
            <a:off x="1130078" y="1817461"/>
            <a:ext cx="1425343" cy="362403"/>
          </a:xfrm>
        </p:spPr>
        <p:txBody>
          <a:bodyPr>
            <a:normAutofit lnSpcReduction="10000"/>
          </a:bodyPr>
          <a:lstStyle/>
          <a:p>
            <a:r>
              <a:rPr lang="en-US" altLang="zh-CN" sz="2000" b="1" dirty="0"/>
              <a:t>2</a:t>
            </a:r>
            <a:r>
              <a:rPr lang="zh-CN" altLang="en-US" sz="2000" b="1" dirty="0"/>
              <a:t>、</a:t>
            </a:r>
            <a:r>
              <a:rPr lang="en-US" altLang="zh-CN" sz="2000" b="1" dirty="0" err="1"/>
              <a:t>main.c</a:t>
            </a:r>
            <a:endParaRPr lang="zh-CN" altLang="en-US" sz="2000" b="1" dirty="0"/>
          </a:p>
        </p:txBody>
      </p:sp>
      <p:sp>
        <p:nvSpPr>
          <p:cNvPr id="7" name="标题 1">
            <a:extLst>
              <a:ext uri="{FF2B5EF4-FFF2-40B4-BE49-F238E27FC236}">
                <a16:creationId xmlns:a16="http://schemas.microsoft.com/office/drawing/2014/main" id="{2514A85E-2E56-910B-49F8-5FD65762389D}"/>
              </a:ext>
            </a:extLst>
          </p:cNvPr>
          <p:cNvSpPr>
            <a:spLocks noGrp="1"/>
          </p:cNvSpPr>
          <p:nvPr>
            <p:ph type="title"/>
          </p:nvPr>
        </p:nvSpPr>
        <p:spPr>
          <a:xfrm>
            <a:off x="838200" y="365125"/>
            <a:ext cx="10515600" cy="1325563"/>
          </a:xfrm>
        </p:spPr>
        <p:txBody>
          <a:bodyPr/>
          <a:lstStyle/>
          <a:p>
            <a:pPr algn="ctr"/>
            <a:r>
              <a:rPr lang="en-US" altLang="zh-CN" b="1" dirty="0" err="1"/>
              <a:t>fs_pwm</a:t>
            </a:r>
            <a:r>
              <a:rPr lang="zh-CN" altLang="en-US" b="1" dirty="0"/>
              <a:t>实验程序（</a:t>
            </a:r>
            <a:r>
              <a:rPr lang="en-US" altLang="zh-CN" b="1" dirty="0"/>
              <a:t>2</a:t>
            </a:r>
            <a:r>
              <a:rPr lang="zh-CN" altLang="en-US" b="1" dirty="0"/>
              <a:t>）</a:t>
            </a:r>
          </a:p>
        </p:txBody>
      </p:sp>
      <p:sp>
        <p:nvSpPr>
          <p:cNvPr id="11" name="文本框 10">
            <a:extLst>
              <a:ext uri="{FF2B5EF4-FFF2-40B4-BE49-F238E27FC236}">
                <a16:creationId xmlns:a16="http://schemas.microsoft.com/office/drawing/2014/main" id="{DE884647-3956-B0B3-CD6A-E1A654FFABE5}"/>
              </a:ext>
            </a:extLst>
          </p:cNvPr>
          <p:cNvSpPr txBox="1"/>
          <p:nvPr/>
        </p:nvSpPr>
        <p:spPr>
          <a:xfrm>
            <a:off x="8815535" y="1875354"/>
            <a:ext cx="2246387" cy="2862322"/>
          </a:xfrm>
          <a:prstGeom prst="rect">
            <a:avLst/>
          </a:prstGeom>
          <a:solidFill>
            <a:schemeClr val="bg1"/>
          </a:solidFill>
          <a:ln w="19050">
            <a:solidFill>
              <a:schemeClr val="tx1"/>
            </a:solidFill>
          </a:ln>
        </p:spPr>
        <p:txBody>
          <a:bodyPr wrap="square" rtlCol="0">
            <a:spAutoFit/>
          </a:bodyPr>
          <a:lstStyle/>
          <a:p>
            <a:r>
              <a:rPr lang="en-US" altLang="zh-CN" b="1" dirty="0"/>
              <a:t>3</a:t>
            </a:r>
            <a:r>
              <a:rPr lang="zh-CN" altLang="en-US" b="1" dirty="0"/>
              <a:t>个函数</a:t>
            </a:r>
            <a:endParaRPr lang="en-US" altLang="zh-CN" b="1" dirty="0"/>
          </a:p>
          <a:p>
            <a:r>
              <a:rPr lang="en-US" altLang="zh-CN" b="1" dirty="0"/>
              <a:t>FsPwm_1_Init()</a:t>
            </a:r>
          </a:p>
          <a:p>
            <a:r>
              <a:rPr lang="en-US" altLang="zh-CN" b="1" dirty="0" err="1"/>
              <a:t>FsEnable</a:t>
            </a:r>
            <a:r>
              <a:rPr lang="en-US" altLang="zh-CN" b="1" dirty="0"/>
              <a:t>()</a:t>
            </a:r>
          </a:p>
          <a:p>
            <a:r>
              <a:rPr lang="en-US" altLang="zh-CN" b="1" dirty="0" err="1"/>
              <a:t>FsSetDuty</a:t>
            </a:r>
            <a:r>
              <a:rPr lang="en-US" altLang="zh-CN" b="1" dirty="0"/>
              <a:t>()</a:t>
            </a:r>
          </a:p>
          <a:p>
            <a:r>
              <a:rPr lang="zh-CN" altLang="en-US" b="1" dirty="0"/>
              <a:t>由</a:t>
            </a:r>
            <a:r>
              <a:rPr lang="en-US" altLang="zh-CN" b="1" dirty="0"/>
              <a:t>fs3399_pwm.c</a:t>
            </a:r>
            <a:r>
              <a:rPr lang="zh-CN" altLang="en-US" b="1" dirty="0"/>
              <a:t>提供</a:t>
            </a:r>
            <a:endParaRPr lang="en-US" altLang="zh-CN" b="1" dirty="0"/>
          </a:p>
          <a:p>
            <a:endParaRPr lang="en-US" altLang="zh-CN" b="1" dirty="0"/>
          </a:p>
          <a:p>
            <a:r>
              <a:rPr lang="zh-CN" altLang="en-US" b="1" dirty="0"/>
              <a:t>另一个函数</a:t>
            </a:r>
            <a:endParaRPr lang="en-US" altLang="zh-CN" b="1" dirty="0"/>
          </a:p>
          <a:p>
            <a:r>
              <a:rPr lang="en-US" altLang="zh-CN" b="1" dirty="0" err="1"/>
              <a:t>Fs_delay_ms</a:t>
            </a:r>
            <a:r>
              <a:rPr lang="en-US" altLang="zh-CN" b="1" dirty="0"/>
              <a:t>()</a:t>
            </a:r>
          </a:p>
          <a:p>
            <a:r>
              <a:rPr lang="zh-CN" altLang="en-US" b="1" dirty="0"/>
              <a:t>由</a:t>
            </a:r>
            <a:r>
              <a:rPr lang="en-US" altLang="zh-CN" b="1" dirty="0"/>
              <a:t>fs3399_timer.c</a:t>
            </a:r>
            <a:r>
              <a:rPr lang="zh-CN" altLang="en-US" b="1" dirty="0"/>
              <a:t>提供</a:t>
            </a:r>
          </a:p>
        </p:txBody>
      </p:sp>
      <p:cxnSp>
        <p:nvCxnSpPr>
          <p:cNvPr id="22" name="直接箭头连接符 21">
            <a:extLst>
              <a:ext uri="{FF2B5EF4-FFF2-40B4-BE49-F238E27FC236}">
                <a16:creationId xmlns:a16="http://schemas.microsoft.com/office/drawing/2014/main" id="{08E2F3CD-F3D4-7259-4915-44FD7F8DDD8E}"/>
              </a:ext>
            </a:extLst>
          </p:cNvPr>
          <p:cNvCxnSpPr>
            <a:cxnSpLocks/>
          </p:cNvCxnSpPr>
          <p:nvPr/>
        </p:nvCxnSpPr>
        <p:spPr>
          <a:xfrm flipH="1">
            <a:off x="5992270" y="4511330"/>
            <a:ext cx="382042"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C9F1A932-5762-08C0-F9A9-9A5B5A7D4853}"/>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sp>
        <p:nvSpPr>
          <p:cNvPr id="3" name="文本框 2">
            <a:extLst>
              <a:ext uri="{FF2B5EF4-FFF2-40B4-BE49-F238E27FC236}">
                <a16:creationId xmlns:a16="http://schemas.microsoft.com/office/drawing/2014/main" id="{DB5242A6-2D0F-DE36-EA85-1C2FF9043FB4}"/>
              </a:ext>
            </a:extLst>
          </p:cNvPr>
          <p:cNvSpPr txBox="1"/>
          <p:nvPr/>
        </p:nvSpPr>
        <p:spPr>
          <a:xfrm>
            <a:off x="6659044" y="4326664"/>
            <a:ext cx="1864613" cy="369332"/>
          </a:xfrm>
          <a:prstGeom prst="rect">
            <a:avLst/>
          </a:prstGeom>
          <a:solidFill>
            <a:srgbClr val="FFFF00"/>
          </a:solidFill>
        </p:spPr>
        <p:txBody>
          <a:bodyPr wrap="none" rtlCol="0">
            <a:spAutoFit/>
          </a:bodyPr>
          <a:lstStyle/>
          <a:p>
            <a:r>
              <a:rPr lang="en-US" altLang="zh-CN" b="1" dirty="0"/>
              <a:t>LED1</a:t>
            </a:r>
            <a:r>
              <a:rPr lang="zh-CN" altLang="en-US" b="1" dirty="0"/>
              <a:t>灯由暗变亮</a:t>
            </a:r>
          </a:p>
        </p:txBody>
      </p:sp>
      <p:sp>
        <p:nvSpPr>
          <p:cNvPr id="4" name="文本框 3">
            <a:extLst>
              <a:ext uri="{FF2B5EF4-FFF2-40B4-BE49-F238E27FC236}">
                <a16:creationId xmlns:a16="http://schemas.microsoft.com/office/drawing/2014/main" id="{CF5323F5-3BE4-436F-E724-781D66FC4024}"/>
              </a:ext>
            </a:extLst>
          </p:cNvPr>
          <p:cNvSpPr txBox="1"/>
          <p:nvPr/>
        </p:nvSpPr>
        <p:spPr>
          <a:xfrm>
            <a:off x="6659043" y="5274745"/>
            <a:ext cx="1864613" cy="369332"/>
          </a:xfrm>
          <a:prstGeom prst="rect">
            <a:avLst/>
          </a:prstGeom>
          <a:solidFill>
            <a:srgbClr val="FFFF00"/>
          </a:solidFill>
        </p:spPr>
        <p:txBody>
          <a:bodyPr wrap="none" rtlCol="0">
            <a:spAutoFit/>
          </a:bodyPr>
          <a:lstStyle/>
          <a:p>
            <a:r>
              <a:rPr lang="en-US" altLang="zh-CN" b="1" dirty="0"/>
              <a:t>LED1</a:t>
            </a:r>
            <a:r>
              <a:rPr lang="zh-CN" altLang="en-US" b="1" dirty="0"/>
              <a:t>灯由亮变暗</a:t>
            </a:r>
          </a:p>
        </p:txBody>
      </p:sp>
      <p:cxnSp>
        <p:nvCxnSpPr>
          <p:cNvPr id="8" name="直接箭头连接符 7">
            <a:extLst>
              <a:ext uri="{FF2B5EF4-FFF2-40B4-BE49-F238E27FC236}">
                <a16:creationId xmlns:a16="http://schemas.microsoft.com/office/drawing/2014/main" id="{4D8BF699-19D4-6A93-EBB6-DEFCA6C81C6F}"/>
              </a:ext>
            </a:extLst>
          </p:cNvPr>
          <p:cNvCxnSpPr>
            <a:cxnSpLocks/>
          </p:cNvCxnSpPr>
          <p:nvPr/>
        </p:nvCxnSpPr>
        <p:spPr>
          <a:xfrm flipH="1">
            <a:off x="5856404" y="5459411"/>
            <a:ext cx="382042"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对话气泡: 圆角矩形 8">
            <a:extLst>
              <a:ext uri="{FF2B5EF4-FFF2-40B4-BE49-F238E27FC236}">
                <a16:creationId xmlns:a16="http://schemas.microsoft.com/office/drawing/2014/main" id="{30F0B279-1B2D-4DD7-9B2C-A3CFCC1DC4BE}"/>
              </a:ext>
            </a:extLst>
          </p:cNvPr>
          <p:cNvSpPr/>
          <p:nvPr/>
        </p:nvSpPr>
        <p:spPr>
          <a:xfrm>
            <a:off x="1673679" y="4150080"/>
            <a:ext cx="1598870" cy="665490"/>
          </a:xfrm>
          <a:prstGeom prst="wedgeRoundRectCallout">
            <a:avLst>
              <a:gd name="adj1" fmla="val 70869"/>
              <a:gd name="adj2" fmla="val -2460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C00000"/>
                </a:solidFill>
              </a:rPr>
              <a:t>注意循环变量的增减方向</a:t>
            </a:r>
          </a:p>
        </p:txBody>
      </p:sp>
    </p:spTree>
    <p:extLst>
      <p:ext uri="{BB962C8B-B14F-4D97-AF65-F5344CB8AC3E}">
        <p14:creationId xmlns:p14="http://schemas.microsoft.com/office/powerpoint/2010/main" val="920865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4A68396C-F89C-9CB6-C8E7-E7C2471F1049}"/>
              </a:ext>
            </a:extLst>
          </p:cNvPr>
          <p:cNvSpPr>
            <a:spLocks noGrp="1"/>
          </p:cNvSpPr>
          <p:nvPr>
            <p:ph idx="1"/>
          </p:nvPr>
        </p:nvSpPr>
        <p:spPr>
          <a:xfrm>
            <a:off x="1121756" y="1819970"/>
            <a:ext cx="2313445" cy="645642"/>
          </a:xfrm>
        </p:spPr>
        <p:txBody>
          <a:bodyPr>
            <a:normAutofit/>
          </a:bodyPr>
          <a:lstStyle/>
          <a:p>
            <a:r>
              <a:rPr lang="en-US" altLang="zh-CN" sz="2000" b="1" dirty="0"/>
              <a:t>3</a:t>
            </a:r>
            <a:r>
              <a:rPr lang="zh-CN" altLang="en-US" sz="2000" b="1" dirty="0"/>
              <a:t>、</a:t>
            </a:r>
            <a:r>
              <a:rPr lang="en-US" altLang="zh-CN" sz="2000" b="1" dirty="0"/>
              <a:t>fs3399_pwm.c</a:t>
            </a:r>
            <a:endParaRPr lang="zh-CN" altLang="en-US" sz="2000" b="1" dirty="0"/>
          </a:p>
        </p:txBody>
      </p:sp>
      <p:sp>
        <p:nvSpPr>
          <p:cNvPr id="7" name="标题 1">
            <a:extLst>
              <a:ext uri="{FF2B5EF4-FFF2-40B4-BE49-F238E27FC236}">
                <a16:creationId xmlns:a16="http://schemas.microsoft.com/office/drawing/2014/main" id="{2514A85E-2E56-910B-49F8-5FD65762389D}"/>
              </a:ext>
            </a:extLst>
          </p:cNvPr>
          <p:cNvSpPr>
            <a:spLocks noGrp="1"/>
          </p:cNvSpPr>
          <p:nvPr>
            <p:ph type="title"/>
          </p:nvPr>
        </p:nvSpPr>
        <p:spPr>
          <a:xfrm>
            <a:off x="838200" y="365125"/>
            <a:ext cx="10515600" cy="1325563"/>
          </a:xfrm>
        </p:spPr>
        <p:txBody>
          <a:bodyPr/>
          <a:lstStyle/>
          <a:p>
            <a:pPr algn="ctr"/>
            <a:r>
              <a:rPr lang="en-US" altLang="zh-CN" b="1" dirty="0" err="1"/>
              <a:t>fs_pwm</a:t>
            </a:r>
            <a:r>
              <a:rPr lang="zh-CN" altLang="en-US" b="1" dirty="0"/>
              <a:t>实验程序（</a:t>
            </a:r>
            <a:r>
              <a:rPr lang="en-US" altLang="zh-CN" b="1" dirty="0"/>
              <a:t>3</a:t>
            </a:r>
            <a:r>
              <a:rPr lang="zh-CN" altLang="en-US" b="1" dirty="0"/>
              <a:t>）</a:t>
            </a:r>
          </a:p>
        </p:txBody>
      </p:sp>
      <p:cxnSp>
        <p:nvCxnSpPr>
          <p:cNvPr id="17" name="直接箭头连接符 16">
            <a:extLst>
              <a:ext uri="{FF2B5EF4-FFF2-40B4-BE49-F238E27FC236}">
                <a16:creationId xmlns:a16="http://schemas.microsoft.com/office/drawing/2014/main" id="{B4FEDDC8-6564-17E3-AC6B-F17473DCE046}"/>
              </a:ext>
            </a:extLst>
          </p:cNvPr>
          <p:cNvCxnSpPr>
            <a:cxnSpLocks/>
          </p:cNvCxnSpPr>
          <p:nvPr/>
        </p:nvCxnSpPr>
        <p:spPr>
          <a:xfrm>
            <a:off x="7100170" y="2997894"/>
            <a:ext cx="44467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6BBACE82-52DC-D6DA-308A-54FCC0034BE1}"/>
              </a:ext>
            </a:extLst>
          </p:cNvPr>
          <p:cNvPicPr>
            <a:picLocks noChangeAspect="1"/>
          </p:cNvPicPr>
          <p:nvPr/>
        </p:nvPicPr>
        <p:blipFill>
          <a:blip r:embed="rId2"/>
          <a:stretch>
            <a:fillRect/>
          </a:stretch>
        </p:blipFill>
        <p:spPr>
          <a:xfrm>
            <a:off x="4666691" y="1603006"/>
            <a:ext cx="4126940" cy="5167312"/>
          </a:xfrm>
          <a:prstGeom prst="rect">
            <a:avLst/>
          </a:prstGeom>
        </p:spPr>
      </p:pic>
      <p:cxnSp>
        <p:nvCxnSpPr>
          <p:cNvPr id="5" name="直接箭头连接符 4">
            <a:extLst>
              <a:ext uri="{FF2B5EF4-FFF2-40B4-BE49-F238E27FC236}">
                <a16:creationId xmlns:a16="http://schemas.microsoft.com/office/drawing/2014/main" id="{8C3D1B6D-ED21-E414-1D8B-48B1E12A850D}"/>
              </a:ext>
            </a:extLst>
          </p:cNvPr>
          <p:cNvCxnSpPr>
            <a:cxnSpLocks/>
          </p:cNvCxnSpPr>
          <p:nvPr/>
        </p:nvCxnSpPr>
        <p:spPr>
          <a:xfrm>
            <a:off x="4150289" y="2283910"/>
            <a:ext cx="44467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E7EA78EF-B760-A27C-B576-8B008D79CC3C}"/>
              </a:ext>
            </a:extLst>
          </p:cNvPr>
          <p:cNvCxnSpPr>
            <a:cxnSpLocks/>
          </p:cNvCxnSpPr>
          <p:nvPr/>
        </p:nvCxnSpPr>
        <p:spPr>
          <a:xfrm>
            <a:off x="4150289" y="4780966"/>
            <a:ext cx="44467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6F3EADF-668B-E919-2EE8-583B88B3FDC4}"/>
              </a:ext>
            </a:extLst>
          </p:cNvPr>
          <p:cNvCxnSpPr>
            <a:cxnSpLocks/>
          </p:cNvCxnSpPr>
          <p:nvPr/>
        </p:nvCxnSpPr>
        <p:spPr>
          <a:xfrm>
            <a:off x="4150289" y="6300590"/>
            <a:ext cx="44467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38BEFD1-826D-64A6-49C9-DAD2D623630C}"/>
              </a:ext>
            </a:extLst>
          </p:cNvPr>
          <p:cNvSpPr txBox="1"/>
          <p:nvPr/>
        </p:nvSpPr>
        <p:spPr>
          <a:xfrm>
            <a:off x="7544844" y="2380559"/>
            <a:ext cx="2420856" cy="307777"/>
          </a:xfrm>
          <a:prstGeom prst="rect">
            <a:avLst/>
          </a:prstGeom>
          <a:solidFill>
            <a:srgbClr val="FFFF00"/>
          </a:solidFill>
        </p:spPr>
        <p:txBody>
          <a:bodyPr wrap="none" rtlCol="0">
            <a:spAutoFit/>
          </a:bodyPr>
          <a:lstStyle/>
          <a:p>
            <a:r>
              <a:rPr lang="en-US" altLang="zh-CN" sz="1400" b="1" dirty="0"/>
              <a:t>GRF_GPIO4C_IOMUX</a:t>
            </a:r>
            <a:r>
              <a:rPr lang="zh-CN" altLang="en-US" sz="1400" b="1" dirty="0"/>
              <a:t>寄存器</a:t>
            </a:r>
          </a:p>
        </p:txBody>
      </p:sp>
      <p:sp>
        <p:nvSpPr>
          <p:cNvPr id="23" name="文本框 22">
            <a:extLst>
              <a:ext uri="{FF2B5EF4-FFF2-40B4-BE49-F238E27FC236}">
                <a16:creationId xmlns:a16="http://schemas.microsoft.com/office/drawing/2014/main" id="{FDB1481C-4C09-3085-B529-A6EF60639BCD}"/>
              </a:ext>
            </a:extLst>
          </p:cNvPr>
          <p:cNvSpPr txBox="1"/>
          <p:nvPr/>
        </p:nvSpPr>
        <p:spPr>
          <a:xfrm>
            <a:off x="9286465" y="3626283"/>
            <a:ext cx="1893467" cy="307777"/>
          </a:xfrm>
          <a:prstGeom prst="rect">
            <a:avLst/>
          </a:prstGeom>
          <a:solidFill>
            <a:srgbClr val="FFFF00"/>
          </a:solidFill>
        </p:spPr>
        <p:txBody>
          <a:bodyPr wrap="none" rtlCol="0">
            <a:spAutoFit/>
          </a:bodyPr>
          <a:lstStyle/>
          <a:p>
            <a:r>
              <a:rPr lang="en-US" altLang="zh-CN" sz="1400" b="1" dirty="0"/>
              <a:t>PWM1-&gt;CTRL</a:t>
            </a:r>
            <a:r>
              <a:rPr lang="zh-CN" altLang="en-US" sz="1400" b="1" dirty="0"/>
              <a:t>寄存器</a:t>
            </a:r>
          </a:p>
        </p:txBody>
      </p:sp>
      <p:sp>
        <p:nvSpPr>
          <p:cNvPr id="25" name="文本框 24">
            <a:extLst>
              <a:ext uri="{FF2B5EF4-FFF2-40B4-BE49-F238E27FC236}">
                <a16:creationId xmlns:a16="http://schemas.microsoft.com/office/drawing/2014/main" id="{7700C118-BF74-E855-4196-AF552E828151}"/>
              </a:ext>
            </a:extLst>
          </p:cNvPr>
          <p:cNvSpPr txBox="1"/>
          <p:nvPr/>
        </p:nvSpPr>
        <p:spPr>
          <a:xfrm>
            <a:off x="7495261" y="5171941"/>
            <a:ext cx="2529860" cy="307777"/>
          </a:xfrm>
          <a:prstGeom prst="rect">
            <a:avLst/>
          </a:prstGeom>
          <a:solidFill>
            <a:srgbClr val="FFFF00"/>
          </a:solidFill>
        </p:spPr>
        <p:txBody>
          <a:bodyPr wrap="none" rtlCol="0">
            <a:spAutoFit/>
          </a:bodyPr>
          <a:lstStyle>
            <a:defPPr>
              <a:defRPr lang="zh-CN"/>
            </a:defPPr>
            <a:lvl1pPr>
              <a:defRPr sz="1400" b="1"/>
            </a:lvl1pPr>
          </a:lstStyle>
          <a:p>
            <a:r>
              <a:rPr lang="zh-CN" altLang="en-US" dirty="0"/>
              <a:t>PWM1-&gt;PERIOD_HPR寄存器</a:t>
            </a:r>
          </a:p>
        </p:txBody>
      </p:sp>
      <p:sp>
        <p:nvSpPr>
          <p:cNvPr id="27" name="文本框 26">
            <a:extLst>
              <a:ext uri="{FF2B5EF4-FFF2-40B4-BE49-F238E27FC236}">
                <a16:creationId xmlns:a16="http://schemas.microsoft.com/office/drawing/2014/main" id="{B1F62089-3061-6E25-02EC-EE61D34ED3E8}"/>
              </a:ext>
            </a:extLst>
          </p:cNvPr>
          <p:cNvSpPr txBox="1"/>
          <p:nvPr/>
        </p:nvSpPr>
        <p:spPr>
          <a:xfrm>
            <a:off x="7506811" y="5674452"/>
            <a:ext cx="2318263" cy="307777"/>
          </a:xfrm>
          <a:prstGeom prst="rect">
            <a:avLst/>
          </a:prstGeom>
          <a:solidFill>
            <a:srgbClr val="FFFF00"/>
          </a:solidFill>
        </p:spPr>
        <p:txBody>
          <a:bodyPr wrap="none" rtlCol="0">
            <a:spAutoFit/>
          </a:bodyPr>
          <a:lstStyle>
            <a:defPPr>
              <a:defRPr lang="zh-CN"/>
            </a:defPPr>
            <a:lvl1pPr>
              <a:defRPr sz="1400" b="1"/>
            </a:lvl1pPr>
          </a:lstStyle>
          <a:p>
            <a:r>
              <a:rPr lang="zh-CN" altLang="en-US" dirty="0"/>
              <a:t>PWM1-&gt;DUTY_LPR寄存器</a:t>
            </a:r>
          </a:p>
        </p:txBody>
      </p:sp>
      <p:sp>
        <p:nvSpPr>
          <p:cNvPr id="2" name="文本框 1">
            <a:extLst>
              <a:ext uri="{FF2B5EF4-FFF2-40B4-BE49-F238E27FC236}">
                <a16:creationId xmlns:a16="http://schemas.microsoft.com/office/drawing/2014/main" id="{CC282192-005F-FB99-7ADE-E18FB4296272}"/>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sp>
        <p:nvSpPr>
          <p:cNvPr id="3" name="文本框 2">
            <a:extLst>
              <a:ext uri="{FF2B5EF4-FFF2-40B4-BE49-F238E27FC236}">
                <a16:creationId xmlns:a16="http://schemas.microsoft.com/office/drawing/2014/main" id="{6DCBEDBF-E880-6863-B75C-6B41EA4218B8}"/>
              </a:ext>
            </a:extLst>
          </p:cNvPr>
          <p:cNvSpPr txBox="1"/>
          <p:nvPr/>
        </p:nvSpPr>
        <p:spPr>
          <a:xfrm>
            <a:off x="1609383" y="3384970"/>
            <a:ext cx="2763243" cy="369332"/>
          </a:xfrm>
          <a:prstGeom prst="rect">
            <a:avLst/>
          </a:prstGeom>
          <a:solidFill>
            <a:srgbClr val="FFFF00"/>
          </a:solidFill>
        </p:spPr>
        <p:txBody>
          <a:bodyPr wrap="square" rtlCol="0">
            <a:spAutoFit/>
          </a:bodyPr>
          <a:lstStyle/>
          <a:p>
            <a:r>
              <a:rPr lang="zh-CN" altLang="en-US" b="1" dirty="0"/>
              <a:t>定义</a:t>
            </a:r>
            <a:r>
              <a:rPr lang="en-US" altLang="zh-CN" b="1" dirty="0"/>
              <a:t>main</a:t>
            </a:r>
            <a:r>
              <a:rPr lang="zh-CN" altLang="en-US" b="1" dirty="0"/>
              <a:t>调用的</a:t>
            </a:r>
            <a:r>
              <a:rPr lang="en-US" altLang="zh-CN" b="1" dirty="0"/>
              <a:t>3</a:t>
            </a:r>
            <a:r>
              <a:rPr lang="zh-CN" altLang="en-US" b="1" dirty="0"/>
              <a:t>个函数</a:t>
            </a:r>
          </a:p>
        </p:txBody>
      </p:sp>
    </p:spTree>
    <p:extLst>
      <p:ext uri="{BB962C8B-B14F-4D97-AF65-F5344CB8AC3E}">
        <p14:creationId xmlns:p14="http://schemas.microsoft.com/office/powerpoint/2010/main" val="41418484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0CB0EB-4CC6-4492-8563-F656272CEBE2}"/>
              </a:ext>
            </a:extLst>
          </p:cNvPr>
          <p:cNvSpPr>
            <a:spLocks noGrp="1"/>
          </p:cNvSpPr>
          <p:nvPr>
            <p:ph type="title"/>
          </p:nvPr>
        </p:nvSpPr>
        <p:spPr>
          <a:xfrm>
            <a:off x="838200" y="365125"/>
            <a:ext cx="10515600" cy="1325563"/>
          </a:xfrm>
        </p:spPr>
        <p:txBody>
          <a:bodyPr/>
          <a:lstStyle/>
          <a:p>
            <a:pPr algn="ctr"/>
            <a:r>
              <a:rPr lang="en-US" altLang="zh-CN" b="1" dirty="0" err="1"/>
              <a:t>fs_pwm</a:t>
            </a:r>
            <a:r>
              <a:rPr lang="zh-CN" altLang="en-US" b="1" dirty="0"/>
              <a:t>实验程序（</a:t>
            </a:r>
            <a:r>
              <a:rPr lang="en-US" altLang="zh-CN" b="1" dirty="0"/>
              <a:t>4</a:t>
            </a:r>
            <a:r>
              <a:rPr lang="zh-CN" altLang="en-US" b="1" dirty="0"/>
              <a:t>）</a:t>
            </a:r>
          </a:p>
        </p:txBody>
      </p:sp>
      <p:sp>
        <p:nvSpPr>
          <p:cNvPr id="7" name="内容占位符 2">
            <a:extLst>
              <a:ext uri="{FF2B5EF4-FFF2-40B4-BE49-F238E27FC236}">
                <a16:creationId xmlns:a16="http://schemas.microsoft.com/office/drawing/2014/main" id="{1C485E96-7126-F9E9-87D0-C4A2AC754A53}"/>
              </a:ext>
            </a:extLst>
          </p:cNvPr>
          <p:cNvSpPr>
            <a:spLocks noGrp="1"/>
          </p:cNvSpPr>
          <p:nvPr>
            <p:ph idx="1"/>
          </p:nvPr>
        </p:nvSpPr>
        <p:spPr>
          <a:xfrm>
            <a:off x="1226477" y="1875354"/>
            <a:ext cx="2394857" cy="435882"/>
          </a:xfrm>
        </p:spPr>
        <p:txBody>
          <a:bodyPr>
            <a:normAutofit/>
          </a:bodyPr>
          <a:lstStyle/>
          <a:p>
            <a:r>
              <a:rPr lang="en-US" altLang="zh-CN" sz="2000" b="1" dirty="0"/>
              <a:t>4</a:t>
            </a:r>
            <a:r>
              <a:rPr lang="zh-CN" altLang="en-US" sz="2000" b="1" dirty="0"/>
              <a:t>、</a:t>
            </a:r>
            <a:r>
              <a:rPr lang="en-US" altLang="zh-CN" sz="2000" b="1" dirty="0"/>
              <a:t>fs3399_timer.c</a:t>
            </a:r>
            <a:endParaRPr lang="zh-CN" altLang="en-US" sz="2000" b="1" dirty="0"/>
          </a:p>
        </p:txBody>
      </p:sp>
      <p:cxnSp>
        <p:nvCxnSpPr>
          <p:cNvPr id="5" name="直接箭头连接符 4">
            <a:extLst>
              <a:ext uri="{FF2B5EF4-FFF2-40B4-BE49-F238E27FC236}">
                <a16:creationId xmlns:a16="http://schemas.microsoft.com/office/drawing/2014/main" id="{DBDCE5F4-0A04-908E-638B-86D720484FA6}"/>
              </a:ext>
            </a:extLst>
          </p:cNvPr>
          <p:cNvCxnSpPr/>
          <p:nvPr/>
        </p:nvCxnSpPr>
        <p:spPr>
          <a:xfrm>
            <a:off x="3603216" y="5249866"/>
            <a:ext cx="48006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56873FF1-B066-2D3E-142D-2500125AE34A}"/>
              </a:ext>
            </a:extLst>
          </p:cNvPr>
          <p:cNvSpPr txBox="1"/>
          <p:nvPr/>
        </p:nvSpPr>
        <p:spPr>
          <a:xfrm>
            <a:off x="838200" y="4973816"/>
            <a:ext cx="2783134" cy="369332"/>
          </a:xfrm>
          <a:prstGeom prst="rect">
            <a:avLst/>
          </a:prstGeom>
          <a:solidFill>
            <a:srgbClr val="FFFF00"/>
          </a:solidFill>
        </p:spPr>
        <p:txBody>
          <a:bodyPr wrap="none" rtlCol="0">
            <a:spAutoFit/>
          </a:bodyPr>
          <a:lstStyle/>
          <a:p>
            <a:r>
              <a:rPr lang="zh-CN" altLang="en-US" b="1" dirty="0"/>
              <a:t>定义</a:t>
            </a:r>
            <a:r>
              <a:rPr lang="en-US" altLang="zh-CN" b="1" dirty="0"/>
              <a:t>main</a:t>
            </a:r>
            <a:r>
              <a:rPr lang="zh-CN" altLang="en-US" b="1" dirty="0"/>
              <a:t>调用的延时程序</a:t>
            </a:r>
          </a:p>
        </p:txBody>
      </p:sp>
      <p:sp>
        <p:nvSpPr>
          <p:cNvPr id="6" name="文本框 5">
            <a:extLst>
              <a:ext uri="{FF2B5EF4-FFF2-40B4-BE49-F238E27FC236}">
                <a16:creationId xmlns:a16="http://schemas.microsoft.com/office/drawing/2014/main" id="{9144F6D5-DAFF-A609-7BC8-CC4E11EB2DDE}"/>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pic>
        <p:nvPicPr>
          <p:cNvPr id="9" name="图片 8">
            <a:extLst>
              <a:ext uri="{FF2B5EF4-FFF2-40B4-BE49-F238E27FC236}">
                <a16:creationId xmlns:a16="http://schemas.microsoft.com/office/drawing/2014/main" id="{71354644-A38A-C724-DE84-0119B67CDDFC}"/>
              </a:ext>
            </a:extLst>
          </p:cNvPr>
          <p:cNvPicPr>
            <a:picLocks noChangeAspect="1"/>
          </p:cNvPicPr>
          <p:nvPr/>
        </p:nvPicPr>
        <p:blipFill>
          <a:blip r:embed="rId2"/>
          <a:stretch>
            <a:fillRect/>
          </a:stretch>
        </p:blipFill>
        <p:spPr>
          <a:xfrm>
            <a:off x="4293143" y="1746244"/>
            <a:ext cx="5142741" cy="5061652"/>
          </a:xfrm>
          <a:prstGeom prst="rect">
            <a:avLst/>
          </a:prstGeom>
        </p:spPr>
      </p:pic>
    </p:spTree>
    <p:extLst>
      <p:ext uri="{BB962C8B-B14F-4D97-AF65-F5344CB8AC3E}">
        <p14:creationId xmlns:p14="http://schemas.microsoft.com/office/powerpoint/2010/main" val="21161263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4A68396C-F89C-9CB6-C8E7-E7C2471F1049}"/>
              </a:ext>
            </a:extLst>
          </p:cNvPr>
          <p:cNvSpPr>
            <a:spLocks noGrp="1"/>
          </p:cNvSpPr>
          <p:nvPr>
            <p:ph idx="1"/>
          </p:nvPr>
        </p:nvSpPr>
        <p:spPr>
          <a:xfrm>
            <a:off x="1148443" y="1825625"/>
            <a:ext cx="2452007" cy="395061"/>
          </a:xfrm>
        </p:spPr>
        <p:txBody>
          <a:bodyPr>
            <a:normAutofit/>
          </a:bodyPr>
          <a:lstStyle/>
          <a:p>
            <a:r>
              <a:rPr lang="en-US" altLang="zh-CN" sz="2000" b="1" dirty="0"/>
              <a:t>5</a:t>
            </a:r>
            <a:r>
              <a:rPr lang="zh-CN" altLang="en-US" sz="2000" b="1" dirty="0"/>
              <a:t>、</a:t>
            </a:r>
            <a:r>
              <a:rPr lang="en-US" altLang="zh-CN" sz="2000" b="1" dirty="0"/>
              <a:t>fs3399_pwm.h</a:t>
            </a:r>
            <a:endParaRPr lang="zh-CN" altLang="en-US" sz="2000" b="1" dirty="0"/>
          </a:p>
        </p:txBody>
      </p:sp>
      <p:sp>
        <p:nvSpPr>
          <p:cNvPr id="7" name="标题 1">
            <a:extLst>
              <a:ext uri="{FF2B5EF4-FFF2-40B4-BE49-F238E27FC236}">
                <a16:creationId xmlns:a16="http://schemas.microsoft.com/office/drawing/2014/main" id="{2514A85E-2E56-910B-49F8-5FD65762389D}"/>
              </a:ext>
            </a:extLst>
          </p:cNvPr>
          <p:cNvSpPr>
            <a:spLocks noGrp="1"/>
          </p:cNvSpPr>
          <p:nvPr>
            <p:ph type="title"/>
          </p:nvPr>
        </p:nvSpPr>
        <p:spPr>
          <a:xfrm>
            <a:off x="838200" y="365125"/>
            <a:ext cx="10515600" cy="1325563"/>
          </a:xfrm>
        </p:spPr>
        <p:txBody>
          <a:bodyPr/>
          <a:lstStyle/>
          <a:p>
            <a:pPr algn="ctr"/>
            <a:r>
              <a:rPr lang="en-US" altLang="zh-CN" b="1" dirty="0" err="1"/>
              <a:t>fs_pwm</a:t>
            </a:r>
            <a:r>
              <a:rPr lang="zh-CN" altLang="en-US" b="1" dirty="0"/>
              <a:t>实验程序（</a:t>
            </a:r>
            <a:r>
              <a:rPr lang="en-US" altLang="zh-CN" b="1" dirty="0"/>
              <a:t>5</a:t>
            </a:r>
            <a:r>
              <a:rPr lang="zh-CN" altLang="en-US" b="1" dirty="0"/>
              <a:t>）</a:t>
            </a:r>
          </a:p>
        </p:txBody>
      </p:sp>
      <p:cxnSp>
        <p:nvCxnSpPr>
          <p:cNvPr id="3" name="直接箭头连接符 2">
            <a:extLst>
              <a:ext uri="{FF2B5EF4-FFF2-40B4-BE49-F238E27FC236}">
                <a16:creationId xmlns:a16="http://schemas.microsoft.com/office/drawing/2014/main" id="{162A5DFF-A963-F341-6485-88D0CC36BF14}"/>
              </a:ext>
            </a:extLst>
          </p:cNvPr>
          <p:cNvCxnSpPr>
            <a:cxnSpLocks/>
          </p:cNvCxnSpPr>
          <p:nvPr/>
        </p:nvCxnSpPr>
        <p:spPr>
          <a:xfrm flipH="1">
            <a:off x="5604985" y="3269294"/>
            <a:ext cx="350729"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4871E420-04C5-BA0A-D86C-6B1A7623E551}"/>
              </a:ext>
            </a:extLst>
          </p:cNvPr>
          <p:cNvPicPr>
            <a:picLocks noChangeAspect="1"/>
          </p:cNvPicPr>
          <p:nvPr/>
        </p:nvPicPr>
        <p:blipFill>
          <a:blip r:embed="rId2"/>
          <a:stretch>
            <a:fillRect/>
          </a:stretch>
        </p:blipFill>
        <p:spPr>
          <a:xfrm>
            <a:off x="4097396" y="1825625"/>
            <a:ext cx="5827162" cy="4982646"/>
          </a:xfrm>
          <a:prstGeom prst="rect">
            <a:avLst/>
          </a:prstGeom>
        </p:spPr>
      </p:pic>
      <p:sp>
        <p:nvSpPr>
          <p:cNvPr id="2" name="文本框 1">
            <a:extLst>
              <a:ext uri="{FF2B5EF4-FFF2-40B4-BE49-F238E27FC236}">
                <a16:creationId xmlns:a16="http://schemas.microsoft.com/office/drawing/2014/main" id="{9984608F-F385-4C59-EFC7-93BB13F03467}"/>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cxnSp>
        <p:nvCxnSpPr>
          <p:cNvPr id="5" name="直接箭头连接符 4">
            <a:extLst>
              <a:ext uri="{FF2B5EF4-FFF2-40B4-BE49-F238E27FC236}">
                <a16:creationId xmlns:a16="http://schemas.microsoft.com/office/drawing/2014/main" id="{485AA557-A6FE-3A30-0106-74CD6BD68A83}"/>
              </a:ext>
            </a:extLst>
          </p:cNvPr>
          <p:cNvCxnSpPr/>
          <p:nvPr/>
        </p:nvCxnSpPr>
        <p:spPr>
          <a:xfrm flipH="1">
            <a:off x="5185885" y="2461260"/>
            <a:ext cx="38862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74AF55CC-FC60-D3C3-BF95-B928DD229993}"/>
              </a:ext>
            </a:extLst>
          </p:cNvPr>
          <p:cNvCxnSpPr>
            <a:cxnSpLocks/>
          </p:cNvCxnSpPr>
          <p:nvPr/>
        </p:nvCxnSpPr>
        <p:spPr>
          <a:xfrm>
            <a:off x="3494761" y="6344433"/>
            <a:ext cx="475989"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1716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0CB0EB-4CC6-4492-8563-F656272CEBE2}"/>
              </a:ext>
            </a:extLst>
          </p:cNvPr>
          <p:cNvSpPr>
            <a:spLocks noGrp="1"/>
          </p:cNvSpPr>
          <p:nvPr>
            <p:ph type="title"/>
          </p:nvPr>
        </p:nvSpPr>
        <p:spPr>
          <a:xfrm>
            <a:off x="838200" y="365125"/>
            <a:ext cx="10515600" cy="1325563"/>
          </a:xfrm>
        </p:spPr>
        <p:txBody>
          <a:bodyPr/>
          <a:lstStyle/>
          <a:p>
            <a:pPr algn="ctr"/>
            <a:r>
              <a:rPr lang="en-US" altLang="zh-CN" b="1" dirty="0" err="1"/>
              <a:t>fs_pwm</a:t>
            </a:r>
            <a:r>
              <a:rPr lang="zh-CN" altLang="en-US" b="1" dirty="0"/>
              <a:t>实验程序（</a:t>
            </a:r>
            <a:r>
              <a:rPr lang="en-US" altLang="zh-CN" b="1" dirty="0"/>
              <a:t>6</a:t>
            </a:r>
            <a:r>
              <a:rPr lang="zh-CN" altLang="en-US" b="1" dirty="0"/>
              <a:t>）</a:t>
            </a:r>
          </a:p>
        </p:txBody>
      </p:sp>
      <p:sp>
        <p:nvSpPr>
          <p:cNvPr id="7" name="内容占位符 2">
            <a:extLst>
              <a:ext uri="{FF2B5EF4-FFF2-40B4-BE49-F238E27FC236}">
                <a16:creationId xmlns:a16="http://schemas.microsoft.com/office/drawing/2014/main" id="{1C485E96-7126-F9E9-87D0-C4A2AC754A53}"/>
              </a:ext>
            </a:extLst>
          </p:cNvPr>
          <p:cNvSpPr>
            <a:spLocks noGrp="1"/>
          </p:cNvSpPr>
          <p:nvPr>
            <p:ph idx="1"/>
          </p:nvPr>
        </p:nvSpPr>
        <p:spPr>
          <a:xfrm>
            <a:off x="1246414" y="1875354"/>
            <a:ext cx="2313214" cy="411389"/>
          </a:xfrm>
        </p:spPr>
        <p:txBody>
          <a:bodyPr>
            <a:normAutofit/>
          </a:bodyPr>
          <a:lstStyle/>
          <a:p>
            <a:r>
              <a:rPr lang="en-US" altLang="zh-CN" sz="2000" b="1" dirty="0"/>
              <a:t>6</a:t>
            </a:r>
            <a:r>
              <a:rPr lang="zh-CN" altLang="en-US" sz="2000" b="1" dirty="0"/>
              <a:t>、</a:t>
            </a:r>
            <a:r>
              <a:rPr lang="en-US" altLang="zh-CN" sz="2000" b="1" dirty="0"/>
              <a:t>fs3399_timer.h</a:t>
            </a:r>
            <a:endParaRPr lang="zh-CN" altLang="en-US" sz="2000" b="1" dirty="0"/>
          </a:p>
        </p:txBody>
      </p:sp>
      <p:pic>
        <p:nvPicPr>
          <p:cNvPr id="3" name="图片 2">
            <a:extLst>
              <a:ext uri="{FF2B5EF4-FFF2-40B4-BE49-F238E27FC236}">
                <a16:creationId xmlns:a16="http://schemas.microsoft.com/office/drawing/2014/main" id="{1B1A2028-1500-83D4-13AF-3B30BAAB1920}"/>
              </a:ext>
            </a:extLst>
          </p:cNvPr>
          <p:cNvPicPr>
            <a:picLocks noChangeAspect="1"/>
          </p:cNvPicPr>
          <p:nvPr/>
        </p:nvPicPr>
        <p:blipFill>
          <a:blip r:embed="rId2"/>
          <a:stretch>
            <a:fillRect/>
          </a:stretch>
        </p:blipFill>
        <p:spPr>
          <a:xfrm>
            <a:off x="4549507" y="1744980"/>
            <a:ext cx="4695457" cy="5113020"/>
          </a:xfrm>
          <a:prstGeom prst="rect">
            <a:avLst/>
          </a:prstGeom>
        </p:spPr>
      </p:pic>
      <p:sp>
        <p:nvSpPr>
          <p:cNvPr id="2" name="文本框 1">
            <a:extLst>
              <a:ext uri="{FF2B5EF4-FFF2-40B4-BE49-F238E27FC236}">
                <a16:creationId xmlns:a16="http://schemas.microsoft.com/office/drawing/2014/main" id="{A0B235DF-7653-A5BE-56AB-6ECD413CB948}"/>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cxnSp>
        <p:nvCxnSpPr>
          <p:cNvPr id="5" name="直接箭头连接符 4">
            <a:extLst>
              <a:ext uri="{FF2B5EF4-FFF2-40B4-BE49-F238E27FC236}">
                <a16:creationId xmlns:a16="http://schemas.microsoft.com/office/drawing/2014/main" id="{3E6E3D0D-2026-5367-7D5A-27FD7EBA161B}"/>
              </a:ext>
            </a:extLst>
          </p:cNvPr>
          <p:cNvCxnSpPr>
            <a:cxnSpLocks/>
          </p:cNvCxnSpPr>
          <p:nvPr/>
        </p:nvCxnSpPr>
        <p:spPr>
          <a:xfrm>
            <a:off x="3993566" y="6144128"/>
            <a:ext cx="475989"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9714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14E21AC-9C85-E375-35CC-0C642EB562A7}"/>
              </a:ext>
            </a:extLst>
          </p:cNvPr>
          <p:cNvPicPr>
            <a:picLocks noChangeAspect="1"/>
          </p:cNvPicPr>
          <p:nvPr/>
        </p:nvPicPr>
        <p:blipFill>
          <a:blip r:embed="rId2"/>
          <a:stretch>
            <a:fillRect/>
          </a:stretch>
        </p:blipFill>
        <p:spPr>
          <a:xfrm>
            <a:off x="2114788" y="2425172"/>
            <a:ext cx="7754963" cy="3330269"/>
          </a:xfrm>
          <a:prstGeom prst="rect">
            <a:avLst/>
          </a:prstGeom>
        </p:spPr>
      </p:pic>
      <p:sp>
        <p:nvSpPr>
          <p:cNvPr id="6" name="标题 1">
            <a:extLst>
              <a:ext uri="{FF2B5EF4-FFF2-40B4-BE49-F238E27FC236}">
                <a16:creationId xmlns:a16="http://schemas.microsoft.com/office/drawing/2014/main" id="{19F3B680-AFA7-6111-DBE6-2CC49401EE40}"/>
              </a:ext>
            </a:extLst>
          </p:cNvPr>
          <p:cNvSpPr>
            <a:spLocks noGrp="1"/>
          </p:cNvSpPr>
          <p:nvPr>
            <p:ph type="title"/>
          </p:nvPr>
        </p:nvSpPr>
        <p:spPr>
          <a:xfrm>
            <a:off x="838200" y="365125"/>
            <a:ext cx="10515600" cy="1325563"/>
          </a:xfrm>
        </p:spPr>
        <p:txBody>
          <a:bodyPr/>
          <a:lstStyle/>
          <a:p>
            <a:pPr algn="ctr"/>
            <a:r>
              <a:rPr lang="en-US" altLang="zh-CN" b="1" dirty="0" err="1"/>
              <a:t>fs_pwm</a:t>
            </a:r>
            <a:r>
              <a:rPr lang="zh-CN" altLang="en-US" b="1" dirty="0"/>
              <a:t>实验程序（</a:t>
            </a:r>
            <a:r>
              <a:rPr lang="en-US" altLang="zh-CN" b="1" dirty="0"/>
              <a:t>7</a:t>
            </a:r>
            <a:r>
              <a:rPr lang="zh-CN" altLang="en-US" b="1" dirty="0"/>
              <a:t>）</a:t>
            </a:r>
          </a:p>
        </p:txBody>
      </p:sp>
      <p:sp>
        <p:nvSpPr>
          <p:cNvPr id="8" name="内容占位符 2">
            <a:extLst>
              <a:ext uri="{FF2B5EF4-FFF2-40B4-BE49-F238E27FC236}">
                <a16:creationId xmlns:a16="http://schemas.microsoft.com/office/drawing/2014/main" id="{2E66500A-611C-CCBB-1BD0-7A2EB4684EEC}"/>
              </a:ext>
            </a:extLst>
          </p:cNvPr>
          <p:cNvSpPr>
            <a:spLocks noGrp="1"/>
          </p:cNvSpPr>
          <p:nvPr>
            <p:ph idx="1"/>
          </p:nvPr>
        </p:nvSpPr>
        <p:spPr>
          <a:xfrm>
            <a:off x="1221921" y="1825625"/>
            <a:ext cx="2256065" cy="852261"/>
          </a:xfrm>
        </p:spPr>
        <p:txBody>
          <a:bodyPr>
            <a:normAutofit/>
          </a:bodyPr>
          <a:lstStyle/>
          <a:p>
            <a:r>
              <a:rPr lang="en-US" altLang="zh-CN" sz="2000" b="1" dirty="0"/>
              <a:t>7</a:t>
            </a:r>
            <a:r>
              <a:rPr lang="zh-CN" altLang="en-US" sz="2000" b="1" dirty="0"/>
              <a:t>、</a:t>
            </a:r>
            <a:r>
              <a:rPr lang="en-US" altLang="zh-CN" sz="2000" b="1" dirty="0"/>
              <a:t>fs3399_grf.h</a:t>
            </a:r>
            <a:endParaRPr lang="zh-CN" altLang="en-US" sz="2000" b="1" dirty="0"/>
          </a:p>
        </p:txBody>
      </p:sp>
      <p:sp>
        <p:nvSpPr>
          <p:cNvPr id="2" name="文本框 1">
            <a:extLst>
              <a:ext uri="{FF2B5EF4-FFF2-40B4-BE49-F238E27FC236}">
                <a16:creationId xmlns:a16="http://schemas.microsoft.com/office/drawing/2014/main" id="{A6DAE178-0BDA-815B-5F08-1ADCDD928DB9}"/>
              </a:ext>
            </a:extLst>
          </p:cNvPr>
          <p:cNvSpPr txBox="1"/>
          <p:nvPr/>
        </p:nvSpPr>
        <p:spPr>
          <a:xfrm>
            <a:off x="3651622" y="1825625"/>
            <a:ext cx="3216010" cy="369332"/>
          </a:xfrm>
          <a:prstGeom prst="rect">
            <a:avLst/>
          </a:prstGeom>
          <a:solidFill>
            <a:srgbClr val="FFFF00"/>
          </a:solidFill>
        </p:spPr>
        <p:txBody>
          <a:bodyPr wrap="square" rtlCol="0">
            <a:spAutoFit/>
          </a:bodyPr>
          <a:lstStyle/>
          <a:p>
            <a:r>
              <a:rPr lang="zh-CN" altLang="en-US" b="1" dirty="0"/>
              <a:t>定义功能复用寄存器端口地址</a:t>
            </a:r>
          </a:p>
        </p:txBody>
      </p:sp>
      <p:sp>
        <p:nvSpPr>
          <p:cNvPr id="3" name="文本框 2">
            <a:extLst>
              <a:ext uri="{FF2B5EF4-FFF2-40B4-BE49-F238E27FC236}">
                <a16:creationId xmlns:a16="http://schemas.microsoft.com/office/drawing/2014/main" id="{ECB36329-D7E8-26F9-B1F8-C1D6BA94C8E1}"/>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spTree>
    <p:extLst>
      <p:ext uri="{BB962C8B-B14F-4D97-AF65-F5344CB8AC3E}">
        <p14:creationId xmlns:p14="http://schemas.microsoft.com/office/powerpoint/2010/main" val="2921797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EEA5DB5-6DE9-F768-1EC5-A4C00608F9EB}"/>
              </a:ext>
            </a:extLst>
          </p:cNvPr>
          <p:cNvPicPr>
            <a:picLocks noChangeAspect="1"/>
          </p:cNvPicPr>
          <p:nvPr/>
        </p:nvPicPr>
        <p:blipFill>
          <a:blip r:embed="rId2"/>
          <a:stretch>
            <a:fillRect/>
          </a:stretch>
        </p:blipFill>
        <p:spPr>
          <a:xfrm>
            <a:off x="4319450" y="1650661"/>
            <a:ext cx="4281131" cy="4747105"/>
          </a:xfrm>
          <a:prstGeom prst="rect">
            <a:avLst/>
          </a:prstGeom>
        </p:spPr>
      </p:pic>
      <p:sp>
        <p:nvSpPr>
          <p:cNvPr id="6" name="标题 1">
            <a:extLst>
              <a:ext uri="{FF2B5EF4-FFF2-40B4-BE49-F238E27FC236}">
                <a16:creationId xmlns:a16="http://schemas.microsoft.com/office/drawing/2014/main" id="{A24576F4-9D9D-B8DB-FA6B-FC5EBF7D0D9A}"/>
              </a:ext>
            </a:extLst>
          </p:cNvPr>
          <p:cNvSpPr>
            <a:spLocks noGrp="1"/>
          </p:cNvSpPr>
          <p:nvPr>
            <p:ph type="title"/>
          </p:nvPr>
        </p:nvSpPr>
        <p:spPr>
          <a:xfrm>
            <a:off x="838200" y="365125"/>
            <a:ext cx="10515600" cy="1325563"/>
          </a:xfrm>
        </p:spPr>
        <p:txBody>
          <a:bodyPr/>
          <a:lstStyle/>
          <a:p>
            <a:pPr algn="ctr"/>
            <a:r>
              <a:rPr lang="en-US" altLang="zh-CN" b="1" dirty="0" err="1"/>
              <a:t>fs_pwm</a:t>
            </a:r>
            <a:r>
              <a:rPr lang="zh-CN" altLang="en-US" b="1" dirty="0"/>
              <a:t>实验程序（</a:t>
            </a:r>
            <a:r>
              <a:rPr lang="en-US" altLang="zh-CN" b="1" dirty="0"/>
              <a:t>8</a:t>
            </a:r>
            <a:r>
              <a:rPr lang="zh-CN" altLang="en-US" b="1" dirty="0"/>
              <a:t>）</a:t>
            </a:r>
          </a:p>
        </p:txBody>
      </p:sp>
      <p:sp>
        <p:nvSpPr>
          <p:cNvPr id="7" name="内容占位符 2">
            <a:extLst>
              <a:ext uri="{FF2B5EF4-FFF2-40B4-BE49-F238E27FC236}">
                <a16:creationId xmlns:a16="http://schemas.microsoft.com/office/drawing/2014/main" id="{F2011B9C-4659-57AF-16C7-6AEA1033EC80}"/>
              </a:ext>
            </a:extLst>
          </p:cNvPr>
          <p:cNvSpPr>
            <a:spLocks noGrp="1"/>
          </p:cNvSpPr>
          <p:nvPr>
            <p:ph idx="1"/>
          </p:nvPr>
        </p:nvSpPr>
        <p:spPr>
          <a:xfrm>
            <a:off x="1121756" y="1835327"/>
            <a:ext cx="2111301" cy="638452"/>
          </a:xfrm>
        </p:spPr>
        <p:txBody>
          <a:bodyPr>
            <a:normAutofit/>
          </a:bodyPr>
          <a:lstStyle/>
          <a:p>
            <a:r>
              <a:rPr lang="en-US" altLang="zh-CN" sz="2000" b="1" dirty="0"/>
              <a:t>8</a:t>
            </a:r>
            <a:r>
              <a:rPr lang="zh-CN" altLang="en-US" sz="2000" b="1" dirty="0"/>
              <a:t>、</a:t>
            </a:r>
            <a:r>
              <a:rPr lang="en-US" altLang="zh-CN" sz="2000" b="1" dirty="0"/>
              <a:t>fs3399_gpio.h</a:t>
            </a:r>
            <a:endParaRPr lang="zh-CN" altLang="en-US" sz="2000" b="1" dirty="0"/>
          </a:p>
        </p:txBody>
      </p:sp>
      <p:sp>
        <p:nvSpPr>
          <p:cNvPr id="8" name="文本框 7">
            <a:extLst>
              <a:ext uri="{FF2B5EF4-FFF2-40B4-BE49-F238E27FC236}">
                <a16:creationId xmlns:a16="http://schemas.microsoft.com/office/drawing/2014/main" id="{D21777F8-A3FB-A7AD-18AB-18119E2E1E85}"/>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sp>
        <p:nvSpPr>
          <p:cNvPr id="9" name="文本框 8">
            <a:extLst>
              <a:ext uri="{FF2B5EF4-FFF2-40B4-BE49-F238E27FC236}">
                <a16:creationId xmlns:a16="http://schemas.microsoft.com/office/drawing/2014/main" id="{926AA675-1283-3DB2-F988-B84C2F08AB74}"/>
              </a:ext>
            </a:extLst>
          </p:cNvPr>
          <p:cNvSpPr txBox="1"/>
          <p:nvPr/>
        </p:nvSpPr>
        <p:spPr>
          <a:xfrm>
            <a:off x="1008027" y="2697809"/>
            <a:ext cx="2863478" cy="369332"/>
          </a:xfrm>
          <a:prstGeom prst="rect">
            <a:avLst/>
          </a:prstGeom>
          <a:solidFill>
            <a:srgbClr val="FFFF00"/>
          </a:solidFill>
        </p:spPr>
        <p:txBody>
          <a:bodyPr wrap="square" rtlCol="0">
            <a:spAutoFit/>
          </a:bodyPr>
          <a:lstStyle/>
          <a:p>
            <a:r>
              <a:rPr lang="zh-CN" altLang="en-US" b="1" dirty="0"/>
              <a:t>定义</a:t>
            </a:r>
            <a:r>
              <a:rPr lang="en-US" altLang="zh-CN" b="1" dirty="0"/>
              <a:t>GPIO</a:t>
            </a:r>
            <a:r>
              <a:rPr lang="zh-CN" altLang="en-US" b="1" dirty="0"/>
              <a:t>寄存器端口地址</a:t>
            </a:r>
          </a:p>
        </p:txBody>
      </p:sp>
    </p:spTree>
    <p:extLst>
      <p:ext uri="{BB962C8B-B14F-4D97-AF65-F5344CB8AC3E}">
        <p14:creationId xmlns:p14="http://schemas.microsoft.com/office/powerpoint/2010/main" val="27001318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0CB0EB-4CC6-4492-8563-F656272CEBE2}"/>
              </a:ext>
            </a:extLst>
          </p:cNvPr>
          <p:cNvSpPr>
            <a:spLocks noGrp="1"/>
          </p:cNvSpPr>
          <p:nvPr>
            <p:ph type="title"/>
          </p:nvPr>
        </p:nvSpPr>
        <p:spPr>
          <a:xfrm>
            <a:off x="838200" y="365125"/>
            <a:ext cx="10515600" cy="1325563"/>
          </a:xfrm>
        </p:spPr>
        <p:txBody>
          <a:bodyPr/>
          <a:lstStyle/>
          <a:p>
            <a:pPr algn="ctr"/>
            <a:r>
              <a:rPr lang="en-US" altLang="zh-CN" b="1" dirty="0" err="1"/>
              <a:t>fs_pwm</a:t>
            </a:r>
            <a:r>
              <a:rPr lang="zh-CN" altLang="en-US" b="1" dirty="0"/>
              <a:t>实验程序（</a:t>
            </a:r>
            <a:r>
              <a:rPr lang="en-US" altLang="zh-CN" b="1" dirty="0"/>
              <a:t>9</a:t>
            </a:r>
            <a:r>
              <a:rPr lang="zh-CN" altLang="en-US" b="1" dirty="0"/>
              <a:t>）</a:t>
            </a:r>
          </a:p>
        </p:txBody>
      </p:sp>
      <p:sp>
        <p:nvSpPr>
          <p:cNvPr id="7" name="内容占位符 2">
            <a:extLst>
              <a:ext uri="{FF2B5EF4-FFF2-40B4-BE49-F238E27FC236}">
                <a16:creationId xmlns:a16="http://schemas.microsoft.com/office/drawing/2014/main" id="{1C485E96-7126-F9E9-87D0-C4A2AC754A53}"/>
              </a:ext>
            </a:extLst>
          </p:cNvPr>
          <p:cNvSpPr>
            <a:spLocks noGrp="1"/>
          </p:cNvSpPr>
          <p:nvPr>
            <p:ph idx="1"/>
          </p:nvPr>
        </p:nvSpPr>
        <p:spPr>
          <a:xfrm>
            <a:off x="1401536" y="1875354"/>
            <a:ext cx="9481457" cy="435139"/>
          </a:xfrm>
        </p:spPr>
        <p:txBody>
          <a:bodyPr>
            <a:normAutofit/>
          </a:bodyPr>
          <a:lstStyle/>
          <a:p>
            <a:r>
              <a:rPr lang="en-US" altLang="zh-CN" sz="2000" b="1" dirty="0"/>
              <a:t>9</a:t>
            </a:r>
            <a:r>
              <a:rPr lang="zh-CN" altLang="en-US" sz="2000" b="1" dirty="0"/>
              <a:t>、</a:t>
            </a:r>
            <a:r>
              <a:rPr lang="en-US" altLang="zh-CN" sz="2000" b="1" dirty="0" err="1"/>
              <a:t>exceptions.S</a:t>
            </a:r>
            <a:r>
              <a:rPr lang="zh-CN" altLang="en-US" sz="2000" b="1" dirty="0"/>
              <a:t>（这是一个通用的程序，采用混合编程时该程序都是这样）</a:t>
            </a:r>
          </a:p>
        </p:txBody>
      </p:sp>
      <p:sp>
        <p:nvSpPr>
          <p:cNvPr id="5" name="文本框 4">
            <a:extLst>
              <a:ext uri="{FF2B5EF4-FFF2-40B4-BE49-F238E27FC236}">
                <a16:creationId xmlns:a16="http://schemas.microsoft.com/office/drawing/2014/main" id="{0FE68371-BFEC-E72C-C35D-179FF9F6D53D}"/>
              </a:ext>
            </a:extLst>
          </p:cNvPr>
          <p:cNvSpPr txBox="1"/>
          <p:nvPr/>
        </p:nvSpPr>
        <p:spPr>
          <a:xfrm>
            <a:off x="1863120" y="2495159"/>
            <a:ext cx="1569660" cy="369332"/>
          </a:xfrm>
          <a:prstGeom prst="rect">
            <a:avLst/>
          </a:prstGeom>
          <a:solidFill>
            <a:srgbClr val="FFFF00"/>
          </a:solidFill>
        </p:spPr>
        <p:txBody>
          <a:bodyPr wrap="none" rtlCol="0">
            <a:spAutoFit/>
          </a:bodyPr>
          <a:lstStyle/>
          <a:p>
            <a:r>
              <a:rPr lang="zh-CN" altLang="en-US" b="1" dirty="0"/>
              <a:t>异常处理程序</a:t>
            </a:r>
          </a:p>
        </p:txBody>
      </p:sp>
      <p:sp>
        <p:nvSpPr>
          <p:cNvPr id="2" name="文本框 1">
            <a:extLst>
              <a:ext uri="{FF2B5EF4-FFF2-40B4-BE49-F238E27FC236}">
                <a16:creationId xmlns:a16="http://schemas.microsoft.com/office/drawing/2014/main" id="{1E6682B2-7B14-B0B6-E21E-3B6B1A24A177}"/>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pic>
        <p:nvPicPr>
          <p:cNvPr id="9" name="图片 8">
            <a:extLst>
              <a:ext uri="{FF2B5EF4-FFF2-40B4-BE49-F238E27FC236}">
                <a16:creationId xmlns:a16="http://schemas.microsoft.com/office/drawing/2014/main" id="{D7ED1128-20F9-4374-A5A0-7D88CC606D9A}"/>
              </a:ext>
            </a:extLst>
          </p:cNvPr>
          <p:cNvPicPr>
            <a:picLocks noChangeAspect="1"/>
          </p:cNvPicPr>
          <p:nvPr/>
        </p:nvPicPr>
        <p:blipFill>
          <a:blip r:embed="rId2"/>
          <a:stretch>
            <a:fillRect/>
          </a:stretch>
        </p:blipFill>
        <p:spPr>
          <a:xfrm>
            <a:off x="3950710" y="2188029"/>
            <a:ext cx="1891493" cy="4185524"/>
          </a:xfrm>
          <a:prstGeom prst="rect">
            <a:avLst/>
          </a:prstGeom>
        </p:spPr>
      </p:pic>
    </p:spTree>
    <p:extLst>
      <p:ext uri="{BB962C8B-B14F-4D97-AF65-F5344CB8AC3E}">
        <p14:creationId xmlns:p14="http://schemas.microsoft.com/office/powerpoint/2010/main" val="5594697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0CB0EB-4CC6-4492-8563-F656272CEBE2}"/>
              </a:ext>
            </a:extLst>
          </p:cNvPr>
          <p:cNvSpPr>
            <a:spLocks noGrp="1"/>
          </p:cNvSpPr>
          <p:nvPr>
            <p:ph type="title"/>
          </p:nvPr>
        </p:nvSpPr>
        <p:spPr>
          <a:xfrm>
            <a:off x="838200" y="365125"/>
            <a:ext cx="10515600" cy="1325563"/>
          </a:xfrm>
        </p:spPr>
        <p:txBody>
          <a:bodyPr/>
          <a:lstStyle/>
          <a:p>
            <a:pPr algn="ctr"/>
            <a:r>
              <a:rPr lang="en-US" altLang="zh-CN" b="1" dirty="0" err="1"/>
              <a:t>fs_pwm</a:t>
            </a:r>
            <a:r>
              <a:rPr lang="zh-CN" altLang="en-US" b="1" dirty="0"/>
              <a:t>实验程序（</a:t>
            </a:r>
            <a:r>
              <a:rPr lang="en-US" altLang="zh-CN" b="1" dirty="0"/>
              <a:t>10</a:t>
            </a:r>
            <a:r>
              <a:rPr lang="zh-CN" altLang="en-US" b="1" dirty="0"/>
              <a:t>）</a:t>
            </a:r>
          </a:p>
        </p:txBody>
      </p:sp>
      <p:sp>
        <p:nvSpPr>
          <p:cNvPr id="7" name="内容占位符 2">
            <a:extLst>
              <a:ext uri="{FF2B5EF4-FFF2-40B4-BE49-F238E27FC236}">
                <a16:creationId xmlns:a16="http://schemas.microsoft.com/office/drawing/2014/main" id="{1C485E96-7126-F9E9-87D0-C4A2AC754A53}"/>
              </a:ext>
            </a:extLst>
          </p:cNvPr>
          <p:cNvSpPr>
            <a:spLocks noGrp="1"/>
          </p:cNvSpPr>
          <p:nvPr>
            <p:ph idx="1"/>
          </p:nvPr>
        </p:nvSpPr>
        <p:spPr>
          <a:xfrm>
            <a:off x="1064606" y="1875354"/>
            <a:ext cx="1539801" cy="533110"/>
          </a:xfrm>
        </p:spPr>
        <p:txBody>
          <a:bodyPr>
            <a:normAutofit/>
          </a:bodyPr>
          <a:lstStyle/>
          <a:p>
            <a:r>
              <a:rPr lang="en-US" altLang="zh-CN" sz="2000" b="1" dirty="0"/>
              <a:t>10</a:t>
            </a:r>
            <a:r>
              <a:rPr lang="zh-CN" altLang="en-US" sz="2000" b="1" dirty="0"/>
              <a:t>、</a:t>
            </a:r>
            <a:r>
              <a:rPr lang="en-US" altLang="zh-CN" sz="2000" b="1" dirty="0" err="1"/>
              <a:t>macro.h</a:t>
            </a:r>
            <a:endParaRPr lang="zh-CN" altLang="en-US" sz="2000" b="1" dirty="0"/>
          </a:p>
        </p:txBody>
      </p:sp>
      <p:pic>
        <p:nvPicPr>
          <p:cNvPr id="3" name="图片 2">
            <a:extLst>
              <a:ext uri="{FF2B5EF4-FFF2-40B4-BE49-F238E27FC236}">
                <a16:creationId xmlns:a16="http://schemas.microsoft.com/office/drawing/2014/main" id="{4F528356-958E-1D1D-D8E3-EC0301C6D7F1}"/>
              </a:ext>
            </a:extLst>
          </p:cNvPr>
          <p:cNvPicPr>
            <a:picLocks noChangeAspect="1"/>
          </p:cNvPicPr>
          <p:nvPr/>
        </p:nvPicPr>
        <p:blipFill>
          <a:blip r:embed="rId2"/>
          <a:stretch>
            <a:fillRect/>
          </a:stretch>
        </p:blipFill>
        <p:spPr>
          <a:xfrm>
            <a:off x="2950925" y="1690688"/>
            <a:ext cx="5053416" cy="5167312"/>
          </a:xfrm>
          <a:prstGeom prst="rect">
            <a:avLst/>
          </a:prstGeom>
        </p:spPr>
      </p:pic>
      <p:sp>
        <p:nvSpPr>
          <p:cNvPr id="2" name="文本框 1">
            <a:extLst>
              <a:ext uri="{FF2B5EF4-FFF2-40B4-BE49-F238E27FC236}">
                <a16:creationId xmlns:a16="http://schemas.microsoft.com/office/drawing/2014/main" id="{0FA5A4D8-A28D-8203-9A3E-FD88511478F4}"/>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cxnSp>
        <p:nvCxnSpPr>
          <p:cNvPr id="5" name="直接箭头连接符 4">
            <a:extLst>
              <a:ext uri="{FF2B5EF4-FFF2-40B4-BE49-F238E27FC236}">
                <a16:creationId xmlns:a16="http://schemas.microsoft.com/office/drawing/2014/main" id="{1C52A3F4-B7CE-E241-8424-D3838BA7836A}"/>
              </a:ext>
            </a:extLst>
          </p:cNvPr>
          <p:cNvCxnSpPr>
            <a:cxnSpLocks/>
          </p:cNvCxnSpPr>
          <p:nvPr/>
        </p:nvCxnSpPr>
        <p:spPr>
          <a:xfrm flipH="1">
            <a:off x="4137726" y="2760931"/>
            <a:ext cx="475989"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92480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0CB0EB-4CC6-4492-8563-F656272CEBE2}"/>
              </a:ext>
            </a:extLst>
          </p:cNvPr>
          <p:cNvSpPr>
            <a:spLocks noGrp="1"/>
          </p:cNvSpPr>
          <p:nvPr>
            <p:ph type="title"/>
          </p:nvPr>
        </p:nvSpPr>
        <p:spPr>
          <a:xfrm>
            <a:off x="838200" y="365125"/>
            <a:ext cx="10515600" cy="1325563"/>
          </a:xfrm>
        </p:spPr>
        <p:txBody>
          <a:bodyPr/>
          <a:lstStyle/>
          <a:p>
            <a:pPr algn="ctr"/>
            <a:r>
              <a:rPr lang="en-US" altLang="zh-CN" b="1" dirty="0" err="1"/>
              <a:t>fs_pwm</a:t>
            </a:r>
            <a:r>
              <a:rPr lang="zh-CN" altLang="en-US" b="1" dirty="0"/>
              <a:t>实验程序（</a:t>
            </a:r>
            <a:r>
              <a:rPr lang="en-US" altLang="zh-CN" b="1" dirty="0"/>
              <a:t>11</a:t>
            </a:r>
            <a:r>
              <a:rPr lang="zh-CN" altLang="en-US" b="1" dirty="0"/>
              <a:t>）</a:t>
            </a:r>
          </a:p>
        </p:txBody>
      </p:sp>
      <p:sp>
        <p:nvSpPr>
          <p:cNvPr id="7" name="内容占位符 2">
            <a:extLst>
              <a:ext uri="{FF2B5EF4-FFF2-40B4-BE49-F238E27FC236}">
                <a16:creationId xmlns:a16="http://schemas.microsoft.com/office/drawing/2014/main" id="{1C485E96-7126-F9E9-87D0-C4A2AC754A53}"/>
              </a:ext>
            </a:extLst>
          </p:cNvPr>
          <p:cNvSpPr>
            <a:spLocks noGrp="1"/>
          </p:cNvSpPr>
          <p:nvPr>
            <p:ph idx="1"/>
          </p:nvPr>
        </p:nvSpPr>
        <p:spPr>
          <a:xfrm>
            <a:off x="1121756" y="1809359"/>
            <a:ext cx="1294873" cy="337848"/>
          </a:xfrm>
        </p:spPr>
        <p:txBody>
          <a:bodyPr>
            <a:normAutofit lnSpcReduction="10000"/>
          </a:bodyPr>
          <a:lstStyle/>
          <a:p>
            <a:r>
              <a:rPr lang="en-US" altLang="zh-CN" sz="2000" b="1" dirty="0"/>
              <a:t>11</a:t>
            </a:r>
            <a:r>
              <a:rPr lang="zh-CN" altLang="en-US" sz="2000" b="1" dirty="0"/>
              <a:t>、</a:t>
            </a:r>
            <a:r>
              <a:rPr lang="en-US" altLang="zh-CN" sz="2000" b="1" dirty="0" err="1"/>
              <a:t>gic.h</a:t>
            </a:r>
            <a:endParaRPr lang="zh-CN" altLang="en-US" sz="2000" b="1" dirty="0"/>
          </a:p>
        </p:txBody>
      </p:sp>
      <p:pic>
        <p:nvPicPr>
          <p:cNvPr id="3" name="图片 2">
            <a:extLst>
              <a:ext uri="{FF2B5EF4-FFF2-40B4-BE49-F238E27FC236}">
                <a16:creationId xmlns:a16="http://schemas.microsoft.com/office/drawing/2014/main" id="{58AB127A-F4C8-D4E8-3326-BB1F24447861}"/>
              </a:ext>
            </a:extLst>
          </p:cNvPr>
          <p:cNvPicPr>
            <a:picLocks noChangeAspect="1"/>
          </p:cNvPicPr>
          <p:nvPr/>
        </p:nvPicPr>
        <p:blipFill>
          <a:blip r:embed="rId2"/>
          <a:stretch>
            <a:fillRect/>
          </a:stretch>
        </p:blipFill>
        <p:spPr>
          <a:xfrm>
            <a:off x="2981623" y="1624693"/>
            <a:ext cx="4118535" cy="5257800"/>
          </a:xfrm>
          <a:prstGeom prst="rect">
            <a:avLst/>
          </a:prstGeom>
        </p:spPr>
      </p:pic>
      <p:sp>
        <p:nvSpPr>
          <p:cNvPr id="2" name="文本框 1">
            <a:extLst>
              <a:ext uri="{FF2B5EF4-FFF2-40B4-BE49-F238E27FC236}">
                <a16:creationId xmlns:a16="http://schemas.microsoft.com/office/drawing/2014/main" id="{94EFA92C-3678-225B-62E2-75985224DC0A}"/>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spTree>
    <p:extLst>
      <p:ext uri="{BB962C8B-B14F-4D97-AF65-F5344CB8AC3E}">
        <p14:creationId xmlns:p14="http://schemas.microsoft.com/office/powerpoint/2010/main" val="39546284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4A68396C-F89C-9CB6-C8E7-E7C2471F1049}"/>
              </a:ext>
            </a:extLst>
          </p:cNvPr>
          <p:cNvSpPr>
            <a:spLocks noGrp="1"/>
          </p:cNvSpPr>
          <p:nvPr>
            <p:ph idx="1"/>
          </p:nvPr>
        </p:nvSpPr>
        <p:spPr>
          <a:xfrm>
            <a:off x="1121756" y="1840202"/>
            <a:ext cx="3744130" cy="516748"/>
          </a:xfrm>
        </p:spPr>
        <p:txBody>
          <a:bodyPr>
            <a:normAutofit/>
          </a:bodyPr>
          <a:lstStyle/>
          <a:p>
            <a:r>
              <a:rPr lang="en-US" altLang="zh-CN" sz="2000" b="1" dirty="0"/>
              <a:t>12</a:t>
            </a:r>
            <a:r>
              <a:rPr lang="zh-CN" altLang="en-US" sz="2000" b="1" dirty="0"/>
              <a:t>、</a:t>
            </a:r>
            <a:r>
              <a:rPr lang="en-US" altLang="zh-CN" sz="2000" b="1" dirty="0" err="1"/>
              <a:t>Makefile</a:t>
            </a:r>
            <a:r>
              <a:rPr lang="zh-CN" altLang="en-US" sz="2000" b="1" dirty="0"/>
              <a:t>（编译脚本程序）</a:t>
            </a:r>
          </a:p>
        </p:txBody>
      </p:sp>
      <p:sp>
        <p:nvSpPr>
          <p:cNvPr id="7" name="标题 1">
            <a:extLst>
              <a:ext uri="{FF2B5EF4-FFF2-40B4-BE49-F238E27FC236}">
                <a16:creationId xmlns:a16="http://schemas.microsoft.com/office/drawing/2014/main" id="{2514A85E-2E56-910B-49F8-5FD65762389D}"/>
              </a:ext>
            </a:extLst>
          </p:cNvPr>
          <p:cNvSpPr>
            <a:spLocks noGrp="1"/>
          </p:cNvSpPr>
          <p:nvPr>
            <p:ph type="title"/>
          </p:nvPr>
        </p:nvSpPr>
        <p:spPr>
          <a:xfrm>
            <a:off x="838200" y="365125"/>
            <a:ext cx="10515600" cy="1325563"/>
          </a:xfrm>
        </p:spPr>
        <p:txBody>
          <a:bodyPr/>
          <a:lstStyle/>
          <a:p>
            <a:pPr algn="ctr"/>
            <a:r>
              <a:rPr lang="en-US" altLang="zh-CN" b="1" dirty="0" err="1"/>
              <a:t>fs_pwm</a:t>
            </a:r>
            <a:r>
              <a:rPr lang="zh-CN" altLang="en-US" b="1" dirty="0"/>
              <a:t>实验程序（</a:t>
            </a:r>
            <a:r>
              <a:rPr lang="en-US" altLang="zh-CN" b="1" dirty="0"/>
              <a:t>12</a:t>
            </a:r>
            <a:r>
              <a:rPr lang="zh-CN" altLang="en-US" b="1" dirty="0"/>
              <a:t>）</a:t>
            </a:r>
          </a:p>
        </p:txBody>
      </p:sp>
      <p:sp>
        <p:nvSpPr>
          <p:cNvPr id="2" name="文本框 1">
            <a:extLst>
              <a:ext uri="{FF2B5EF4-FFF2-40B4-BE49-F238E27FC236}">
                <a16:creationId xmlns:a16="http://schemas.microsoft.com/office/drawing/2014/main" id="{5693C3A5-95A5-8B97-E905-C52062EC5E9E}"/>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pic>
        <p:nvPicPr>
          <p:cNvPr id="10" name="图片 9">
            <a:extLst>
              <a:ext uri="{FF2B5EF4-FFF2-40B4-BE49-F238E27FC236}">
                <a16:creationId xmlns:a16="http://schemas.microsoft.com/office/drawing/2014/main" id="{57F34CBF-03B5-96D6-30A5-B5015EBFCCBD}"/>
              </a:ext>
            </a:extLst>
          </p:cNvPr>
          <p:cNvPicPr>
            <a:picLocks noChangeAspect="1"/>
          </p:cNvPicPr>
          <p:nvPr/>
        </p:nvPicPr>
        <p:blipFill>
          <a:blip r:embed="rId2"/>
          <a:stretch>
            <a:fillRect/>
          </a:stretch>
        </p:blipFill>
        <p:spPr>
          <a:xfrm>
            <a:off x="7720785" y="1785484"/>
            <a:ext cx="3744130" cy="3525317"/>
          </a:xfrm>
          <a:prstGeom prst="rect">
            <a:avLst/>
          </a:prstGeom>
        </p:spPr>
      </p:pic>
      <p:cxnSp>
        <p:nvCxnSpPr>
          <p:cNvPr id="9" name="直接箭头连接符 8">
            <a:extLst>
              <a:ext uri="{FF2B5EF4-FFF2-40B4-BE49-F238E27FC236}">
                <a16:creationId xmlns:a16="http://schemas.microsoft.com/office/drawing/2014/main" id="{8B3E9FA7-A0F3-4620-9245-446E868A5946}"/>
              </a:ext>
            </a:extLst>
          </p:cNvPr>
          <p:cNvCxnSpPr>
            <a:cxnSpLocks/>
          </p:cNvCxnSpPr>
          <p:nvPr/>
        </p:nvCxnSpPr>
        <p:spPr>
          <a:xfrm flipV="1">
            <a:off x="1742711" y="4001294"/>
            <a:ext cx="0" cy="46171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A45D9C2B-F0D3-D2EA-AF98-2092C74BAC30}"/>
              </a:ext>
            </a:extLst>
          </p:cNvPr>
          <p:cNvSpPr txBox="1"/>
          <p:nvPr/>
        </p:nvSpPr>
        <p:spPr>
          <a:xfrm>
            <a:off x="838200" y="4589829"/>
            <a:ext cx="1740778" cy="1200329"/>
          </a:xfrm>
          <a:prstGeom prst="rect">
            <a:avLst/>
          </a:prstGeom>
          <a:solidFill>
            <a:srgbClr val="FFFF00"/>
          </a:solidFill>
        </p:spPr>
        <p:txBody>
          <a:bodyPr wrap="square" rtlCol="0">
            <a:spAutoFit/>
          </a:bodyPr>
          <a:lstStyle/>
          <a:p>
            <a:r>
              <a:rPr lang="zh-CN" altLang="en-US" b="1" dirty="0"/>
              <a:t>编译后生成上述</a:t>
            </a:r>
            <a:r>
              <a:rPr lang="en-US" altLang="zh-CN" b="1" dirty="0"/>
              <a:t>3</a:t>
            </a:r>
            <a:r>
              <a:rPr lang="zh-CN" altLang="en-US" b="1" dirty="0"/>
              <a:t>个文件，</a:t>
            </a:r>
            <a:r>
              <a:rPr lang="en-US" altLang="zh-CN" b="1" dirty="0" err="1"/>
              <a:t>fs_pwm.elf</a:t>
            </a:r>
            <a:r>
              <a:rPr lang="zh-CN" altLang="en-US" b="1" dirty="0"/>
              <a:t>为可执行文件</a:t>
            </a:r>
          </a:p>
        </p:txBody>
      </p:sp>
      <p:cxnSp>
        <p:nvCxnSpPr>
          <p:cNvPr id="11" name="直接箭头连接符 10">
            <a:extLst>
              <a:ext uri="{FF2B5EF4-FFF2-40B4-BE49-F238E27FC236}">
                <a16:creationId xmlns:a16="http://schemas.microsoft.com/office/drawing/2014/main" id="{FD456499-2253-94B9-4D87-69EF7E413025}"/>
              </a:ext>
            </a:extLst>
          </p:cNvPr>
          <p:cNvCxnSpPr>
            <a:cxnSpLocks/>
          </p:cNvCxnSpPr>
          <p:nvPr/>
        </p:nvCxnSpPr>
        <p:spPr>
          <a:xfrm flipV="1">
            <a:off x="2364837" y="4001293"/>
            <a:ext cx="0" cy="42672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7BB89A66-FD13-7FB4-73FD-AF4F6FD8690C}"/>
              </a:ext>
            </a:extLst>
          </p:cNvPr>
          <p:cNvCxnSpPr>
            <a:cxnSpLocks/>
          </p:cNvCxnSpPr>
          <p:nvPr/>
        </p:nvCxnSpPr>
        <p:spPr>
          <a:xfrm flipV="1">
            <a:off x="1149813" y="4001293"/>
            <a:ext cx="0" cy="42672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AFCDE273-6F49-9A27-5F49-4C6312DFB0BA}"/>
              </a:ext>
            </a:extLst>
          </p:cNvPr>
          <p:cNvPicPr>
            <a:picLocks noChangeAspect="1"/>
          </p:cNvPicPr>
          <p:nvPr/>
        </p:nvPicPr>
        <p:blipFill>
          <a:blip r:embed="rId3"/>
          <a:stretch>
            <a:fillRect/>
          </a:stretch>
        </p:blipFill>
        <p:spPr>
          <a:xfrm>
            <a:off x="3439014" y="2284214"/>
            <a:ext cx="4258000" cy="4208661"/>
          </a:xfrm>
          <a:prstGeom prst="rect">
            <a:avLst/>
          </a:prstGeom>
        </p:spPr>
      </p:pic>
      <p:cxnSp>
        <p:nvCxnSpPr>
          <p:cNvPr id="15" name="直接箭头连接符 14">
            <a:extLst>
              <a:ext uri="{FF2B5EF4-FFF2-40B4-BE49-F238E27FC236}">
                <a16:creationId xmlns:a16="http://schemas.microsoft.com/office/drawing/2014/main" id="{DCCF90E6-ECCC-73B6-6ED7-24708069D9C6}"/>
              </a:ext>
            </a:extLst>
          </p:cNvPr>
          <p:cNvCxnSpPr>
            <a:cxnSpLocks/>
          </p:cNvCxnSpPr>
          <p:nvPr/>
        </p:nvCxnSpPr>
        <p:spPr>
          <a:xfrm flipH="1">
            <a:off x="5604985" y="5310801"/>
            <a:ext cx="44958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60F9B0F3-1165-8BDE-6BDE-98B8D95C4F34}"/>
              </a:ext>
            </a:extLst>
          </p:cNvPr>
          <p:cNvPicPr>
            <a:picLocks noChangeAspect="1"/>
          </p:cNvPicPr>
          <p:nvPr/>
        </p:nvPicPr>
        <p:blipFill>
          <a:blip r:embed="rId4"/>
          <a:stretch>
            <a:fillRect/>
          </a:stretch>
        </p:blipFill>
        <p:spPr>
          <a:xfrm>
            <a:off x="657462" y="3335032"/>
            <a:ext cx="2368931" cy="666262"/>
          </a:xfrm>
          <a:prstGeom prst="rect">
            <a:avLst/>
          </a:prstGeom>
        </p:spPr>
      </p:pic>
    </p:spTree>
    <p:extLst>
      <p:ext uri="{BB962C8B-B14F-4D97-AF65-F5344CB8AC3E}">
        <p14:creationId xmlns:p14="http://schemas.microsoft.com/office/powerpoint/2010/main" val="42268041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4A68396C-F89C-9CB6-C8E7-E7C2471F1049}"/>
              </a:ext>
            </a:extLst>
          </p:cNvPr>
          <p:cNvSpPr>
            <a:spLocks noGrp="1"/>
          </p:cNvSpPr>
          <p:nvPr>
            <p:ph idx="1"/>
          </p:nvPr>
        </p:nvSpPr>
        <p:spPr>
          <a:xfrm>
            <a:off x="1330980" y="1826368"/>
            <a:ext cx="8548009" cy="402482"/>
          </a:xfrm>
        </p:spPr>
        <p:txBody>
          <a:bodyPr>
            <a:normAutofit/>
          </a:bodyPr>
          <a:lstStyle/>
          <a:p>
            <a:r>
              <a:rPr lang="en-US" altLang="zh-CN" b="1" dirty="0"/>
              <a:t>13</a:t>
            </a:r>
            <a:r>
              <a:rPr lang="zh-CN" altLang="en-US" b="1" dirty="0"/>
              <a:t>、</a:t>
            </a:r>
            <a:r>
              <a:rPr lang="en-US" altLang="zh-CN" b="1" dirty="0" err="1"/>
              <a:t>map.lds</a:t>
            </a:r>
            <a:r>
              <a:rPr lang="zh-CN" altLang="en-US" b="1" dirty="0"/>
              <a:t>（这是一个通用的程序，采用混合编程时该程序都是这样）</a:t>
            </a:r>
          </a:p>
        </p:txBody>
      </p:sp>
      <p:sp>
        <p:nvSpPr>
          <p:cNvPr id="7" name="标题 1">
            <a:extLst>
              <a:ext uri="{FF2B5EF4-FFF2-40B4-BE49-F238E27FC236}">
                <a16:creationId xmlns:a16="http://schemas.microsoft.com/office/drawing/2014/main" id="{2514A85E-2E56-910B-49F8-5FD65762389D}"/>
              </a:ext>
            </a:extLst>
          </p:cNvPr>
          <p:cNvSpPr>
            <a:spLocks noGrp="1"/>
          </p:cNvSpPr>
          <p:nvPr>
            <p:ph type="title"/>
          </p:nvPr>
        </p:nvSpPr>
        <p:spPr>
          <a:xfrm>
            <a:off x="838200" y="365125"/>
            <a:ext cx="10515600" cy="1325563"/>
          </a:xfrm>
        </p:spPr>
        <p:txBody>
          <a:bodyPr/>
          <a:lstStyle/>
          <a:p>
            <a:pPr algn="ctr"/>
            <a:r>
              <a:rPr lang="en-US" altLang="zh-CN" b="1" dirty="0" err="1"/>
              <a:t>fs_pwm</a:t>
            </a:r>
            <a:r>
              <a:rPr lang="zh-CN" altLang="en-US" b="1" dirty="0"/>
              <a:t>实验程序（</a:t>
            </a:r>
            <a:r>
              <a:rPr lang="en-US" altLang="zh-CN" b="1" dirty="0"/>
              <a:t>13</a:t>
            </a:r>
            <a:r>
              <a:rPr lang="zh-CN" altLang="en-US" b="1" dirty="0"/>
              <a:t>）</a:t>
            </a:r>
          </a:p>
        </p:txBody>
      </p:sp>
      <p:sp>
        <p:nvSpPr>
          <p:cNvPr id="2" name="文本框 1">
            <a:extLst>
              <a:ext uri="{FF2B5EF4-FFF2-40B4-BE49-F238E27FC236}">
                <a16:creationId xmlns:a16="http://schemas.microsoft.com/office/drawing/2014/main" id="{5693C3A5-95A5-8B97-E905-C52062EC5E9E}"/>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pic>
        <p:nvPicPr>
          <p:cNvPr id="5" name="图片 4">
            <a:extLst>
              <a:ext uri="{FF2B5EF4-FFF2-40B4-BE49-F238E27FC236}">
                <a16:creationId xmlns:a16="http://schemas.microsoft.com/office/drawing/2014/main" id="{EF65AD43-9C76-4C85-9D1D-82AB9810348E}"/>
              </a:ext>
            </a:extLst>
          </p:cNvPr>
          <p:cNvPicPr>
            <a:picLocks noChangeAspect="1"/>
          </p:cNvPicPr>
          <p:nvPr/>
        </p:nvPicPr>
        <p:blipFill>
          <a:blip r:embed="rId2"/>
          <a:stretch>
            <a:fillRect/>
          </a:stretch>
        </p:blipFill>
        <p:spPr>
          <a:xfrm>
            <a:off x="2870301" y="2263409"/>
            <a:ext cx="6043184" cy="4014928"/>
          </a:xfrm>
          <a:prstGeom prst="rect">
            <a:avLst/>
          </a:prstGeom>
        </p:spPr>
      </p:pic>
    </p:spTree>
    <p:extLst>
      <p:ext uri="{BB962C8B-B14F-4D97-AF65-F5344CB8AC3E}">
        <p14:creationId xmlns:p14="http://schemas.microsoft.com/office/powerpoint/2010/main" val="16569734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4A68396C-F89C-9CB6-C8E7-E7C2471F1049}"/>
              </a:ext>
            </a:extLst>
          </p:cNvPr>
          <p:cNvSpPr>
            <a:spLocks noGrp="1"/>
          </p:cNvSpPr>
          <p:nvPr>
            <p:ph idx="1"/>
          </p:nvPr>
        </p:nvSpPr>
        <p:spPr>
          <a:xfrm>
            <a:off x="1311729" y="1875354"/>
            <a:ext cx="8722178" cy="497725"/>
          </a:xfrm>
        </p:spPr>
        <p:txBody>
          <a:bodyPr>
            <a:normAutofit/>
          </a:bodyPr>
          <a:lstStyle/>
          <a:p>
            <a:r>
              <a:rPr lang="en-US" altLang="zh-CN" sz="2000" b="1" dirty="0"/>
              <a:t>14</a:t>
            </a:r>
            <a:r>
              <a:rPr lang="zh-CN" altLang="en-US" sz="2000" b="1" dirty="0"/>
              <a:t>、</a:t>
            </a:r>
            <a:r>
              <a:rPr lang="en-US" altLang="zh-CN" sz="2000" b="1" dirty="0"/>
              <a:t>rk3399.init</a:t>
            </a:r>
            <a:r>
              <a:rPr lang="zh-CN" altLang="en-US" sz="2000" b="1" dirty="0"/>
              <a:t>（这是一个通用的程序，采用混合编程时该程序都是这样）</a:t>
            </a:r>
          </a:p>
        </p:txBody>
      </p:sp>
      <p:sp>
        <p:nvSpPr>
          <p:cNvPr id="7" name="标题 1">
            <a:extLst>
              <a:ext uri="{FF2B5EF4-FFF2-40B4-BE49-F238E27FC236}">
                <a16:creationId xmlns:a16="http://schemas.microsoft.com/office/drawing/2014/main" id="{2514A85E-2E56-910B-49F8-5FD65762389D}"/>
              </a:ext>
            </a:extLst>
          </p:cNvPr>
          <p:cNvSpPr>
            <a:spLocks noGrp="1"/>
          </p:cNvSpPr>
          <p:nvPr>
            <p:ph type="title"/>
          </p:nvPr>
        </p:nvSpPr>
        <p:spPr>
          <a:xfrm>
            <a:off x="838200" y="365125"/>
            <a:ext cx="10515600" cy="1325563"/>
          </a:xfrm>
        </p:spPr>
        <p:txBody>
          <a:bodyPr/>
          <a:lstStyle/>
          <a:p>
            <a:pPr algn="ctr"/>
            <a:r>
              <a:rPr lang="en-US" altLang="zh-CN" b="1" dirty="0" err="1"/>
              <a:t>fs_pwm</a:t>
            </a:r>
            <a:r>
              <a:rPr lang="zh-CN" altLang="en-US" b="1" dirty="0"/>
              <a:t>实验程序（</a:t>
            </a:r>
            <a:r>
              <a:rPr lang="en-US" altLang="zh-CN" b="1" dirty="0"/>
              <a:t>14</a:t>
            </a:r>
            <a:r>
              <a:rPr lang="zh-CN" altLang="en-US" b="1" dirty="0"/>
              <a:t>）</a:t>
            </a:r>
          </a:p>
        </p:txBody>
      </p:sp>
      <p:sp>
        <p:nvSpPr>
          <p:cNvPr id="2" name="文本框 1">
            <a:extLst>
              <a:ext uri="{FF2B5EF4-FFF2-40B4-BE49-F238E27FC236}">
                <a16:creationId xmlns:a16="http://schemas.microsoft.com/office/drawing/2014/main" id="{5693C3A5-95A5-8B97-E905-C52062EC5E9E}"/>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pic>
        <p:nvPicPr>
          <p:cNvPr id="4" name="图片 3">
            <a:extLst>
              <a:ext uri="{FF2B5EF4-FFF2-40B4-BE49-F238E27FC236}">
                <a16:creationId xmlns:a16="http://schemas.microsoft.com/office/drawing/2014/main" id="{CCAFCCC0-37CF-6776-F0EE-31E6EEE1E44C}"/>
              </a:ext>
            </a:extLst>
          </p:cNvPr>
          <p:cNvPicPr>
            <a:picLocks noChangeAspect="1"/>
          </p:cNvPicPr>
          <p:nvPr/>
        </p:nvPicPr>
        <p:blipFill>
          <a:blip r:embed="rId2"/>
          <a:stretch>
            <a:fillRect/>
          </a:stretch>
        </p:blipFill>
        <p:spPr>
          <a:xfrm>
            <a:off x="1580816" y="2458029"/>
            <a:ext cx="3867690" cy="1543265"/>
          </a:xfrm>
          <a:prstGeom prst="rect">
            <a:avLst/>
          </a:prstGeom>
        </p:spPr>
      </p:pic>
      <p:pic>
        <p:nvPicPr>
          <p:cNvPr id="5" name="图片 4">
            <a:extLst>
              <a:ext uri="{FF2B5EF4-FFF2-40B4-BE49-F238E27FC236}">
                <a16:creationId xmlns:a16="http://schemas.microsoft.com/office/drawing/2014/main" id="{E75F1545-A225-CA1F-4876-4732ADBBB0C1}"/>
              </a:ext>
            </a:extLst>
          </p:cNvPr>
          <p:cNvPicPr>
            <a:picLocks noChangeAspect="1"/>
          </p:cNvPicPr>
          <p:nvPr/>
        </p:nvPicPr>
        <p:blipFill>
          <a:blip r:embed="rId3"/>
          <a:stretch>
            <a:fillRect/>
          </a:stretch>
        </p:blipFill>
        <p:spPr>
          <a:xfrm>
            <a:off x="5805814" y="2923281"/>
            <a:ext cx="5384104" cy="2854049"/>
          </a:xfrm>
          <a:prstGeom prst="rect">
            <a:avLst/>
          </a:prstGeom>
        </p:spPr>
      </p:pic>
      <p:cxnSp>
        <p:nvCxnSpPr>
          <p:cNvPr id="9" name="直接箭头连接符 8">
            <a:extLst>
              <a:ext uri="{FF2B5EF4-FFF2-40B4-BE49-F238E27FC236}">
                <a16:creationId xmlns:a16="http://schemas.microsoft.com/office/drawing/2014/main" id="{C9E71AB7-AE3C-6D6F-C920-29FE841CF4BF}"/>
              </a:ext>
            </a:extLst>
          </p:cNvPr>
          <p:cNvCxnSpPr>
            <a:cxnSpLocks/>
          </p:cNvCxnSpPr>
          <p:nvPr/>
        </p:nvCxnSpPr>
        <p:spPr>
          <a:xfrm flipH="1">
            <a:off x="8372606" y="5227127"/>
            <a:ext cx="48081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28283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C736B1-0A7B-F105-A7EA-4F185C4AA379}"/>
              </a:ext>
            </a:extLst>
          </p:cNvPr>
          <p:cNvSpPr>
            <a:spLocks noGrp="1"/>
          </p:cNvSpPr>
          <p:nvPr>
            <p:ph type="title"/>
          </p:nvPr>
        </p:nvSpPr>
        <p:spPr/>
        <p:txBody>
          <a:bodyPr/>
          <a:lstStyle/>
          <a:p>
            <a:pPr algn="ctr"/>
            <a:r>
              <a:rPr lang="zh-CN" altLang="en-US" b="1" dirty="0"/>
              <a:t>运行</a:t>
            </a:r>
            <a:r>
              <a:rPr lang="en-US" altLang="zh-CN" b="1" dirty="0" err="1"/>
              <a:t>fs_pwm</a:t>
            </a:r>
            <a:r>
              <a:rPr lang="zh-CN" altLang="en-US" b="1" dirty="0"/>
              <a:t>实验程序（</a:t>
            </a:r>
            <a:r>
              <a:rPr lang="en-US" altLang="zh-CN" b="1" dirty="0"/>
              <a:t>1</a:t>
            </a:r>
            <a:r>
              <a:rPr lang="zh-CN" altLang="en-US" b="1" dirty="0"/>
              <a:t>）</a:t>
            </a:r>
          </a:p>
        </p:txBody>
      </p:sp>
      <p:sp>
        <p:nvSpPr>
          <p:cNvPr id="3" name="内容占位符 2">
            <a:extLst>
              <a:ext uri="{FF2B5EF4-FFF2-40B4-BE49-F238E27FC236}">
                <a16:creationId xmlns:a16="http://schemas.microsoft.com/office/drawing/2014/main" id="{297F9516-6AD3-F036-8A3E-2A899D2CAE2C}"/>
              </a:ext>
            </a:extLst>
          </p:cNvPr>
          <p:cNvSpPr>
            <a:spLocks noGrp="1"/>
          </p:cNvSpPr>
          <p:nvPr>
            <p:ph idx="1"/>
          </p:nvPr>
        </p:nvSpPr>
        <p:spPr/>
        <p:txBody>
          <a:bodyPr>
            <a:normAutofit/>
          </a:bodyPr>
          <a:lstStyle/>
          <a:p>
            <a:r>
              <a:rPr lang="zh-CN" altLang="en-US" sz="2000" b="1" dirty="0"/>
              <a:t>关闭</a:t>
            </a:r>
            <a:r>
              <a:rPr lang="en-US" altLang="zh-CN" sz="2000" b="1" dirty="0"/>
              <a:t>PuTTY</a:t>
            </a:r>
            <a:r>
              <a:rPr lang="zh-CN" altLang="en-US" sz="2000" b="1" dirty="0"/>
              <a:t>，再打开</a:t>
            </a:r>
            <a:r>
              <a:rPr lang="en-US" altLang="zh-CN" sz="2000" b="1" dirty="0"/>
              <a:t>PuTTY</a:t>
            </a:r>
            <a:r>
              <a:rPr lang="zh-CN" altLang="en-US" sz="2000" b="1" dirty="0"/>
              <a:t>；按实验箱的</a:t>
            </a:r>
            <a:r>
              <a:rPr lang="en-US" altLang="zh-CN" sz="2000" b="1" dirty="0"/>
              <a:t>RST</a:t>
            </a:r>
            <a:r>
              <a:rPr lang="zh-CN" altLang="en-US" sz="2000" b="1" dirty="0"/>
              <a:t>按键；倒计时状态按</a:t>
            </a:r>
            <a:r>
              <a:rPr lang="en-US" altLang="zh-CN" sz="2000" b="1" dirty="0" err="1"/>
              <a:t>Ctrl+C</a:t>
            </a:r>
            <a:r>
              <a:rPr lang="zh-CN" altLang="en-US" sz="2000" b="1" dirty="0"/>
              <a:t>，进入“</a:t>
            </a:r>
            <a:r>
              <a:rPr lang="en-US" altLang="zh-CN" sz="2000" b="1" dirty="0">
                <a:solidFill>
                  <a:srgbClr val="FF0000"/>
                </a:solidFill>
              </a:rPr>
              <a:t>=&gt;</a:t>
            </a:r>
            <a:r>
              <a:rPr lang="zh-CN" altLang="en-US" sz="2000" b="1" dirty="0"/>
              <a:t>”状态</a:t>
            </a:r>
          </a:p>
        </p:txBody>
      </p:sp>
      <p:pic>
        <p:nvPicPr>
          <p:cNvPr id="5" name="图片 4">
            <a:extLst>
              <a:ext uri="{FF2B5EF4-FFF2-40B4-BE49-F238E27FC236}">
                <a16:creationId xmlns:a16="http://schemas.microsoft.com/office/drawing/2014/main" id="{86FB6C0C-2A8A-411E-37F3-0601F83F1E74}"/>
              </a:ext>
            </a:extLst>
          </p:cNvPr>
          <p:cNvPicPr>
            <a:picLocks noChangeAspect="1"/>
          </p:cNvPicPr>
          <p:nvPr/>
        </p:nvPicPr>
        <p:blipFill>
          <a:blip r:embed="rId2"/>
          <a:stretch>
            <a:fillRect/>
          </a:stretch>
        </p:blipFill>
        <p:spPr>
          <a:xfrm>
            <a:off x="1402721" y="2307860"/>
            <a:ext cx="2937185" cy="1865418"/>
          </a:xfrm>
          <a:prstGeom prst="rect">
            <a:avLst/>
          </a:prstGeom>
        </p:spPr>
      </p:pic>
      <p:grpSp>
        <p:nvGrpSpPr>
          <p:cNvPr id="6" name="组合 5">
            <a:extLst>
              <a:ext uri="{FF2B5EF4-FFF2-40B4-BE49-F238E27FC236}">
                <a16:creationId xmlns:a16="http://schemas.microsoft.com/office/drawing/2014/main" id="{4C864BC4-1087-E1C2-B032-431280B96728}"/>
              </a:ext>
            </a:extLst>
          </p:cNvPr>
          <p:cNvGrpSpPr/>
          <p:nvPr/>
        </p:nvGrpSpPr>
        <p:grpSpPr>
          <a:xfrm>
            <a:off x="4183771" y="3738143"/>
            <a:ext cx="3215145" cy="847548"/>
            <a:chOff x="7337724" y="302219"/>
            <a:chExt cx="3930381" cy="1274333"/>
          </a:xfrm>
        </p:grpSpPr>
        <p:pic>
          <p:nvPicPr>
            <p:cNvPr id="7" name="图片 6">
              <a:extLst>
                <a:ext uri="{FF2B5EF4-FFF2-40B4-BE49-F238E27FC236}">
                  <a16:creationId xmlns:a16="http://schemas.microsoft.com/office/drawing/2014/main" id="{6953989C-3E87-94A6-2070-E0D30F867F86}"/>
                </a:ext>
              </a:extLst>
            </p:cNvPr>
            <p:cNvPicPr>
              <a:picLocks noChangeAspect="1"/>
            </p:cNvPicPr>
            <p:nvPr/>
          </p:nvPicPr>
          <p:blipFill>
            <a:blip r:embed="rId3"/>
            <a:stretch>
              <a:fillRect/>
            </a:stretch>
          </p:blipFill>
          <p:spPr>
            <a:xfrm>
              <a:off x="7337724" y="336384"/>
              <a:ext cx="3930381" cy="1240168"/>
            </a:xfrm>
            <a:prstGeom prst="rect">
              <a:avLst/>
            </a:prstGeom>
          </p:spPr>
        </p:pic>
        <p:sp>
          <p:nvSpPr>
            <p:cNvPr id="8" name="文本框 7">
              <a:extLst>
                <a:ext uri="{FF2B5EF4-FFF2-40B4-BE49-F238E27FC236}">
                  <a16:creationId xmlns:a16="http://schemas.microsoft.com/office/drawing/2014/main" id="{3C4B7B43-3EB3-494F-6804-BD6F5B4DB52C}"/>
                </a:ext>
              </a:extLst>
            </p:cNvPr>
            <p:cNvSpPr txBox="1"/>
            <p:nvPr/>
          </p:nvSpPr>
          <p:spPr>
            <a:xfrm>
              <a:off x="10067440" y="336384"/>
              <a:ext cx="369332" cy="624530"/>
            </a:xfrm>
            <a:prstGeom prst="rect">
              <a:avLst/>
            </a:prstGeom>
            <a:solidFill>
              <a:srgbClr val="FFFF00"/>
            </a:solidFill>
          </p:spPr>
          <p:txBody>
            <a:bodyPr vert="eaVert" wrap="none" rtlCol="0">
              <a:spAutoFit/>
            </a:bodyPr>
            <a:lstStyle/>
            <a:p>
              <a:pPr algn="ctr"/>
              <a:r>
                <a:rPr lang="en-US" altLang="zh-CN" sz="1200" b="1" dirty="0">
                  <a:solidFill>
                    <a:srgbClr val="FF0000"/>
                  </a:solidFill>
                </a:rPr>
                <a:t>POWER</a:t>
              </a:r>
              <a:endParaRPr lang="zh-CN" altLang="en-US" sz="1200" b="1" dirty="0">
                <a:solidFill>
                  <a:srgbClr val="FF0000"/>
                </a:solidFill>
              </a:endParaRPr>
            </a:p>
          </p:txBody>
        </p:sp>
        <p:sp>
          <p:nvSpPr>
            <p:cNvPr id="9" name="文本框 8">
              <a:extLst>
                <a:ext uri="{FF2B5EF4-FFF2-40B4-BE49-F238E27FC236}">
                  <a16:creationId xmlns:a16="http://schemas.microsoft.com/office/drawing/2014/main" id="{DA6075AA-5641-6278-BB9F-3DFA3C428366}"/>
                </a:ext>
              </a:extLst>
            </p:cNvPr>
            <p:cNvSpPr txBox="1"/>
            <p:nvPr/>
          </p:nvSpPr>
          <p:spPr>
            <a:xfrm>
              <a:off x="10751886" y="336384"/>
              <a:ext cx="369332" cy="624530"/>
            </a:xfrm>
            <a:prstGeom prst="rect">
              <a:avLst/>
            </a:prstGeom>
            <a:solidFill>
              <a:srgbClr val="FFFF00"/>
            </a:solidFill>
          </p:spPr>
          <p:txBody>
            <a:bodyPr vert="eaVert" wrap="square" rtlCol="0">
              <a:spAutoFit/>
            </a:bodyPr>
            <a:lstStyle/>
            <a:p>
              <a:pPr algn="ctr"/>
              <a:r>
                <a:rPr lang="en-US" altLang="zh-CN" sz="1200" b="1" dirty="0">
                  <a:solidFill>
                    <a:srgbClr val="FF0000"/>
                  </a:solidFill>
                </a:rPr>
                <a:t>RST</a:t>
              </a:r>
              <a:endParaRPr lang="zh-CN" altLang="en-US" sz="1200" b="1" dirty="0">
                <a:solidFill>
                  <a:srgbClr val="FF0000"/>
                </a:solidFill>
              </a:endParaRPr>
            </a:p>
          </p:txBody>
        </p:sp>
        <p:sp>
          <p:nvSpPr>
            <p:cNvPr id="10" name="文本框 9">
              <a:extLst>
                <a:ext uri="{FF2B5EF4-FFF2-40B4-BE49-F238E27FC236}">
                  <a16:creationId xmlns:a16="http://schemas.microsoft.com/office/drawing/2014/main" id="{89A1D22D-9AD8-A005-B327-D56C77FEB5FA}"/>
                </a:ext>
              </a:extLst>
            </p:cNvPr>
            <p:cNvSpPr txBox="1"/>
            <p:nvPr/>
          </p:nvSpPr>
          <p:spPr>
            <a:xfrm>
              <a:off x="9470975" y="339010"/>
              <a:ext cx="369332" cy="585113"/>
            </a:xfrm>
            <a:prstGeom prst="rect">
              <a:avLst/>
            </a:prstGeom>
            <a:solidFill>
              <a:srgbClr val="FFFF00"/>
            </a:solidFill>
          </p:spPr>
          <p:txBody>
            <a:bodyPr vert="eaVert" wrap="square" rtlCol="0">
              <a:spAutoFit/>
            </a:bodyPr>
            <a:lstStyle/>
            <a:p>
              <a:pPr algn="ctr"/>
              <a:r>
                <a:rPr lang="en-US" altLang="zh-CN" sz="1200" b="1" dirty="0">
                  <a:solidFill>
                    <a:srgbClr val="FF0000"/>
                  </a:solidFill>
                </a:rPr>
                <a:t>VOL+</a:t>
              </a:r>
              <a:endParaRPr lang="zh-CN" altLang="en-US" sz="1200" b="1" dirty="0">
                <a:solidFill>
                  <a:srgbClr val="FF0000"/>
                </a:solidFill>
              </a:endParaRPr>
            </a:p>
          </p:txBody>
        </p:sp>
        <p:sp>
          <p:nvSpPr>
            <p:cNvPr id="11" name="文本框 10">
              <a:extLst>
                <a:ext uri="{FF2B5EF4-FFF2-40B4-BE49-F238E27FC236}">
                  <a16:creationId xmlns:a16="http://schemas.microsoft.com/office/drawing/2014/main" id="{06AC1F85-8E80-44F2-EF24-00AF0BA97EB6}"/>
                </a:ext>
              </a:extLst>
            </p:cNvPr>
            <p:cNvSpPr txBox="1"/>
            <p:nvPr/>
          </p:nvSpPr>
          <p:spPr>
            <a:xfrm>
              <a:off x="8866629" y="302219"/>
              <a:ext cx="369332" cy="621904"/>
            </a:xfrm>
            <a:prstGeom prst="rect">
              <a:avLst/>
            </a:prstGeom>
            <a:solidFill>
              <a:srgbClr val="FFFF00"/>
            </a:solidFill>
          </p:spPr>
          <p:txBody>
            <a:bodyPr vert="eaVert" wrap="square" rtlCol="0">
              <a:spAutoFit/>
            </a:bodyPr>
            <a:lstStyle/>
            <a:p>
              <a:pPr algn="ctr"/>
              <a:r>
                <a:rPr lang="en-US" altLang="zh-CN" sz="1200" b="1" dirty="0">
                  <a:solidFill>
                    <a:srgbClr val="FF0000"/>
                  </a:solidFill>
                </a:rPr>
                <a:t>VOL-</a:t>
              </a:r>
              <a:endParaRPr lang="zh-CN" altLang="en-US" sz="1200" b="1" dirty="0">
                <a:solidFill>
                  <a:srgbClr val="FF0000"/>
                </a:solidFill>
              </a:endParaRPr>
            </a:p>
          </p:txBody>
        </p:sp>
        <p:sp>
          <p:nvSpPr>
            <p:cNvPr id="12" name="文本框 11">
              <a:extLst>
                <a:ext uri="{FF2B5EF4-FFF2-40B4-BE49-F238E27FC236}">
                  <a16:creationId xmlns:a16="http://schemas.microsoft.com/office/drawing/2014/main" id="{DDA6B0CA-7D67-97BB-6181-155B0E042FE1}"/>
                </a:ext>
              </a:extLst>
            </p:cNvPr>
            <p:cNvSpPr txBox="1"/>
            <p:nvPr/>
          </p:nvSpPr>
          <p:spPr>
            <a:xfrm>
              <a:off x="7571222" y="339010"/>
              <a:ext cx="369332" cy="621904"/>
            </a:xfrm>
            <a:prstGeom prst="rect">
              <a:avLst/>
            </a:prstGeom>
            <a:solidFill>
              <a:srgbClr val="FFFF00"/>
            </a:solidFill>
          </p:spPr>
          <p:txBody>
            <a:bodyPr vert="eaVert" wrap="square" rtlCol="0">
              <a:spAutoFit/>
            </a:bodyPr>
            <a:lstStyle/>
            <a:p>
              <a:pPr algn="ctr"/>
              <a:r>
                <a:rPr lang="en-US" altLang="zh-CN" sz="1200" b="1" dirty="0">
                  <a:solidFill>
                    <a:srgbClr val="FF0000"/>
                  </a:solidFill>
                </a:rPr>
                <a:t>KEY1</a:t>
              </a:r>
              <a:endParaRPr lang="zh-CN" altLang="en-US" sz="1200" b="1" dirty="0">
                <a:solidFill>
                  <a:srgbClr val="FF0000"/>
                </a:solidFill>
              </a:endParaRPr>
            </a:p>
          </p:txBody>
        </p:sp>
        <p:sp>
          <p:nvSpPr>
            <p:cNvPr id="13" name="文本框 12">
              <a:extLst>
                <a:ext uri="{FF2B5EF4-FFF2-40B4-BE49-F238E27FC236}">
                  <a16:creationId xmlns:a16="http://schemas.microsoft.com/office/drawing/2014/main" id="{F9C4C428-B1C8-277E-B518-46FB658575FE}"/>
                </a:ext>
              </a:extLst>
            </p:cNvPr>
            <p:cNvSpPr txBox="1"/>
            <p:nvPr/>
          </p:nvSpPr>
          <p:spPr>
            <a:xfrm>
              <a:off x="8196591" y="317988"/>
              <a:ext cx="369332" cy="621904"/>
            </a:xfrm>
            <a:prstGeom prst="rect">
              <a:avLst/>
            </a:prstGeom>
            <a:solidFill>
              <a:srgbClr val="FFFF00"/>
            </a:solidFill>
          </p:spPr>
          <p:txBody>
            <a:bodyPr vert="eaVert" wrap="square" rtlCol="0">
              <a:spAutoFit/>
            </a:bodyPr>
            <a:lstStyle/>
            <a:p>
              <a:pPr algn="ctr"/>
              <a:r>
                <a:rPr lang="en-US" altLang="zh-CN" sz="1200" b="1" dirty="0">
                  <a:solidFill>
                    <a:srgbClr val="FF0000"/>
                  </a:solidFill>
                </a:rPr>
                <a:t>KEY2</a:t>
              </a:r>
              <a:endParaRPr lang="zh-CN" altLang="en-US" sz="1200" b="1" dirty="0">
                <a:solidFill>
                  <a:srgbClr val="FF0000"/>
                </a:solidFill>
              </a:endParaRPr>
            </a:p>
          </p:txBody>
        </p:sp>
      </p:grpSp>
      <p:cxnSp>
        <p:nvCxnSpPr>
          <p:cNvPr id="14" name="直接箭头连接符 13">
            <a:extLst>
              <a:ext uri="{FF2B5EF4-FFF2-40B4-BE49-F238E27FC236}">
                <a16:creationId xmlns:a16="http://schemas.microsoft.com/office/drawing/2014/main" id="{4AF8EF77-9035-6CBF-0F37-E57BD23981B9}"/>
              </a:ext>
            </a:extLst>
          </p:cNvPr>
          <p:cNvCxnSpPr>
            <a:cxnSpLocks/>
          </p:cNvCxnSpPr>
          <p:nvPr/>
        </p:nvCxnSpPr>
        <p:spPr>
          <a:xfrm flipV="1">
            <a:off x="7107940" y="4585691"/>
            <a:ext cx="0" cy="69045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id="{AA404D57-D218-E11D-ED45-254F2B9C0C73}"/>
              </a:ext>
            </a:extLst>
          </p:cNvPr>
          <p:cNvPicPr>
            <a:picLocks noChangeAspect="1"/>
          </p:cNvPicPr>
          <p:nvPr/>
        </p:nvPicPr>
        <p:blipFill>
          <a:blip r:embed="rId4"/>
          <a:stretch>
            <a:fillRect/>
          </a:stretch>
        </p:blipFill>
        <p:spPr>
          <a:xfrm>
            <a:off x="8044244" y="3738143"/>
            <a:ext cx="3567327" cy="1130946"/>
          </a:xfrm>
          <a:prstGeom prst="rect">
            <a:avLst/>
          </a:prstGeom>
        </p:spPr>
      </p:pic>
      <p:cxnSp>
        <p:nvCxnSpPr>
          <p:cNvPr id="17" name="直接箭头连接符 16">
            <a:extLst>
              <a:ext uri="{FF2B5EF4-FFF2-40B4-BE49-F238E27FC236}">
                <a16:creationId xmlns:a16="http://schemas.microsoft.com/office/drawing/2014/main" id="{5F249D91-FC21-2E5D-A2AB-2669E61F905C}"/>
              </a:ext>
            </a:extLst>
          </p:cNvPr>
          <p:cNvCxnSpPr>
            <a:cxnSpLocks/>
          </p:cNvCxnSpPr>
          <p:nvPr/>
        </p:nvCxnSpPr>
        <p:spPr>
          <a:xfrm flipV="1">
            <a:off x="8331315" y="4706776"/>
            <a:ext cx="0" cy="69045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903D8DD4-CEAC-448C-CBE6-19C2EF9B39B4}"/>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spTree>
    <p:extLst>
      <p:ext uri="{BB962C8B-B14F-4D97-AF65-F5344CB8AC3E}">
        <p14:creationId xmlns:p14="http://schemas.microsoft.com/office/powerpoint/2010/main" val="3415225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64A339E-CA97-CDDF-791E-6DEF0C3EDC18}"/>
              </a:ext>
            </a:extLst>
          </p:cNvPr>
          <p:cNvPicPr>
            <a:picLocks noChangeAspect="1"/>
          </p:cNvPicPr>
          <p:nvPr/>
        </p:nvPicPr>
        <p:blipFill>
          <a:blip r:embed="rId2"/>
          <a:stretch>
            <a:fillRect/>
          </a:stretch>
        </p:blipFill>
        <p:spPr>
          <a:xfrm>
            <a:off x="3206385" y="2296665"/>
            <a:ext cx="7647433" cy="3757101"/>
          </a:xfrm>
          <a:prstGeom prst="rect">
            <a:avLst/>
          </a:prstGeom>
        </p:spPr>
      </p:pic>
      <p:sp>
        <p:nvSpPr>
          <p:cNvPr id="7" name="内容占位符 2">
            <a:extLst>
              <a:ext uri="{FF2B5EF4-FFF2-40B4-BE49-F238E27FC236}">
                <a16:creationId xmlns:a16="http://schemas.microsoft.com/office/drawing/2014/main" id="{94F84033-AC91-46C2-FED5-F5A301B59D77}"/>
              </a:ext>
            </a:extLst>
          </p:cNvPr>
          <p:cNvSpPr>
            <a:spLocks noGrp="1"/>
          </p:cNvSpPr>
          <p:nvPr>
            <p:ph idx="1"/>
          </p:nvPr>
        </p:nvSpPr>
        <p:spPr>
          <a:xfrm>
            <a:off x="1240970" y="1825625"/>
            <a:ext cx="5182689" cy="362404"/>
          </a:xfrm>
        </p:spPr>
        <p:txBody>
          <a:bodyPr>
            <a:normAutofit lnSpcReduction="10000"/>
          </a:bodyPr>
          <a:lstStyle/>
          <a:p>
            <a:r>
              <a:rPr lang="zh-CN" altLang="en-US" sz="2000" b="1" dirty="0"/>
              <a:t>检查</a:t>
            </a:r>
            <a:r>
              <a:rPr lang="en-US" altLang="zh-CN" sz="2000" b="1" dirty="0">
                <a:solidFill>
                  <a:srgbClr val="C00000"/>
                </a:solidFill>
              </a:rPr>
              <a:t>JTAG</a:t>
            </a:r>
            <a:r>
              <a:rPr lang="zh-CN" altLang="en-US" sz="2000" b="1" dirty="0"/>
              <a:t>是否连接到虚拟机（</a:t>
            </a:r>
            <a:r>
              <a:rPr lang="en-US" altLang="zh-CN" sz="2000" b="1" dirty="0"/>
              <a:t>Ubuntu</a:t>
            </a:r>
            <a:r>
              <a:rPr lang="zh-CN" altLang="en-US" sz="2000" b="1" dirty="0"/>
              <a:t>）</a:t>
            </a:r>
            <a:endParaRPr lang="en-US" altLang="zh-CN" sz="2000" b="1" dirty="0"/>
          </a:p>
        </p:txBody>
      </p:sp>
      <p:cxnSp>
        <p:nvCxnSpPr>
          <p:cNvPr id="8" name="直接箭头连接符 7">
            <a:extLst>
              <a:ext uri="{FF2B5EF4-FFF2-40B4-BE49-F238E27FC236}">
                <a16:creationId xmlns:a16="http://schemas.microsoft.com/office/drawing/2014/main" id="{61C24C71-2829-B758-1C9E-D4E4BDAAD7D1}"/>
              </a:ext>
            </a:extLst>
          </p:cNvPr>
          <p:cNvCxnSpPr>
            <a:cxnSpLocks/>
          </p:cNvCxnSpPr>
          <p:nvPr/>
        </p:nvCxnSpPr>
        <p:spPr>
          <a:xfrm flipV="1">
            <a:off x="6087812" y="4983480"/>
            <a:ext cx="0" cy="41291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207CC3F9-2B54-8642-008B-FE875FA36F0E}"/>
              </a:ext>
            </a:extLst>
          </p:cNvPr>
          <p:cNvCxnSpPr>
            <a:cxnSpLocks/>
          </p:cNvCxnSpPr>
          <p:nvPr/>
        </p:nvCxnSpPr>
        <p:spPr>
          <a:xfrm>
            <a:off x="9708946" y="4387488"/>
            <a:ext cx="0" cy="44689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标题 1">
            <a:extLst>
              <a:ext uri="{FF2B5EF4-FFF2-40B4-BE49-F238E27FC236}">
                <a16:creationId xmlns:a16="http://schemas.microsoft.com/office/drawing/2014/main" id="{23E6EB6E-65E0-1DF4-26F4-CAAC4BA85A19}"/>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fs_pwm</a:t>
            </a:r>
            <a:r>
              <a:rPr lang="zh-CN" altLang="en-US" b="1" dirty="0"/>
              <a:t>实验程序（</a:t>
            </a:r>
            <a:r>
              <a:rPr lang="en-US" altLang="zh-CN" b="1" dirty="0"/>
              <a:t>2</a:t>
            </a:r>
            <a:r>
              <a:rPr lang="zh-CN" altLang="en-US" b="1" dirty="0"/>
              <a:t>）</a:t>
            </a:r>
          </a:p>
        </p:txBody>
      </p:sp>
      <p:sp>
        <p:nvSpPr>
          <p:cNvPr id="10" name="文本框 9">
            <a:extLst>
              <a:ext uri="{FF2B5EF4-FFF2-40B4-BE49-F238E27FC236}">
                <a16:creationId xmlns:a16="http://schemas.microsoft.com/office/drawing/2014/main" id="{31C299AE-31B2-3C94-A0B5-20DA22BB1376}"/>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spTree>
    <p:extLst>
      <p:ext uri="{BB962C8B-B14F-4D97-AF65-F5344CB8AC3E}">
        <p14:creationId xmlns:p14="http://schemas.microsoft.com/office/powerpoint/2010/main" val="2616157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7FBD1CD-68A7-A591-E7BF-AC0481FBBCAC}"/>
              </a:ext>
            </a:extLst>
          </p:cNvPr>
          <p:cNvSpPr>
            <a:spLocks noGrp="1"/>
          </p:cNvSpPr>
          <p:nvPr>
            <p:ph idx="1"/>
          </p:nvPr>
        </p:nvSpPr>
        <p:spPr>
          <a:xfrm>
            <a:off x="1254579" y="1825625"/>
            <a:ext cx="5585460" cy="4351338"/>
          </a:xfrm>
        </p:spPr>
        <p:txBody>
          <a:bodyPr>
            <a:normAutofit/>
          </a:bodyPr>
          <a:lstStyle/>
          <a:p>
            <a:r>
              <a:rPr lang="zh-CN" altLang="en-US" sz="2000" b="1" dirty="0"/>
              <a:t>检查</a:t>
            </a:r>
            <a:r>
              <a:rPr lang="en-US" altLang="zh-CN" sz="2000" b="1" dirty="0">
                <a:solidFill>
                  <a:srgbClr val="C00000"/>
                </a:solidFill>
              </a:rPr>
              <a:t>FS_JTAG</a:t>
            </a:r>
            <a:r>
              <a:rPr lang="zh-CN" altLang="en-US" sz="2000" b="1" dirty="0"/>
              <a:t>是否处于连接状态</a:t>
            </a:r>
            <a:endParaRPr lang="en-US" altLang="zh-CN" sz="2000" b="1" dirty="0"/>
          </a:p>
          <a:p>
            <a:endParaRPr lang="en-US" altLang="zh-CN" sz="2000" b="1" dirty="0"/>
          </a:p>
          <a:p>
            <a:endParaRPr lang="zh-CN" altLang="en-US" sz="2000" b="1" dirty="0"/>
          </a:p>
        </p:txBody>
      </p:sp>
      <p:pic>
        <p:nvPicPr>
          <p:cNvPr id="6" name="图片 5">
            <a:extLst>
              <a:ext uri="{FF2B5EF4-FFF2-40B4-BE49-F238E27FC236}">
                <a16:creationId xmlns:a16="http://schemas.microsoft.com/office/drawing/2014/main" id="{B87639F2-DB27-368A-94E2-C13952EE366A}"/>
              </a:ext>
            </a:extLst>
          </p:cNvPr>
          <p:cNvPicPr>
            <a:picLocks noChangeAspect="1"/>
          </p:cNvPicPr>
          <p:nvPr/>
        </p:nvPicPr>
        <p:blipFill>
          <a:blip r:embed="rId2"/>
          <a:stretch>
            <a:fillRect/>
          </a:stretch>
        </p:blipFill>
        <p:spPr>
          <a:xfrm>
            <a:off x="1998836" y="2253684"/>
            <a:ext cx="4648849" cy="4058216"/>
          </a:xfrm>
          <a:prstGeom prst="rect">
            <a:avLst/>
          </a:prstGeom>
        </p:spPr>
      </p:pic>
      <p:cxnSp>
        <p:nvCxnSpPr>
          <p:cNvPr id="4" name="直接箭头连接符 3">
            <a:extLst>
              <a:ext uri="{FF2B5EF4-FFF2-40B4-BE49-F238E27FC236}">
                <a16:creationId xmlns:a16="http://schemas.microsoft.com/office/drawing/2014/main" id="{09370048-4BA8-645E-35AD-EA7838AB1473}"/>
              </a:ext>
            </a:extLst>
          </p:cNvPr>
          <p:cNvCxnSpPr>
            <a:cxnSpLocks/>
          </p:cNvCxnSpPr>
          <p:nvPr/>
        </p:nvCxnSpPr>
        <p:spPr>
          <a:xfrm flipV="1">
            <a:off x="4542563" y="3794839"/>
            <a:ext cx="0" cy="41291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标题 1">
            <a:extLst>
              <a:ext uri="{FF2B5EF4-FFF2-40B4-BE49-F238E27FC236}">
                <a16:creationId xmlns:a16="http://schemas.microsoft.com/office/drawing/2014/main" id="{755A521E-042B-41F3-6535-2BB8CF7E38A3}"/>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fs_pwm</a:t>
            </a:r>
            <a:r>
              <a:rPr lang="zh-CN" altLang="en-US" b="1" dirty="0"/>
              <a:t>实验程序（</a:t>
            </a:r>
            <a:r>
              <a:rPr lang="en-US" altLang="zh-CN" b="1" dirty="0"/>
              <a:t>3</a:t>
            </a:r>
            <a:r>
              <a:rPr lang="zh-CN" altLang="en-US" b="1" dirty="0"/>
              <a:t>）</a:t>
            </a:r>
          </a:p>
        </p:txBody>
      </p:sp>
      <p:sp>
        <p:nvSpPr>
          <p:cNvPr id="9" name="文本框 8">
            <a:extLst>
              <a:ext uri="{FF2B5EF4-FFF2-40B4-BE49-F238E27FC236}">
                <a16:creationId xmlns:a16="http://schemas.microsoft.com/office/drawing/2014/main" id="{71EE3EC4-2073-EC77-D2D6-D7A74A4CB860}"/>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spTree>
    <p:extLst>
      <p:ext uri="{BB962C8B-B14F-4D97-AF65-F5344CB8AC3E}">
        <p14:creationId xmlns:p14="http://schemas.microsoft.com/office/powerpoint/2010/main" val="13215521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862D8A5-BB9A-4FD0-141E-14E1B2CE4B23}"/>
              </a:ext>
            </a:extLst>
          </p:cNvPr>
          <p:cNvSpPr>
            <a:spLocks noGrp="1"/>
          </p:cNvSpPr>
          <p:nvPr>
            <p:ph idx="1"/>
          </p:nvPr>
        </p:nvSpPr>
        <p:spPr>
          <a:xfrm>
            <a:off x="1182733" y="1845734"/>
            <a:ext cx="9826534" cy="808238"/>
          </a:xfrm>
        </p:spPr>
        <p:txBody>
          <a:bodyPr>
            <a:normAutofit/>
          </a:bodyPr>
          <a:lstStyle/>
          <a:p>
            <a:pPr>
              <a:lnSpc>
                <a:spcPct val="110000"/>
              </a:lnSpc>
            </a:pPr>
            <a:r>
              <a:rPr lang="zh-CN" altLang="en-US" sz="1800" b="1" dirty="0">
                <a:solidFill>
                  <a:srgbClr val="C00000"/>
                </a:solidFill>
              </a:rPr>
              <a:t>打开实验工程</a:t>
            </a:r>
            <a:r>
              <a:rPr lang="zh-CN" altLang="en-US" sz="1800" b="1" dirty="0"/>
              <a:t>：如果实验工程没有打开（左下角的情况），则点击实验工程名称两下，打开实验工程（右下角的情况）</a:t>
            </a:r>
          </a:p>
        </p:txBody>
      </p:sp>
      <p:sp>
        <p:nvSpPr>
          <p:cNvPr id="10" name="标题 1">
            <a:extLst>
              <a:ext uri="{FF2B5EF4-FFF2-40B4-BE49-F238E27FC236}">
                <a16:creationId xmlns:a16="http://schemas.microsoft.com/office/drawing/2014/main" id="{AC707126-34DA-A2A1-7515-182C92B67FA5}"/>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fs_pwm</a:t>
            </a:r>
            <a:r>
              <a:rPr lang="zh-CN" altLang="en-US" b="1" dirty="0"/>
              <a:t>实验程序（</a:t>
            </a:r>
            <a:r>
              <a:rPr lang="en-US" altLang="zh-CN" b="1" dirty="0"/>
              <a:t>4</a:t>
            </a:r>
            <a:r>
              <a:rPr lang="zh-CN" altLang="en-US" b="1" dirty="0"/>
              <a:t>）</a:t>
            </a:r>
          </a:p>
        </p:txBody>
      </p:sp>
      <p:sp>
        <p:nvSpPr>
          <p:cNvPr id="20" name="文本框 19">
            <a:extLst>
              <a:ext uri="{FF2B5EF4-FFF2-40B4-BE49-F238E27FC236}">
                <a16:creationId xmlns:a16="http://schemas.microsoft.com/office/drawing/2014/main" id="{EF82BC1A-04EC-DA78-69E5-C1E0E5E19393}"/>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pic>
        <p:nvPicPr>
          <p:cNvPr id="4" name="图片 3">
            <a:extLst>
              <a:ext uri="{FF2B5EF4-FFF2-40B4-BE49-F238E27FC236}">
                <a16:creationId xmlns:a16="http://schemas.microsoft.com/office/drawing/2014/main" id="{E3B5FB27-7A7A-BD12-E868-A7E977FA9FF8}"/>
              </a:ext>
            </a:extLst>
          </p:cNvPr>
          <p:cNvPicPr>
            <a:picLocks noChangeAspect="1"/>
          </p:cNvPicPr>
          <p:nvPr/>
        </p:nvPicPr>
        <p:blipFill>
          <a:blip r:embed="rId2"/>
          <a:stretch>
            <a:fillRect/>
          </a:stretch>
        </p:blipFill>
        <p:spPr>
          <a:xfrm>
            <a:off x="6391552" y="2866176"/>
            <a:ext cx="4364845" cy="3076858"/>
          </a:xfrm>
          <a:prstGeom prst="rect">
            <a:avLst/>
          </a:prstGeom>
        </p:spPr>
      </p:pic>
      <p:sp>
        <p:nvSpPr>
          <p:cNvPr id="5" name="文本框 4">
            <a:extLst>
              <a:ext uri="{FF2B5EF4-FFF2-40B4-BE49-F238E27FC236}">
                <a16:creationId xmlns:a16="http://schemas.microsoft.com/office/drawing/2014/main" id="{88C4575B-23A0-9347-C08E-EA21707172C6}"/>
              </a:ext>
            </a:extLst>
          </p:cNvPr>
          <p:cNvSpPr txBox="1"/>
          <p:nvPr/>
        </p:nvSpPr>
        <p:spPr>
          <a:xfrm>
            <a:off x="8252781" y="4766877"/>
            <a:ext cx="2031325" cy="369332"/>
          </a:xfrm>
          <a:prstGeom prst="rect">
            <a:avLst/>
          </a:prstGeom>
          <a:solidFill>
            <a:srgbClr val="FFFF00"/>
          </a:solidFill>
        </p:spPr>
        <p:txBody>
          <a:bodyPr wrap="none" rtlCol="0">
            <a:spAutoFit/>
          </a:bodyPr>
          <a:lstStyle/>
          <a:p>
            <a:r>
              <a:rPr lang="zh-CN" altLang="en-US" b="1" dirty="0"/>
              <a:t>实验工程已经打开</a:t>
            </a:r>
          </a:p>
        </p:txBody>
      </p:sp>
      <p:pic>
        <p:nvPicPr>
          <p:cNvPr id="7" name="图片 6">
            <a:extLst>
              <a:ext uri="{FF2B5EF4-FFF2-40B4-BE49-F238E27FC236}">
                <a16:creationId xmlns:a16="http://schemas.microsoft.com/office/drawing/2014/main" id="{41DEC097-A5D6-1019-233A-3A87C98DE4B0}"/>
              </a:ext>
            </a:extLst>
          </p:cNvPr>
          <p:cNvPicPr>
            <a:picLocks noChangeAspect="1"/>
          </p:cNvPicPr>
          <p:nvPr/>
        </p:nvPicPr>
        <p:blipFill>
          <a:blip r:embed="rId3"/>
          <a:stretch>
            <a:fillRect/>
          </a:stretch>
        </p:blipFill>
        <p:spPr>
          <a:xfrm>
            <a:off x="1907894" y="2653972"/>
            <a:ext cx="3181797" cy="3640692"/>
          </a:xfrm>
          <a:prstGeom prst="rect">
            <a:avLst/>
          </a:prstGeom>
        </p:spPr>
      </p:pic>
      <p:sp>
        <p:nvSpPr>
          <p:cNvPr id="8" name="文本框 7">
            <a:extLst>
              <a:ext uri="{FF2B5EF4-FFF2-40B4-BE49-F238E27FC236}">
                <a16:creationId xmlns:a16="http://schemas.microsoft.com/office/drawing/2014/main" id="{EA5D3679-FB68-92A3-E3E0-48D52366E3DA}"/>
              </a:ext>
            </a:extLst>
          </p:cNvPr>
          <p:cNvSpPr txBox="1"/>
          <p:nvPr/>
        </p:nvSpPr>
        <p:spPr>
          <a:xfrm>
            <a:off x="3960945" y="4991125"/>
            <a:ext cx="2031325" cy="369332"/>
          </a:xfrm>
          <a:prstGeom prst="rect">
            <a:avLst/>
          </a:prstGeom>
          <a:solidFill>
            <a:srgbClr val="FFFF00"/>
          </a:solidFill>
        </p:spPr>
        <p:txBody>
          <a:bodyPr wrap="none" rtlCol="0">
            <a:spAutoFit/>
          </a:bodyPr>
          <a:lstStyle/>
          <a:p>
            <a:r>
              <a:rPr lang="zh-CN" altLang="en-US" b="1" dirty="0"/>
              <a:t>实验工程没有打开</a:t>
            </a:r>
          </a:p>
        </p:txBody>
      </p:sp>
    </p:spTree>
    <p:extLst>
      <p:ext uri="{BB962C8B-B14F-4D97-AF65-F5344CB8AC3E}">
        <p14:creationId xmlns:p14="http://schemas.microsoft.com/office/powerpoint/2010/main" val="5891175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862D8A5-BB9A-4FD0-141E-14E1B2CE4B23}"/>
              </a:ext>
            </a:extLst>
          </p:cNvPr>
          <p:cNvSpPr>
            <a:spLocks noGrp="1"/>
          </p:cNvSpPr>
          <p:nvPr>
            <p:ph idx="1"/>
          </p:nvPr>
        </p:nvSpPr>
        <p:spPr/>
        <p:txBody>
          <a:bodyPr>
            <a:normAutofit/>
          </a:bodyPr>
          <a:lstStyle/>
          <a:p>
            <a:r>
              <a:rPr lang="zh-CN" altLang="en-US" sz="2000" b="1" dirty="0">
                <a:solidFill>
                  <a:srgbClr val="C00000"/>
                </a:solidFill>
              </a:rPr>
              <a:t>进入调试状态</a:t>
            </a:r>
            <a:r>
              <a:rPr lang="zh-CN" altLang="en-US" sz="2000" b="1" dirty="0"/>
              <a:t>：</a:t>
            </a:r>
            <a:r>
              <a:rPr lang="en-US" altLang="zh-CN" sz="2000" b="1" dirty="0"/>
              <a:t>Run -&gt; Debug Configurations</a:t>
            </a:r>
            <a:endParaRPr lang="zh-CN" altLang="en-US" sz="2000" b="1" dirty="0"/>
          </a:p>
        </p:txBody>
      </p:sp>
      <p:sp>
        <p:nvSpPr>
          <p:cNvPr id="10" name="标题 1">
            <a:extLst>
              <a:ext uri="{FF2B5EF4-FFF2-40B4-BE49-F238E27FC236}">
                <a16:creationId xmlns:a16="http://schemas.microsoft.com/office/drawing/2014/main" id="{AC707126-34DA-A2A1-7515-182C92B67FA5}"/>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fs_pwm</a:t>
            </a:r>
            <a:r>
              <a:rPr lang="zh-CN" altLang="en-US" b="1" dirty="0"/>
              <a:t>实验程序（</a:t>
            </a:r>
            <a:r>
              <a:rPr lang="en-US" altLang="zh-CN" b="1" dirty="0"/>
              <a:t>5</a:t>
            </a:r>
            <a:r>
              <a:rPr lang="zh-CN" altLang="en-US" b="1" dirty="0"/>
              <a:t>）</a:t>
            </a:r>
          </a:p>
        </p:txBody>
      </p:sp>
      <p:pic>
        <p:nvPicPr>
          <p:cNvPr id="7" name="图片 6">
            <a:extLst>
              <a:ext uri="{FF2B5EF4-FFF2-40B4-BE49-F238E27FC236}">
                <a16:creationId xmlns:a16="http://schemas.microsoft.com/office/drawing/2014/main" id="{16E9413C-6281-77ED-3FE2-0F8414F67755}"/>
              </a:ext>
            </a:extLst>
          </p:cNvPr>
          <p:cNvPicPr>
            <a:picLocks noChangeAspect="1"/>
          </p:cNvPicPr>
          <p:nvPr/>
        </p:nvPicPr>
        <p:blipFill>
          <a:blip r:embed="rId2"/>
          <a:stretch>
            <a:fillRect/>
          </a:stretch>
        </p:blipFill>
        <p:spPr>
          <a:xfrm>
            <a:off x="4030147" y="2447686"/>
            <a:ext cx="4264980" cy="3423998"/>
          </a:xfrm>
          <a:prstGeom prst="rect">
            <a:avLst/>
          </a:prstGeom>
        </p:spPr>
      </p:pic>
      <p:sp>
        <p:nvSpPr>
          <p:cNvPr id="18" name="文本框 17">
            <a:extLst>
              <a:ext uri="{FF2B5EF4-FFF2-40B4-BE49-F238E27FC236}">
                <a16:creationId xmlns:a16="http://schemas.microsoft.com/office/drawing/2014/main" id="{B68BEB57-0025-38D9-7978-B2C9F3A8E093}"/>
              </a:ext>
            </a:extLst>
          </p:cNvPr>
          <p:cNvSpPr txBox="1"/>
          <p:nvPr/>
        </p:nvSpPr>
        <p:spPr>
          <a:xfrm>
            <a:off x="8916825" y="4548806"/>
            <a:ext cx="2492990" cy="369332"/>
          </a:xfrm>
          <a:prstGeom prst="rect">
            <a:avLst/>
          </a:prstGeom>
          <a:solidFill>
            <a:srgbClr val="FFFF00"/>
          </a:solidFill>
        </p:spPr>
        <p:txBody>
          <a:bodyPr wrap="none" rtlCol="0">
            <a:spAutoFit/>
          </a:bodyPr>
          <a:lstStyle/>
          <a:p>
            <a:r>
              <a:rPr lang="zh-CN" altLang="en-US" b="1" dirty="0"/>
              <a:t>实验工程处于调试状态</a:t>
            </a:r>
          </a:p>
        </p:txBody>
      </p:sp>
      <p:sp>
        <p:nvSpPr>
          <p:cNvPr id="19" name="文本框 18">
            <a:extLst>
              <a:ext uri="{FF2B5EF4-FFF2-40B4-BE49-F238E27FC236}">
                <a16:creationId xmlns:a16="http://schemas.microsoft.com/office/drawing/2014/main" id="{3F621701-EEDB-FE95-B3FD-139209973E18}"/>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cxnSp>
        <p:nvCxnSpPr>
          <p:cNvPr id="2" name="直接箭头连接符 1">
            <a:extLst>
              <a:ext uri="{FF2B5EF4-FFF2-40B4-BE49-F238E27FC236}">
                <a16:creationId xmlns:a16="http://schemas.microsoft.com/office/drawing/2014/main" id="{68ED7A4E-4731-64EF-1921-50B8799D0B5E}"/>
              </a:ext>
            </a:extLst>
          </p:cNvPr>
          <p:cNvCxnSpPr>
            <a:cxnSpLocks/>
          </p:cNvCxnSpPr>
          <p:nvPr/>
        </p:nvCxnSpPr>
        <p:spPr>
          <a:xfrm>
            <a:off x="3612613" y="3531035"/>
            <a:ext cx="417534"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F4E81AB4-F94A-ED47-DACB-D2DC9BF18307}"/>
              </a:ext>
            </a:extLst>
          </p:cNvPr>
          <p:cNvPicPr>
            <a:picLocks noChangeAspect="1"/>
          </p:cNvPicPr>
          <p:nvPr/>
        </p:nvPicPr>
        <p:blipFill>
          <a:blip r:embed="rId3"/>
          <a:stretch>
            <a:fillRect/>
          </a:stretch>
        </p:blipFill>
        <p:spPr>
          <a:xfrm>
            <a:off x="551083" y="2437477"/>
            <a:ext cx="3248478" cy="3348504"/>
          </a:xfrm>
          <a:prstGeom prst="rect">
            <a:avLst/>
          </a:prstGeom>
        </p:spPr>
      </p:pic>
      <p:cxnSp>
        <p:nvCxnSpPr>
          <p:cNvPr id="15" name="直接箭头连接符 14">
            <a:extLst>
              <a:ext uri="{FF2B5EF4-FFF2-40B4-BE49-F238E27FC236}">
                <a16:creationId xmlns:a16="http://schemas.microsoft.com/office/drawing/2014/main" id="{87395740-356C-BAE7-B087-CF88C6095B8A}"/>
              </a:ext>
            </a:extLst>
          </p:cNvPr>
          <p:cNvCxnSpPr>
            <a:cxnSpLocks/>
          </p:cNvCxnSpPr>
          <p:nvPr/>
        </p:nvCxnSpPr>
        <p:spPr>
          <a:xfrm>
            <a:off x="1757788" y="5592581"/>
            <a:ext cx="417534"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01B89275-D10F-3B1A-C1F5-1DB0434BFF69}"/>
              </a:ext>
            </a:extLst>
          </p:cNvPr>
          <p:cNvCxnSpPr>
            <a:cxnSpLocks/>
          </p:cNvCxnSpPr>
          <p:nvPr/>
        </p:nvCxnSpPr>
        <p:spPr>
          <a:xfrm>
            <a:off x="2197204" y="2693922"/>
            <a:ext cx="0" cy="374955"/>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23141A14-5513-EC6A-2C89-6178F0741AB6}"/>
              </a:ext>
            </a:extLst>
          </p:cNvPr>
          <p:cNvPicPr>
            <a:picLocks noChangeAspect="1"/>
          </p:cNvPicPr>
          <p:nvPr/>
        </p:nvPicPr>
        <p:blipFill>
          <a:blip r:embed="rId4"/>
          <a:stretch>
            <a:fillRect/>
          </a:stretch>
        </p:blipFill>
        <p:spPr>
          <a:xfrm>
            <a:off x="8525713" y="2693922"/>
            <a:ext cx="3504891" cy="1867532"/>
          </a:xfrm>
          <a:prstGeom prst="rect">
            <a:avLst/>
          </a:prstGeom>
        </p:spPr>
      </p:pic>
    </p:spTree>
    <p:extLst>
      <p:ext uri="{BB962C8B-B14F-4D97-AF65-F5344CB8AC3E}">
        <p14:creationId xmlns:p14="http://schemas.microsoft.com/office/powerpoint/2010/main" val="34399754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内容占位符 2">
            <a:extLst>
              <a:ext uri="{FF2B5EF4-FFF2-40B4-BE49-F238E27FC236}">
                <a16:creationId xmlns:a16="http://schemas.microsoft.com/office/drawing/2014/main" id="{D3680F43-472C-D5C5-1BC5-4AAE451ECF94}"/>
              </a:ext>
            </a:extLst>
          </p:cNvPr>
          <p:cNvSpPr>
            <a:spLocks noGrp="1"/>
          </p:cNvSpPr>
          <p:nvPr>
            <p:ph idx="1"/>
          </p:nvPr>
        </p:nvSpPr>
        <p:spPr>
          <a:xfrm>
            <a:off x="838200" y="1825625"/>
            <a:ext cx="10515600" cy="4351338"/>
          </a:xfrm>
        </p:spPr>
        <p:txBody>
          <a:bodyPr>
            <a:normAutofit/>
          </a:bodyPr>
          <a:lstStyle/>
          <a:p>
            <a:r>
              <a:rPr lang="zh-CN" altLang="en-US" sz="2000" b="1" dirty="0"/>
              <a:t>在实验工程处于调试状态下时，点击运行图标，</a:t>
            </a:r>
            <a:r>
              <a:rPr lang="zh-CN" altLang="en-US" sz="2000" b="1" dirty="0">
                <a:solidFill>
                  <a:srgbClr val="C00000"/>
                </a:solidFill>
              </a:rPr>
              <a:t>运行实验工程</a:t>
            </a:r>
          </a:p>
        </p:txBody>
      </p:sp>
      <p:cxnSp>
        <p:nvCxnSpPr>
          <p:cNvPr id="2" name="直接箭头连接符 1">
            <a:extLst>
              <a:ext uri="{FF2B5EF4-FFF2-40B4-BE49-F238E27FC236}">
                <a16:creationId xmlns:a16="http://schemas.microsoft.com/office/drawing/2014/main" id="{1918AD29-C385-6ECD-0BEA-C6AB75536502}"/>
              </a:ext>
            </a:extLst>
          </p:cNvPr>
          <p:cNvCxnSpPr>
            <a:cxnSpLocks/>
          </p:cNvCxnSpPr>
          <p:nvPr/>
        </p:nvCxnSpPr>
        <p:spPr>
          <a:xfrm>
            <a:off x="5240362" y="4872838"/>
            <a:ext cx="0" cy="56280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96F496F3-4D16-0916-04A2-988D9F974BCC}"/>
              </a:ext>
            </a:extLst>
          </p:cNvPr>
          <p:cNvSpPr txBox="1"/>
          <p:nvPr/>
        </p:nvSpPr>
        <p:spPr>
          <a:xfrm>
            <a:off x="3312621" y="5453696"/>
            <a:ext cx="2492990" cy="369332"/>
          </a:xfrm>
          <a:prstGeom prst="rect">
            <a:avLst/>
          </a:prstGeom>
          <a:solidFill>
            <a:srgbClr val="FFFF00"/>
          </a:solidFill>
        </p:spPr>
        <p:txBody>
          <a:bodyPr wrap="none" rtlCol="0">
            <a:spAutoFit/>
          </a:bodyPr>
          <a:lstStyle/>
          <a:p>
            <a:r>
              <a:rPr lang="zh-CN" altLang="en-US" b="1" dirty="0"/>
              <a:t>实验工程处于调试状态</a:t>
            </a:r>
          </a:p>
        </p:txBody>
      </p:sp>
      <p:sp>
        <p:nvSpPr>
          <p:cNvPr id="8" name="标题 1">
            <a:extLst>
              <a:ext uri="{FF2B5EF4-FFF2-40B4-BE49-F238E27FC236}">
                <a16:creationId xmlns:a16="http://schemas.microsoft.com/office/drawing/2014/main" id="{550FA287-1F86-DE7D-139F-23C33FAF8125}"/>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fs_pwm</a:t>
            </a:r>
            <a:r>
              <a:rPr lang="zh-CN" altLang="en-US" b="1" dirty="0"/>
              <a:t>实验程序（</a:t>
            </a:r>
            <a:r>
              <a:rPr lang="en-US" altLang="zh-CN" b="1" dirty="0"/>
              <a:t>6</a:t>
            </a:r>
            <a:r>
              <a:rPr lang="zh-CN" altLang="en-US" b="1" dirty="0"/>
              <a:t>）</a:t>
            </a:r>
          </a:p>
        </p:txBody>
      </p:sp>
      <p:sp>
        <p:nvSpPr>
          <p:cNvPr id="9" name="文本框 8">
            <a:extLst>
              <a:ext uri="{FF2B5EF4-FFF2-40B4-BE49-F238E27FC236}">
                <a16:creationId xmlns:a16="http://schemas.microsoft.com/office/drawing/2014/main" id="{2654DF2D-FE0F-EBF5-61B4-35880CBA3AD4}"/>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pic>
        <p:nvPicPr>
          <p:cNvPr id="6" name="图片 5">
            <a:extLst>
              <a:ext uri="{FF2B5EF4-FFF2-40B4-BE49-F238E27FC236}">
                <a16:creationId xmlns:a16="http://schemas.microsoft.com/office/drawing/2014/main" id="{C1A6B648-89FE-CCFB-B615-D82E7D2AED7C}"/>
              </a:ext>
            </a:extLst>
          </p:cNvPr>
          <p:cNvPicPr>
            <a:picLocks noChangeAspect="1"/>
          </p:cNvPicPr>
          <p:nvPr/>
        </p:nvPicPr>
        <p:blipFill>
          <a:blip r:embed="rId2"/>
          <a:stretch>
            <a:fillRect/>
          </a:stretch>
        </p:blipFill>
        <p:spPr>
          <a:xfrm>
            <a:off x="1406074" y="2498271"/>
            <a:ext cx="8729933" cy="2655971"/>
          </a:xfrm>
          <a:prstGeom prst="rect">
            <a:avLst/>
          </a:prstGeom>
        </p:spPr>
      </p:pic>
      <p:cxnSp>
        <p:nvCxnSpPr>
          <p:cNvPr id="7" name="直接箭头连接符 6">
            <a:extLst>
              <a:ext uri="{FF2B5EF4-FFF2-40B4-BE49-F238E27FC236}">
                <a16:creationId xmlns:a16="http://schemas.microsoft.com/office/drawing/2014/main" id="{6B337784-D353-3E82-1CA4-60589473F229}"/>
              </a:ext>
            </a:extLst>
          </p:cNvPr>
          <p:cNvCxnSpPr>
            <a:cxnSpLocks/>
          </p:cNvCxnSpPr>
          <p:nvPr/>
        </p:nvCxnSpPr>
        <p:spPr>
          <a:xfrm>
            <a:off x="8586878" y="3188258"/>
            <a:ext cx="0" cy="56280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4D92E6D9-EA16-9E62-8213-C7560275D963}"/>
              </a:ext>
            </a:extLst>
          </p:cNvPr>
          <p:cNvSpPr txBox="1"/>
          <p:nvPr/>
        </p:nvSpPr>
        <p:spPr>
          <a:xfrm>
            <a:off x="8032880" y="2680719"/>
            <a:ext cx="1107996" cy="369332"/>
          </a:xfrm>
          <a:prstGeom prst="rect">
            <a:avLst/>
          </a:prstGeom>
          <a:solidFill>
            <a:srgbClr val="FFFF00"/>
          </a:solidFill>
        </p:spPr>
        <p:txBody>
          <a:bodyPr wrap="none" rtlCol="0">
            <a:spAutoFit/>
          </a:bodyPr>
          <a:lstStyle/>
          <a:p>
            <a:r>
              <a:rPr lang="zh-CN" altLang="en-US" b="1" dirty="0"/>
              <a:t>运行图标</a:t>
            </a:r>
          </a:p>
        </p:txBody>
      </p:sp>
    </p:spTree>
    <p:extLst>
      <p:ext uri="{BB962C8B-B14F-4D97-AF65-F5344CB8AC3E}">
        <p14:creationId xmlns:p14="http://schemas.microsoft.com/office/powerpoint/2010/main" val="24953049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29E53423-C838-D3D4-3A37-EC2D7B005AE7}"/>
              </a:ext>
            </a:extLst>
          </p:cNvPr>
          <p:cNvSpPr>
            <a:spLocks noGrp="1"/>
          </p:cNvSpPr>
          <p:nvPr>
            <p:ph idx="1"/>
          </p:nvPr>
        </p:nvSpPr>
        <p:spPr>
          <a:xfrm>
            <a:off x="838200" y="1825625"/>
            <a:ext cx="10515600" cy="4351338"/>
          </a:xfrm>
        </p:spPr>
        <p:txBody>
          <a:bodyPr>
            <a:normAutofit/>
          </a:bodyPr>
          <a:lstStyle/>
          <a:p>
            <a:r>
              <a:rPr lang="zh-CN" altLang="en-US" sz="2000" b="1" dirty="0"/>
              <a:t>此时，实验箱的</a:t>
            </a:r>
            <a:r>
              <a:rPr lang="en-US" altLang="zh-CN" sz="2000" b="1" dirty="0"/>
              <a:t>MPU</a:t>
            </a:r>
            <a:r>
              <a:rPr lang="zh-CN" altLang="en-US" sz="2000" b="1" dirty="0"/>
              <a:t>开发板上的</a:t>
            </a:r>
            <a:r>
              <a:rPr lang="en-US" altLang="zh-CN" sz="2000" b="1" dirty="0">
                <a:solidFill>
                  <a:srgbClr val="C00000"/>
                </a:solidFill>
              </a:rPr>
              <a:t>LED1</a:t>
            </a:r>
            <a:r>
              <a:rPr lang="zh-CN" altLang="en-US" sz="2000" b="1" dirty="0">
                <a:solidFill>
                  <a:srgbClr val="C00000"/>
                </a:solidFill>
              </a:rPr>
              <a:t>灯会由亮变暗，再由暗变亮</a:t>
            </a:r>
          </a:p>
        </p:txBody>
      </p:sp>
      <p:pic>
        <p:nvPicPr>
          <p:cNvPr id="8" name="图片 7">
            <a:extLst>
              <a:ext uri="{FF2B5EF4-FFF2-40B4-BE49-F238E27FC236}">
                <a16:creationId xmlns:a16="http://schemas.microsoft.com/office/drawing/2014/main" id="{D53F691D-428A-F9AC-9F5F-D970E68A9CC0}"/>
              </a:ext>
            </a:extLst>
          </p:cNvPr>
          <p:cNvPicPr>
            <a:picLocks noChangeAspect="1"/>
          </p:cNvPicPr>
          <p:nvPr/>
        </p:nvPicPr>
        <p:blipFill>
          <a:blip r:embed="rId2"/>
          <a:stretch>
            <a:fillRect/>
          </a:stretch>
        </p:blipFill>
        <p:spPr>
          <a:xfrm>
            <a:off x="3649889" y="2395859"/>
            <a:ext cx="4032648" cy="2490540"/>
          </a:xfrm>
          <a:prstGeom prst="rect">
            <a:avLst/>
          </a:prstGeom>
        </p:spPr>
      </p:pic>
      <p:cxnSp>
        <p:nvCxnSpPr>
          <p:cNvPr id="9" name="直接箭头连接符 8">
            <a:extLst>
              <a:ext uri="{FF2B5EF4-FFF2-40B4-BE49-F238E27FC236}">
                <a16:creationId xmlns:a16="http://schemas.microsoft.com/office/drawing/2014/main" id="{10574B30-8AAF-B121-A220-EAC4D2D3957B}"/>
              </a:ext>
            </a:extLst>
          </p:cNvPr>
          <p:cNvCxnSpPr>
            <a:cxnSpLocks/>
          </p:cNvCxnSpPr>
          <p:nvPr/>
        </p:nvCxnSpPr>
        <p:spPr>
          <a:xfrm flipV="1">
            <a:off x="6284443" y="4886399"/>
            <a:ext cx="0" cy="48126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7BC5583E-AB6F-B3DD-4752-1B9975B59700}"/>
              </a:ext>
            </a:extLst>
          </p:cNvPr>
          <p:cNvSpPr txBox="1"/>
          <p:nvPr/>
        </p:nvSpPr>
        <p:spPr>
          <a:xfrm>
            <a:off x="5914340" y="5456633"/>
            <a:ext cx="1205629" cy="369332"/>
          </a:xfrm>
          <a:prstGeom prst="rect">
            <a:avLst/>
          </a:prstGeom>
          <a:noFill/>
        </p:spPr>
        <p:txBody>
          <a:bodyPr wrap="square">
            <a:spAutoFit/>
          </a:bodyPr>
          <a:lstStyle/>
          <a:p>
            <a:r>
              <a:rPr lang="en-US" altLang="zh-CN" sz="1800" b="1" dirty="0">
                <a:solidFill>
                  <a:srgbClr val="FF0000"/>
                </a:solidFill>
              </a:rPr>
              <a:t>LED1</a:t>
            </a:r>
            <a:r>
              <a:rPr lang="zh-CN" altLang="en-US" sz="1800" b="1" dirty="0">
                <a:solidFill>
                  <a:srgbClr val="FF0000"/>
                </a:solidFill>
              </a:rPr>
              <a:t>灯</a:t>
            </a:r>
            <a:endParaRPr lang="zh-CN" altLang="en-US" dirty="0"/>
          </a:p>
        </p:txBody>
      </p:sp>
      <p:sp>
        <p:nvSpPr>
          <p:cNvPr id="5" name="标题 1">
            <a:extLst>
              <a:ext uri="{FF2B5EF4-FFF2-40B4-BE49-F238E27FC236}">
                <a16:creationId xmlns:a16="http://schemas.microsoft.com/office/drawing/2014/main" id="{C586426F-5136-3ADE-EAD5-1E4DA4EECBB6}"/>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fs_pwm</a:t>
            </a:r>
            <a:r>
              <a:rPr lang="zh-CN" altLang="en-US" b="1" dirty="0"/>
              <a:t>实验程序（</a:t>
            </a:r>
            <a:r>
              <a:rPr lang="en-US" altLang="zh-CN" b="1" dirty="0"/>
              <a:t>7</a:t>
            </a:r>
            <a:r>
              <a:rPr lang="zh-CN" altLang="en-US" b="1" dirty="0"/>
              <a:t>）</a:t>
            </a:r>
          </a:p>
        </p:txBody>
      </p:sp>
      <p:sp>
        <p:nvSpPr>
          <p:cNvPr id="10" name="文本框 9">
            <a:extLst>
              <a:ext uri="{FF2B5EF4-FFF2-40B4-BE49-F238E27FC236}">
                <a16:creationId xmlns:a16="http://schemas.microsoft.com/office/drawing/2014/main" id="{8F2F8445-B0E5-B583-04FB-5112931915A5}"/>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spTree>
    <p:extLst>
      <p:ext uri="{BB962C8B-B14F-4D97-AF65-F5344CB8AC3E}">
        <p14:creationId xmlns:p14="http://schemas.microsoft.com/office/powerpoint/2010/main" val="42693650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内容占位符 2">
            <a:extLst>
              <a:ext uri="{FF2B5EF4-FFF2-40B4-BE49-F238E27FC236}">
                <a16:creationId xmlns:a16="http://schemas.microsoft.com/office/drawing/2014/main" id="{96CBB676-E890-6AD3-60BB-69ED7F8A1D03}"/>
              </a:ext>
            </a:extLst>
          </p:cNvPr>
          <p:cNvSpPr>
            <a:spLocks noGrp="1"/>
          </p:cNvSpPr>
          <p:nvPr>
            <p:ph idx="1"/>
          </p:nvPr>
        </p:nvSpPr>
        <p:spPr>
          <a:xfrm>
            <a:off x="838200" y="1825625"/>
            <a:ext cx="10515600" cy="4351338"/>
          </a:xfrm>
        </p:spPr>
        <p:txBody>
          <a:bodyPr>
            <a:normAutofit/>
          </a:bodyPr>
          <a:lstStyle/>
          <a:p>
            <a:r>
              <a:rPr lang="zh-CN" altLang="en-US" sz="2000" b="1" dirty="0"/>
              <a:t>点击停止图标，</a:t>
            </a:r>
            <a:r>
              <a:rPr lang="zh-CN" altLang="en-US" sz="2000" b="1" dirty="0">
                <a:solidFill>
                  <a:srgbClr val="C00000"/>
                </a:solidFill>
              </a:rPr>
              <a:t>停止运行实验工程</a:t>
            </a:r>
            <a:r>
              <a:rPr lang="zh-CN" altLang="en-US" sz="2000" b="1" dirty="0"/>
              <a:t>；实验箱的</a:t>
            </a:r>
            <a:r>
              <a:rPr lang="en-US" altLang="zh-CN" sz="2000" b="1" dirty="0"/>
              <a:t>MPU</a:t>
            </a:r>
            <a:r>
              <a:rPr lang="zh-CN" altLang="en-US" sz="2000" b="1" dirty="0"/>
              <a:t>开发板上的</a:t>
            </a:r>
            <a:r>
              <a:rPr lang="en-US" altLang="zh-CN" sz="2000" b="1" dirty="0"/>
              <a:t>LED</a:t>
            </a:r>
            <a:r>
              <a:rPr lang="zh-CN" altLang="en-US" sz="2000" b="1" dirty="0"/>
              <a:t>灯不再变化</a:t>
            </a:r>
          </a:p>
        </p:txBody>
      </p:sp>
      <p:sp>
        <p:nvSpPr>
          <p:cNvPr id="6" name="标题 1">
            <a:extLst>
              <a:ext uri="{FF2B5EF4-FFF2-40B4-BE49-F238E27FC236}">
                <a16:creationId xmlns:a16="http://schemas.microsoft.com/office/drawing/2014/main" id="{B75B5BA3-9192-7E13-D10F-C50247A0F78B}"/>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fs_pwm</a:t>
            </a:r>
            <a:r>
              <a:rPr lang="zh-CN" altLang="en-US" b="1" dirty="0"/>
              <a:t>实验程序（</a:t>
            </a:r>
            <a:r>
              <a:rPr lang="en-US" altLang="zh-CN" b="1" dirty="0"/>
              <a:t>8</a:t>
            </a:r>
            <a:r>
              <a:rPr lang="zh-CN" altLang="en-US" b="1" dirty="0"/>
              <a:t>）</a:t>
            </a:r>
          </a:p>
        </p:txBody>
      </p:sp>
      <p:sp>
        <p:nvSpPr>
          <p:cNvPr id="8" name="文本框 7">
            <a:extLst>
              <a:ext uri="{FF2B5EF4-FFF2-40B4-BE49-F238E27FC236}">
                <a16:creationId xmlns:a16="http://schemas.microsoft.com/office/drawing/2014/main" id="{D156F240-C280-19C3-FF82-72ABBEAC1C1E}"/>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pic>
        <p:nvPicPr>
          <p:cNvPr id="2" name="图片 1">
            <a:extLst>
              <a:ext uri="{FF2B5EF4-FFF2-40B4-BE49-F238E27FC236}">
                <a16:creationId xmlns:a16="http://schemas.microsoft.com/office/drawing/2014/main" id="{C47BC856-5DD3-901F-C786-5538A507F836}"/>
              </a:ext>
            </a:extLst>
          </p:cNvPr>
          <p:cNvPicPr>
            <a:picLocks noChangeAspect="1"/>
          </p:cNvPicPr>
          <p:nvPr/>
        </p:nvPicPr>
        <p:blipFill>
          <a:blip r:embed="rId2"/>
          <a:stretch>
            <a:fillRect/>
          </a:stretch>
        </p:blipFill>
        <p:spPr>
          <a:xfrm>
            <a:off x="1461612" y="2644726"/>
            <a:ext cx="8729933" cy="2655971"/>
          </a:xfrm>
          <a:prstGeom prst="rect">
            <a:avLst/>
          </a:prstGeom>
        </p:spPr>
      </p:pic>
      <p:cxnSp>
        <p:nvCxnSpPr>
          <p:cNvPr id="3" name="直接箭头连接符 2">
            <a:extLst>
              <a:ext uri="{FF2B5EF4-FFF2-40B4-BE49-F238E27FC236}">
                <a16:creationId xmlns:a16="http://schemas.microsoft.com/office/drawing/2014/main" id="{F3115D80-F70B-ABF3-DD3B-2072A0CA63A4}"/>
              </a:ext>
            </a:extLst>
          </p:cNvPr>
          <p:cNvCxnSpPr>
            <a:cxnSpLocks/>
          </p:cNvCxnSpPr>
          <p:nvPr/>
        </p:nvCxnSpPr>
        <p:spPr>
          <a:xfrm>
            <a:off x="8856073" y="3262404"/>
            <a:ext cx="0" cy="46051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4F4D8888-543C-1B54-922A-763F2F14932C}"/>
              </a:ext>
            </a:extLst>
          </p:cNvPr>
          <p:cNvSpPr txBox="1"/>
          <p:nvPr/>
        </p:nvSpPr>
        <p:spPr>
          <a:xfrm>
            <a:off x="8204104" y="2702637"/>
            <a:ext cx="1107996" cy="369332"/>
          </a:xfrm>
          <a:prstGeom prst="rect">
            <a:avLst/>
          </a:prstGeom>
          <a:solidFill>
            <a:srgbClr val="FFFF00"/>
          </a:solidFill>
        </p:spPr>
        <p:txBody>
          <a:bodyPr wrap="none" rtlCol="0">
            <a:spAutoFit/>
          </a:bodyPr>
          <a:lstStyle/>
          <a:p>
            <a:r>
              <a:rPr lang="zh-CN" altLang="en-US" b="1" dirty="0"/>
              <a:t>停止图标</a:t>
            </a:r>
          </a:p>
        </p:txBody>
      </p:sp>
    </p:spTree>
    <p:extLst>
      <p:ext uri="{BB962C8B-B14F-4D97-AF65-F5344CB8AC3E}">
        <p14:creationId xmlns:p14="http://schemas.microsoft.com/office/powerpoint/2010/main" val="26690499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a:extLst>
              <a:ext uri="{FF2B5EF4-FFF2-40B4-BE49-F238E27FC236}">
                <a16:creationId xmlns:a16="http://schemas.microsoft.com/office/drawing/2014/main" id="{E09E0445-0DD3-75AB-8998-6922C4187D07}"/>
              </a:ext>
            </a:extLst>
          </p:cNvPr>
          <p:cNvSpPr>
            <a:spLocks noGrp="1"/>
          </p:cNvSpPr>
          <p:nvPr>
            <p:ph idx="1"/>
          </p:nvPr>
        </p:nvSpPr>
        <p:spPr>
          <a:xfrm>
            <a:off x="838200" y="1825625"/>
            <a:ext cx="10515600" cy="4351338"/>
          </a:xfrm>
        </p:spPr>
        <p:txBody>
          <a:bodyPr>
            <a:normAutofit/>
          </a:bodyPr>
          <a:lstStyle/>
          <a:p>
            <a:r>
              <a:rPr lang="zh-CN" altLang="en-US" sz="2000" b="1" dirty="0"/>
              <a:t>按鼠标右键，出现右边的界面；点击“</a:t>
            </a:r>
            <a:r>
              <a:rPr lang="en-US" altLang="zh-CN" sz="2000" b="1" dirty="0"/>
              <a:t>Relaunch</a:t>
            </a:r>
            <a:r>
              <a:rPr lang="zh-CN" altLang="en-US" sz="2000" b="1" dirty="0"/>
              <a:t>”，</a:t>
            </a:r>
            <a:r>
              <a:rPr lang="zh-CN" altLang="en-US" sz="2000" b="1" dirty="0">
                <a:solidFill>
                  <a:srgbClr val="C00000"/>
                </a:solidFill>
              </a:rPr>
              <a:t>重启实验工程</a:t>
            </a:r>
            <a:r>
              <a:rPr lang="zh-CN" altLang="en-US" sz="2000" b="1" dirty="0"/>
              <a:t>；重启后的界面见左下角；重启后，又可以运行实验工程</a:t>
            </a:r>
          </a:p>
        </p:txBody>
      </p:sp>
      <p:pic>
        <p:nvPicPr>
          <p:cNvPr id="3" name="图片 2">
            <a:extLst>
              <a:ext uri="{FF2B5EF4-FFF2-40B4-BE49-F238E27FC236}">
                <a16:creationId xmlns:a16="http://schemas.microsoft.com/office/drawing/2014/main" id="{1576A98E-2F2F-16A1-812D-66CBEA2BF629}"/>
              </a:ext>
            </a:extLst>
          </p:cNvPr>
          <p:cNvPicPr>
            <a:picLocks noChangeAspect="1"/>
          </p:cNvPicPr>
          <p:nvPr/>
        </p:nvPicPr>
        <p:blipFill>
          <a:blip r:embed="rId2"/>
          <a:stretch>
            <a:fillRect/>
          </a:stretch>
        </p:blipFill>
        <p:spPr>
          <a:xfrm>
            <a:off x="1168622" y="2535079"/>
            <a:ext cx="5745480" cy="1450924"/>
          </a:xfrm>
          <a:prstGeom prst="rect">
            <a:avLst/>
          </a:prstGeom>
        </p:spPr>
      </p:pic>
      <p:pic>
        <p:nvPicPr>
          <p:cNvPr id="4" name="图片 3">
            <a:extLst>
              <a:ext uri="{FF2B5EF4-FFF2-40B4-BE49-F238E27FC236}">
                <a16:creationId xmlns:a16="http://schemas.microsoft.com/office/drawing/2014/main" id="{98835FCF-ADB8-8C08-1C37-3BDCF3F828D8}"/>
              </a:ext>
            </a:extLst>
          </p:cNvPr>
          <p:cNvPicPr>
            <a:picLocks noChangeAspect="1"/>
          </p:cNvPicPr>
          <p:nvPr/>
        </p:nvPicPr>
        <p:blipFill>
          <a:blip r:embed="rId3"/>
          <a:stretch>
            <a:fillRect/>
          </a:stretch>
        </p:blipFill>
        <p:spPr>
          <a:xfrm>
            <a:off x="7093111" y="2343468"/>
            <a:ext cx="3272846" cy="3833495"/>
          </a:xfrm>
          <a:prstGeom prst="rect">
            <a:avLst/>
          </a:prstGeom>
        </p:spPr>
      </p:pic>
      <p:cxnSp>
        <p:nvCxnSpPr>
          <p:cNvPr id="9" name="直接箭头连接符 8">
            <a:extLst>
              <a:ext uri="{FF2B5EF4-FFF2-40B4-BE49-F238E27FC236}">
                <a16:creationId xmlns:a16="http://schemas.microsoft.com/office/drawing/2014/main" id="{F2E187DE-5544-F231-3263-08FD67760E92}"/>
              </a:ext>
            </a:extLst>
          </p:cNvPr>
          <p:cNvCxnSpPr>
            <a:cxnSpLocks/>
          </p:cNvCxnSpPr>
          <p:nvPr/>
        </p:nvCxnSpPr>
        <p:spPr>
          <a:xfrm flipH="1">
            <a:off x="9126922" y="5477743"/>
            <a:ext cx="534443"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036902F4-8AB1-502C-35AB-806A667DF451}"/>
              </a:ext>
            </a:extLst>
          </p:cNvPr>
          <p:cNvPicPr>
            <a:picLocks noChangeAspect="1"/>
          </p:cNvPicPr>
          <p:nvPr/>
        </p:nvPicPr>
        <p:blipFill>
          <a:blip r:embed="rId4"/>
          <a:stretch>
            <a:fillRect/>
          </a:stretch>
        </p:blipFill>
        <p:spPr>
          <a:xfrm>
            <a:off x="1168622" y="4314778"/>
            <a:ext cx="5052061" cy="1722716"/>
          </a:xfrm>
          <a:prstGeom prst="rect">
            <a:avLst/>
          </a:prstGeom>
        </p:spPr>
      </p:pic>
      <p:cxnSp>
        <p:nvCxnSpPr>
          <p:cNvPr id="12" name="直接箭头连接符 11">
            <a:extLst>
              <a:ext uri="{FF2B5EF4-FFF2-40B4-BE49-F238E27FC236}">
                <a16:creationId xmlns:a16="http://schemas.microsoft.com/office/drawing/2014/main" id="{B67357C8-4676-AB45-78CF-0D9CF14BAC9A}"/>
              </a:ext>
            </a:extLst>
          </p:cNvPr>
          <p:cNvCxnSpPr>
            <a:cxnSpLocks/>
          </p:cNvCxnSpPr>
          <p:nvPr/>
        </p:nvCxnSpPr>
        <p:spPr>
          <a:xfrm flipH="1">
            <a:off x="4251176" y="3565889"/>
            <a:ext cx="534443"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F99CF828-3C2B-3C2A-A8E5-785EFF4ECC85}"/>
              </a:ext>
            </a:extLst>
          </p:cNvPr>
          <p:cNvCxnSpPr>
            <a:cxnSpLocks/>
          </p:cNvCxnSpPr>
          <p:nvPr/>
        </p:nvCxnSpPr>
        <p:spPr>
          <a:xfrm>
            <a:off x="5838951" y="4641979"/>
            <a:ext cx="0" cy="45580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9EF6C8D9-B015-76AB-C007-983E62AE5F42}"/>
              </a:ext>
            </a:extLst>
          </p:cNvPr>
          <p:cNvSpPr txBox="1"/>
          <p:nvPr/>
        </p:nvSpPr>
        <p:spPr>
          <a:xfrm>
            <a:off x="5198243" y="4138384"/>
            <a:ext cx="1107996" cy="369332"/>
          </a:xfrm>
          <a:prstGeom prst="rect">
            <a:avLst/>
          </a:prstGeom>
          <a:solidFill>
            <a:srgbClr val="FFFF00"/>
          </a:solidFill>
        </p:spPr>
        <p:txBody>
          <a:bodyPr wrap="none" rtlCol="0">
            <a:spAutoFit/>
          </a:bodyPr>
          <a:lstStyle/>
          <a:p>
            <a:r>
              <a:rPr lang="zh-CN" altLang="en-US" b="1" dirty="0"/>
              <a:t>运行图标</a:t>
            </a:r>
          </a:p>
        </p:txBody>
      </p:sp>
      <p:sp>
        <p:nvSpPr>
          <p:cNvPr id="2" name="文本框 1">
            <a:extLst>
              <a:ext uri="{FF2B5EF4-FFF2-40B4-BE49-F238E27FC236}">
                <a16:creationId xmlns:a16="http://schemas.microsoft.com/office/drawing/2014/main" id="{2DFFDD43-1DC6-67D8-9B30-8611C8AD6253}"/>
              </a:ext>
            </a:extLst>
          </p:cNvPr>
          <p:cNvSpPr txBox="1"/>
          <p:nvPr/>
        </p:nvSpPr>
        <p:spPr>
          <a:xfrm>
            <a:off x="3859024" y="2980109"/>
            <a:ext cx="1338828" cy="369332"/>
          </a:xfrm>
          <a:prstGeom prst="rect">
            <a:avLst/>
          </a:prstGeom>
          <a:solidFill>
            <a:srgbClr val="FFFF00"/>
          </a:solidFill>
        </p:spPr>
        <p:txBody>
          <a:bodyPr wrap="none" rtlCol="0">
            <a:spAutoFit/>
          </a:bodyPr>
          <a:lstStyle/>
          <a:p>
            <a:r>
              <a:rPr lang="zh-CN" altLang="en-US" b="1" dirty="0"/>
              <a:t>按鼠标右键</a:t>
            </a:r>
          </a:p>
        </p:txBody>
      </p:sp>
      <p:sp>
        <p:nvSpPr>
          <p:cNvPr id="5" name="文本框 4">
            <a:extLst>
              <a:ext uri="{FF2B5EF4-FFF2-40B4-BE49-F238E27FC236}">
                <a16:creationId xmlns:a16="http://schemas.microsoft.com/office/drawing/2014/main" id="{49F4E1E7-B23A-8713-A39F-CA1F51F37C74}"/>
              </a:ext>
            </a:extLst>
          </p:cNvPr>
          <p:cNvSpPr txBox="1"/>
          <p:nvPr/>
        </p:nvSpPr>
        <p:spPr>
          <a:xfrm>
            <a:off x="8687753" y="4786013"/>
            <a:ext cx="1806905" cy="369332"/>
          </a:xfrm>
          <a:prstGeom prst="rect">
            <a:avLst/>
          </a:prstGeom>
          <a:solidFill>
            <a:srgbClr val="FFFF00"/>
          </a:solidFill>
        </p:spPr>
        <p:txBody>
          <a:bodyPr wrap="none" rtlCol="0">
            <a:spAutoFit/>
          </a:bodyPr>
          <a:lstStyle/>
          <a:p>
            <a:r>
              <a:rPr lang="zh-CN" altLang="en-US" sz="1800" b="1" dirty="0"/>
              <a:t>点击“</a:t>
            </a:r>
            <a:r>
              <a:rPr lang="en-US" altLang="zh-CN" sz="1800" b="1" dirty="0"/>
              <a:t>Relaunch</a:t>
            </a:r>
            <a:r>
              <a:rPr lang="zh-CN" altLang="en-US" sz="1800" b="1" dirty="0"/>
              <a:t>”</a:t>
            </a:r>
            <a:endParaRPr lang="zh-CN" altLang="en-US" b="1" dirty="0"/>
          </a:p>
        </p:txBody>
      </p:sp>
      <p:sp>
        <p:nvSpPr>
          <p:cNvPr id="14" name="标题 1">
            <a:extLst>
              <a:ext uri="{FF2B5EF4-FFF2-40B4-BE49-F238E27FC236}">
                <a16:creationId xmlns:a16="http://schemas.microsoft.com/office/drawing/2014/main" id="{D5CE4EC2-2102-AA13-2C42-DD4AFD1C392E}"/>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fs_pwm</a:t>
            </a:r>
            <a:r>
              <a:rPr lang="zh-CN" altLang="en-US" b="1" dirty="0"/>
              <a:t>实验程序（</a:t>
            </a:r>
            <a:r>
              <a:rPr lang="en-US" altLang="zh-CN" b="1" dirty="0"/>
              <a:t>9</a:t>
            </a:r>
            <a:r>
              <a:rPr lang="zh-CN" altLang="en-US" b="1" dirty="0"/>
              <a:t>）</a:t>
            </a:r>
          </a:p>
        </p:txBody>
      </p:sp>
      <p:sp>
        <p:nvSpPr>
          <p:cNvPr id="16" name="文本框 15">
            <a:extLst>
              <a:ext uri="{FF2B5EF4-FFF2-40B4-BE49-F238E27FC236}">
                <a16:creationId xmlns:a16="http://schemas.microsoft.com/office/drawing/2014/main" id="{6C445810-2989-3A9F-9A10-FC403FA3A4EA}"/>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spTree>
    <p:extLst>
      <p:ext uri="{BB962C8B-B14F-4D97-AF65-F5344CB8AC3E}">
        <p14:creationId xmlns:p14="http://schemas.microsoft.com/office/powerpoint/2010/main" val="7372817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6A043EEE-9B4B-6BAD-B669-AB0402FFC929}"/>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fs_pwm</a:t>
            </a:r>
            <a:r>
              <a:rPr lang="zh-CN" altLang="en-US" b="1" dirty="0"/>
              <a:t>实验程序（</a:t>
            </a:r>
            <a:r>
              <a:rPr lang="en-US" altLang="zh-CN" b="1" dirty="0"/>
              <a:t>10</a:t>
            </a:r>
            <a:r>
              <a:rPr lang="zh-CN" altLang="en-US" b="1" dirty="0"/>
              <a:t>）</a:t>
            </a:r>
          </a:p>
        </p:txBody>
      </p:sp>
      <p:sp>
        <p:nvSpPr>
          <p:cNvPr id="7" name="内容占位符 2">
            <a:extLst>
              <a:ext uri="{FF2B5EF4-FFF2-40B4-BE49-F238E27FC236}">
                <a16:creationId xmlns:a16="http://schemas.microsoft.com/office/drawing/2014/main" id="{E24F288A-0782-CF8F-B275-25CF9838272B}"/>
              </a:ext>
            </a:extLst>
          </p:cNvPr>
          <p:cNvSpPr>
            <a:spLocks noGrp="1"/>
          </p:cNvSpPr>
          <p:nvPr>
            <p:ph idx="1"/>
          </p:nvPr>
        </p:nvSpPr>
        <p:spPr>
          <a:xfrm>
            <a:off x="838200" y="1825625"/>
            <a:ext cx="10515600" cy="4351338"/>
          </a:xfrm>
        </p:spPr>
        <p:txBody>
          <a:bodyPr>
            <a:normAutofit/>
          </a:bodyPr>
          <a:lstStyle/>
          <a:p>
            <a:r>
              <a:rPr lang="zh-CN" altLang="en-US" sz="2000" b="1" dirty="0">
                <a:solidFill>
                  <a:srgbClr val="C00000"/>
                </a:solidFill>
              </a:rPr>
              <a:t>关闭实验工程</a:t>
            </a:r>
            <a:r>
              <a:rPr lang="zh-CN" altLang="en-US" sz="2000" b="1" dirty="0"/>
              <a:t>：在左下角的情况下（实验工程处于打开的状态），点击鼠标右键，点击“</a:t>
            </a:r>
            <a:r>
              <a:rPr lang="en-US" altLang="zh-CN" sz="2000" b="1" dirty="0"/>
              <a:t>Close Project</a:t>
            </a:r>
            <a:r>
              <a:rPr lang="zh-CN" altLang="en-US" sz="2000" b="1" dirty="0"/>
              <a:t>”，则关闭实验工程（右下角的情况）</a:t>
            </a:r>
          </a:p>
        </p:txBody>
      </p:sp>
      <p:sp>
        <p:nvSpPr>
          <p:cNvPr id="19" name="文本框 18">
            <a:extLst>
              <a:ext uri="{FF2B5EF4-FFF2-40B4-BE49-F238E27FC236}">
                <a16:creationId xmlns:a16="http://schemas.microsoft.com/office/drawing/2014/main" id="{739D1841-7395-41C5-A706-EB5BD7A1D731}"/>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2</a:t>
            </a:r>
            <a:endParaRPr lang="zh-CN" altLang="en-US" b="1" dirty="0"/>
          </a:p>
        </p:txBody>
      </p:sp>
      <p:pic>
        <p:nvPicPr>
          <p:cNvPr id="3" name="图片 2">
            <a:extLst>
              <a:ext uri="{FF2B5EF4-FFF2-40B4-BE49-F238E27FC236}">
                <a16:creationId xmlns:a16="http://schemas.microsoft.com/office/drawing/2014/main" id="{F6E7F4AC-164B-862D-5CB5-8CB920EEACDB}"/>
              </a:ext>
            </a:extLst>
          </p:cNvPr>
          <p:cNvPicPr>
            <a:picLocks noChangeAspect="1"/>
          </p:cNvPicPr>
          <p:nvPr/>
        </p:nvPicPr>
        <p:blipFill>
          <a:blip r:embed="rId2"/>
          <a:stretch>
            <a:fillRect/>
          </a:stretch>
        </p:blipFill>
        <p:spPr>
          <a:xfrm>
            <a:off x="1097173" y="2378994"/>
            <a:ext cx="2567818" cy="3921909"/>
          </a:xfrm>
          <a:prstGeom prst="rect">
            <a:avLst/>
          </a:prstGeom>
        </p:spPr>
      </p:pic>
      <p:cxnSp>
        <p:nvCxnSpPr>
          <p:cNvPr id="4" name="直接箭头连接符 3">
            <a:extLst>
              <a:ext uri="{FF2B5EF4-FFF2-40B4-BE49-F238E27FC236}">
                <a16:creationId xmlns:a16="http://schemas.microsoft.com/office/drawing/2014/main" id="{61139D8B-FD13-4BBC-7032-1E8F9733D5EC}"/>
              </a:ext>
            </a:extLst>
          </p:cNvPr>
          <p:cNvCxnSpPr>
            <a:cxnSpLocks/>
          </p:cNvCxnSpPr>
          <p:nvPr/>
        </p:nvCxnSpPr>
        <p:spPr>
          <a:xfrm flipV="1">
            <a:off x="3204698" y="4650358"/>
            <a:ext cx="0" cy="52987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3906859C-5E1F-3DEA-F17B-8F19C32ACF69}"/>
              </a:ext>
            </a:extLst>
          </p:cNvPr>
          <p:cNvSpPr txBox="1"/>
          <p:nvPr/>
        </p:nvSpPr>
        <p:spPr>
          <a:xfrm>
            <a:off x="2530704" y="5245573"/>
            <a:ext cx="1338828" cy="369332"/>
          </a:xfrm>
          <a:prstGeom prst="rect">
            <a:avLst/>
          </a:prstGeom>
          <a:solidFill>
            <a:srgbClr val="FFFF00"/>
          </a:solidFill>
        </p:spPr>
        <p:txBody>
          <a:bodyPr wrap="none" rtlCol="0">
            <a:spAutoFit/>
          </a:bodyPr>
          <a:lstStyle/>
          <a:p>
            <a:r>
              <a:rPr lang="zh-CN" altLang="en-US" b="1" dirty="0"/>
              <a:t>按鼠标右键</a:t>
            </a:r>
          </a:p>
        </p:txBody>
      </p:sp>
      <p:pic>
        <p:nvPicPr>
          <p:cNvPr id="14" name="图片 13">
            <a:extLst>
              <a:ext uri="{FF2B5EF4-FFF2-40B4-BE49-F238E27FC236}">
                <a16:creationId xmlns:a16="http://schemas.microsoft.com/office/drawing/2014/main" id="{A92BC685-3867-7E03-8A7E-219356C25CF0}"/>
              </a:ext>
            </a:extLst>
          </p:cNvPr>
          <p:cNvPicPr>
            <a:picLocks noChangeAspect="1"/>
          </p:cNvPicPr>
          <p:nvPr/>
        </p:nvPicPr>
        <p:blipFill>
          <a:blip r:embed="rId3"/>
          <a:stretch>
            <a:fillRect/>
          </a:stretch>
        </p:blipFill>
        <p:spPr>
          <a:xfrm>
            <a:off x="4294267" y="2497151"/>
            <a:ext cx="3180914" cy="3814749"/>
          </a:xfrm>
          <a:prstGeom prst="rect">
            <a:avLst/>
          </a:prstGeom>
        </p:spPr>
      </p:pic>
      <p:cxnSp>
        <p:nvCxnSpPr>
          <p:cNvPr id="15" name="直接箭头连接符 14">
            <a:extLst>
              <a:ext uri="{FF2B5EF4-FFF2-40B4-BE49-F238E27FC236}">
                <a16:creationId xmlns:a16="http://schemas.microsoft.com/office/drawing/2014/main" id="{B7651379-9C9D-645A-D469-82513DCA3A15}"/>
              </a:ext>
            </a:extLst>
          </p:cNvPr>
          <p:cNvCxnSpPr>
            <a:cxnSpLocks/>
          </p:cNvCxnSpPr>
          <p:nvPr/>
        </p:nvCxnSpPr>
        <p:spPr>
          <a:xfrm flipH="1">
            <a:off x="6267386" y="6208563"/>
            <a:ext cx="534443"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0" name="图片 19">
            <a:extLst>
              <a:ext uri="{FF2B5EF4-FFF2-40B4-BE49-F238E27FC236}">
                <a16:creationId xmlns:a16="http://schemas.microsoft.com/office/drawing/2014/main" id="{DBDDE3ED-9181-0F2B-1846-252DF1365A6A}"/>
              </a:ext>
            </a:extLst>
          </p:cNvPr>
          <p:cNvPicPr>
            <a:picLocks noChangeAspect="1"/>
          </p:cNvPicPr>
          <p:nvPr/>
        </p:nvPicPr>
        <p:blipFill>
          <a:blip r:embed="rId4"/>
          <a:stretch>
            <a:fillRect/>
          </a:stretch>
        </p:blipFill>
        <p:spPr>
          <a:xfrm>
            <a:off x="8675263" y="2542657"/>
            <a:ext cx="2027625" cy="3516545"/>
          </a:xfrm>
          <a:prstGeom prst="rect">
            <a:avLst/>
          </a:prstGeom>
        </p:spPr>
      </p:pic>
      <p:cxnSp>
        <p:nvCxnSpPr>
          <p:cNvPr id="21" name="直接箭头连接符 20">
            <a:extLst>
              <a:ext uri="{FF2B5EF4-FFF2-40B4-BE49-F238E27FC236}">
                <a16:creationId xmlns:a16="http://schemas.microsoft.com/office/drawing/2014/main" id="{F22D6178-0349-816D-FE55-AF2269180F92}"/>
              </a:ext>
            </a:extLst>
          </p:cNvPr>
          <p:cNvCxnSpPr>
            <a:cxnSpLocks/>
          </p:cNvCxnSpPr>
          <p:nvPr/>
        </p:nvCxnSpPr>
        <p:spPr>
          <a:xfrm flipV="1">
            <a:off x="10467321" y="4595457"/>
            <a:ext cx="0" cy="530269"/>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65120EB-87DD-FE82-DBAD-0E88C6E388B0}"/>
              </a:ext>
            </a:extLst>
          </p:cNvPr>
          <p:cNvSpPr txBox="1"/>
          <p:nvPr/>
        </p:nvSpPr>
        <p:spPr>
          <a:xfrm>
            <a:off x="9285545" y="5302452"/>
            <a:ext cx="2492990" cy="369332"/>
          </a:xfrm>
          <a:prstGeom prst="rect">
            <a:avLst/>
          </a:prstGeom>
          <a:solidFill>
            <a:srgbClr val="FFFF00"/>
          </a:solidFill>
        </p:spPr>
        <p:txBody>
          <a:bodyPr wrap="none" rtlCol="0">
            <a:spAutoFit/>
          </a:bodyPr>
          <a:lstStyle/>
          <a:p>
            <a:r>
              <a:rPr lang="zh-CN" altLang="en-US" b="1" dirty="0"/>
              <a:t>实验工程处于关闭状态</a:t>
            </a:r>
          </a:p>
        </p:txBody>
      </p:sp>
      <p:sp>
        <p:nvSpPr>
          <p:cNvPr id="23" name="文本框 22">
            <a:extLst>
              <a:ext uri="{FF2B5EF4-FFF2-40B4-BE49-F238E27FC236}">
                <a16:creationId xmlns:a16="http://schemas.microsoft.com/office/drawing/2014/main" id="{9764E339-BF90-1B83-C01B-DA545153BE11}"/>
              </a:ext>
            </a:extLst>
          </p:cNvPr>
          <p:cNvSpPr txBox="1"/>
          <p:nvPr/>
        </p:nvSpPr>
        <p:spPr>
          <a:xfrm>
            <a:off x="1284209" y="3627618"/>
            <a:ext cx="2492990" cy="369332"/>
          </a:xfrm>
          <a:prstGeom prst="rect">
            <a:avLst/>
          </a:prstGeom>
          <a:solidFill>
            <a:srgbClr val="FFFF00"/>
          </a:solidFill>
        </p:spPr>
        <p:txBody>
          <a:bodyPr wrap="none" rtlCol="0">
            <a:spAutoFit/>
          </a:bodyPr>
          <a:lstStyle/>
          <a:p>
            <a:r>
              <a:rPr lang="zh-CN" altLang="en-US" b="1" dirty="0"/>
              <a:t>实验工程处于打开状态</a:t>
            </a:r>
          </a:p>
        </p:txBody>
      </p:sp>
    </p:spTree>
    <p:extLst>
      <p:ext uri="{BB962C8B-B14F-4D97-AF65-F5344CB8AC3E}">
        <p14:creationId xmlns:p14="http://schemas.microsoft.com/office/powerpoint/2010/main" val="15920722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5B9C2-11EB-449B-3E8A-68F6F4C5BE6E}"/>
              </a:ext>
            </a:extLst>
          </p:cNvPr>
          <p:cNvSpPr>
            <a:spLocks noGrp="1"/>
          </p:cNvSpPr>
          <p:nvPr>
            <p:ph type="title"/>
          </p:nvPr>
        </p:nvSpPr>
        <p:spPr>
          <a:xfrm>
            <a:off x="838200" y="2620645"/>
            <a:ext cx="10515600" cy="1325563"/>
          </a:xfrm>
        </p:spPr>
        <p:txBody>
          <a:bodyPr/>
          <a:lstStyle/>
          <a:p>
            <a:pPr algn="ctr"/>
            <a:r>
              <a:rPr lang="zh-CN" altLang="en-US" b="1" dirty="0"/>
              <a:t>实验</a:t>
            </a:r>
            <a:r>
              <a:rPr lang="en-US" altLang="zh-CN" b="1" dirty="0"/>
              <a:t>3    </a:t>
            </a:r>
            <a:r>
              <a:rPr lang="zh-CN" altLang="en-US" b="1" dirty="0"/>
              <a:t>蜂鸣器</a:t>
            </a:r>
          </a:p>
        </p:txBody>
      </p:sp>
    </p:spTree>
    <p:extLst>
      <p:ext uri="{BB962C8B-B14F-4D97-AF65-F5344CB8AC3E}">
        <p14:creationId xmlns:p14="http://schemas.microsoft.com/office/powerpoint/2010/main" val="21388678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BB8F60F-C997-B1FA-87D8-88C315F18CC5}"/>
              </a:ext>
            </a:extLst>
          </p:cNvPr>
          <p:cNvPicPr>
            <a:picLocks noChangeAspect="1"/>
          </p:cNvPicPr>
          <p:nvPr/>
        </p:nvPicPr>
        <p:blipFill>
          <a:blip r:embed="rId2"/>
          <a:stretch>
            <a:fillRect/>
          </a:stretch>
        </p:blipFill>
        <p:spPr>
          <a:xfrm>
            <a:off x="3641189" y="1929238"/>
            <a:ext cx="4909622" cy="4126171"/>
          </a:xfrm>
          <a:prstGeom prst="rect">
            <a:avLst/>
          </a:prstGeom>
        </p:spPr>
      </p:pic>
      <p:sp>
        <p:nvSpPr>
          <p:cNvPr id="6" name="标题 1">
            <a:extLst>
              <a:ext uri="{FF2B5EF4-FFF2-40B4-BE49-F238E27FC236}">
                <a16:creationId xmlns:a16="http://schemas.microsoft.com/office/drawing/2014/main" id="{3462088A-D770-208A-5799-B4593B35B5EF}"/>
              </a:ext>
            </a:extLst>
          </p:cNvPr>
          <p:cNvSpPr>
            <a:spLocks noGrp="1"/>
          </p:cNvSpPr>
          <p:nvPr>
            <p:ph type="title"/>
          </p:nvPr>
        </p:nvSpPr>
        <p:spPr>
          <a:xfrm>
            <a:off x="838200" y="365125"/>
            <a:ext cx="10515600" cy="1325563"/>
          </a:xfrm>
        </p:spPr>
        <p:txBody>
          <a:bodyPr/>
          <a:lstStyle/>
          <a:p>
            <a:pPr algn="ctr"/>
            <a:r>
              <a:rPr lang="zh-CN" altLang="en-US" b="1" dirty="0"/>
              <a:t>蜂鸣器的电原理图</a:t>
            </a:r>
          </a:p>
        </p:txBody>
      </p:sp>
      <p:sp>
        <p:nvSpPr>
          <p:cNvPr id="7" name="文本框 6">
            <a:extLst>
              <a:ext uri="{FF2B5EF4-FFF2-40B4-BE49-F238E27FC236}">
                <a16:creationId xmlns:a16="http://schemas.microsoft.com/office/drawing/2014/main" id="{65C8230B-C5FC-F1DF-2F06-B2C15BE4B30D}"/>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3</a:t>
            </a:r>
            <a:endParaRPr lang="zh-CN" altLang="en-US" b="1" dirty="0"/>
          </a:p>
        </p:txBody>
      </p:sp>
    </p:spTree>
    <p:extLst>
      <p:ext uri="{BB962C8B-B14F-4D97-AF65-F5344CB8AC3E}">
        <p14:creationId xmlns:p14="http://schemas.microsoft.com/office/powerpoint/2010/main" val="28462267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9C155A-F1C3-2086-77D1-EC2FC46C6DED}"/>
              </a:ext>
            </a:extLst>
          </p:cNvPr>
          <p:cNvSpPr>
            <a:spLocks noGrp="1"/>
          </p:cNvSpPr>
          <p:nvPr>
            <p:ph type="title"/>
          </p:nvPr>
        </p:nvSpPr>
        <p:spPr/>
        <p:txBody>
          <a:bodyPr/>
          <a:lstStyle/>
          <a:p>
            <a:pPr algn="ctr"/>
            <a:r>
              <a:rPr lang="zh-CN" altLang="en-US" b="1" dirty="0"/>
              <a:t>怎么控制蜂鸣器响</a:t>
            </a:r>
            <a:r>
              <a:rPr lang="en-US" altLang="zh-CN" b="1" dirty="0"/>
              <a:t>/</a:t>
            </a:r>
            <a:r>
              <a:rPr lang="zh-CN" altLang="en-US" b="1" dirty="0"/>
              <a:t>不响？</a:t>
            </a:r>
          </a:p>
        </p:txBody>
      </p:sp>
      <p:sp>
        <p:nvSpPr>
          <p:cNvPr id="3" name="内容占位符 2">
            <a:extLst>
              <a:ext uri="{FF2B5EF4-FFF2-40B4-BE49-F238E27FC236}">
                <a16:creationId xmlns:a16="http://schemas.microsoft.com/office/drawing/2014/main" id="{FF904466-AC0F-44C2-4838-1BF543DFC446}"/>
              </a:ext>
            </a:extLst>
          </p:cNvPr>
          <p:cNvSpPr>
            <a:spLocks noGrp="1"/>
          </p:cNvSpPr>
          <p:nvPr>
            <p:ph idx="1"/>
          </p:nvPr>
        </p:nvSpPr>
        <p:spPr>
          <a:xfrm>
            <a:off x="1097280" y="1845733"/>
            <a:ext cx="10058400" cy="4310137"/>
          </a:xfrm>
        </p:spPr>
        <p:txBody>
          <a:bodyPr>
            <a:normAutofit fontScale="92500" lnSpcReduction="10000"/>
          </a:bodyPr>
          <a:lstStyle/>
          <a:p>
            <a:pPr>
              <a:lnSpc>
                <a:spcPct val="110000"/>
              </a:lnSpc>
            </a:pPr>
            <a:r>
              <a:rPr lang="zh-CN" altLang="en-US" b="1" dirty="0"/>
              <a:t>蜂鸣器控制端的引脚是</a:t>
            </a:r>
            <a:r>
              <a:rPr lang="en-US" altLang="zh-CN" b="1" dirty="0">
                <a:solidFill>
                  <a:srgbClr val="C00000"/>
                </a:solidFill>
              </a:rPr>
              <a:t>GPIO1_C7</a:t>
            </a:r>
            <a:endParaRPr lang="zh-CN" altLang="en-US" b="1" dirty="0">
              <a:solidFill>
                <a:srgbClr val="C00000"/>
              </a:solidFill>
            </a:endParaRPr>
          </a:p>
          <a:p>
            <a:pPr>
              <a:lnSpc>
                <a:spcPct val="110000"/>
              </a:lnSpc>
            </a:pPr>
            <a:r>
              <a:rPr lang="en-US" altLang="zh-CN" b="1" dirty="0"/>
              <a:t>GPIO1</a:t>
            </a:r>
            <a:r>
              <a:rPr lang="zh-CN" altLang="en-US" b="1" dirty="0"/>
              <a:t>的基地址</a:t>
            </a:r>
            <a:r>
              <a:rPr lang="en-US" altLang="zh-CN" b="1" dirty="0"/>
              <a:t>=0xFF73_0000</a:t>
            </a:r>
          </a:p>
          <a:p>
            <a:pPr>
              <a:lnSpc>
                <a:spcPct val="110000"/>
              </a:lnSpc>
            </a:pPr>
            <a:r>
              <a:rPr lang="en-US" altLang="zh-CN" b="1" dirty="0"/>
              <a:t>GPIO1</a:t>
            </a:r>
            <a:r>
              <a:rPr lang="zh-CN" altLang="en-US" b="1" dirty="0"/>
              <a:t>数据寄存器</a:t>
            </a:r>
            <a:r>
              <a:rPr lang="en-US" altLang="zh-CN" b="1" dirty="0"/>
              <a:t>DR</a:t>
            </a:r>
            <a:r>
              <a:rPr lang="zh-CN" altLang="en-US" b="1" dirty="0"/>
              <a:t>的操作地址</a:t>
            </a:r>
            <a:r>
              <a:rPr lang="en-US" altLang="zh-CN" b="1" dirty="0"/>
              <a:t>=0xFF73_0000 + 0x0000</a:t>
            </a:r>
          </a:p>
          <a:p>
            <a:pPr>
              <a:lnSpc>
                <a:spcPct val="110000"/>
              </a:lnSpc>
            </a:pPr>
            <a:r>
              <a:rPr lang="en-US" altLang="zh-CN" b="1" dirty="0"/>
              <a:t>GPIO1</a:t>
            </a:r>
            <a:r>
              <a:rPr lang="zh-CN" altLang="en-US" b="1" dirty="0"/>
              <a:t>方向寄存器</a:t>
            </a:r>
            <a:r>
              <a:rPr lang="en-US" altLang="zh-CN" b="1" dirty="0"/>
              <a:t>DDR</a:t>
            </a:r>
            <a:r>
              <a:rPr lang="zh-CN" altLang="en-US" b="1" dirty="0"/>
              <a:t>的操作地址</a:t>
            </a:r>
            <a:r>
              <a:rPr lang="en-US" altLang="zh-CN" b="1" dirty="0"/>
              <a:t>=0xFF73_0000 + 0x0004</a:t>
            </a:r>
          </a:p>
          <a:p>
            <a:pPr>
              <a:lnSpc>
                <a:spcPct val="110000"/>
              </a:lnSpc>
            </a:pPr>
            <a:endParaRPr lang="en-US" altLang="zh-CN" b="1" dirty="0"/>
          </a:p>
          <a:p>
            <a:pPr lvl="2">
              <a:lnSpc>
                <a:spcPct val="110000"/>
              </a:lnSpc>
              <a:buFont typeface="Wingdings" panose="05000000000000000000" pitchFamily="2" charset="2"/>
              <a:buChar char="l"/>
            </a:pPr>
            <a:r>
              <a:rPr lang="zh-CN" altLang="en-US" sz="1900" b="1" dirty="0"/>
              <a:t>首先置方向寄存器</a:t>
            </a:r>
            <a:r>
              <a:rPr lang="en-US" altLang="zh-CN" sz="1900" b="1" dirty="0"/>
              <a:t>DDR</a:t>
            </a:r>
            <a:r>
              <a:rPr lang="zh-CN" altLang="en-US" sz="1900" b="1" dirty="0"/>
              <a:t>的</a:t>
            </a:r>
            <a:r>
              <a:rPr lang="en-US" altLang="zh-CN" sz="1900" b="1" dirty="0"/>
              <a:t>C7</a:t>
            </a:r>
            <a:r>
              <a:rPr lang="zh-CN" altLang="en-US" sz="1900" b="1" dirty="0"/>
              <a:t>（第</a:t>
            </a:r>
            <a:r>
              <a:rPr lang="en-US" altLang="zh-CN" sz="1900" b="1" dirty="0"/>
              <a:t>23</a:t>
            </a:r>
            <a:r>
              <a:rPr lang="zh-CN" altLang="en-US" sz="1900" b="1" dirty="0"/>
              <a:t>位，</a:t>
            </a:r>
            <a:r>
              <a:rPr lang="en-US" altLang="zh-CN" sz="1900" b="1" dirty="0"/>
              <a:t>D7-D0</a:t>
            </a:r>
            <a:r>
              <a:rPr lang="zh-CN" altLang="en-US" sz="1900" b="1" dirty="0"/>
              <a:t>、</a:t>
            </a:r>
            <a:r>
              <a:rPr lang="en-US" altLang="zh-CN" sz="1900" b="1" dirty="0"/>
              <a:t>C7-C0</a:t>
            </a:r>
            <a:r>
              <a:rPr lang="zh-CN" altLang="en-US" sz="1900" b="1" dirty="0"/>
              <a:t>、</a:t>
            </a:r>
            <a:r>
              <a:rPr lang="en-US" altLang="zh-CN" sz="1900" b="1" dirty="0"/>
              <a:t>B7-B0</a:t>
            </a:r>
            <a:r>
              <a:rPr lang="zh-CN" altLang="en-US" sz="1900" b="1" dirty="0"/>
              <a:t>、</a:t>
            </a:r>
            <a:r>
              <a:rPr lang="en-US" altLang="zh-CN" sz="1900" b="1" dirty="0"/>
              <a:t>A7-A0</a:t>
            </a:r>
            <a:r>
              <a:rPr lang="zh-CN" altLang="en-US" sz="1900" b="1" dirty="0"/>
              <a:t>）为</a:t>
            </a:r>
            <a:r>
              <a:rPr lang="en-US" altLang="zh-CN" sz="1900" b="1" dirty="0"/>
              <a:t>1</a:t>
            </a:r>
            <a:r>
              <a:rPr lang="zh-CN" altLang="en-US" sz="1900" b="1" dirty="0"/>
              <a:t>，设置</a:t>
            </a:r>
            <a:r>
              <a:rPr lang="en-US" altLang="zh-CN" sz="1900" b="1" dirty="0"/>
              <a:t>GPIO1_C7</a:t>
            </a:r>
            <a:r>
              <a:rPr lang="zh-CN" altLang="en-US" sz="1900" b="1" dirty="0"/>
              <a:t>为</a:t>
            </a:r>
            <a:r>
              <a:rPr lang="zh-CN" altLang="en-US" sz="1900" b="1" dirty="0">
                <a:solidFill>
                  <a:srgbClr val="C00000"/>
                </a:solidFill>
              </a:rPr>
              <a:t>输出模式</a:t>
            </a:r>
          </a:p>
          <a:p>
            <a:pPr lvl="2">
              <a:lnSpc>
                <a:spcPct val="110000"/>
              </a:lnSpc>
              <a:buFont typeface="Wingdings" panose="05000000000000000000" pitchFamily="2" charset="2"/>
              <a:buChar char="l"/>
            </a:pPr>
            <a:r>
              <a:rPr lang="zh-CN" altLang="en-US" sz="1900" b="1" dirty="0"/>
              <a:t>然后置数据寄存器</a:t>
            </a:r>
            <a:r>
              <a:rPr lang="en-US" altLang="zh-CN" sz="1900" b="1" dirty="0"/>
              <a:t>DR</a:t>
            </a:r>
            <a:r>
              <a:rPr lang="zh-CN" altLang="en-US" sz="1900" b="1" dirty="0"/>
              <a:t>的</a:t>
            </a:r>
            <a:r>
              <a:rPr lang="en-US" altLang="zh-CN" sz="1900" b="1" dirty="0"/>
              <a:t>C7</a:t>
            </a:r>
            <a:r>
              <a:rPr lang="zh-CN" altLang="en-US" sz="1900" b="1" dirty="0"/>
              <a:t>（第</a:t>
            </a:r>
            <a:r>
              <a:rPr lang="en-US" altLang="zh-CN" sz="1900" b="1" dirty="0"/>
              <a:t>23</a:t>
            </a:r>
            <a:r>
              <a:rPr lang="zh-CN" altLang="en-US" sz="1900" b="1" dirty="0"/>
              <a:t>位，</a:t>
            </a:r>
            <a:r>
              <a:rPr lang="en-US" altLang="zh-CN" sz="1900" b="1" dirty="0"/>
              <a:t>D7-D0</a:t>
            </a:r>
            <a:r>
              <a:rPr lang="zh-CN" altLang="en-US" sz="1900" b="1" dirty="0"/>
              <a:t>、</a:t>
            </a:r>
            <a:r>
              <a:rPr lang="en-US" altLang="zh-CN" sz="1900" b="1" dirty="0"/>
              <a:t>C7-C0</a:t>
            </a:r>
            <a:r>
              <a:rPr lang="zh-CN" altLang="en-US" sz="1900" b="1" dirty="0"/>
              <a:t>、</a:t>
            </a:r>
            <a:r>
              <a:rPr lang="en-US" altLang="zh-CN" sz="1900" b="1" dirty="0"/>
              <a:t>B7-B0</a:t>
            </a:r>
            <a:r>
              <a:rPr lang="zh-CN" altLang="en-US" sz="1900" b="1" dirty="0"/>
              <a:t>、</a:t>
            </a:r>
            <a:r>
              <a:rPr lang="en-US" altLang="zh-CN" sz="1900" b="1" dirty="0"/>
              <a:t>A7-A0</a:t>
            </a:r>
            <a:r>
              <a:rPr lang="zh-CN" altLang="en-US" sz="1900" b="1" dirty="0"/>
              <a:t>）为</a:t>
            </a:r>
            <a:r>
              <a:rPr lang="en-US" altLang="zh-CN" sz="1900" b="1" dirty="0"/>
              <a:t>1</a:t>
            </a:r>
            <a:r>
              <a:rPr lang="zh-CN" altLang="en-US" sz="1900" b="1" dirty="0"/>
              <a:t>，设置</a:t>
            </a:r>
            <a:r>
              <a:rPr lang="en-US" altLang="zh-CN" sz="1900" b="1" dirty="0"/>
              <a:t>GPIO1_C7</a:t>
            </a:r>
            <a:r>
              <a:rPr lang="zh-CN" altLang="en-US" sz="1900" b="1" dirty="0"/>
              <a:t>为</a:t>
            </a:r>
            <a:r>
              <a:rPr lang="zh-CN" altLang="en-US" sz="1900" b="1" dirty="0">
                <a:solidFill>
                  <a:srgbClr val="C00000"/>
                </a:solidFill>
              </a:rPr>
              <a:t>高电平（蜂鸣器响）</a:t>
            </a:r>
          </a:p>
          <a:p>
            <a:pPr lvl="2">
              <a:lnSpc>
                <a:spcPct val="110000"/>
              </a:lnSpc>
              <a:buFont typeface="Wingdings" panose="05000000000000000000" pitchFamily="2" charset="2"/>
              <a:buChar char="l"/>
            </a:pPr>
            <a:r>
              <a:rPr lang="zh-CN" altLang="en-US" sz="1900" b="1" dirty="0"/>
              <a:t>再置数据寄存器</a:t>
            </a:r>
            <a:r>
              <a:rPr lang="en-US" altLang="zh-CN" sz="1900" b="1" dirty="0"/>
              <a:t>DR</a:t>
            </a:r>
            <a:r>
              <a:rPr lang="zh-CN" altLang="en-US" sz="1900" b="1" dirty="0"/>
              <a:t>的</a:t>
            </a:r>
            <a:r>
              <a:rPr lang="en-US" altLang="zh-CN" sz="1900" b="1" dirty="0"/>
              <a:t>C7</a:t>
            </a:r>
            <a:r>
              <a:rPr lang="zh-CN" altLang="en-US" sz="1900" b="1" dirty="0"/>
              <a:t>（第</a:t>
            </a:r>
            <a:r>
              <a:rPr lang="en-US" altLang="zh-CN" sz="1900" b="1" dirty="0"/>
              <a:t>23</a:t>
            </a:r>
            <a:r>
              <a:rPr lang="zh-CN" altLang="en-US" sz="1900" b="1" dirty="0"/>
              <a:t>位，</a:t>
            </a:r>
            <a:r>
              <a:rPr lang="en-US" altLang="zh-CN" sz="1900" b="1" dirty="0"/>
              <a:t>D7-D0</a:t>
            </a:r>
            <a:r>
              <a:rPr lang="zh-CN" altLang="en-US" sz="1900" b="1" dirty="0"/>
              <a:t>、</a:t>
            </a:r>
            <a:r>
              <a:rPr lang="en-US" altLang="zh-CN" sz="1900" b="1" dirty="0"/>
              <a:t>C7-C0</a:t>
            </a:r>
            <a:r>
              <a:rPr lang="zh-CN" altLang="en-US" sz="1900" b="1" dirty="0"/>
              <a:t>、</a:t>
            </a:r>
            <a:r>
              <a:rPr lang="en-US" altLang="zh-CN" sz="1900" b="1" dirty="0"/>
              <a:t>B7-B0</a:t>
            </a:r>
            <a:r>
              <a:rPr lang="zh-CN" altLang="en-US" sz="1900" b="1" dirty="0"/>
              <a:t>、</a:t>
            </a:r>
            <a:r>
              <a:rPr lang="en-US" altLang="zh-CN" sz="1900" b="1" dirty="0"/>
              <a:t>A7-A0</a:t>
            </a:r>
            <a:r>
              <a:rPr lang="zh-CN" altLang="en-US" sz="1900" b="1" dirty="0"/>
              <a:t>）为</a:t>
            </a:r>
            <a:r>
              <a:rPr lang="en-US" altLang="zh-CN" sz="1900" b="1" dirty="0"/>
              <a:t>0</a:t>
            </a:r>
            <a:r>
              <a:rPr lang="zh-CN" altLang="en-US" sz="1900" b="1" dirty="0"/>
              <a:t>，设置</a:t>
            </a:r>
            <a:r>
              <a:rPr lang="en-US" altLang="zh-CN" sz="1900" b="1" dirty="0"/>
              <a:t>GPIO1_C7</a:t>
            </a:r>
            <a:r>
              <a:rPr lang="zh-CN" altLang="en-US" sz="1900" b="1" dirty="0"/>
              <a:t>为</a:t>
            </a:r>
            <a:r>
              <a:rPr lang="zh-CN" altLang="en-US" sz="1900" b="1" dirty="0">
                <a:solidFill>
                  <a:srgbClr val="C00000"/>
                </a:solidFill>
              </a:rPr>
              <a:t>低电平（蜂鸣器不响）</a:t>
            </a:r>
          </a:p>
        </p:txBody>
      </p:sp>
      <p:sp>
        <p:nvSpPr>
          <p:cNvPr id="4" name="文本框 3">
            <a:extLst>
              <a:ext uri="{FF2B5EF4-FFF2-40B4-BE49-F238E27FC236}">
                <a16:creationId xmlns:a16="http://schemas.microsoft.com/office/drawing/2014/main" id="{8883115B-B088-1215-3EBC-16304178E41D}"/>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3</a:t>
            </a:r>
            <a:endParaRPr lang="zh-CN" altLang="en-US" b="1" dirty="0"/>
          </a:p>
        </p:txBody>
      </p:sp>
    </p:spTree>
    <p:extLst>
      <p:ext uri="{BB962C8B-B14F-4D97-AF65-F5344CB8AC3E}">
        <p14:creationId xmlns:p14="http://schemas.microsoft.com/office/powerpoint/2010/main" val="35673256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4A68396C-F89C-9CB6-C8E7-E7C2471F1049}"/>
              </a:ext>
            </a:extLst>
          </p:cNvPr>
          <p:cNvSpPr>
            <a:spLocks noGrp="1"/>
          </p:cNvSpPr>
          <p:nvPr>
            <p:ph idx="1"/>
          </p:nvPr>
        </p:nvSpPr>
        <p:spPr>
          <a:xfrm>
            <a:off x="1220816" y="1856594"/>
            <a:ext cx="1587698" cy="386153"/>
          </a:xfrm>
        </p:spPr>
        <p:txBody>
          <a:bodyPr>
            <a:normAutofit/>
          </a:bodyPr>
          <a:lstStyle/>
          <a:p>
            <a:r>
              <a:rPr lang="en-US" altLang="zh-CN" sz="2000" b="1" dirty="0"/>
              <a:t>1</a:t>
            </a:r>
            <a:r>
              <a:rPr lang="zh-CN" altLang="en-US" sz="2000" b="1" dirty="0"/>
              <a:t>、</a:t>
            </a:r>
            <a:r>
              <a:rPr lang="en-US" altLang="zh-CN" sz="2000" b="1" dirty="0" err="1"/>
              <a:t>main.c</a:t>
            </a:r>
            <a:endParaRPr lang="zh-CN" altLang="en-US" sz="2000" b="1" dirty="0"/>
          </a:p>
        </p:txBody>
      </p:sp>
      <p:sp>
        <p:nvSpPr>
          <p:cNvPr id="7" name="标题 1">
            <a:extLst>
              <a:ext uri="{FF2B5EF4-FFF2-40B4-BE49-F238E27FC236}">
                <a16:creationId xmlns:a16="http://schemas.microsoft.com/office/drawing/2014/main" id="{2514A85E-2E56-910B-49F8-5FD65762389D}"/>
              </a:ext>
            </a:extLst>
          </p:cNvPr>
          <p:cNvSpPr>
            <a:spLocks noGrp="1"/>
          </p:cNvSpPr>
          <p:nvPr>
            <p:ph type="title"/>
          </p:nvPr>
        </p:nvSpPr>
        <p:spPr>
          <a:xfrm>
            <a:off x="838200" y="365125"/>
            <a:ext cx="10515600" cy="1325563"/>
          </a:xfrm>
        </p:spPr>
        <p:txBody>
          <a:bodyPr/>
          <a:lstStyle/>
          <a:p>
            <a:pPr algn="ctr"/>
            <a:r>
              <a:rPr lang="en-US" altLang="zh-CN" b="1" dirty="0" err="1"/>
              <a:t>fs_beep</a:t>
            </a:r>
            <a:r>
              <a:rPr lang="zh-CN" altLang="en-US" b="1" dirty="0"/>
              <a:t>实验程序（</a:t>
            </a:r>
            <a:r>
              <a:rPr lang="en-US" altLang="zh-CN" b="1" dirty="0"/>
              <a:t>1</a:t>
            </a:r>
            <a:r>
              <a:rPr lang="zh-CN" altLang="en-US" b="1" dirty="0"/>
              <a:t>）</a:t>
            </a:r>
          </a:p>
        </p:txBody>
      </p:sp>
      <p:sp>
        <p:nvSpPr>
          <p:cNvPr id="2" name="文本框 1">
            <a:extLst>
              <a:ext uri="{FF2B5EF4-FFF2-40B4-BE49-F238E27FC236}">
                <a16:creationId xmlns:a16="http://schemas.microsoft.com/office/drawing/2014/main" id="{5693C3A5-95A5-8B97-E905-C52062EC5E9E}"/>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3</a:t>
            </a:r>
            <a:endParaRPr lang="zh-CN" altLang="en-US" b="1" dirty="0"/>
          </a:p>
        </p:txBody>
      </p:sp>
      <p:pic>
        <p:nvPicPr>
          <p:cNvPr id="4" name="图片 3">
            <a:extLst>
              <a:ext uri="{FF2B5EF4-FFF2-40B4-BE49-F238E27FC236}">
                <a16:creationId xmlns:a16="http://schemas.microsoft.com/office/drawing/2014/main" id="{6FEFA611-436F-E7C6-37D1-EA0630E4D5D5}"/>
              </a:ext>
            </a:extLst>
          </p:cNvPr>
          <p:cNvPicPr>
            <a:picLocks noChangeAspect="1"/>
          </p:cNvPicPr>
          <p:nvPr/>
        </p:nvPicPr>
        <p:blipFill>
          <a:blip r:embed="rId2"/>
          <a:stretch>
            <a:fillRect/>
          </a:stretch>
        </p:blipFill>
        <p:spPr>
          <a:xfrm>
            <a:off x="3436622" y="1690688"/>
            <a:ext cx="4638728" cy="4984818"/>
          </a:xfrm>
          <a:prstGeom prst="rect">
            <a:avLst/>
          </a:prstGeom>
        </p:spPr>
      </p:pic>
      <p:sp>
        <p:nvSpPr>
          <p:cNvPr id="10" name="文本框 9">
            <a:extLst>
              <a:ext uri="{FF2B5EF4-FFF2-40B4-BE49-F238E27FC236}">
                <a16:creationId xmlns:a16="http://schemas.microsoft.com/office/drawing/2014/main" id="{DE884647-3956-B0B3-CD6A-E1A654FFABE5}"/>
              </a:ext>
            </a:extLst>
          </p:cNvPr>
          <p:cNvSpPr txBox="1"/>
          <p:nvPr/>
        </p:nvSpPr>
        <p:spPr>
          <a:xfrm>
            <a:off x="6250016" y="4982646"/>
            <a:ext cx="3542958" cy="923330"/>
          </a:xfrm>
          <a:prstGeom prst="rect">
            <a:avLst/>
          </a:prstGeom>
          <a:solidFill>
            <a:srgbClr val="FFFF00"/>
          </a:solidFill>
        </p:spPr>
        <p:txBody>
          <a:bodyPr wrap="none" rtlCol="0">
            <a:spAutoFit/>
          </a:bodyPr>
          <a:lstStyle/>
          <a:p>
            <a:r>
              <a:rPr lang="en-US" altLang="zh-CN" b="1" dirty="0"/>
              <a:t>3</a:t>
            </a:r>
            <a:r>
              <a:rPr lang="zh-CN" altLang="en-US" b="1" dirty="0"/>
              <a:t>个函数由</a:t>
            </a:r>
            <a:r>
              <a:rPr lang="en-US" altLang="zh-CN" b="1" dirty="0"/>
              <a:t>fs3399_beep.c</a:t>
            </a:r>
            <a:r>
              <a:rPr lang="zh-CN" altLang="en-US" b="1" dirty="0"/>
              <a:t>提供</a:t>
            </a:r>
            <a:endParaRPr lang="en-US" altLang="zh-CN" b="1" dirty="0"/>
          </a:p>
          <a:p>
            <a:endParaRPr lang="en-US" altLang="zh-CN" b="1" dirty="0"/>
          </a:p>
          <a:p>
            <a:r>
              <a:rPr lang="zh-CN" altLang="en-US" b="1" dirty="0"/>
              <a:t>另一个函数由</a:t>
            </a:r>
            <a:r>
              <a:rPr lang="en-US" altLang="zh-CN" b="1" dirty="0"/>
              <a:t>fs3399_timer.c</a:t>
            </a:r>
            <a:r>
              <a:rPr lang="zh-CN" altLang="en-US" b="1" dirty="0"/>
              <a:t>提供</a:t>
            </a:r>
          </a:p>
        </p:txBody>
      </p:sp>
      <p:cxnSp>
        <p:nvCxnSpPr>
          <p:cNvPr id="12" name="直接箭头连接符 11">
            <a:extLst>
              <a:ext uri="{FF2B5EF4-FFF2-40B4-BE49-F238E27FC236}">
                <a16:creationId xmlns:a16="http://schemas.microsoft.com/office/drawing/2014/main" id="{0159E6DB-206F-2FBD-3ABF-C212C89A4D98}"/>
              </a:ext>
            </a:extLst>
          </p:cNvPr>
          <p:cNvCxnSpPr>
            <a:cxnSpLocks/>
          </p:cNvCxnSpPr>
          <p:nvPr/>
        </p:nvCxnSpPr>
        <p:spPr>
          <a:xfrm>
            <a:off x="3557391" y="4215008"/>
            <a:ext cx="44467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43838AE5-A3D1-B8D9-5799-4BCAEDAE86ED}"/>
              </a:ext>
            </a:extLst>
          </p:cNvPr>
          <p:cNvCxnSpPr>
            <a:cxnSpLocks/>
          </p:cNvCxnSpPr>
          <p:nvPr/>
        </p:nvCxnSpPr>
        <p:spPr>
          <a:xfrm>
            <a:off x="3565742" y="4724399"/>
            <a:ext cx="44467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BD4E0968-9D20-7C18-F302-AD7885FDC376}"/>
              </a:ext>
            </a:extLst>
          </p:cNvPr>
          <p:cNvCxnSpPr>
            <a:cxnSpLocks/>
          </p:cNvCxnSpPr>
          <p:nvPr/>
        </p:nvCxnSpPr>
        <p:spPr>
          <a:xfrm>
            <a:off x="3576181" y="5774496"/>
            <a:ext cx="44467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 name="直接箭头连接符 2">
            <a:extLst>
              <a:ext uri="{FF2B5EF4-FFF2-40B4-BE49-F238E27FC236}">
                <a16:creationId xmlns:a16="http://schemas.microsoft.com/office/drawing/2014/main" id="{98B576A7-51BE-1305-A306-B1638266C74B}"/>
              </a:ext>
            </a:extLst>
          </p:cNvPr>
          <p:cNvCxnSpPr>
            <a:cxnSpLocks/>
          </p:cNvCxnSpPr>
          <p:nvPr/>
        </p:nvCxnSpPr>
        <p:spPr>
          <a:xfrm>
            <a:off x="3576181" y="5265106"/>
            <a:ext cx="44467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92993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4A68396C-F89C-9CB6-C8E7-E7C2471F1049}"/>
              </a:ext>
            </a:extLst>
          </p:cNvPr>
          <p:cNvSpPr>
            <a:spLocks noGrp="1"/>
          </p:cNvSpPr>
          <p:nvPr>
            <p:ph idx="1"/>
          </p:nvPr>
        </p:nvSpPr>
        <p:spPr>
          <a:xfrm>
            <a:off x="838200" y="1825625"/>
            <a:ext cx="10515600" cy="4351338"/>
          </a:xfrm>
        </p:spPr>
        <p:txBody>
          <a:bodyPr>
            <a:normAutofit/>
          </a:bodyPr>
          <a:lstStyle/>
          <a:p>
            <a:r>
              <a:rPr lang="en-US" altLang="zh-CN" sz="2000" b="1" dirty="0"/>
              <a:t>2</a:t>
            </a:r>
            <a:r>
              <a:rPr lang="zh-CN" altLang="en-US" sz="2000" b="1" dirty="0"/>
              <a:t>、</a:t>
            </a:r>
            <a:r>
              <a:rPr lang="en-US" altLang="zh-CN" sz="2000" b="1" dirty="0"/>
              <a:t>fs3399_beep.c</a:t>
            </a:r>
            <a:endParaRPr lang="zh-CN" altLang="en-US" sz="2000" b="1" dirty="0"/>
          </a:p>
        </p:txBody>
      </p:sp>
      <p:sp>
        <p:nvSpPr>
          <p:cNvPr id="7" name="标题 1">
            <a:extLst>
              <a:ext uri="{FF2B5EF4-FFF2-40B4-BE49-F238E27FC236}">
                <a16:creationId xmlns:a16="http://schemas.microsoft.com/office/drawing/2014/main" id="{2514A85E-2E56-910B-49F8-5FD65762389D}"/>
              </a:ext>
            </a:extLst>
          </p:cNvPr>
          <p:cNvSpPr>
            <a:spLocks noGrp="1"/>
          </p:cNvSpPr>
          <p:nvPr>
            <p:ph type="title"/>
          </p:nvPr>
        </p:nvSpPr>
        <p:spPr>
          <a:xfrm>
            <a:off x="838200" y="365125"/>
            <a:ext cx="10515600" cy="1325563"/>
          </a:xfrm>
        </p:spPr>
        <p:txBody>
          <a:bodyPr/>
          <a:lstStyle/>
          <a:p>
            <a:pPr algn="ctr"/>
            <a:r>
              <a:rPr lang="en-US" altLang="zh-CN" b="1" dirty="0" err="1"/>
              <a:t>fs_beep</a:t>
            </a:r>
            <a:r>
              <a:rPr lang="zh-CN" altLang="en-US" b="1" dirty="0"/>
              <a:t>实验程序（</a:t>
            </a:r>
            <a:r>
              <a:rPr lang="en-US" altLang="zh-CN" b="1" dirty="0"/>
              <a:t>2</a:t>
            </a:r>
            <a:r>
              <a:rPr lang="zh-CN" altLang="en-US" b="1" dirty="0"/>
              <a:t>）</a:t>
            </a:r>
          </a:p>
        </p:txBody>
      </p:sp>
      <p:sp>
        <p:nvSpPr>
          <p:cNvPr id="2" name="文本框 1">
            <a:extLst>
              <a:ext uri="{FF2B5EF4-FFF2-40B4-BE49-F238E27FC236}">
                <a16:creationId xmlns:a16="http://schemas.microsoft.com/office/drawing/2014/main" id="{5693C3A5-95A5-8B97-E905-C52062EC5E9E}"/>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3</a:t>
            </a:r>
            <a:endParaRPr lang="zh-CN" altLang="en-US" b="1" dirty="0"/>
          </a:p>
        </p:txBody>
      </p:sp>
      <p:pic>
        <p:nvPicPr>
          <p:cNvPr id="8" name="图片 7">
            <a:extLst>
              <a:ext uri="{FF2B5EF4-FFF2-40B4-BE49-F238E27FC236}">
                <a16:creationId xmlns:a16="http://schemas.microsoft.com/office/drawing/2014/main" id="{04BA5A46-9E3D-4D63-FFA5-BA012EE96695}"/>
              </a:ext>
            </a:extLst>
          </p:cNvPr>
          <p:cNvPicPr>
            <a:picLocks noChangeAspect="1"/>
          </p:cNvPicPr>
          <p:nvPr/>
        </p:nvPicPr>
        <p:blipFill>
          <a:blip r:embed="rId2"/>
          <a:stretch>
            <a:fillRect/>
          </a:stretch>
        </p:blipFill>
        <p:spPr>
          <a:xfrm>
            <a:off x="2195274" y="2167258"/>
            <a:ext cx="4345741" cy="3732706"/>
          </a:xfrm>
          <a:prstGeom prst="rect">
            <a:avLst/>
          </a:prstGeom>
        </p:spPr>
      </p:pic>
      <p:pic>
        <p:nvPicPr>
          <p:cNvPr id="10" name="图片 9">
            <a:extLst>
              <a:ext uri="{FF2B5EF4-FFF2-40B4-BE49-F238E27FC236}">
                <a16:creationId xmlns:a16="http://schemas.microsoft.com/office/drawing/2014/main" id="{84A67F2B-73CD-BF5F-491D-DD367F96AE68}"/>
              </a:ext>
            </a:extLst>
          </p:cNvPr>
          <p:cNvPicPr>
            <a:picLocks noChangeAspect="1"/>
          </p:cNvPicPr>
          <p:nvPr/>
        </p:nvPicPr>
        <p:blipFill>
          <a:blip r:embed="rId3"/>
          <a:stretch>
            <a:fillRect/>
          </a:stretch>
        </p:blipFill>
        <p:spPr>
          <a:xfrm>
            <a:off x="7036103" y="2532010"/>
            <a:ext cx="4145942" cy="3465749"/>
          </a:xfrm>
          <a:prstGeom prst="rect">
            <a:avLst/>
          </a:prstGeom>
        </p:spPr>
      </p:pic>
      <p:sp>
        <p:nvSpPr>
          <p:cNvPr id="11" name="文本框 10">
            <a:extLst>
              <a:ext uri="{FF2B5EF4-FFF2-40B4-BE49-F238E27FC236}">
                <a16:creationId xmlns:a16="http://schemas.microsoft.com/office/drawing/2014/main" id="{45236656-929C-4510-C1D6-5A35F67C4893}"/>
              </a:ext>
            </a:extLst>
          </p:cNvPr>
          <p:cNvSpPr txBox="1"/>
          <p:nvPr/>
        </p:nvSpPr>
        <p:spPr>
          <a:xfrm>
            <a:off x="4534078" y="3987885"/>
            <a:ext cx="1590500" cy="307777"/>
          </a:xfrm>
          <a:prstGeom prst="rect">
            <a:avLst/>
          </a:prstGeom>
          <a:solidFill>
            <a:srgbClr val="FFFF00"/>
          </a:solidFill>
        </p:spPr>
        <p:txBody>
          <a:bodyPr wrap="none" rtlCol="0">
            <a:spAutoFit/>
          </a:bodyPr>
          <a:lstStyle/>
          <a:p>
            <a:r>
              <a:rPr lang="en-US" altLang="zh-CN" sz="1400" b="1" dirty="0"/>
              <a:t>DDR</a:t>
            </a:r>
            <a:r>
              <a:rPr lang="zh-CN" altLang="en-US" sz="1400" b="1" dirty="0"/>
              <a:t>：方向寄存器</a:t>
            </a:r>
          </a:p>
        </p:txBody>
      </p:sp>
      <p:sp>
        <p:nvSpPr>
          <p:cNvPr id="12" name="文本框 11">
            <a:extLst>
              <a:ext uri="{FF2B5EF4-FFF2-40B4-BE49-F238E27FC236}">
                <a16:creationId xmlns:a16="http://schemas.microsoft.com/office/drawing/2014/main" id="{BC758284-C0BD-14C6-3782-5AD49A82C802}"/>
              </a:ext>
            </a:extLst>
          </p:cNvPr>
          <p:cNvSpPr txBox="1"/>
          <p:nvPr/>
        </p:nvSpPr>
        <p:spPr>
          <a:xfrm>
            <a:off x="4590215" y="5520184"/>
            <a:ext cx="1476686" cy="307777"/>
          </a:xfrm>
          <a:prstGeom prst="rect">
            <a:avLst/>
          </a:prstGeom>
          <a:solidFill>
            <a:srgbClr val="FFFF00"/>
          </a:solidFill>
        </p:spPr>
        <p:txBody>
          <a:bodyPr wrap="none" rtlCol="0">
            <a:spAutoFit/>
          </a:bodyPr>
          <a:lstStyle/>
          <a:p>
            <a:r>
              <a:rPr lang="en-US" altLang="zh-CN" sz="1400" b="1" dirty="0"/>
              <a:t>DR</a:t>
            </a:r>
            <a:r>
              <a:rPr lang="zh-CN" altLang="en-US" sz="1400" b="1" dirty="0"/>
              <a:t>：数据寄存器</a:t>
            </a:r>
          </a:p>
        </p:txBody>
      </p:sp>
      <p:sp>
        <p:nvSpPr>
          <p:cNvPr id="13" name="文本框 12">
            <a:extLst>
              <a:ext uri="{FF2B5EF4-FFF2-40B4-BE49-F238E27FC236}">
                <a16:creationId xmlns:a16="http://schemas.microsoft.com/office/drawing/2014/main" id="{168C371D-BDE7-DCEF-C54A-C52D2CDB548D}"/>
              </a:ext>
            </a:extLst>
          </p:cNvPr>
          <p:cNvSpPr txBox="1"/>
          <p:nvPr/>
        </p:nvSpPr>
        <p:spPr>
          <a:xfrm>
            <a:off x="9040931" y="2997894"/>
            <a:ext cx="954107" cy="276999"/>
          </a:xfrm>
          <a:prstGeom prst="rect">
            <a:avLst/>
          </a:prstGeom>
          <a:solidFill>
            <a:schemeClr val="bg1"/>
          </a:solidFill>
        </p:spPr>
        <p:txBody>
          <a:bodyPr wrap="none" rtlCol="0">
            <a:spAutoFit/>
          </a:bodyPr>
          <a:lstStyle/>
          <a:p>
            <a:r>
              <a:rPr lang="zh-CN" altLang="en-US" sz="1200" b="1" dirty="0"/>
              <a:t>输出低电平</a:t>
            </a:r>
          </a:p>
        </p:txBody>
      </p:sp>
      <p:cxnSp>
        <p:nvCxnSpPr>
          <p:cNvPr id="15" name="直接箭头连接符 14">
            <a:extLst>
              <a:ext uri="{FF2B5EF4-FFF2-40B4-BE49-F238E27FC236}">
                <a16:creationId xmlns:a16="http://schemas.microsoft.com/office/drawing/2014/main" id="{8C3D1B6D-ED21-E414-1D8B-48B1E12A850D}"/>
              </a:ext>
            </a:extLst>
          </p:cNvPr>
          <p:cNvCxnSpPr>
            <a:cxnSpLocks/>
          </p:cNvCxnSpPr>
          <p:nvPr/>
        </p:nvCxnSpPr>
        <p:spPr>
          <a:xfrm>
            <a:off x="1750600" y="3119911"/>
            <a:ext cx="44467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E7EA78EF-B760-A27C-B576-8B008D79CC3C}"/>
              </a:ext>
            </a:extLst>
          </p:cNvPr>
          <p:cNvCxnSpPr>
            <a:cxnSpLocks/>
          </p:cNvCxnSpPr>
          <p:nvPr/>
        </p:nvCxnSpPr>
        <p:spPr>
          <a:xfrm>
            <a:off x="1798609" y="4611454"/>
            <a:ext cx="44467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B4FEDDC8-6564-17E3-AC6B-F17473DCE046}"/>
              </a:ext>
            </a:extLst>
          </p:cNvPr>
          <p:cNvCxnSpPr>
            <a:cxnSpLocks/>
          </p:cNvCxnSpPr>
          <p:nvPr/>
        </p:nvCxnSpPr>
        <p:spPr>
          <a:xfrm>
            <a:off x="6318678" y="2997894"/>
            <a:ext cx="44467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64829153-5670-5F3D-59A8-76971DA683D1}"/>
              </a:ext>
            </a:extLst>
          </p:cNvPr>
          <p:cNvSpPr txBox="1"/>
          <p:nvPr/>
        </p:nvSpPr>
        <p:spPr>
          <a:xfrm>
            <a:off x="9428475" y="4881378"/>
            <a:ext cx="1838965" cy="338554"/>
          </a:xfrm>
          <a:prstGeom prst="rect">
            <a:avLst/>
          </a:prstGeom>
          <a:solidFill>
            <a:srgbClr val="FFFF00"/>
          </a:solidFill>
        </p:spPr>
        <p:txBody>
          <a:bodyPr wrap="none" rtlCol="0">
            <a:spAutoFit/>
          </a:bodyPr>
          <a:lstStyle/>
          <a:p>
            <a:r>
              <a:rPr lang="zh-CN" altLang="en-US" sz="1600" b="1" dirty="0"/>
              <a:t>这个函数没有使用</a:t>
            </a:r>
          </a:p>
        </p:txBody>
      </p:sp>
      <p:sp>
        <p:nvSpPr>
          <p:cNvPr id="3" name="文本框 2">
            <a:extLst>
              <a:ext uri="{FF2B5EF4-FFF2-40B4-BE49-F238E27FC236}">
                <a16:creationId xmlns:a16="http://schemas.microsoft.com/office/drawing/2014/main" id="{26B85F31-8EF9-19CA-9F26-5D8065296E0E}"/>
              </a:ext>
            </a:extLst>
          </p:cNvPr>
          <p:cNvSpPr txBox="1"/>
          <p:nvPr/>
        </p:nvSpPr>
        <p:spPr>
          <a:xfrm>
            <a:off x="808009" y="2748670"/>
            <a:ext cx="990600" cy="646331"/>
          </a:xfrm>
          <a:prstGeom prst="rect">
            <a:avLst/>
          </a:prstGeom>
          <a:solidFill>
            <a:srgbClr val="FFFF00"/>
          </a:solidFill>
        </p:spPr>
        <p:txBody>
          <a:bodyPr wrap="square" rtlCol="0">
            <a:spAutoFit/>
          </a:bodyPr>
          <a:lstStyle/>
          <a:p>
            <a:r>
              <a:rPr lang="zh-CN" altLang="en-US" b="1" dirty="0"/>
              <a:t>初始化蜂鸣器</a:t>
            </a:r>
          </a:p>
        </p:txBody>
      </p:sp>
      <p:sp>
        <p:nvSpPr>
          <p:cNvPr id="5" name="文本框 4">
            <a:extLst>
              <a:ext uri="{FF2B5EF4-FFF2-40B4-BE49-F238E27FC236}">
                <a16:creationId xmlns:a16="http://schemas.microsoft.com/office/drawing/2014/main" id="{099CAD7E-9077-944C-276A-18CB347F2953}"/>
              </a:ext>
            </a:extLst>
          </p:cNvPr>
          <p:cNvSpPr txBox="1"/>
          <p:nvPr/>
        </p:nvSpPr>
        <p:spPr>
          <a:xfrm>
            <a:off x="655822" y="4376765"/>
            <a:ext cx="1137476" cy="369332"/>
          </a:xfrm>
          <a:prstGeom prst="rect">
            <a:avLst/>
          </a:prstGeom>
          <a:solidFill>
            <a:srgbClr val="FFFF00"/>
          </a:solidFill>
        </p:spPr>
        <p:txBody>
          <a:bodyPr wrap="square" rtlCol="0">
            <a:spAutoFit/>
          </a:bodyPr>
          <a:lstStyle/>
          <a:p>
            <a:r>
              <a:rPr lang="zh-CN" altLang="en-US" b="1" dirty="0"/>
              <a:t>蜂鸣器响</a:t>
            </a:r>
          </a:p>
        </p:txBody>
      </p:sp>
      <p:sp>
        <p:nvSpPr>
          <p:cNvPr id="9" name="文本框 8">
            <a:extLst>
              <a:ext uri="{FF2B5EF4-FFF2-40B4-BE49-F238E27FC236}">
                <a16:creationId xmlns:a16="http://schemas.microsoft.com/office/drawing/2014/main" id="{DF71BFE8-89D0-9562-D20C-FAF29383F3AA}"/>
              </a:ext>
            </a:extLst>
          </p:cNvPr>
          <p:cNvSpPr txBox="1"/>
          <p:nvPr/>
        </p:nvSpPr>
        <p:spPr>
          <a:xfrm>
            <a:off x="8346232" y="2564004"/>
            <a:ext cx="1389398" cy="369332"/>
          </a:xfrm>
          <a:prstGeom prst="rect">
            <a:avLst/>
          </a:prstGeom>
          <a:solidFill>
            <a:srgbClr val="FFFF00"/>
          </a:solidFill>
        </p:spPr>
        <p:txBody>
          <a:bodyPr wrap="square" rtlCol="0">
            <a:spAutoFit/>
          </a:bodyPr>
          <a:lstStyle/>
          <a:p>
            <a:r>
              <a:rPr lang="zh-CN" altLang="en-US" b="1" dirty="0"/>
              <a:t>蜂鸣器不响</a:t>
            </a:r>
          </a:p>
        </p:txBody>
      </p:sp>
      <p:sp>
        <p:nvSpPr>
          <p:cNvPr id="14" name="矩形 13">
            <a:extLst>
              <a:ext uri="{FF2B5EF4-FFF2-40B4-BE49-F238E27FC236}">
                <a16:creationId xmlns:a16="http://schemas.microsoft.com/office/drawing/2014/main" id="{8DC44B9F-30EC-4C54-98CF-69EBB58F532F}"/>
              </a:ext>
            </a:extLst>
          </p:cNvPr>
          <p:cNvSpPr/>
          <p:nvPr/>
        </p:nvSpPr>
        <p:spPr>
          <a:xfrm>
            <a:off x="6763352" y="3918857"/>
            <a:ext cx="2748041" cy="207890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502860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4A68396C-F89C-9CB6-C8E7-E7C2471F1049}"/>
              </a:ext>
            </a:extLst>
          </p:cNvPr>
          <p:cNvSpPr>
            <a:spLocks noGrp="1"/>
          </p:cNvSpPr>
          <p:nvPr>
            <p:ph idx="1"/>
          </p:nvPr>
        </p:nvSpPr>
        <p:spPr>
          <a:xfrm>
            <a:off x="1121756" y="1768914"/>
            <a:ext cx="2241930" cy="598729"/>
          </a:xfrm>
        </p:spPr>
        <p:txBody>
          <a:bodyPr>
            <a:normAutofit/>
          </a:bodyPr>
          <a:lstStyle/>
          <a:p>
            <a:r>
              <a:rPr lang="en-US" altLang="zh-CN" sz="2000" b="1" dirty="0"/>
              <a:t>3</a:t>
            </a:r>
            <a:r>
              <a:rPr lang="zh-CN" altLang="en-US" sz="2000" b="1" dirty="0"/>
              <a:t>、</a:t>
            </a:r>
            <a:r>
              <a:rPr lang="en-US" altLang="zh-CN" sz="2000" b="1" dirty="0"/>
              <a:t>fs3399_beep.h</a:t>
            </a:r>
            <a:endParaRPr lang="zh-CN" altLang="en-US" sz="2000" b="1" dirty="0"/>
          </a:p>
        </p:txBody>
      </p:sp>
      <p:sp>
        <p:nvSpPr>
          <p:cNvPr id="7" name="标题 1">
            <a:extLst>
              <a:ext uri="{FF2B5EF4-FFF2-40B4-BE49-F238E27FC236}">
                <a16:creationId xmlns:a16="http://schemas.microsoft.com/office/drawing/2014/main" id="{2514A85E-2E56-910B-49F8-5FD65762389D}"/>
              </a:ext>
            </a:extLst>
          </p:cNvPr>
          <p:cNvSpPr>
            <a:spLocks noGrp="1"/>
          </p:cNvSpPr>
          <p:nvPr>
            <p:ph type="title"/>
          </p:nvPr>
        </p:nvSpPr>
        <p:spPr>
          <a:xfrm>
            <a:off x="838200" y="365125"/>
            <a:ext cx="10515600" cy="1325563"/>
          </a:xfrm>
        </p:spPr>
        <p:txBody>
          <a:bodyPr/>
          <a:lstStyle/>
          <a:p>
            <a:pPr algn="ctr"/>
            <a:r>
              <a:rPr lang="en-US" altLang="zh-CN" b="1" dirty="0" err="1"/>
              <a:t>fs_beep</a:t>
            </a:r>
            <a:r>
              <a:rPr lang="zh-CN" altLang="en-US" b="1" dirty="0"/>
              <a:t>实验程序（</a:t>
            </a:r>
            <a:r>
              <a:rPr lang="en-US" altLang="zh-CN" b="1" dirty="0"/>
              <a:t>3</a:t>
            </a:r>
            <a:r>
              <a:rPr lang="zh-CN" altLang="en-US" b="1" dirty="0"/>
              <a:t>）</a:t>
            </a:r>
          </a:p>
        </p:txBody>
      </p:sp>
      <p:sp>
        <p:nvSpPr>
          <p:cNvPr id="2" name="文本框 1">
            <a:extLst>
              <a:ext uri="{FF2B5EF4-FFF2-40B4-BE49-F238E27FC236}">
                <a16:creationId xmlns:a16="http://schemas.microsoft.com/office/drawing/2014/main" id="{5693C3A5-95A5-8B97-E905-C52062EC5E9E}"/>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3</a:t>
            </a:r>
            <a:endParaRPr lang="zh-CN" altLang="en-US" b="1" dirty="0"/>
          </a:p>
        </p:txBody>
      </p:sp>
      <p:pic>
        <p:nvPicPr>
          <p:cNvPr id="5" name="图片 4">
            <a:extLst>
              <a:ext uri="{FF2B5EF4-FFF2-40B4-BE49-F238E27FC236}">
                <a16:creationId xmlns:a16="http://schemas.microsoft.com/office/drawing/2014/main" id="{BAA43FB8-C0C1-C969-8ACA-1DDFE5C47403}"/>
              </a:ext>
            </a:extLst>
          </p:cNvPr>
          <p:cNvPicPr>
            <a:picLocks noChangeAspect="1"/>
          </p:cNvPicPr>
          <p:nvPr/>
        </p:nvPicPr>
        <p:blipFill>
          <a:blip r:embed="rId2"/>
          <a:stretch>
            <a:fillRect/>
          </a:stretch>
        </p:blipFill>
        <p:spPr>
          <a:xfrm>
            <a:off x="3801650" y="2249136"/>
            <a:ext cx="6922328" cy="3871116"/>
          </a:xfrm>
          <a:prstGeom prst="rect">
            <a:avLst/>
          </a:prstGeom>
        </p:spPr>
      </p:pic>
    </p:spTree>
    <p:extLst>
      <p:ext uri="{BB962C8B-B14F-4D97-AF65-F5344CB8AC3E}">
        <p14:creationId xmlns:p14="http://schemas.microsoft.com/office/powerpoint/2010/main" val="1760309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A749897-FC39-ACD8-BF71-B97943BCC943}"/>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fs_beep</a:t>
            </a:r>
            <a:r>
              <a:rPr lang="zh-CN" altLang="en-US" b="1" dirty="0"/>
              <a:t>实验程序</a:t>
            </a:r>
          </a:p>
        </p:txBody>
      </p:sp>
      <p:sp>
        <p:nvSpPr>
          <p:cNvPr id="7" name="内容占位符 2">
            <a:extLst>
              <a:ext uri="{FF2B5EF4-FFF2-40B4-BE49-F238E27FC236}">
                <a16:creationId xmlns:a16="http://schemas.microsoft.com/office/drawing/2014/main" id="{0164717B-A44C-107C-834B-657E75999E68}"/>
              </a:ext>
            </a:extLst>
          </p:cNvPr>
          <p:cNvSpPr>
            <a:spLocks noGrp="1"/>
          </p:cNvSpPr>
          <p:nvPr>
            <p:ph idx="1"/>
          </p:nvPr>
        </p:nvSpPr>
        <p:spPr>
          <a:xfrm>
            <a:off x="1208314" y="1825625"/>
            <a:ext cx="9976757" cy="4351338"/>
          </a:xfrm>
        </p:spPr>
        <p:txBody>
          <a:bodyPr>
            <a:normAutofit fontScale="77500" lnSpcReduction="20000"/>
          </a:bodyPr>
          <a:lstStyle/>
          <a:p>
            <a:r>
              <a:rPr lang="zh-CN" altLang="en-US" sz="2400" b="1" dirty="0"/>
              <a:t>请按照前面的“</a:t>
            </a:r>
            <a:r>
              <a:rPr lang="zh-CN" altLang="en-US" sz="2400" b="1" dirty="0">
                <a:solidFill>
                  <a:srgbClr val="C00000"/>
                </a:solidFill>
              </a:rPr>
              <a:t>运行fs_</a:t>
            </a:r>
            <a:r>
              <a:rPr lang="en-US" altLang="zh-CN" sz="2400" b="1" dirty="0" err="1">
                <a:solidFill>
                  <a:srgbClr val="C00000"/>
                </a:solidFill>
              </a:rPr>
              <a:t>pwm</a:t>
            </a:r>
            <a:r>
              <a:rPr lang="zh-CN" altLang="en-US" sz="2400" b="1" dirty="0">
                <a:solidFill>
                  <a:srgbClr val="C00000"/>
                </a:solidFill>
              </a:rPr>
              <a:t>实验程序</a:t>
            </a:r>
            <a:r>
              <a:rPr lang="zh-CN" altLang="en-US" sz="2400" b="1" dirty="0"/>
              <a:t>”的步骤，运行“</a:t>
            </a:r>
            <a:r>
              <a:rPr lang="en-US" altLang="zh-CN" sz="2400" b="1" dirty="0" err="1"/>
              <a:t>fs_beep</a:t>
            </a:r>
            <a:r>
              <a:rPr lang="zh-CN" altLang="en-US" sz="2400" b="1" dirty="0"/>
              <a:t>实验程序”：</a:t>
            </a:r>
            <a:endParaRPr lang="en-US" altLang="zh-CN" sz="2400" b="1" dirty="0"/>
          </a:p>
          <a:p>
            <a:pPr lvl="1"/>
            <a:endParaRPr lang="en-US" altLang="zh-CN" sz="2000" b="1" dirty="0"/>
          </a:p>
          <a:p>
            <a:pPr lvl="1"/>
            <a:r>
              <a:rPr lang="en-US" altLang="zh-CN" sz="2000" b="1" dirty="0"/>
              <a:t>1</a:t>
            </a:r>
            <a:r>
              <a:rPr lang="zh-CN" altLang="en-US" sz="2000" b="1" dirty="0"/>
              <a:t>、关闭</a:t>
            </a:r>
            <a:r>
              <a:rPr lang="en-US" altLang="zh-CN" sz="2000" b="1" dirty="0"/>
              <a:t>PuTTY</a:t>
            </a:r>
            <a:r>
              <a:rPr lang="zh-CN" altLang="en-US" sz="2000" b="1" dirty="0"/>
              <a:t>，再打开</a:t>
            </a:r>
            <a:r>
              <a:rPr lang="en-US" altLang="zh-CN" sz="2000" b="1" dirty="0"/>
              <a:t>PuTTY</a:t>
            </a:r>
            <a:r>
              <a:rPr lang="zh-CN" altLang="en-US" sz="2000" b="1" dirty="0"/>
              <a:t>；按实验箱的</a:t>
            </a:r>
            <a:r>
              <a:rPr lang="en-US" altLang="zh-CN" sz="2000" b="1" dirty="0"/>
              <a:t>RST</a:t>
            </a:r>
            <a:r>
              <a:rPr lang="zh-CN" altLang="en-US" sz="2000" b="1" dirty="0"/>
              <a:t>按键；倒计时状态按</a:t>
            </a:r>
            <a:r>
              <a:rPr lang="en-US" altLang="zh-CN" sz="2000" b="1" dirty="0" err="1"/>
              <a:t>Ctrl+C</a:t>
            </a:r>
            <a:r>
              <a:rPr lang="zh-CN" altLang="en-US" sz="2000" b="1" dirty="0"/>
              <a:t>，进入“</a:t>
            </a:r>
            <a:r>
              <a:rPr lang="en-US" altLang="zh-CN" sz="2000" b="1" dirty="0"/>
              <a:t>=&gt;”</a:t>
            </a:r>
            <a:r>
              <a:rPr lang="zh-CN" altLang="en-US" sz="2000" b="1" dirty="0"/>
              <a:t>状态</a:t>
            </a:r>
          </a:p>
          <a:p>
            <a:pPr lvl="1"/>
            <a:endParaRPr lang="zh-CN" altLang="en-US" sz="2000" b="1" dirty="0"/>
          </a:p>
          <a:p>
            <a:pPr lvl="1"/>
            <a:r>
              <a:rPr lang="en-US" altLang="zh-CN" sz="2000" b="1" dirty="0"/>
              <a:t>2</a:t>
            </a:r>
            <a:r>
              <a:rPr lang="zh-CN" altLang="en-US" sz="2000" b="1" dirty="0"/>
              <a:t>、检查</a:t>
            </a:r>
            <a:r>
              <a:rPr lang="en-US" altLang="zh-CN" sz="2000" b="1" dirty="0"/>
              <a:t>JTAG</a:t>
            </a:r>
            <a:r>
              <a:rPr lang="zh-CN" altLang="en-US" sz="2000" b="1" dirty="0"/>
              <a:t>是否连接到虚拟机（</a:t>
            </a:r>
            <a:r>
              <a:rPr lang="en-US" altLang="zh-CN" sz="2000" b="1" dirty="0"/>
              <a:t>Ubuntu</a:t>
            </a:r>
            <a:r>
              <a:rPr lang="zh-CN" altLang="en-US" sz="2000" b="1" dirty="0"/>
              <a:t>）</a:t>
            </a:r>
          </a:p>
          <a:p>
            <a:pPr lvl="1"/>
            <a:endParaRPr lang="zh-CN" altLang="en-US" sz="2000" b="1" dirty="0"/>
          </a:p>
          <a:p>
            <a:pPr lvl="1"/>
            <a:r>
              <a:rPr lang="en-US" altLang="zh-CN" sz="2000" b="1" dirty="0"/>
              <a:t>3</a:t>
            </a:r>
            <a:r>
              <a:rPr lang="zh-CN" altLang="en-US" sz="2000" b="1" dirty="0"/>
              <a:t>、检查</a:t>
            </a:r>
            <a:r>
              <a:rPr lang="en-US" altLang="zh-CN" sz="2000" b="1" dirty="0"/>
              <a:t>FS_JTAG</a:t>
            </a:r>
            <a:r>
              <a:rPr lang="zh-CN" altLang="en-US" sz="2000" b="1" dirty="0"/>
              <a:t>是否处于连接状态（连接到</a:t>
            </a:r>
            <a:r>
              <a:rPr lang="en-US" altLang="zh-CN" sz="2000" b="1" dirty="0"/>
              <a:t>fs3399</a:t>
            </a:r>
            <a:r>
              <a:rPr lang="zh-CN" altLang="en-US" sz="2000" b="1" dirty="0"/>
              <a:t>）</a:t>
            </a:r>
          </a:p>
          <a:p>
            <a:pPr lvl="1"/>
            <a:endParaRPr lang="zh-CN" altLang="en-US" sz="2000" b="1" dirty="0"/>
          </a:p>
          <a:p>
            <a:pPr lvl="1"/>
            <a:r>
              <a:rPr lang="en-US" altLang="zh-CN" sz="2000" b="1" dirty="0"/>
              <a:t>4</a:t>
            </a:r>
            <a:r>
              <a:rPr lang="zh-CN" altLang="en-US" sz="2000" b="1" dirty="0"/>
              <a:t>、打开实验工程（使实验工程处于打开状态）</a:t>
            </a:r>
          </a:p>
          <a:p>
            <a:pPr lvl="1"/>
            <a:endParaRPr lang="zh-CN" altLang="en-US" sz="2000" b="1" dirty="0"/>
          </a:p>
          <a:p>
            <a:pPr lvl="1"/>
            <a:r>
              <a:rPr lang="en-US" altLang="zh-CN" sz="2000" b="1" dirty="0"/>
              <a:t>5</a:t>
            </a:r>
            <a:r>
              <a:rPr lang="zh-CN" altLang="en-US" sz="2000" b="1" dirty="0"/>
              <a:t>、进入调试状态：</a:t>
            </a:r>
            <a:r>
              <a:rPr lang="en-US" altLang="zh-CN" sz="2000" b="1" dirty="0"/>
              <a:t>Run -&gt; Debug Configurations</a:t>
            </a:r>
          </a:p>
          <a:p>
            <a:pPr lvl="1"/>
            <a:endParaRPr lang="en-US" altLang="zh-CN" sz="2000" b="1" dirty="0"/>
          </a:p>
          <a:p>
            <a:pPr lvl="1"/>
            <a:r>
              <a:rPr lang="en-US" altLang="zh-CN" sz="2000" b="1" dirty="0"/>
              <a:t>6</a:t>
            </a:r>
            <a:r>
              <a:rPr lang="zh-CN" altLang="en-US" sz="2000" b="1" dirty="0"/>
              <a:t>、点击运行图标，运行实验工程（此时，</a:t>
            </a:r>
            <a:r>
              <a:rPr lang="en-US" altLang="zh-CN" sz="2000" b="1" dirty="0">
                <a:solidFill>
                  <a:srgbClr val="C00000"/>
                </a:solidFill>
              </a:rPr>
              <a:t>MPU</a:t>
            </a:r>
            <a:r>
              <a:rPr lang="zh-CN" altLang="en-US" sz="2000" b="1" dirty="0">
                <a:solidFill>
                  <a:srgbClr val="C00000"/>
                </a:solidFill>
              </a:rPr>
              <a:t>开发板上的蜂鸣器会响、不响、响、</a:t>
            </a:r>
            <a:r>
              <a:rPr lang="en-US" altLang="zh-CN" sz="2000" b="1" dirty="0">
                <a:solidFill>
                  <a:srgbClr val="C00000"/>
                </a:solidFill>
              </a:rPr>
              <a:t>……</a:t>
            </a:r>
            <a:r>
              <a:rPr lang="zh-CN" altLang="en-US" sz="2000" b="1" dirty="0"/>
              <a:t>）</a:t>
            </a:r>
          </a:p>
          <a:p>
            <a:pPr lvl="1"/>
            <a:endParaRPr lang="zh-CN" altLang="en-US" sz="2000" b="1" dirty="0"/>
          </a:p>
          <a:p>
            <a:pPr lvl="1"/>
            <a:r>
              <a:rPr lang="en-US" altLang="zh-CN" sz="2000" b="1" dirty="0"/>
              <a:t>7</a:t>
            </a:r>
            <a:r>
              <a:rPr lang="zh-CN" altLang="en-US" sz="2000" b="1" dirty="0"/>
              <a:t>、点击停止图标，停止运行实验工程</a:t>
            </a:r>
          </a:p>
          <a:p>
            <a:pPr lvl="1"/>
            <a:endParaRPr lang="zh-CN" altLang="en-US" sz="2000" b="1" dirty="0"/>
          </a:p>
          <a:p>
            <a:pPr lvl="1"/>
            <a:r>
              <a:rPr lang="en-US" altLang="zh-CN" sz="2000" b="1" dirty="0"/>
              <a:t>8</a:t>
            </a:r>
            <a:r>
              <a:rPr lang="zh-CN" altLang="en-US" sz="2000" b="1" dirty="0"/>
              <a:t>、关闭实验工程（使实验工程处于关闭状态）</a:t>
            </a:r>
          </a:p>
          <a:p>
            <a:endParaRPr lang="zh-CN" altLang="en-US" sz="2400" b="1" dirty="0"/>
          </a:p>
        </p:txBody>
      </p:sp>
      <p:sp>
        <p:nvSpPr>
          <p:cNvPr id="2" name="文本框 1">
            <a:extLst>
              <a:ext uri="{FF2B5EF4-FFF2-40B4-BE49-F238E27FC236}">
                <a16:creationId xmlns:a16="http://schemas.microsoft.com/office/drawing/2014/main" id="{52360609-30FC-B662-3E6A-71353BF1B439}"/>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3</a:t>
            </a:r>
            <a:endParaRPr lang="zh-CN" altLang="en-US" b="1" dirty="0"/>
          </a:p>
        </p:txBody>
      </p:sp>
    </p:spTree>
    <p:extLst>
      <p:ext uri="{BB962C8B-B14F-4D97-AF65-F5344CB8AC3E}">
        <p14:creationId xmlns:p14="http://schemas.microsoft.com/office/powerpoint/2010/main" val="7258887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5B9C2-11EB-449B-3E8A-68F6F4C5BE6E}"/>
              </a:ext>
            </a:extLst>
          </p:cNvPr>
          <p:cNvSpPr>
            <a:spLocks noGrp="1"/>
          </p:cNvSpPr>
          <p:nvPr>
            <p:ph type="title"/>
          </p:nvPr>
        </p:nvSpPr>
        <p:spPr>
          <a:xfrm>
            <a:off x="838200" y="2620645"/>
            <a:ext cx="10515600" cy="1325563"/>
          </a:xfrm>
        </p:spPr>
        <p:txBody>
          <a:bodyPr/>
          <a:lstStyle/>
          <a:p>
            <a:pPr algn="ctr"/>
            <a:r>
              <a:rPr lang="zh-CN" altLang="en-US" b="1" dirty="0"/>
              <a:t>实验</a:t>
            </a:r>
            <a:r>
              <a:rPr lang="en-US" altLang="zh-CN" b="1" dirty="0"/>
              <a:t>4    </a:t>
            </a:r>
            <a:r>
              <a:rPr lang="zh-CN" altLang="en-US" b="1" dirty="0"/>
              <a:t>按键（轮询方式）</a:t>
            </a:r>
          </a:p>
        </p:txBody>
      </p:sp>
    </p:spTree>
    <p:extLst>
      <p:ext uri="{BB962C8B-B14F-4D97-AF65-F5344CB8AC3E}">
        <p14:creationId xmlns:p14="http://schemas.microsoft.com/office/powerpoint/2010/main" val="6987358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F34CFB56-AE99-80E2-C66B-C4DF69087976}"/>
              </a:ext>
            </a:extLst>
          </p:cNvPr>
          <p:cNvSpPr>
            <a:spLocks noGrp="1"/>
          </p:cNvSpPr>
          <p:nvPr>
            <p:ph type="title"/>
          </p:nvPr>
        </p:nvSpPr>
        <p:spPr>
          <a:xfrm>
            <a:off x="838200" y="365125"/>
            <a:ext cx="10515600" cy="1325563"/>
          </a:xfrm>
        </p:spPr>
        <p:txBody>
          <a:bodyPr/>
          <a:lstStyle/>
          <a:p>
            <a:pPr algn="ctr"/>
            <a:r>
              <a:rPr lang="en-US" altLang="zh-CN" b="1" dirty="0"/>
              <a:t>2</a:t>
            </a:r>
            <a:r>
              <a:rPr lang="zh-CN" altLang="en-US" b="1" dirty="0"/>
              <a:t>个按键的原理图</a:t>
            </a:r>
          </a:p>
        </p:txBody>
      </p:sp>
      <p:pic>
        <p:nvPicPr>
          <p:cNvPr id="6" name="图片 5">
            <a:extLst>
              <a:ext uri="{FF2B5EF4-FFF2-40B4-BE49-F238E27FC236}">
                <a16:creationId xmlns:a16="http://schemas.microsoft.com/office/drawing/2014/main" id="{44475F6A-763E-7307-2FE6-9054458169D6}"/>
              </a:ext>
            </a:extLst>
          </p:cNvPr>
          <p:cNvPicPr>
            <a:picLocks noChangeAspect="1"/>
          </p:cNvPicPr>
          <p:nvPr/>
        </p:nvPicPr>
        <p:blipFill>
          <a:blip r:embed="rId2"/>
          <a:stretch>
            <a:fillRect/>
          </a:stretch>
        </p:blipFill>
        <p:spPr>
          <a:xfrm>
            <a:off x="912927" y="1875354"/>
            <a:ext cx="6533003" cy="2854563"/>
          </a:xfrm>
          <a:prstGeom prst="rect">
            <a:avLst/>
          </a:prstGeom>
        </p:spPr>
      </p:pic>
      <p:pic>
        <p:nvPicPr>
          <p:cNvPr id="7" name="图片 6">
            <a:extLst>
              <a:ext uri="{FF2B5EF4-FFF2-40B4-BE49-F238E27FC236}">
                <a16:creationId xmlns:a16="http://schemas.microsoft.com/office/drawing/2014/main" id="{2FE44A44-6E55-8E3D-9BE5-06447AC021A9}"/>
              </a:ext>
            </a:extLst>
          </p:cNvPr>
          <p:cNvPicPr>
            <a:picLocks noChangeAspect="1"/>
          </p:cNvPicPr>
          <p:nvPr/>
        </p:nvPicPr>
        <p:blipFill>
          <a:blip r:embed="rId3"/>
          <a:stretch>
            <a:fillRect/>
          </a:stretch>
        </p:blipFill>
        <p:spPr>
          <a:xfrm>
            <a:off x="7496627" y="2691264"/>
            <a:ext cx="4242806" cy="2620333"/>
          </a:xfrm>
          <a:prstGeom prst="rect">
            <a:avLst/>
          </a:prstGeom>
        </p:spPr>
      </p:pic>
      <p:cxnSp>
        <p:nvCxnSpPr>
          <p:cNvPr id="9" name="直接箭头连接符 8">
            <a:extLst>
              <a:ext uri="{FF2B5EF4-FFF2-40B4-BE49-F238E27FC236}">
                <a16:creationId xmlns:a16="http://schemas.microsoft.com/office/drawing/2014/main" id="{B6DFC567-9FB5-A70F-1D4A-EAF7208473C4}"/>
              </a:ext>
            </a:extLst>
          </p:cNvPr>
          <p:cNvCxnSpPr>
            <a:cxnSpLocks/>
          </p:cNvCxnSpPr>
          <p:nvPr/>
        </p:nvCxnSpPr>
        <p:spPr>
          <a:xfrm flipV="1">
            <a:off x="9852660" y="5311597"/>
            <a:ext cx="0" cy="54102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5F4B4-D94D-6EFF-8B81-BF6031DF84E6}"/>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4</a:t>
            </a:r>
            <a:endParaRPr lang="zh-CN" altLang="en-US" b="1" dirty="0"/>
          </a:p>
        </p:txBody>
      </p:sp>
      <p:sp>
        <p:nvSpPr>
          <p:cNvPr id="2" name="文本框 1">
            <a:extLst>
              <a:ext uri="{FF2B5EF4-FFF2-40B4-BE49-F238E27FC236}">
                <a16:creationId xmlns:a16="http://schemas.microsoft.com/office/drawing/2014/main" id="{87AFF94C-5B1D-4E8C-63BC-E7A7EBA8FC71}"/>
              </a:ext>
            </a:extLst>
          </p:cNvPr>
          <p:cNvSpPr txBox="1"/>
          <p:nvPr/>
        </p:nvSpPr>
        <p:spPr>
          <a:xfrm>
            <a:off x="9353164" y="5856427"/>
            <a:ext cx="998991" cy="369332"/>
          </a:xfrm>
          <a:prstGeom prst="rect">
            <a:avLst/>
          </a:prstGeom>
          <a:solidFill>
            <a:srgbClr val="FFFF00"/>
          </a:solidFill>
        </p:spPr>
        <p:txBody>
          <a:bodyPr wrap="none" rtlCol="0">
            <a:spAutoFit/>
          </a:bodyPr>
          <a:lstStyle/>
          <a:p>
            <a:r>
              <a:rPr lang="en-US" altLang="zh-CN" b="1" dirty="0"/>
              <a:t>2</a:t>
            </a:r>
            <a:r>
              <a:rPr lang="zh-CN" altLang="en-US" b="1" dirty="0"/>
              <a:t>个按键</a:t>
            </a:r>
          </a:p>
        </p:txBody>
      </p:sp>
    </p:spTree>
    <p:extLst>
      <p:ext uri="{BB962C8B-B14F-4D97-AF65-F5344CB8AC3E}">
        <p14:creationId xmlns:p14="http://schemas.microsoft.com/office/powerpoint/2010/main" val="32343085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500764A0-FE1F-751F-244D-A416597994DA}"/>
              </a:ext>
            </a:extLst>
          </p:cNvPr>
          <p:cNvSpPr>
            <a:spLocks noGrp="1"/>
          </p:cNvSpPr>
          <p:nvPr>
            <p:ph type="title"/>
          </p:nvPr>
        </p:nvSpPr>
        <p:spPr>
          <a:xfrm>
            <a:off x="838200" y="365125"/>
            <a:ext cx="10515600" cy="1325563"/>
          </a:xfrm>
        </p:spPr>
        <p:txBody>
          <a:bodyPr/>
          <a:lstStyle/>
          <a:p>
            <a:pPr algn="ctr"/>
            <a:r>
              <a:rPr lang="en-US" altLang="zh-CN" b="1" dirty="0"/>
              <a:t>2</a:t>
            </a:r>
            <a:r>
              <a:rPr lang="zh-CN" altLang="en-US" b="1" dirty="0"/>
              <a:t>个按键的引脚</a:t>
            </a:r>
          </a:p>
        </p:txBody>
      </p:sp>
      <p:pic>
        <p:nvPicPr>
          <p:cNvPr id="8" name="图片 7">
            <a:extLst>
              <a:ext uri="{FF2B5EF4-FFF2-40B4-BE49-F238E27FC236}">
                <a16:creationId xmlns:a16="http://schemas.microsoft.com/office/drawing/2014/main" id="{88F60531-101A-44BE-5AD4-E466AA4F44C7}"/>
              </a:ext>
            </a:extLst>
          </p:cNvPr>
          <p:cNvPicPr>
            <a:picLocks noChangeAspect="1"/>
          </p:cNvPicPr>
          <p:nvPr/>
        </p:nvPicPr>
        <p:blipFill>
          <a:blip r:embed="rId2"/>
          <a:stretch>
            <a:fillRect/>
          </a:stretch>
        </p:blipFill>
        <p:spPr>
          <a:xfrm>
            <a:off x="2783446" y="1802655"/>
            <a:ext cx="6625108" cy="3151859"/>
          </a:xfrm>
          <a:prstGeom prst="rect">
            <a:avLst/>
          </a:prstGeom>
        </p:spPr>
      </p:pic>
      <p:pic>
        <p:nvPicPr>
          <p:cNvPr id="10" name="图片 9">
            <a:extLst>
              <a:ext uri="{FF2B5EF4-FFF2-40B4-BE49-F238E27FC236}">
                <a16:creationId xmlns:a16="http://schemas.microsoft.com/office/drawing/2014/main" id="{66C86C6B-9669-8A1F-9A33-5DEB21EA5E9F}"/>
              </a:ext>
            </a:extLst>
          </p:cNvPr>
          <p:cNvPicPr>
            <a:picLocks noChangeAspect="1"/>
          </p:cNvPicPr>
          <p:nvPr/>
        </p:nvPicPr>
        <p:blipFill>
          <a:blip r:embed="rId3"/>
          <a:stretch>
            <a:fillRect/>
          </a:stretch>
        </p:blipFill>
        <p:spPr>
          <a:xfrm>
            <a:off x="2595667" y="5066481"/>
            <a:ext cx="7695709" cy="1026407"/>
          </a:xfrm>
          <a:prstGeom prst="rect">
            <a:avLst/>
          </a:prstGeom>
        </p:spPr>
      </p:pic>
      <p:sp>
        <p:nvSpPr>
          <p:cNvPr id="11" name="文本框 10">
            <a:extLst>
              <a:ext uri="{FF2B5EF4-FFF2-40B4-BE49-F238E27FC236}">
                <a16:creationId xmlns:a16="http://schemas.microsoft.com/office/drawing/2014/main" id="{16AB40FB-2D3D-182C-05CE-FB608C8049D7}"/>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4</a:t>
            </a:r>
            <a:endParaRPr lang="zh-CN" altLang="en-US" b="1" dirty="0"/>
          </a:p>
        </p:txBody>
      </p:sp>
      <p:pic>
        <p:nvPicPr>
          <p:cNvPr id="3" name="图片 2">
            <a:extLst>
              <a:ext uri="{FF2B5EF4-FFF2-40B4-BE49-F238E27FC236}">
                <a16:creationId xmlns:a16="http://schemas.microsoft.com/office/drawing/2014/main" id="{949B180E-308D-26E4-5548-70AA08D0BC7E}"/>
              </a:ext>
            </a:extLst>
          </p:cNvPr>
          <p:cNvPicPr>
            <a:picLocks noChangeAspect="1"/>
          </p:cNvPicPr>
          <p:nvPr/>
        </p:nvPicPr>
        <p:blipFill>
          <a:blip r:embed="rId4"/>
          <a:stretch>
            <a:fillRect/>
          </a:stretch>
        </p:blipFill>
        <p:spPr>
          <a:xfrm>
            <a:off x="4872293" y="3378585"/>
            <a:ext cx="2687165" cy="291542"/>
          </a:xfrm>
          <a:prstGeom prst="rect">
            <a:avLst/>
          </a:prstGeom>
        </p:spPr>
      </p:pic>
    </p:spTree>
    <p:extLst>
      <p:ext uri="{BB962C8B-B14F-4D97-AF65-F5344CB8AC3E}">
        <p14:creationId xmlns:p14="http://schemas.microsoft.com/office/powerpoint/2010/main" val="36745780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F54315F0-6A59-7331-8B7A-ABD84EC1E6D7}"/>
              </a:ext>
            </a:extLst>
          </p:cNvPr>
          <p:cNvSpPr>
            <a:spLocks noGrp="1"/>
          </p:cNvSpPr>
          <p:nvPr>
            <p:ph type="title"/>
          </p:nvPr>
        </p:nvSpPr>
        <p:spPr>
          <a:xfrm>
            <a:off x="838200" y="365125"/>
            <a:ext cx="10515600" cy="1325563"/>
          </a:xfrm>
        </p:spPr>
        <p:txBody>
          <a:bodyPr/>
          <a:lstStyle/>
          <a:p>
            <a:pPr algn="ctr"/>
            <a:r>
              <a:rPr lang="en-US" altLang="zh-CN" b="1" dirty="0"/>
              <a:t>2</a:t>
            </a:r>
            <a:r>
              <a:rPr lang="zh-CN" altLang="en-US" b="1" dirty="0"/>
              <a:t>个按键的端口地址</a:t>
            </a:r>
          </a:p>
        </p:txBody>
      </p:sp>
      <p:pic>
        <p:nvPicPr>
          <p:cNvPr id="6" name="图片 5">
            <a:extLst>
              <a:ext uri="{FF2B5EF4-FFF2-40B4-BE49-F238E27FC236}">
                <a16:creationId xmlns:a16="http://schemas.microsoft.com/office/drawing/2014/main" id="{8843C7CE-2494-C632-F4DD-36D49986105F}"/>
              </a:ext>
            </a:extLst>
          </p:cNvPr>
          <p:cNvPicPr>
            <a:picLocks noChangeAspect="1"/>
          </p:cNvPicPr>
          <p:nvPr/>
        </p:nvPicPr>
        <p:blipFill>
          <a:blip r:embed="rId2"/>
          <a:stretch>
            <a:fillRect/>
          </a:stretch>
        </p:blipFill>
        <p:spPr>
          <a:xfrm>
            <a:off x="1463040" y="2002610"/>
            <a:ext cx="7711440" cy="1025085"/>
          </a:xfrm>
          <a:prstGeom prst="rect">
            <a:avLst/>
          </a:prstGeom>
        </p:spPr>
      </p:pic>
      <p:pic>
        <p:nvPicPr>
          <p:cNvPr id="8" name="图片 7">
            <a:extLst>
              <a:ext uri="{FF2B5EF4-FFF2-40B4-BE49-F238E27FC236}">
                <a16:creationId xmlns:a16="http://schemas.microsoft.com/office/drawing/2014/main" id="{9D9ED5E7-253C-A6EC-6CA5-8C4E4A1476BF}"/>
              </a:ext>
            </a:extLst>
          </p:cNvPr>
          <p:cNvPicPr>
            <a:picLocks noChangeAspect="1"/>
          </p:cNvPicPr>
          <p:nvPr/>
        </p:nvPicPr>
        <p:blipFill>
          <a:blip r:embed="rId3"/>
          <a:stretch>
            <a:fillRect/>
          </a:stretch>
        </p:blipFill>
        <p:spPr>
          <a:xfrm>
            <a:off x="1463040" y="3312932"/>
            <a:ext cx="7711440" cy="1034747"/>
          </a:xfrm>
          <a:prstGeom prst="rect">
            <a:avLst/>
          </a:prstGeom>
        </p:spPr>
      </p:pic>
      <p:sp>
        <p:nvSpPr>
          <p:cNvPr id="9" name="文本框 8">
            <a:extLst>
              <a:ext uri="{FF2B5EF4-FFF2-40B4-BE49-F238E27FC236}">
                <a16:creationId xmlns:a16="http://schemas.microsoft.com/office/drawing/2014/main" id="{81C6CAAF-3955-01D8-3D39-3DDD7712A24F}"/>
              </a:ext>
            </a:extLst>
          </p:cNvPr>
          <p:cNvSpPr txBox="1"/>
          <p:nvPr/>
        </p:nvSpPr>
        <p:spPr>
          <a:xfrm>
            <a:off x="9323614" y="2188255"/>
            <a:ext cx="764953" cy="400110"/>
          </a:xfrm>
          <a:prstGeom prst="rect">
            <a:avLst/>
          </a:prstGeom>
          <a:solidFill>
            <a:srgbClr val="FFFF00"/>
          </a:solidFill>
        </p:spPr>
        <p:txBody>
          <a:bodyPr wrap="none" rtlCol="0">
            <a:spAutoFit/>
          </a:bodyPr>
          <a:lstStyle/>
          <a:p>
            <a:r>
              <a:rPr lang="en-US" altLang="zh-CN" sz="2000" b="1" dirty="0"/>
              <a:t>KEY1</a:t>
            </a:r>
            <a:endParaRPr lang="zh-CN" altLang="en-US" sz="2000" b="1" dirty="0"/>
          </a:p>
        </p:txBody>
      </p:sp>
      <p:sp>
        <p:nvSpPr>
          <p:cNvPr id="10" name="文本框 9">
            <a:extLst>
              <a:ext uri="{FF2B5EF4-FFF2-40B4-BE49-F238E27FC236}">
                <a16:creationId xmlns:a16="http://schemas.microsoft.com/office/drawing/2014/main" id="{B6993045-626E-21B2-4591-03E2A5818672}"/>
              </a:ext>
            </a:extLst>
          </p:cNvPr>
          <p:cNvSpPr txBox="1"/>
          <p:nvPr/>
        </p:nvSpPr>
        <p:spPr>
          <a:xfrm>
            <a:off x="9429750" y="3630250"/>
            <a:ext cx="764953" cy="400110"/>
          </a:xfrm>
          <a:prstGeom prst="rect">
            <a:avLst/>
          </a:prstGeom>
          <a:solidFill>
            <a:srgbClr val="FFFF00"/>
          </a:solidFill>
        </p:spPr>
        <p:txBody>
          <a:bodyPr wrap="square" rtlCol="0">
            <a:spAutoFit/>
          </a:bodyPr>
          <a:lstStyle/>
          <a:p>
            <a:r>
              <a:rPr lang="en-US" altLang="zh-CN" sz="2000" b="1" dirty="0"/>
              <a:t>KEY2</a:t>
            </a:r>
            <a:endParaRPr lang="zh-CN" altLang="en-US" sz="2000" b="1" dirty="0"/>
          </a:p>
        </p:txBody>
      </p:sp>
      <p:sp>
        <p:nvSpPr>
          <p:cNvPr id="11" name="文本框 10">
            <a:extLst>
              <a:ext uri="{FF2B5EF4-FFF2-40B4-BE49-F238E27FC236}">
                <a16:creationId xmlns:a16="http://schemas.microsoft.com/office/drawing/2014/main" id="{524D3639-EFE2-1EDB-17B4-9C39D8AC65D0}"/>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4</a:t>
            </a:r>
            <a:endParaRPr lang="zh-CN" altLang="en-US" b="1" dirty="0"/>
          </a:p>
        </p:txBody>
      </p:sp>
    </p:spTree>
    <p:extLst>
      <p:ext uri="{BB962C8B-B14F-4D97-AF65-F5344CB8AC3E}">
        <p14:creationId xmlns:p14="http://schemas.microsoft.com/office/powerpoint/2010/main" val="26913557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9B808BB-083D-87E0-E47A-E2D9A9C2BB85}"/>
              </a:ext>
            </a:extLst>
          </p:cNvPr>
          <p:cNvSpPr>
            <a:spLocks noGrp="1"/>
          </p:cNvSpPr>
          <p:nvPr>
            <p:ph idx="1"/>
          </p:nvPr>
        </p:nvSpPr>
        <p:spPr>
          <a:xfrm>
            <a:off x="1123950" y="1875354"/>
            <a:ext cx="9701893" cy="3795788"/>
          </a:xfrm>
        </p:spPr>
        <p:txBody>
          <a:bodyPr>
            <a:normAutofit fontScale="92500" lnSpcReduction="20000"/>
          </a:bodyPr>
          <a:lstStyle/>
          <a:p>
            <a:r>
              <a:rPr lang="zh-CN" altLang="en-US" sz="2400" b="1" dirty="0"/>
              <a:t>将对应的 </a:t>
            </a:r>
            <a:r>
              <a:rPr lang="en-US" altLang="zh-CN" sz="2400" b="1" dirty="0"/>
              <a:t>GPIO </a:t>
            </a:r>
            <a:r>
              <a:rPr lang="zh-CN" altLang="en-US" sz="2400" b="1" dirty="0"/>
              <a:t>口配置为</a:t>
            </a:r>
            <a:r>
              <a:rPr lang="zh-CN" altLang="en-US" sz="2400" b="1" dirty="0">
                <a:solidFill>
                  <a:srgbClr val="C00000"/>
                </a:solidFill>
              </a:rPr>
              <a:t>输入模式</a:t>
            </a:r>
            <a:r>
              <a:rPr lang="zh-CN" altLang="en-US" sz="2400" b="1" dirty="0"/>
              <a:t>（</a:t>
            </a:r>
            <a:r>
              <a:rPr lang="en-US" altLang="zh-CN" sz="2400" b="1" dirty="0"/>
              <a:t>GPIO_SWPORTA_DDR</a:t>
            </a:r>
            <a:r>
              <a:rPr lang="zh-CN" altLang="en-US" sz="2400" b="1" dirty="0"/>
              <a:t>）</a:t>
            </a:r>
          </a:p>
          <a:p>
            <a:r>
              <a:rPr lang="zh-CN" altLang="en-US" sz="2400" b="1" dirty="0"/>
              <a:t>读取对应状态位寄存器，</a:t>
            </a:r>
            <a:r>
              <a:rPr lang="zh-CN" altLang="en-US" sz="2400" b="1" dirty="0">
                <a:solidFill>
                  <a:srgbClr val="C00000"/>
                </a:solidFill>
              </a:rPr>
              <a:t>判读按键是否被按下</a:t>
            </a:r>
            <a:r>
              <a:rPr lang="zh-CN" altLang="en-US" sz="2400" b="1" dirty="0"/>
              <a:t>（</a:t>
            </a:r>
            <a:r>
              <a:rPr lang="en-US" altLang="zh-CN" sz="2400" b="1" dirty="0"/>
              <a:t>GPIO_EXT_PORTA</a:t>
            </a:r>
            <a:r>
              <a:rPr lang="zh-CN" altLang="en-US" sz="2400" b="1" dirty="0"/>
              <a:t>）</a:t>
            </a:r>
            <a:endParaRPr lang="en-US" altLang="zh-CN" sz="2400" b="1" dirty="0"/>
          </a:p>
          <a:p>
            <a:endParaRPr lang="en-US" altLang="zh-CN" sz="2400" b="1" dirty="0"/>
          </a:p>
          <a:p>
            <a:r>
              <a:rPr lang="zh-CN" altLang="en-US" sz="2400" b="1" dirty="0">
                <a:solidFill>
                  <a:srgbClr val="C00000"/>
                </a:solidFill>
              </a:rPr>
              <a:t>实验效果</a:t>
            </a:r>
            <a:r>
              <a:rPr lang="zh-CN" altLang="en-US" sz="2400" b="1" dirty="0"/>
              <a:t>：</a:t>
            </a:r>
            <a:endParaRPr lang="en-US" altLang="zh-CN" sz="2400" b="1" dirty="0"/>
          </a:p>
          <a:p>
            <a:pPr marL="719138" lvl="1" indent="-360363">
              <a:lnSpc>
                <a:spcPct val="150000"/>
              </a:lnSpc>
              <a:buSzPct val="70000"/>
              <a:buFont typeface="Wingdings" panose="05000000000000000000" pitchFamily="2" charset="2"/>
              <a:buChar char="l"/>
            </a:pPr>
            <a:r>
              <a:rPr lang="zh-CN" altLang="en-US" sz="2000" b="1" dirty="0"/>
              <a:t>如果</a:t>
            </a:r>
            <a:r>
              <a:rPr lang="en-US" altLang="zh-CN" sz="2000" b="1" dirty="0"/>
              <a:t>LED1</a:t>
            </a:r>
            <a:r>
              <a:rPr lang="zh-CN" altLang="en-US" sz="2000" b="1" dirty="0"/>
              <a:t>灯不亮，按下</a:t>
            </a:r>
            <a:r>
              <a:rPr lang="en-US" altLang="zh-CN" sz="2000" b="1" dirty="0"/>
              <a:t>KEY1</a:t>
            </a:r>
            <a:r>
              <a:rPr lang="zh-CN" altLang="en-US" sz="2000" b="1" dirty="0"/>
              <a:t>键后，则</a:t>
            </a:r>
            <a:r>
              <a:rPr lang="en-US" altLang="zh-CN" sz="2000" b="1" dirty="0"/>
              <a:t>LED1</a:t>
            </a:r>
            <a:r>
              <a:rPr lang="zh-CN" altLang="en-US" sz="2000" b="1" dirty="0"/>
              <a:t>灯会亮；</a:t>
            </a:r>
            <a:endParaRPr lang="en-US" altLang="zh-CN" sz="2000" b="1" dirty="0"/>
          </a:p>
          <a:p>
            <a:pPr marL="719138" lvl="1" indent="-360363">
              <a:lnSpc>
                <a:spcPct val="150000"/>
              </a:lnSpc>
              <a:buSzPct val="70000"/>
              <a:buFont typeface="Wingdings" panose="05000000000000000000" pitchFamily="2" charset="2"/>
              <a:buChar char="l"/>
            </a:pPr>
            <a:r>
              <a:rPr lang="zh-CN" altLang="en-US" sz="2000" b="1" dirty="0"/>
              <a:t>如果</a:t>
            </a:r>
            <a:r>
              <a:rPr lang="en-US" altLang="zh-CN" sz="2000" b="1" dirty="0"/>
              <a:t>LED1</a:t>
            </a:r>
            <a:r>
              <a:rPr lang="zh-CN" altLang="en-US" sz="2000" b="1" dirty="0"/>
              <a:t>灯亮，按下</a:t>
            </a:r>
            <a:r>
              <a:rPr lang="en-US" altLang="zh-CN" sz="2000" b="1" dirty="0"/>
              <a:t>KEY1</a:t>
            </a:r>
            <a:r>
              <a:rPr lang="zh-CN" altLang="en-US" sz="2000" b="1" dirty="0"/>
              <a:t>键后，则</a:t>
            </a:r>
            <a:r>
              <a:rPr lang="en-US" altLang="zh-CN" sz="2000" b="1" dirty="0"/>
              <a:t>LED1</a:t>
            </a:r>
            <a:r>
              <a:rPr lang="zh-CN" altLang="en-US" sz="2000" b="1" dirty="0"/>
              <a:t>灯不亮。</a:t>
            </a:r>
            <a:endParaRPr lang="en-US" altLang="zh-CN" sz="2000" b="1" dirty="0"/>
          </a:p>
          <a:p>
            <a:pPr marL="719138" lvl="1" indent="-360363">
              <a:lnSpc>
                <a:spcPct val="150000"/>
              </a:lnSpc>
              <a:buSzPct val="70000"/>
              <a:buFont typeface="Wingdings" panose="05000000000000000000" pitchFamily="2" charset="2"/>
              <a:buChar char="l"/>
            </a:pPr>
            <a:r>
              <a:rPr lang="zh-CN" altLang="en-US" sz="2000" b="1" dirty="0"/>
              <a:t>如果</a:t>
            </a:r>
            <a:r>
              <a:rPr lang="en-US" altLang="zh-CN" sz="2000" b="1" dirty="0"/>
              <a:t>LED2</a:t>
            </a:r>
            <a:r>
              <a:rPr lang="zh-CN" altLang="en-US" sz="2000" b="1" dirty="0"/>
              <a:t>灯不亮，按下</a:t>
            </a:r>
            <a:r>
              <a:rPr lang="en-US" altLang="zh-CN" sz="2000" b="1" dirty="0"/>
              <a:t>KEY2</a:t>
            </a:r>
            <a:r>
              <a:rPr lang="zh-CN" altLang="en-US" sz="2000" b="1" dirty="0"/>
              <a:t>键后，则</a:t>
            </a:r>
            <a:r>
              <a:rPr lang="en-US" altLang="zh-CN" sz="2000" b="1" dirty="0"/>
              <a:t>LED2</a:t>
            </a:r>
            <a:r>
              <a:rPr lang="zh-CN" altLang="en-US" sz="2000" b="1" dirty="0"/>
              <a:t>灯会亮；</a:t>
            </a:r>
            <a:endParaRPr lang="en-US" altLang="zh-CN" sz="2000" b="1" dirty="0"/>
          </a:p>
          <a:p>
            <a:pPr marL="719138" lvl="1" indent="-360363">
              <a:lnSpc>
                <a:spcPct val="150000"/>
              </a:lnSpc>
              <a:buSzPct val="70000"/>
              <a:buFont typeface="Wingdings" panose="05000000000000000000" pitchFamily="2" charset="2"/>
              <a:buChar char="l"/>
            </a:pPr>
            <a:r>
              <a:rPr lang="zh-CN" altLang="en-US" sz="2000" b="1" dirty="0"/>
              <a:t>如果</a:t>
            </a:r>
            <a:r>
              <a:rPr lang="en-US" altLang="zh-CN" sz="2000" b="1" dirty="0"/>
              <a:t>LED2</a:t>
            </a:r>
            <a:r>
              <a:rPr lang="zh-CN" altLang="en-US" sz="2000" b="1" dirty="0"/>
              <a:t>灯亮，按下</a:t>
            </a:r>
            <a:r>
              <a:rPr lang="en-US" altLang="zh-CN" sz="2000" b="1" dirty="0"/>
              <a:t>KEY2</a:t>
            </a:r>
            <a:r>
              <a:rPr lang="zh-CN" altLang="en-US" sz="2000" b="1" dirty="0"/>
              <a:t>键后，则</a:t>
            </a:r>
            <a:r>
              <a:rPr lang="en-US" altLang="zh-CN" sz="2000" b="1" dirty="0"/>
              <a:t>LED2</a:t>
            </a:r>
            <a:r>
              <a:rPr lang="zh-CN" altLang="en-US" sz="2000" b="1" dirty="0"/>
              <a:t>灯不亮。</a:t>
            </a:r>
            <a:br>
              <a:rPr lang="zh-CN" altLang="en-US" sz="2000" b="1" dirty="0"/>
            </a:br>
            <a:endParaRPr lang="zh-CN" altLang="en-US" sz="2000" b="1" dirty="0"/>
          </a:p>
        </p:txBody>
      </p:sp>
      <p:sp>
        <p:nvSpPr>
          <p:cNvPr id="4" name="标题 1">
            <a:extLst>
              <a:ext uri="{FF2B5EF4-FFF2-40B4-BE49-F238E27FC236}">
                <a16:creationId xmlns:a16="http://schemas.microsoft.com/office/drawing/2014/main" id="{B48E30DE-D4E7-C094-C0A2-185FAD839F51}"/>
              </a:ext>
            </a:extLst>
          </p:cNvPr>
          <p:cNvSpPr>
            <a:spLocks noGrp="1"/>
          </p:cNvSpPr>
          <p:nvPr>
            <p:ph type="title"/>
          </p:nvPr>
        </p:nvSpPr>
        <p:spPr>
          <a:xfrm>
            <a:off x="1004206" y="365125"/>
            <a:ext cx="10349593" cy="1325563"/>
          </a:xfrm>
        </p:spPr>
        <p:txBody>
          <a:bodyPr/>
          <a:lstStyle/>
          <a:p>
            <a:pPr algn="ctr"/>
            <a:r>
              <a:rPr lang="zh-CN" altLang="en-US" b="1" dirty="0"/>
              <a:t>怎么读取按键值（判断按键是否按下）</a:t>
            </a:r>
          </a:p>
        </p:txBody>
      </p:sp>
      <p:sp>
        <p:nvSpPr>
          <p:cNvPr id="9" name="文本框 8">
            <a:extLst>
              <a:ext uri="{FF2B5EF4-FFF2-40B4-BE49-F238E27FC236}">
                <a16:creationId xmlns:a16="http://schemas.microsoft.com/office/drawing/2014/main" id="{5642C053-3E75-87B5-B0A5-9FEC389E9FAC}"/>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4</a:t>
            </a:r>
            <a:endParaRPr lang="zh-CN" altLang="en-US" b="1" dirty="0"/>
          </a:p>
        </p:txBody>
      </p:sp>
    </p:spTree>
    <p:extLst>
      <p:ext uri="{BB962C8B-B14F-4D97-AF65-F5344CB8AC3E}">
        <p14:creationId xmlns:p14="http://schemas.microsoft.com/office/powerpoint/2010/main" val="29679087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CE0F59E-2F1E-6310-81A7-14D764674598}"/>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4</a:t>
            </a:r>
            <a:endParaRPr lang="zh-CN" altLang="en-US" b="1" dirty="0"/>
          </a:p>
        </p:txBody>
      </p:sp>
      <p:sp>
        <p:nvSpPr>
          <p:cNvPr id="11" name="内容占位符 2">
            <a:extLst>
              <a:ext uri="{FF2B5EF4-FFF2-40B4-BE49-F238E27FC236}">
                <a16:creationId xmlns:a16="http://schemas.microsoft.com/office/drawing/2014/main" id="{6E75D285-0A5B-B614-B23F-699A29DD3BF9}"/>
              </a:ext>
            </a:extLst>
          </p:cNvPr>
          <p:cNvSpPr>
            <a:spLocks noGrp="1"/>
          </p:cNvSpPr>
          <p:nvPr>
            <p:ph idx="1"/>
          </p:nvPr>
        </p:nvSpPr>
        <p:spPr>
          <a:xfrm>
            <a:off x="1352550" y="1875354"/>
            <a:ext cx="1627414" cy="648154"/>
          </a:xfrm>
        </p:spPr>
        <p:txBody>
          <a:bodyPr>
            <a:normAutofit/>
          </a:bodyPr>
          <a:lstStyle/>
          <a:p>
            <a:r>
              <a:rPr lang="en-US" altLang="zh-CN" sz="2400" b="1" dirty="0" err="1"/>
              <a:t>main.c</a:t>
            </a:r>
            <a:endParaRPr lang="zh-CN" altLang="en-US" sz="2400" b="1" dirty="0"/>
          </a:p>
        </p:txBody>
      </p:sp>
      <p:cxnSp>
        <p:nvCxnSpPr>
          <p:cNvPr id="12" name="直接箭头连接符 11">
            <a:extLst>
              <a:ext uri="{FF2B5EF4-FFF2-40B4-BE49-F238E27FC236}">
                <a16:creationId xmlns:a16="http://schemas.microsoft.com/office/drawing/2014/main" id="{7AE4E6C8-940A-2082-091A-C2EB586EB01A}"/>
              </a:ext>
            </a:extLst>
          </p:cNvPr>
          <p:cNvCxnSpPr/>
          <p:nvPr/>
        </p:nvCxnSpPr>
        <p:spPr>
          <a:xfrm>
            <a:off x="4634763" y="344538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3327F892-FAAC-0CBD-E95F-79C2C16E9B04}"/>
              </a:ext>
            </a:extLst>
          </p:cNvPr>
          <p:cNvCxnSpPr/>
          <p:nvPr/>
        </p:nvCxnSpPr>
        <p:spPr>
          <a:xfrm>
            <a:off x="4581423" y="440550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67AD62A6-824C-5142-7A0C-A06910B7D767}"/>
              </a:ext>
            </a:extLst>
          </p:cNvPr>
          <p:cNvCxnSpPr/>
          <p:nvPr/>
        </p:nvCxnSpPr>
        <p:spPr>
          <a:xfrm>
            <a:off x="4634763" y="506082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82EF799C-3160-9813-9537-4AA3058F766B}"/>
              </a:ext>
            </a:extLst>
          </p:cNvPr>
          <p:cNvCxnSpPr/>
          <p:nvPr/>
        </p:nvCxnSpPr>
        <p:spPr>
          <a:xfrm>
            <a:off x="4634763" y="564756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标题 1">
            <a:extLst>
              <a:ext uri="{FF2B5EF4-FFF2-40B4-BE49-F238E27FC236}">
                <a16:creationId xmlns:a16="http://schemas.microsoft.com/office/drawing/2014/main" id="{C278831A-C1E9-558C-158A-D169BF639901}"/>
              </a:ext>
            </a:extLst>
          </p:cNvPr>
          <p:cNvSpPr>
            <a:spLocks noGrp="1"/>
          </p:cNvSpPr>
          <p:nvPr>
            <p:ph type="title"/>
          </p:nvPr>
        </p:nvSpPr>
        <p:spPr>
          <a:xfrm>
            <a:off x="838200" y="365125"/>
            <a:ext cx="10515600" cy="1325563"/>
          </a:xfrm>
        </p:spPr>
        <p:txBody>
          <a:bodyPr/>
          <a:lstStyle/>
          <a:p>
            <a:pPr algn="ctr"/>
            <a:r>
              <a:rPr lang="en-US" altLang="zh-CN" b="1" dirty="0" err="1"/>
              <a:t>fs_loop_key</a:t>
            </a:r>
            <a:r>
              <a:rPr lang="zh-CN" altLang="en-US" b="1" dirty="0"/>
              <a:t>实验程序</a:t>
            </a:r>
          </a:p>
        </p:txBody>
      </p:sp>
      <p:pic>
        <p:nvPicPr>
          <p:cNvPr id="20" name="图片 19">
            <a:extLst>
              <a:ext uri="{FF2B5EF4-FFF2-40B4-BE49-F238E27FC236}">
                <a16:creationId xmlns:a16="http://schemas.microsoft.com/office/drawing/2014/main" id="{8F5728FE-C92B-1182-AF56-FD776749BEA2}"/>
              </a:ext>
            </a:extLst>
          </p:cNvPr>
          <p:cNvPicPr>
            <a:picLocks noChangeAspect="1"/>
          </p:cNvPicPr>
          <p:nvPr/>
        </p:nvPicPr>
        <p:blipFill>
          <a:blip r:embed="rId2"/>
          <a:stretch>
            <a:fillRect/>
          </a:stretch>
        </p:blipFill>
        <p:spPr>
          <a:xfrm>
            <a:off x="3340331" y="1875354"/>
            <a:ext cx="6981327" cy="4386817"/>
          </a:xfrm>
          <a:prstGeom prst="rect">
            <a:avLst/>
          </a:prstGeom>
        </p:spPr>
      </p:pic>
    </p:spTree>
    <p:extLst>
      <p:ext uri="{BB962C8B-B14F-4D97-AF65-F5344CB8AC3E}">
        <p14:creationId xmlns:p14="http://schemas.microsoft.com/office/powerpoint/2010/main" val="20465799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3533C0-B219-6D42-CBDF-B36BF68B8866}"/>
              </a:ext>
            </a:extLst>
          </p:cNvPr>
          <p:cNvPicPr>
            <a:picLocks noChangeAspect="1"/>
          </p:cNvPicPr>
          <p:nvPr/>
        </p:nvPicPr>
        <p:blipFill>
          <a:blip r:embed="rId2"/>
          <a:stretch>
            <a:fillRect/>
          </a:stretch>
        </p:blipFill>
        <p:spPr>
          <a:xfrm>
            <a:off x="2534997" y="0"/>
            <a:ext cx="7122005" cy="6531429"/>
          </a:xfrm>
          <a:prstGeom prst="rect">
            <a:avLst/>
          </a:prstGeom>
        </p:spPr>
      </p:pic>
      <p:sp>
        <p:nvSpPr>
          <p:cNvPr id="6" name="文本框 5">
            <a:extLst>
              <a:ext uri="{FF2B5EF4-FFF2-40B4-BE49-F238E27FC236}">
                <a16:creationId xmlns:a16="http://schemas.microsoft.com/office/drawing/2014/main" id="{3936F964-346A-3684-C069-DAD4F011B4BD}"/>
              </a:ext>
            </a:extLst>
          </p:cNvPr>
          <p:cNvSpPr txBox="1"/>
          <p:nvPr/>
        </p:nvSpPr>
        <p:spPr>
          <a:xfrm>
            <a:off x="7726680" y="571500"/>
            <a:ext cx="1308371" cy="307777"/>
          </a:xfrm>
          <a:prstGeom prst="rect">
            <a:avLst/>
          </a:prstGeom>
          <a:solidFill>
            <a:srgbClr val="FFFF00"/>
          </a:solidFill>
        </p:spPr>
        <p:txBody>
          <a:bodyPr wrap="none" rtlCol="0">
            <a:spAutoFit/>
          </a:bodyPr>
          <a:lstStyle/>
          <a:p>
            <a:r>
              <a:rPr lang="en-US" altLang="zh-CN" sz="1400" b="1" dirty="0"/>
              <a:t>KEY1</a:t>
            </a:r>
            <a:r>
              <a:rPr lang="zh-CN" altLang="en-US" sz="1400" b="1" dirty="0"/>
              <a:t>键按下？</a:t>
            </a:r>
          </a:p>
        </p:txBody>
      </p:sp>
      <p:sp>
        <p:nvSpPr>
          <p:cNvPr id="7" name="文本框 6">
            <a:extLst>
              <a:ext uri="{FF2B5EF4-FFF2-40B4-BE49-F238E27FC236}">
                <a16:creationId xmlns:a16="http://schemas.microsoft.com/office/drawing/2014/main" id="{E3F11146-A181-54ED-330B-27B61CA726E9}"/>
              </a:ext>
            </a:extLst>
          </p:cNvPr>
          <p:cNvSpPr txBox="1"/>
          <p:nvPr/>
        </p:nvSpPr>
        <p:spPr>
          <a:xfrm>
            <a:off x="8275320" y="1325880"/>
            <a:ext cx="2026517" cy="307777"/>
          </a:xfrm>
          <a:prstGeom prst="rect">
            <a:avLst/>
          </a:prstGeom>
          <a:solidFill>
            <a:srgbClr val="FFFF00"/>
          </a:solidFill>
        </p:spPr>
        <p:txBody>
          <a:bodyPr wrap="none" rtlCol="0">
            <a:spAutoFit/>
          </a:bodyPr>
          <a:lstStyle/>
          <a:p>
            <a:r>
              <a:rPr lang="zh-CN" altLang="en-US" sz="1400" b="1" dirty="0"/>
              <a:t>再次确认</a:t>
            </a:r>
            <a:r>
              <a:rPr lang="en-US" altLang="zh-CN" sz="1400" b="1" dirty="0"/>
              <a:t>KEY1</a:t>
            </a:r>
            <a:r>
              <a:rPr lang="zh-CN" altLang="en-US" sz="1400" b="1" dirty="0"/>
              <a:t>键按下？</a:t>
            </a:r>
          </a:p>
        </p:txBody>
      </p:sp>
      <p:sp>
        <p:nvSpPr>
          <p:cNvPr id="10" name="文本框 9">
            <a:extLst>
              <a:ext uri="{FF2B5EF4-FFF2-40B4-BE49-F238E27FC236}">
                <a16:creationId xmlns:a16="http://schemas.microsoft.com/office/drawing/2014/main" id="{8D0B18B0-0854-EDDA-20B1-3EDC51C7BD7D}"/>
              </a:ext>
            </a:extLst>
          </p:cNvPr>
          <p:cNvSpPr txBox="1"/>
          <p:nvPr/>
        </p:nvSpPr>
        <p:spPr>
          <a:xfrm>
            <a:off x="9799320" y="1721465"/>
            <a:ext cx="1670650" cy="307777"/>
          </a:xfrm>
          <a:prstGeom prst="rect">
            <a:avLst/>
          </a:prstGeom>
          <a:solidFill>
            <a:srgbClr val="FFFF00"/>
          </a:solidFill>
        </p:spPr>
        <p:txBody>
          <a:bodyPr wrap="none" rtlCol="0">
            <a:spAutoFit/>
          </a:bodyPr>
          <a:lstStyle/>
          <a:p>
            <a:r>
              <a:rPr lang="zh-CN" altLang="en-US" sz="1400" b="1" dirty="0"/>
              <a:t>如果</a:t>
            </a:r>
            <a:r>
              <a:rPr lang="en-US" altLang="zh-CN" sz="1400" b="1" dirty="0"/>
              <a:t>LED1</a:t>
            </a:r>
            <a:r>
              <a:rPr lang="zh-CN" altLang="en-US" sz="1400" b="1" dirty="0"/>
              <a:t>灯亮则灭</a:t>
            </a:r>
          </a:p>
        </p:txBody>
      </p:sp>
      <p:sp>
        <p:nvSpPr>
          <p:cNvPr id="11" name="文本框 10">
            <a:extLst>
              <a:ext uri="{FF2B5EF4-FFF2-40B4-BE49-F238E27FC236}">
                <a16:creationId xmlns:a16="http://schemas.microsoft.com/office/drawing/2014/main" id="{5EE4D421-011A-2ACA-62AC-706D48229667}"/>
              </a:ext>
            </a:extLst>
          </p:cNvPr>
          <p:cNvSpPr txBox="1"/>
          <p:nvPr/>
        </p:nvSpPr>
        <p:spPr>
          <a:xfrm>
            <a:off x="9913620" y="2392025"/>
            <a:ext cx="1670650" cy="307777"/>
          </a:xfrm>
          <a:prstGeom prst="rect">
            <a:avLst/>
          </a:prstGeom>
          <a:solidFill>
            <a:srgbClr val="FFFF00"/>
          </a:solidFill>
        </p:spPr>
        <p:txBody>
          <a:bodyPr wrap="none" rtlCol="0">
            <a:spAutoFit/>
          </a:bodyPr>
          <a:lstStyle/>
          <a:p>
            <a:r>
              <a:rPr lang="zh-CN" altLang="en-US" sz="1400" b="1" dirty="0"/>
              <a:t>如果</a:t>
            </a:r>
            <a:r>
              <a:rPr lang="en-US" altLang="zh-CN" sz="1400" b="1" dirty="0"/>
              <a:t>LED1</a:t>
            </a:r>
            <a:r>
              <a:rPr lang="zh-CN" altLang="en-US" sz="1400" b="1" dirty="0"/>
              <a:t>灯灭则亮</a:t>
            </a:r>
          </a:p>
        </p:txBody>
      </p:sp>
      <p:sp>
        <p:nvSpPr>
          <p:cNvPr id="2" name="文本框 1">
            <a:extLst>
              <a:ext uri="{FF2B5EF4-FFF2-40B4-BE49-F238E27FC236}">
                <a16:creationId xmlns:a16="http://schemas.microsoft.com/office/drawing/2014/main" id="{E95D403B-7C0E-CE5C-8CA1-9726A0580573}"/>
              </a:ext>
            </a:extLst>
          </p:cNvPr>
          <p:cNvSpPr txBox="1"/>
          <p:nvPr/>
        </p:nvSpPr>
        <p:spPr>
          <a:xfrm>
            <a:off x="7799366" y="3619500"/>
            <a:ext cx="1308371" cy="307777"/>
          </a:xfrm>
          <a:prstGeom prst="rect">
            <a:avLst/>
          </a:prstGeom>
          <a:solidFill>
            <a:srgbClr val="FFFF00"/>
          </a:solidFill>
        </p:spPr>
        <p:txBody>
          <a:bodyPr wrap="none" rtlCol="0">
            <a:spAutoFit/>
          </a:bodyPr>
          <a:lstStyle/>
          <a:p>
            <a:r>
              <a:rPr lang="en-US" altLang="zh-CN" sz="1400" b="1" dirty="0"/>
              <a:t>KEY2</a:t>
            </a:r>
            <a:r>
              <a:rPr lang="zh-CN" altLang="en-US" sz="1400" b="1" dirty="0"/>
              <a:t>键按下？</a:t>
            </a:r>
          </a:p>
        </p:txBody>
      </p:sp>
      <p:sp>
        <p:nvSpPr>
          <p:cNvPr id="3" name="文本框 2">
            <a:extLst>
              <a:ext uri="{FF2B5EF4-FFF2-40B4-BE49-F238E27FC236}">
                <a16:creationId xmlns:a16="http://schemas.microsoft.com/office/drawing/2014/main" id="{AF7E0A09-89C1-1A8B-C6FE-4C6FD2F78051}"/>
              </a:ext>
            </a:extLst>
          </p:cNvPr>
          <p:cNvSpPr txBox="1"/>
          <p:nvPr/>
        </p:nvSpPr>
        <p:spPr>
          <a:xfrm>
            <a:off x="8184721" y="4126408"/>
            <a:ext cx="2026517" cy="307777"/>
          </a:xfrm>
          <a:prstGeom prst="rect">
            <a:avLst/>
          </a:prstGeom>
          <a:solidFill>
            <a:srgbClr val="FFFF00"/>
          </a:solidFill>
        </p:spPr>
        <p:txBody>
          <a:bodyPr wrap="none" rtlCol="0">
            <a:spAutoFit/>
          </a:bodyPr>
          <a:lstStyle/>
          <a:p>
            <a:r>
              <a:rPr lang="zh-CN" altLang="en-US" sz="1400" b="1" dirty="0"/>
              <a:t>再次确认</a:t>
            </a:r>
            <a:r>
              <a:rPr lang="en-US" altLang="zh-CN" sz="1400" b="1" dirty="0"/>
              <a:t>KEY2</a:t>
            </a:r>
            <a:r>
              <a:rPr lang="zh-CN" altLang="en-US" sz="1400" b="1" dirty="0"/>
              <a:t>键按下？</a:t>
            </a:r>
          </a:p>
        </p:txBody>
      </p:sp>
      <p:sp>
        <p:nvSpPr>
          <p:cNvPr id="4" name="文本框 3">
            <a:extLst>
              <a:ext uri="{FF2B5EF4-FFF2-40B4-BE49-F238E27FC236}">
                <a16:creationId xmlns:a16="http://schemas.microsoft.com/office/drawing/2014/main" id="{2B8550C0-48AF-BB88-11AF-744035CF90D3}"/>
              </a:ext>
            </a:extLst>
          </p:cNvPr>
          <p:cNvSpPr txBox="1"/>
          <p:nvPr/>
        </p:nvSpPr>
        <p:spPr>
          <a:xfrm>
            <a:off x="9466512" y="4783216"/>
            <a:ext cx="1670650" cy="307777"/>
          </a:xfrm>
          <a:prstGeom prst="rect">
            <a:avLst/>
          </a:prstGeom>
          <a:solidFill>
            <a:srgbClr val="FFFF00"/>
          </a:solidFill>
        </p:spPr>
        <p:txBody>
          <a:bodyPr wrap="none" rtlCol="0">
            <a:spAutoFit/>
          </a:bodyPr>
          <a:lstStyle/>
          <a:p>
            <a:r>
              <a:rPr lang="zh-CN" altLang="en-US" sz="1400" b="1" dirty="0"/>
              <a:t>如果</a:t>
            </a:r>
            <a:r>
              <a:rPr lang="en-US" altLang="zh-CN" sz="1400" b="1" dirty="0"/>
              <a:t>LED2</a:t>
            </a:r>
            <a:r>
              <a:rPr lang="zh-CN" altLang="en-US" sz="1400" b="1" dirty="0"/>
              <a:t>灯亮则灭</a:t>
            </a:r>
          </a:p>
        </p:txBody>
      </p:sp>
      <p:sp>
        <p:nvSpPr>
          <p:cNvPr id="8" name="文本框 7">
            <a:extLst>
              <a:ext uri="{FF2B5EF4-FFF2-40B4-BE49-F238E27FC236}">
                <a16:creationId xmlns:a16="http://schemas.microsoft.com/office/drawing/2014/main" id="{1FD58695-CF6D-E0C9-6600-6F057BB9F2D9}"/>
              </a:ext>
            </a:extLst>
          </p:cNvPr>
          <p:cNvSpPr txBox="1"/>
          <p:nvPr/>
        </p:nvSpPr>
        <p:spPr>
          <a:xfrm>
            <a:off x="9543145" y="5440024"/>
            <a:ext cx="1670650" cy="307777"/>
          </a:xfrm>
          <a:prstGeom prst="rect">
            <a:avLst/>
          </a:prstGeom>
          <a:solidFill>
            <a:srgbClr val="FFFF00"/>
          </a:solidFill>
        </p:spPr>
        <p:txBody>
          <a:bodyPr wrap="none" rtlCol="0">
            <a:spAutoFit/>
          </a:bodyPr>
          <a:lstStyle/>
          <a:p>
            <a:r>
              <a:rPr lang="zh-CN" altLang="en-US" sz="1400" b="1" dirty="0"/>
              <a:t>如果</a:t>
            </a:r>
            <a:r>
              <a:rPr lang="en-US" altLang="zh-CN" sz="1400" b="1" dirty="0"/>
              <a:t>LED2</a:t>
            </a:r>
            <a:r>
              <a:rPr lang="zh-CN" altLang="en-US" sz="1400" b="1" dirty="0"/>
              <a:t>灯灭则亮</a:t>
            </a:r>
          </a:p>
        </p:txBody>
      </p:sp>
      <p:sp>
        <p:nvSpPr>
          <p:cNvPr id="12" name="文本框 11">
            <a:extLst>
              <a:ext uri="{FF2B5EF4-FFF2-40B4-BE49-F238E27FC236}">
                <a16:creationId xmlns:a16="http://schemas.microsoft.com/office/drawing/2014/main" id="{4F0B3B81-F49C-DF95-0BC1-83EA812FC369}"/>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4</a:t>
            </a:r>
            <a:endParaRPr lang="zh-CN" altLang="en-US" b="1" dirty="0"/>
          </a:p>
        </p:txBody>
      </p:sp>
      <p:cxnSp>
        <p:nvCxnSpPr>
          <p:cNvPr id="9" name="直接箭头连接符 8">
            <a:extLst>
              <a:ext uri="{FF2B5EF4-FFF2-40B4-BE49-F238E27FC236}">
                <a16:creationId xmlns:a16="http://schemas.microsoft.com/office/drawing/2014/main" id="{03931265-791E-2EB9-8DD8-D116069F5AF3}"/>
              </a:ext>
            </a:extLst>
          </p:cNvPr>
          <p:cNvCxnSpPr>
            <a:cxnSpLocks/>
          </p:cNvCxnSpPr>
          <p:nvPr/>
        </p:nvCxnSpPr>
        <p:spPr>
          <a:xfrm>
            <a:off x="3839897" y="1150081"/>
            <a:ext cx="49196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25013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A749897-FC39-ACD8-BF71-B97943BCC943}"/>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fs_loop_key</a:t>
            </a:r>
            <a:r>
              <a:rPr lang="zh-CN" altLang="en-US" b="1" dirty="0"/>
              <a:t>实验程序</a:t>
            </a:r>
          </a:p>
        </p:txBody>
      </p:sp>
      <p:sp>
        <p:nvSpPr>
          <p:cNvPr id="7" name="内容占位符 2">
            <a:extLst>
              <a:ext uri="{FF2B5EF4-FFF2-40B4-BE49-F238E27FC236}">
                <a16:creationId xmlns:a16="http://schemas.microsoft.com/office/drawing/2014/main" id="{0164717B-A44C-107C-834B-657E75999E68}"/>
              </a:ext>
            </a:extLst>
          </p:cNvPr>
          <p:cNvSpPr>
            <a:spLocks noGrp="1"/>
          </p:cNvSpPr>
          <p:nvPr>
            <p:ph idx="1"/>
          </p:nvPr>
        </p:nvSpPr>
        <p:spPr>
          <a:xfrm>
            <a:off x="838200" y="1825625"/>
            <a:ext cx="10515600" cy="4351338"/>
          </a:xfrm>
        </p:spPr>
        <p:txBody>
          <a:bodyPr>
            <a:normAutofit fontScale="77500" lnSpcReduction="20000"/>
          </a:bodyPr>
          <a:lstStyle/>
          <a:p>
            <a:r>
              <a:rPr lang="zh-CN" altLang="en-US" sz="2400" b="1" dirty="0"/>
              <a:t>请按照前面的“</a:t>
            </a:r>
            <a:r>
              <a:rPr lang="zh-CN" altLang="en-US" sz="2400" b="1" dirty="0">
                <a:solidFill>
                  <a:srgbClr val="C00000"/>
                </a:solidFill>
              </a:rPr>
              <a:t>运行fs_led实验程序</a:t>
            </a:r>
            <a:r>
              <a:rPr lang="zh-CN" altLang="en-US" sz="2400" b="1" dirty="0"/>
              <a:t>”的步骤，运行“</a:t>
            </a:r>
            <a:r>
              <a:rPr lang="en-US" altLang="zh-CN" sz="2400" b="1" dirty="0" err="1"/>
              <a:t>fs_loop_key</a:t>
            </a:r>
            <a:r>
              <a:rPr lang="zh-CN" altLang="en-US" sz="2400" b="1" dirty="0"/>
              <a:t>实验程序”：</a:t>
            </a:r>
            <a:endParaRPr lang="en-US" altLang="zh-CN" sz="2400" b="1" dirty="0"/>
          </a:p>
          <a:p>
            <a:pPr lvl="1"/>
            <a:endParaRPr lang="en-US" altLang="zh-CN" sz="2000" b="1" dirty="0"/>
          </a:p>
          <a:p>
            <a:pPr lvl="1"/>
            <a:r>
              <a:rPr lang="en-US" altLang="zh-CN" sz="2000" b="1" dirty="0"/>
              <a:t>1</a:t>
            </a:r>
            <a:r>
              <a:rPr lang="zh-CN" altLang="en-US" sz="2000" b="1" dirty="0"/>
              <a:t>、关闭</a:t>
            </a:r>
            <a:r>
              <a:rPr lang="en-US" altLang="zh-CN" sz="2000" b="1" dirty="0"/>
              <a:t>PuTTY</a:t>
            </a:r>
            <a:r>
              <a:rPr lang="zh-CN" altLang="en-US" sz="2000" b="1" dirty="0"/>
              <a:t>，再打开</a:t>
            </a:r>
            <a:r>
              <a:rPr lang="en-US" altLang="zh-CN" sz="2000" b="1" dirty="0"/>
              <a:t>PuTTY</a:t>
            </a:r>
            <a:r>
              <a:rPr lang="zh-CN" altLang="en-US" sz="2000" b="1" dirty="0"/>
              <a:t>；按实验箱的</a:t>
            </a:r>
            <a:r>
              <a:rPr lang="en-US" altLang="zh-CN" sz="2000" b="1" dirty="0"/>
              <a:t>RST</a:t>
            </a:r>
            <a:r>
              <a:rPr lang="zh-CN" altLang="en-US" sz="2000" b="1" dirty="0"/>
              <a:t>按键；倒计时状态按</a:t>
            </a:r>
            <a:r>
              <a:rPr lang="en-US" altLang="zh-CN" sz="2000" b="1" dirty="0" err="1"/>
              <a:t>Ctrl+C</a:t>
            </a:r>
            <a:r>
              <a:rPr lang="zh-CN" altLang="en-US" sz="2000" b="1" dirty="0"/>
              <a:t>，进入“</a:t>
            </a:r>
            <a:r>
              <a:rPr lang="en-US" altLang="zh-CN" sz="2000" b="1" dirty="0"/>
              <a:t>=&gt;”</a:t>
            </a:r>
            <a:r>
              <a:rPr lang="zh-CN" altLang="en-US" sz="2000" b="1" dirty="0"/>
              <a:t>状态</a:t>
            </a:r>
          </a:p>
          <a:p>
            <a:pPr lvl="1"/>
            <a:endParaRPr lang="zh-CN" altLang="en-US" sz="2000" b="1" dirty="0"/>
          </a:p>
          <a:p>
            <a:pPr lvl="1"/>
            <a:r>
              <a:rPr lang="en-US" altLang="zh-CN" sz="2000" b="1" dirty="0"/>
              <a:t>2</a:t>
            </a:r>
            <a:r>
              <a:rPr lang="zh-CN" altLang="en-US" sz="2000" b="1" dirty="0"/>
              <a:t>、检查</a:t>
            </a:r>
            <a:r>
              <a:rPr lang="en-US" altLang="zh-CN" sz="2000" b="1" dirty="0"/>
              <a:t>JTAG</a:t>
            </a:r>
            <a:r>
              <a:rPr lang="zh-CN" altLang="en-US" sz="2000" b="1" dirty="0"/>
              <a:t>是否连接到虚拟机（</a:t>
            </a:r>
            <a:r>
              <a:rPr lang="en-US" altLang="zh-CN" sz="2000" b="1" dirty="0"/>
              <a:t>Ubuntu</a:t>
            </a:r>
            <a:r>
              <a:rPr lang="zh-CN" altLang="en-US" sz="2000" b="1" dirty="0"/>
              <a:t>）</a:t>
            </a:r>
          </a:p>
          <a:p>
            <a:pPr lvl="1"/>
            <a:endParaRPr lang="zh-CN" altLang="en-US" sz="2000" b="1" dirty="0"/>
          </a:p>
          <a:p>
            <a:pPr lvl="1"/>
            <a:r>
              <a:rPr lang="en-US" altLang="zh-CN" sz="2000" b="1" dirty="0"/>
              <a:t>3</a:t>
            </a:r>
            <a:r>
              <a:rPr lang="zh-CN" altLang="en-US" sz="2000" b="1" dirty="0"/>
              <a:t>、检查</a:t>
            </a:r>
            <a:r>
              <a:rPr lang="en-US" altLang="zh-CN" sz="2000" b="1" dirty="0"/>
              <a:t>FS_JTAG</a:t>
            </a:r>
            <a:r>
              <a:rPr lang="zh-CN" altLang="en-US" sz="2000" b="1" dirty="0"/>
              <a:t>是否处于连接状态（连接到</a:t>
            </a:r>
            <a:r>
              <a:rPr lang="en-US" altLang="zh-CN" sz="2000" b="1" dirty="0"/>
              <a:t>fs3399</a:t>
            </a:r>
            <a:r>
              <a:rPr lang="zh-CN" altLang="en-US" sz="2000" b="1" dirty="0"/>
              <a:t>）</a:t>
            </a:r>
          </a:p>
          <a:p>
            <a:pPr lvl="1"/>
            <a:endParaRPr lang="zh-CN" altLang="en-US" sz="2000" b="1" dirty="0"/>
          </a:p>
          <a:p>
            <a:pPr lvl="1"/>
            <a:r>
              <a:rPr lang="en-US" altLang="zh-CN" sz="2000" b="1" dirty="0"/>
              <a:t>4</a:t>
            </a:r>
            <a:r>
              <a:rPr lang="zh-CN" altLang="en-US" sz="2000" b="1" dirty="0"/>
              <a:t>、打开实验工程（使实验工程处于打开状态）</a:t>
            </a:r>
          </a:p>
          <a:p>
            <a:pPr lvl="1"/>
            <a:endParaRPr lang="zh-CN" altLang="en-US" sz="2000" b="1" dirty="0"/>
          </a:p>
          <a:p>
            <a:pPr lvl="1"/>
            <a:r>
              <a:rPr lang="en-US" altLang="zh-CN" sz="2000" b="1" dirty="0"/>
              <a:t>5</a:t>
            </a:r>
            <a:r>
              <a:rPr lang="zh-CN" altLang="en-US" sz="2000" b="1" dirty="0"/>
              <a:t>、进入调试状态：</a:t>
            </a:r>
            <a:r>
              <a:rPr lang="en-US" altLang="zh-CN" sz="2000" b="1" dirty="0"/>
              <a:t>Run -&gt; Debug Configurations</a:t>
            </a:r>
          </a:p>
          <a:p>
            <a:pPr lvl="1"/>
            <a:endParaRPr lang="en-US" altLang="zh-CN" sz="2000" b="1" dirty="0"/>
          </a:p>
          <a:p>
            <a:pPr lvl="1"/>
            <a:r>
              <a:rPr lang="en-US" altLang="zh-CN" sz="2000" b="1" dirty="0"/>
              <a:t>6</a:t>
            </a:r>
            <a:r>
              <a:rPr lang="zh-CN" altLang="en-US" sz="2000" b="1" dirty="0"/>
              <a:t>、点击运行图标，运行实验工程（此时，</a:t>
            </a:r>
            <a:r>
              <a:rPr lang="zh-CN" altLang="en-US" sz="2000" b="1" dirty="0">
                <a:solidFill>
                  <a:srgbClr val="C00000"/>
                </a:solidFill>
              </a:rPr>
              <a:t>按</a:t>
            </a:r>
            <a:r>
              <a:rPr lang="en-US" altLang="zh-CN" sz="2000" b="1" dirty="0">
                <a:solidFill>
                  <a:srgbClr val="C00000"/>
                </a:solidFill>
              </a:rPr>
              <a:t>KEY1</a:t>
            </a:r>
            <a:r>
              <a:rPr lang="zh-CN" altLang="en-US" sz="2000" b="1" dirty="0">
                <a:solidFill>
                  <a:srgbClr val="C00000"/>
                </a:solidFill>
              </a:rPr>
              <a:t>键会控制</a:t>
            </a:r>
            <a:r>
              <a:rPr lang="en-US" altLang="zh-CN" sz="2000" b="1" dirty="0">
                <a:solidFill>
                  <a:srgbClr val="C00000"/>
                </a:solidFill>
              </a:rPr>
              <a:t>LED1</a:t>
            </a:r>
            <a:r>
              <a:rPr lang="zh-CN" altLang="en-US" sz="2000" b="1" dirty="0">
                <a:solidFill>
                  <a:srgbClr val="C00000"/>
                </a:solidFill>
              </a:rPr>
              <a:t>灯的亮灭，按</a:t>
            </a:r>
            <a:r>
              <a:rPr lang="en-US" altLang="zh-CN" sz="2000" b="1" dirty="0">
                <a:solidFill>
                  <a:srgbClr val="C00000"/>
                </a:solidFill>
              </a:rPr>
              <a:t>KEY2</a:t>
            </a:r>
            <a:r>
              <a:rPr lang="zh-CN" altLang="en-US" sz="2000" b="1" dirty="0">
                <a:solidFill>
                  <a:srgbClr val="C00000"/>
                </a:solidFill>
              </a:rPr>
              <a:t>键会控制</a:t>
            </a:r>
            <a:r>
              <a:rPr lang="en-US" altLang="zh-CN" sz="2000" b="1" dirty="0">
                <a:solidFill>
                  <a:srgbClr val="C00000"/>
                </a:solidFill>
              </a:rPr>
              <a:t>LED2</a:t>
            </a:r>
            <a:r>
              <a:rPr lang="zh-CN" altLang="en-US" sz="2000" b="1" dirty="0">
                <a:solidFill>
                  <a:srgbClr val="C00000"/>
                </a:solidFill>
              </a:rPr>
              <a:t>灯的亮灭</a:t>
            </a:r>
            <a:r>
              <a:rPr lang="zh-CN" altLang="en-US" sz="2000" b="1" dirty="0"/>
              <a:t>）</a:t>
            </a:r>
          </a:p>
          <a:p>
            <a:pPr lvl="1"/>
            <a:endParaRPr lang="zh-CN" altLang="en-US" sz="2000" b="1" dirty="0"/>
          </a:p>
          <a:p>
            <a:pPr lvl="1"/>
            <a:r>
              <a:rPr lang="en-US" altLang="zh-CN" sz="2000" b="1" dirty="0"/>
              <a:t>7</a:t>
            </a:r>
            <a:r>
              <a:rPr lang="zh-CN" altLang="en-US" sz="2000" b="1" dirty="0"/>
              <a:t>、点击停止图标，停止运行实验工程</a:t>
            </a:r>
          </a:p>
          <a:p>
            <a:pPr lvl="1"/>
            <a:endParaRPr lang="zh-CN" altLang="en-US" sz="2000" b="1" dirty="0"/>
          </a:p>
          <a:p>
            <a:pPr lvl="1"/>
            <a:r>
              <a:rPr lang="en-US" altLang="zh-CN" sz="2000" b="1" dirty="0"/>
              <a:t>8</a:t>
            </a:r>
            <a:r>
              <a:rPr lang="zh-CN" altLang="en-US" sz="2000" b="1" dirty="0"/>
              <a:t>、关闭实验工程（使实验工程处于关闭状态）</a:t>
            </a:r>
          </a:p>
          <a:p>
            <a:endParaRPr lang="zh-CN" altLang="en-US" sz="2400" b="1" dirty="0"/>
          </a:p>
        </p:txBody>
      </p:sp>
      <p:sp>
        <p:nvSpPr>
          <p:cNvPr id="2" name="文本框 1">
            <a:extLst>
              <a:ext uri="{FF2B5EF4-FFF2-40B4-BE49-F238E27FC236}">
                <a16:creationId xmlns:a16="http://schemas.microsoft.com/office/drawing/2014/main" id="{2DCAA389-B39B-F48C-42F6-EA1919AB3CB9}"/>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4</a:t>
            </a:r>
            <a:endParaRPr lang="zh-CN" altLang="en-US" b="1" dirty="0"/>
          </a:p>
        </p:txBody>
      </p:sp>
    </p:spTree>
    <p:extLst>
      <p:ext uri="{BB962C8B-B14F-4D97-AF65-F5344CB8AC3E}">
        <p14:creationId xmlns:p14="http://schemas.microsoft.com/office/powerpoint/2010/main" val="22458376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5B9C2-11EB-449B-3E8A-68F6F4C5BE6E}"/>
              </a:ext>
            </a:extLst>
          </p:cNvPr>
          <p:cNvSpPr>
            <a:spLocks noGrp="1"/>
          </p:cNvSpPr>
          <p:nvPr>
            <p:ph type="title"/>
          </p:nvPr>
        </p:nvSpPr>
        <p:spPr>
          <a:xfrm>
            <a:off x="838200" y="2620645"/>
            <a:ext cx="10515600" cy="1325563"/>
          </a:xfrm>
        </p:spPr>
        <p:txBody>
          <a:bodyPr/>
          <a:lstStyle/>
          <a:p>
            <a:pPr algn="ctr"/>
            <a:r>
              <a:rPr lang="zh-CN" altLang="en-US" b="1" dirty="0"/>
              <a:t>实验</a:t>
            </a:r>
            <a:r>
              <a:rPr lang="en-US" altLang="zh-CN" b="1" dirty="0"/>
              <a:t>5    </a:t>
            </a:r>
            <a:r>
              <a:rPr lang="zh-CN" altLang="en-US" b="1" dirty="0"/>
              <a:t>按键（中断方式）</a:t>
            </a:r>
          </a:p>
        </p:txBody>
      </p:sp>
    </p:spTree>
    <p:extLst>
      <p:ext uri="{BB962C8B-B14F-4D97-AF65-F5344CB8AC3E}">
        <p14:creationId xmlns:p14="http://schemas.microsoft.com/office/powerpoint/2010/main" val="36752910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F34CFB56-AE99-80E2-C66B-C4DF69087976}"/>
              </a:ext>
            </a:extLst>
          </p:cNvPr>
          <p:cNvSpPr>
            <a:spLocks noGrp="1"/>
          </p:cNvSpPr>
          <p:nvPr>
            <p:ph type="title"/>
          </p:nvPr>
        </p:nvSpPr>
        <p:spPr>
          <a:xfrm>
            <a:off x="838200" y="365125"/>
            <a:ext cx="10515600" cy="1325563"/>
          </a:xfrm>
        </p:spPr>
        <p:txBody>
          <a:bodyPr/>
          <a:lstStyle/>
          <a:p>
            <a:pPr algn="ctr"/>
            <a:r>
              <a:rPr lang="zh-CN" altLang="en-US" b="1" dirty="0"/>
              <a:t>按键</a:t>
            </a:r>
            <a:r>
              <a:rPr lang="en-US" altLang="zh-CN" b="1" dirty="0"/>
              <a:t>KEY1</a:t>
            </a:r>
            <a:r>
              <a:rPr lang="zh-CN" altLang="en-US" b="1" dirty="0"/>
              <a:t>的原理图</a:t>
            </a:r>
          </a:p>
        </p:txBody>
      </p:sp>
      <p:pic>
        <p:nvPicPr>
          <p:cNvPr id="6" name="图片 5">
            <a:extLst>
              <a:ext uri="{FF2B5EF4-FFF2-40B4-BE49-F238E27FC236}">
                <a16:creationId xmlns:a16="http://schemas.microsoft.com/office/drawing/2014/main" id="{44475F6A-763E-7307-2FE6-9054458169D6}"/>
              </a:ext>
            </a:extLst>
          </p:cNvPr>
          <p:cNvPicPr>
            <a:picLocks noChangeAspect="1"/>
          </p:cNvPicPr>
          <p:nvPr/>
        </p:nvPicPr>
        <p:blipFill rotWithShape="1">
          <a:blip r:embed="rId2"/>
          <a:srcRect b="38518"/>
          <a:stretch/>
        </p:blipFill>
        <p:spPr>
          <a:xfrm>
            <a:off x="1787979" y="2692797"/>
            <a:ext cx="4849585" cy="1446496"/>
          </a:xfrm>
          <a:prstGeom prst="rect">
            <a:avLst/>
          </a:prstGeom>
        </p:spPr>
      </p:pic>
      <p:pic>
        <p:nvPicPr>
          <p:cNvPr id="7" name="图片 6">
            <a:extLst>
              <a:ext uri="{FF2B5EF4-FFF2-40B4-BE49-F238E27FC236}">
                <a16:creationId xmlns:a16="http://schemas.microsoft.com/office/drawing/2014/main" id="{2FE44A44-6E55-8E3D-9BE5-06447AC021A9}"/>
              </a:ext>
            </a:extLst>
          </p:cNvPr>
          <p:cNvPicPr>
            <a:picLocks noChangeAspect="1"/>
          </p:cNvPicPr>
          <p:nvPr/>
        </p:nvPicPr>
        <p:blipFill>
          <a:blip r:embed="rId3"/>
          <a:stretch>
            <a:fillRect/>
          </a:stretch>
        </p:blipFill>
        <p:spPr>
          <a:xfrm>
            <a:off x="7039427" y="2692797"/>
            <a:ext cx="4242806" cy="2620333"/>
          </a:xfrm>
          <a:prstGeom prst="rect">
            <a:avLst/>
          </a:prstGeom>
        </p:spPr>
      </p:pic>
      <p:sp>
        <p:nvSpPr>
          <p:cNvPr id="11" name="文本框 10">
            <a:extLst>
              <a:ext uri="{FF2B5EF4-FFF2-40B4-BE49-F238E27FC236}">
                <a16:creationId xmlns:a16="http://schemas.microsoft.com/office/drawing/2014/main" id="{5925F4B4-D94D-6EFF-8B81-BF6031DF84E6}"/>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5</a:t>
            </a:r>
            <a:endParaRPr lang="zh-CN" altLang="en-US" b="1" dirty="0"/>
          </a:p>
        </p:txBody>
      </p:sp>
    </p:spTree>
    <p:extLst>
      <p:ext uri="{BB962C8B-B14F-4D97-AF65-F5344CB8AC3E}">
        <p14:creationId xmlns:p14="http://schemas.microsoft.com/office/powerpoint/2010/main" val="28675528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500764A0-FE1F-751F-244D-A416597994DA}"/>
              </a:ext>
            </a:extLst>
          </p:cNvPr>
          <p:cNvSpPr>
            <a:spLocks noGrp="1"/>
          </p:cNvSpPr>
          <p:nvPr>
            <p:ph type="title"/>
          </p:nvPr>
        </p:nvSpPr>
        <p:spPr>
          <a:xfrm>
            <a:off x="838200" y="365125"/>
            <a:ext cx="10515600" cy="1325563"/>
          </a:xfrm>
        </p:spPr>
        <p:txBody>
          <a:bodyPr/>
          <a:lstStyle/>
          <a:p>
            <a:pPr algn="ctr"/>
            <a:r>
              <a:rPr lang="zh-CN" altLang="en-US" b="1" dirty="0"/>
              <a:t>按键</a:t>
            </a:r>
            <a:r>
              <a:rPr lang="en-US" altLang="zh-CN" b="1" dirty="0"/>
              <a:t>KEY1</a:t>
            </a:r>
            <a:r>
              <a:rPr lang="zh-CN" altLang="en-US" b="1" dirty="0"/>
              <a:t>的引脚</a:t>
            </a:r>
          </a:p>
        </p:txBody>
      </p:sp>
      <p:pic>
        <p:nvPicPr>
          <p:cNvPr id="8" name="图片 7">
            <a:extLst>
              <a:ext uri="{FF2B5EF4-FFF2-40B4-BE49-F238E27FC236}">
                <a16:creationId xmlns:a16="http://schemas.microsoft.com/office/drawing/2014/main" id="{88F60531-101A-44BE-5AD4-E466AA4F44C7}"/>
              </a:ext>
            </a:extLst>
          </p:cNvPr>
          <p:cNvPicPr>
            <a:picLocks noChangeAspect="1"/>
          </p:cNvPicPr>
          <p:nvPr/>
        </p:nvPicPr>
        <p:blipFill>
          <a:blip r:embed="rId2"/>
          <a:stretch>
            <a:fillRect/>
          </a:stretch>
        </p:blipFill>
        <p:spPr>
          <a:xfrm>
            <a:off x="2783446" y="1909893"/>
            <a:ext cx="6625108" cy="3151859"/>
          </a:xfrm>
          <a:prstGeom prst="rect">
            <a:avLst/>
          </a:prstGeom>
        </p:spPr>
      </p:pic>
      <p:sp>
        <p:nvSpPr>
          <p:cNvPr id="11" name="文本框 10">
            <a:extLst>
              <a:ext uri="{FF2B5EF4-FFF2-40B4-BE49-F238E27FC236}">
                <a16:creationId xmlns:a16="http://schemas.microsoft.com/office/drawing/2014/main" id="{16AB40FB-2D3D-182C-05CE-FB608C8049D7}"/>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5</a:t>
            </a:r>
            <a:endParaRPr lang="zh-CN" altLang="en-US" b="1" dirty="0"/>
          </a:p>
        </p:txBody>
      </p:sp>
      <p:pic>
        <p:nvPicPr>
          <p:cNvPr id="3" name="图片 2">
            <a:extLst>
              <a:ext uri="{FF2B5EF4-FFF2-40B4-BE49-F238E27FC236}">
                <a16:creationId xmlns:a16="http://schemas.microsoft.com/office/drawing/2014/main" id="{1526C25A-FC19-58B8-D3EB-546700A3E9A6}"/>
              </a:ext>
            </a:extLst>
          </p:cNvPr>
          <p:cNvPicPr>
            <a:picLocks noChangeAspect="1"/>
          </p:cNvPicPr>
          <p:nvPr/>
        </p:nvPicPr>
        <p:blipFill>
          <a:blip r:embed="rId3"/>
          <a:stretch>
            <a:fillRect/>
          </a:stretch>
        </p:blipFill>
        <p:spPr>
          <a:xfrm>
            <a:off x="3073979" y="3625115"/>
            <a:ext cx="6852250" cy="1560659"/>
          </a:xfrm>
          <a:prstGeom prst="rect">
            <a:avLst/>
          </a:prstGeom>
        </p:spPr>
      </p:pic>
      <p:pic>
        <p:nvPicPr>
          <p:cNvPr id="5" name="图片 4">
            <a:extLst>
              <a:ext uri="{FF2B5EF4-FFF2-40B4-BE49-F238E27FC236}">
                <a16:creationId xmlns:a16="http://schemas.microsoft.com/office/drawing/2014/main" id="{66C86C6B-9669-8A1F-9A33-5DEB21EA5E9F}"/>
              </a:ext>
            </a:extLst>
          </p:cNvPr>
          <p:cNvPicPr>
            <a:picLocks noChangeAspect="1"/>
          </p:cNvPicPr>
          <p:nvPr/>
        </p:nvPicPr>
        <p:blipFill>
          <a:blip r:embed="rId4"/>
          <a:stretch>
            <a:fillRect/>
          </a:stretch>
        </p:blipFill>
        <p:spPr>
          <a:xfrm>
            <a:off x="2652250" y="4489440"/>
            <a:ext cx="7695709" cy="1026407"/>
          </a:xfrm>
          <a:prstGeom prst="rect">
            <a:avLst/>
          </a:prstGeom>
        </p:spPr>
      </p:pic>
      <p:pic>
        <p:nvPicPr>
          <p:cNvPr id="7" name="图片 6">
            <a:extLst>
              <a:ext uri="{FF2B5EF4-FFF2-40B4-BE49-F238E27FC236}">
                <a16:creationId xmlns:a16="http://schemas.microsoft.com/office/drawing/2014/main" id="{6A1B9AF6-06C9-EB0C-2E87-7A9D7A1F4B6C}"/>
              </a:ext>
            </a:extLst>
          </p:cNvPr>
          <p:cNvPicPr>
            <a:picLocks noChangeAspect="1"/>
          </p:cNvPicPr>
          <p:nvPr/>
        </p:nvPicPr>
        <p:blipFill>
          <a:blip r:embed="rId3"/>
          <a:stretch>
            <a:fillRect/>
          </a:stretch>
        </p:blipFill>
        <p:spPr>
          <a:xfrm>
            <a:off x="2430977" y="5167206"/>
            <a:ext cx="8447878" cy="607295"/>
          </a:xfrm>
          <a:prstGeom prst="rect">
            <a:avLst/>
          </a:prstGeom>
        </p:spPr>
      </p:pic>
    </p:spTree>
    <p:extLst>
      <p:ext uri="{BB962C8B-B14F-4D97-AF65-F5344CB8AC3E}">
        <p14:creationId xmlns:p14="http://schemas.microsoft.com/office/powerpoint/2010/main" val="38666904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9B808BB-083D-87E0-E47A-E2D9A9C2BB85}"/>
              </a:ext>
            </a:extLst>
          </p:cNvPr>
          <p:cNvSpPr>
            <a:spLocks noGrp="1"/>
          </p:cNvSpPr>
          <p:nvPr>
            <p:ph idx="1"/>
          </p:nvPr>
        </p:nvSpPr>
        <p:spPr/>
        <p:txBody>
          <a:bodyPr>
            <a:normAutofit/>
          </a:bodyPr>
          <a:lstStyle/>
          <a:p>
            <a:pPr>
              <a:lnSpc>
                <a:spcPct val="100000"/>
              </a:lnSpc>
            </a:pPr>
            <a:r>
              <a:rPr lang="zh-CN" altLang="en-US" sz="2000" b="1" dirty="0"/>
              <a:t>使能中断</a:t>
            </a:r>
          </a:p>
          <a:p>
            <a:pPr>
              <a:lnSpc>
                <a:spcPct val="100000"/>
              </a:lnSpc>
            </a:pPr>
            <a:r>
              <a:rPr lang="zh-CN" altLang="en-US" sz="2000" b="1" dirty="0"/>
              <a:t>设置</a:t>
            </a:r>
            <a:r>
              <a:rPr lang="en-US" altLang="zh-CN" sz="2000" b="1" dirty="0"/>
              <a:t>GPIO1</a:t>
            </a:r>
            <a:r>
              <a:rPr lang="zh-CN" altLang="en-US" sz="2000" b="1" dirty="0"/>
              <a:t>（</a:t>
            </a:r>
            <a:r>
              <a:rPr lang="en-US" altLang="zh-CN" sz="2000" b="1" dirty="0"/>
              <a:t>KEY1</a:t>
            </a:r>
            <a:r>
              <a:rPr lang="zh-CN" altLang="en-US" sz="2000" b="1" dirty="0"/>
              <a:t>）</a:t>
            </a:r>
          </a:p>
          <a:p>
            <a:pPr>
              <a:lnSpc>
                <a:spcPct val="100000"/>
              </a:lnSpc>
            </a:pPr>
            <a:r>
              <a:rPr lang="zh-CN" altLang="en-US" sz="2000" b="1" dirty="0">
                <a:solidFill>
                  <a:srgbClr val="C00000"/>
                </a:solidFill>
              </a:rPr>
              <a:t>注册中断函数并使能</a:t>
            </a:r>
          </a:p>
          <a:p>
            <a:pPr>
              <a:lnSpc>
                <a:spcPct val="100000"/>
              </a:lnSpc>
            </a:pPr>
            <a:r>
              <a:rPr lang="zh-CN" altLang="en-US" sz="2000" b="1" dirty="0">
                <a:solidFill>
                  <a:srgbClr val="C00000"/>
                </a:solidFill>
              </a:rPr>
              <a:t>等待中断发生</a:t>
            </a:r>
            <a:r>
              <a:rPr lang="zh-CN" altLang="en-US" sz="2000" b="1" dirty="0"/>
              <a:t>（此时，如果</a:t>
            </a:r>
            <a:r>
              <a:rPr lang="en-US" altLang="zh-CN" sz="2000" b="1" dirty="0"/>
              <a:t>KEY1</a:t>
            </a:r>
            <a:r>
              <a:rPr lang="zh-CN" altLang="en-US" sz="2000" b="1" dirty="0"/>
              <a:t>键按下，则会改变</a:t>
            </a:r>
            <a:r>
              <a:rPr lang="en-US" altLang="zh-CN" sz="2000" b="1" dirty="0"/>
              <a:t>LED1</a:t>
            </a:r>
            <a:r>
              <a:rPr lang="zh-CN" altLang="en-US" sz="2000" b="1" dirty="0"/>
              <a:t>灯的显示状态</a:t>
            </a:r>
            <a:r>
              <a:rPr lang="en-US" altLang="zh-CN" sz="2000" b="1" dirty="0"/>
              <a:t>—</a:t>
            </a:r>
            <a:r>
              <a:rPr lang="zh-CN" altLang="en-US" sz="2000" b="1" dirty="0"/>
              <a:t>灯亮则变为灯灭，灯灭则变为灯亮）</a:t>
            </a:r>
            <a:endParaRPr lang="en-US" altLang="zh-CN" sz="2000" b="1" dirty="0"/>
          </a:p>
          <a:p>
            <a:pPr marL="0" indent="0">
              <a:lnSpc>
                <a:spcPct val="100000"/>
              </a:lnSpc>
              <a:buNone/>
            </a:pPr>
            <a:r>
              <a:rPr lang="zh-CN" altLang="en-US" sz="2000" b="1" dirty="0"/>
              <a:t> 中断方式按键程序：只通过</a:t>
            </a:r>
            <a:r>
              <a:rPr lang="en-US" altLang="zh-CN" sz="2000" b="1" dirty="0">
                <a:solidFill>
                  <a:srgbClr val="C00000"/>
                </a:solidFill>
              </a:rPr>
              <a:t>KEY1</a:t>
            </a:r>
            <a:r>
              <a:rPr lang="zh-CN" altLang="en-US" sz="2000" b="1" dirty="0">
                <a:solidFill>
                  <a:srgbClr val="C00000"/>
                </a:solidFill>
              </a:rPr>
              <a:t>控制</a:t>
            </a:r>
            <a:r>
              <a:rPr lang="en-US" altLang="zh-CN" sz="2000" b="1" dirty="0">
                <a:solidFill>
                  <a:srgbClr val="C00000"/>
                </a:solidFill>
              </a:rPr>
              <a:t>LED1</a:t>
            </a:r>
            <a:r>
              <a:rPr lang="zh-CN" altLang="en-US" sz="2000" b="1" dirty="0"/>
              <a:t>的亮灭！</a:t>
            </a:r>
            <a:br>
              <a:rPr lang="zh-CN" altLang="en-US" sz="2000" b="1" dirty="0"/>
            </a:br>
            <a:endParaRPr lang="zh-CN" altLang="en-US" sz="2000" b="1" dirty="0"/>
          </a:p>
        </p:txBody>
      </p:sp>
      <p:sp>
        <p:nvSpPr>
          <p:cNvPr id="4" name="标题 1">
            <a:extLst>
              <a:ext uri="{FF2B5EF4-FFF2-40B4-BE49-F238E27FC236}">
                <a16:creationId xmlns:a16="http://schemas.microsoft.com/office/drawing/2014/main" id="{B48E30DE-D4E7-C094-C0A2-185FAD839F51}"/>
              </a:ext>
            </a:extLst>
          </p:cNvPr>
          <p:cNvSpPr>
            <a:spLocks noGrp="1"/>
          </p:cNvSpPr>
          <p:nvPr>
            <p:ph type="title"/>
          </p:nvPr>
        </p:nvSpPr>
        <p:spPr>
          <a:xfrm>
            <a:off x="838200" y="365125"/>
            <a:ext cx="10515600" cy="1325563"/>
          </a:xfrm>
        </p:spPr>
        <p:txBody>
          <a:bodyPr/>
          <a:lstStyle/>
          <a:p>
            <a:pPr algn="ctr"/>
            <a:r>
              <a:rPr lang="zh-CN" altLang="en-US" b="1" dirty="0"/>
              <a:t>按键中断程序</a:t>
            </a:r>
          </a:p>
        </p:txBody>
      </p:sp>
      <p:sp>
        <p:nvSpPr>
          <p:cNvPr id="9" name="文本框 8">
            <a:extLst>
              <a:ext uri="{FF2B5EF4-FFF2-40B4-BE49-F238E27FC236}">
                <a16:creationId xmlns:a16="http://schemas.microsoft.com/office/drawing/2014/main" id="{5642C053-3E75-87B5-B0A5-9FEC389E9FAC}"/>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5</a:t>
            </a:r>
            <a:endParaRPr lang="zh-CN" altLang="en-US" b="1" dirty="0"/>
          </a:p>
        </p:txBody>
      </p:sp>
      <p:pic>
        <p:nvPicPr>
          <p:cNvPr id="5" name="图片 4">
            <a:extLst>
              <a:ext uri="{FF2B5EF4-FFF2-40B4-BE49-F238E27FC236}">
                <a16:creationId xmlns:a16="http://schemas.microsoft.com/office/drawing/2014/main" id="{0F4DBF07-1C21-42CD-8A18-12ADB70D6E48}"/>
              </a:ext>
            </a:extLst>
          </p:cNvPr>
          <p:cNvPicPr>
            <a:picLocks noChangeAspect="1"/>
          </p:cNvPicPr>
          <p:nvPr/>
        </p:nvPicPr>
        <p:blipFill>
          <a:blip r:embed="rId2"/>
          <a:stretch>
            <a:fillRect/>
          </a:stretch>
        </p:blipFill>
        <p:spPr>
          <a:xfrm>
            <a:off x="2240280" y="4614384"/>
            <a:ext cx="7711440" cy="1025085"/>
          </a:xfrm>
          <a:prstGeom prst="rect">
            <a:avLst/>
          </a:prstGeom>
        </p:spPr>
      </p:pic>
      <p:sp>
        <p:nvSpPr>
          <p:cNvPr id="7" name="文本框 6">
            <a:extLst>
              <a:ext uri="{FF2B5EF4-FFF2-40B4-BE49-F238E27FC236}">
                <a16:creationId xmlns:a16="http://schemas.microsoft.com/office/drawing/2014/main" id="{F9149F27-066D-4DC0-8D8A-0667CB249899}"/>
              </a:ext>
            </a:extLst>
          </p:cNvPr>
          <p:cNvSpPr txBox="1"/>
          <p:nvPr/>
        </p:nvSpPr>
        <p:spPr>
          <a:xfrm>
            <a:off x="4696506" y="5684428"/>
            <a:ext cx="2439080" cy="369332"/>
          </a:xfrm>
          <a:prstGeom prst="rect">
            <a:avLst/>
          </a:prstGeom>
          <a:noFill/>
        </p:spPr>
        <p:txBody>
          <a:bodyPr wrap="square">
            <a:spAutoFit/>
          </a:bodyPr>
          <a:lstStyle/>
          <a:p>
            <a:r>
              <a:rPr lang="zh-CN" altLang="en-US" b="1" dirty="0"/>
              <a:t>按键</a:t>
            </a:r>
            <a:r>
              <a:rPr lang="en-US" altLang="zh-CN" b="1" dirty="0"/>
              <a:t>KEY1</a:t>
            </a:r>
            <a:r>
              <a:rPr lang="zh-CN" altLang="en-US" b="1" dirty="0"/>
              <a:t>的端口地址</a:t>
            </a:r>
            <a:endParaRPr lang="zh-CN" altLang="en-US" dirty="0"/>
          </a:p>
        </p:txBody>
      </p:sp>
    </p:spTree>
    <p:extLst>
      <p:ext uri="{BB962C8B-B14F-4D97-AF65-F5344CB8AC3E}">
        <p14:creationId xmlns:p14="http://schemas.microsoft.com/office/powerpoint/2010/main" val="9546034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CE0F59E-2F1E-6310-81A7-14D764674598}"/>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5</a:t>
            </a:r>
            <a:endParaRPr lang="zh-CN" altLang="en-US" b="1" dirty="0"/>
          </a:p>
        </p:txBody>
      </p:sp>
      <p:sp>
        <p:nvSpPr>
          <p:cNvPr id="11" name="内容占位符 2">
            <a:extLst>
              <a:ext uri="{FF2B5EF4-FFF2-40B4-BE49-F238E27FC236}">
                <a16:creationId xmlns:a16="http://schemas.microsoft.com/office/drawing/2014/main" id="{6E75D285-0A5B-B614-B23F-699A29DD3BF9}"/>
              </a:ext>
            </a:extLst>
          </p:cNvPr>
          <p:cNvSpPr>
            <a:spLocks noGrp="1"/>
          </p:cNvSpPr>
          <p:nvPr>
            <p:ph idx="1"/>
          </p:nvPr>
        </p:nvSpPr>
        <p:spPr>
          <a:xfrm>
            <a:off x="1484304" y="1825625"/>
            <a:ext cx="4279366" cy="4351338"/>
          </a:xfrm>
        </p:spPr>
        <p:txBody>
          <a:bodyPr>
            <a:normAutofit/>
          </a:bodyPr>
          <a:lstStyle/>
          <a:p>
            <a:r>
              <a:rPr lang="en-US" altLang="zh-CN" sz="2000" b="1" dirty="0"/>
              <a:t>1</a:t>
            </a:r>
            <a:r>
              <a:rPr lang="zh-CN" altLang="en-US" sz="2000" b="1" dirty="0"/>
              <a:t>、</a:t>
            </a:r>
            <a:r>
              <a:rPr lang="en-US" altLang="zh-CN" sz="2000" b="1" dirty="0" err="1"/>
              <a:t>main.c</a:t>
            </a:r>
            <a:endParaRPr lang="zh-CN" altLang="en-US" sz="2000" b="1" dirty="0"/>
          </a:p>
        </p:txBody>
      </p:sp>
      <p:cxnSp>
        <p:nvCxnSpPr>
          <p:cNvPr id="12" name="直接箭头连接符 11">
            <a:extLst>
              <a:ext uri="{FF2B5EF4-FFF2-40B4-BE49-F238E27FC236}">
                <a16:creationId xmlns:a16="http://schemas.microsoft.com/office/drawing/2014/main" id="{7AE4E6C8-940A-2082-091A-C2EB586EB01A}"/>
              </a:ext>
            </a:extLst>
          </p:cNvPr>
          <p:cNvCxnSpPr/>
          <p:nvPr/>
        </p:nvCxnSpPr>
        <p:spPr>
          <a:xfrm>
            <a:off x="4634763" y="344538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3327F892-FAAC-0CBD-E95F-79C2C16E9B04}"/>
              </a:ext>
            </a:extLst>
          </p:cNvPr>
          <p:cNvCxnSpPr/>
          <p:nvPr/>
        </p:nvCxnSpPr>
        <p:spPr>
          <a:xfrm>
            <a:off x="4581423" y="440550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67AD62A6-824C-5142-7A0C-A06910B7D767}"/>
              </a:ext>
            </a:extLst>
          </p:cNvPr>
          <p:cNvCxnSpPr/>
          <p:nvPr/>
        </p:nvCxnSpPr>
        <p:spPr>
          <a:xfrm>
            <a:off x="4634763" y="506082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82EF799C-3160-9813-9537-4AA3058F766B}"/>
              </a:ext>
            </a:extLst>
          </p:cNvPr>
          <p:cNvCxnSpPr/>
          <p:nvPr/>
        </p:nvCxnSpPr>
        <p:spPr>
          <a:xfrm>
            <a:off x="4634763" y="564756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标题 1">
            <a:extLst>
              <a:ext uri="{FF2B5EF4-FFF2-40B4-BE49-F238E27FC236}">
                <a16:creationId xmlns:a16="http://schemas.microsoft.com/office/drawing/2014/main" id="{C278831A-C1E9-558C-158A-D169BF639901}"/>
              </a:ext>
            </a:extLst>
          </p:cNvPr>
          <p:cNvSpPr>
            <a:spLocks noGrp="1"/>
          </p:cNvSpPr>
          <p:nvPr>
            <p:ph type="title"/>
          </p:nvPr>
        </p:nvSpPr>
        <p:spPr>
          <a:xfrm>
            <a:off x="838200" y="365125"/>
            <a:ext cx="10515600" cy="1325563"/>
          </a:xfrm>
        </p:spPr>
        <p:txBody>
          <a:bodyPr/>
          <a:lstStyle/>
          <a:p>
            <a:pPr algn="ctr"/>
            <a:r>
              <a:rPr lang="en-US" altLang="zh-CN" b="1" dirty="0" err="1"/>
              <a:t>fs_irq_key</a:t>
            </a:r>
            <a:r>
              <a:rPr lang="zh-CN" altLang="en-US" b="1" dirty="0"/>
              <a:t>实验程序（</a:t>
            </a:r>
            <a:r>
              <a:rPr lang="en-US" altLang="zh-CN" b="1" dirty="0"/>
              <a:t>1</a:t>
            </a:r>
            <a:r>
              <a:rPr lang="zh-CN" altLang="en-US" b="1" dirty="0"/>
              <a:t>）</a:t>
            </a:r>
          </a:p>
        </p:txBody>
      </p:sp>
      <p:pic>
        <p:nvPicPr>
          <p:cNvPr id="4" name="图片 3">
            <a:extLst>
              <a:ext uri="{FF2B5EF4-FFF2-40B4-BE49-F238E27FC236}">
                <a16:creationId xmlns:a16="http://schemas.microsoft.com/office/drawing/2014/main" id="{79843FC0-F518-68D2-79F9-F6E144482524}"/>
              </a:ext>
            </a:extLst>
          </p:cNvPr>
          <p:cNvPicPr>
            <a:picLocks noChangeAspect="1"/>
          </p:cNvPicPr>
          <p:nvPr/>
        </p:nvPicPr>
        <p:blipFill>
          <a:blip r:embed="rId2"/>
          <a:stretch>
            <a:fillRect/>
          </a:stretch>
        </p:blipFill>
        <p:spPr>
          <a:xfrm>
            <a:off x="2934510" y="1979569"/>
            <a:ext cx="3341925" cy="4197394"/>
          </a:xfrm>
          <a:prstGeom prst="rect">
            <a:avLst/>
          </a:prstGeom>
        </p:spPr>
      </p:pic>
      <p:cxnSp>
        <p:nvCxnSpPr>
          <p:cNvPr id="6" name="直接箭头连接符 5">
            <a:extLst>
              <a:ext uri="{FF2B5EF4-FFF2-40B4-BE49-F238E27FC236}">
                <a16:creationId xmlns:a16="http://schemas.microsoft.com/office/drawing/2014/main" id="{AA257616-B4C6-D1E0-6470-CB83A28AB566}"/>
              </a:ext>
            </a:extLst>
          </p:cNvPr>
          <p:cNvCxnSpPr/>
          <p:nvPr/>
        </p:nvCxnSpPr>
        <p:spPr>
          <a:xfrm flipH="1">
            <a:off x="5535070" y="4078266"/>
            <a:ext cx="457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1AD602CE-CE96-7229-36A1-E75C029C6E7A}"/>
              </a:ext>
            </a:extLst>
          </p:cNvPr>
          <p:cNvSpPr txBox="1"/>
          <p:nvPr/>
        </p:nvSpPr>
        <p:spPr>
          <a:xfrm>
            <a:off x="6096000" y="3893600"/>
            <a:ext cx="2802370" cy="369332"/>
          </a:xfrm>
          <a:prstGeom prst="rect">
            <a:avLst/>
          </a:prstGeom>
          <a:solidFill>
            <a:srgbClr val="FFFF00"/>
          </a:solidFill>
        </p:spPr>
        <p:txBody>
          <a:bodyPr wrap="none" rtlCol="0">
            <a:spAutoFit/>
          </a:bodyPr>
          <a:lstStyle/>
          <a:p>
            <a:r>
              <a:rPr lang="zh-CN" altLang="en-US" b="1" dirty="0"/>
              <a:t>该函数由</a:t>
            </a:r>
            <a:r>
              <a:rPr lang="en-US" altLang="zh-CN" b="1" dirty="0"/>
              <a:t>fs3399_int.c</a:t>
            </a:r>
            <a:r>
              <a:rPr lang="zh-CN" altLang="en-US" b="1" dirty="0"/>
              <a:t>提供</a:t>
            </a:r>
          </a:p>
        </p:txBody>
      </p:sp>
    </p:spTree>
    <p:extLst>
      <p:ext uri="{BB962C8B-B14F-4D97-AF65-F5344CB8AC3E}">
        <p14:creationId xmlns:p14="http://schemas.microsoft.com/office/powerpoint/2010/main" val="1018573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6014EB9-AB3E-3C4D-C200-0AB5243B6511}"/>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5</a:t>
            </a:r>
            <a:endParaRPr lang="zh-CN" altLang="en-US" b="1" dirty="0"/>
          </a:p>
        </p:txBody>
      </p:sp>
      <p:sp>
        <p:nvSpPr>
          <p:cNvPr id="8" name="内容占位符 2">
            <a:extLst>
              <a:ext uri="{FF2B5EF4-FFF2-40B4-BE49-F238E27FC236}">
                <a16:creationId xmlns:a16="http://schemas.microsoft.com/office/drawing/2014/main" id="{346E3AEB-176B-0688-E744-43E9CB3DD69F}"/>
              </a:ext>
            </a:extLst>
          </p:cNvPr>
          <p:cNvSpPr>
            <a:spLocks noGrp="1"/>
          </p:cNvSpPr>
          <p:nvPr>
            <p:ph idx="1"/>
          </p:nvPr>
        </p:nvSpPr>
        <p:spPr>
          <a:xfrm>
            <a:off x="1417864" y="1845256"/>
            <a:ext cx="4279366" cy="4351338"/>
          </a:xfrm>
        </p:spPr>
        <p:txBody>
          <a:bodyPr>
            <a:normAutofit/>
          </a:bodyPr>
          <a:lstStyle/>
          <a:p>
            <a:r>
              <a:rPr lang="en-US" altLang="zh-CN" sz="2000" b="1" dirty="0"/>
              <a:t>2</a:t>
            </a:r>
            <a:r>
              <a:rPr lang="zh-CN" altLang="en-US" sz="2000" b="1" dirty="0"/>
              <a:t>、</a:t>
            </a:r>
            <a:r>
              <a:rPr lang="en-US" altLang="zh-CN" sz="2000" b="1" dirty="0"/>
              <a:t>fs3399_int.c</a:t>
            </a:r>
            <a:endParaRPr lang="zh-CN" altLang="en-US" sz="2000" b="1" dirty="0"/>
          </a:p>
        </p:txBody>
      </p:sp>
      <p:cxnSp>
        <p:nvCxnSpPr>
          <p:cNvPr id="9" name="直接箭头连接符 8">
            <a:extLst>
              <a:ext uri="{FF2B5EF4-FFF2-40B4-BE49-F238E27FC236}">
                <a16:creationId xmlns:a16="http://schemas.microsoft.com/office/drawing/2014/main" id="{CB699C93-271D-895A-A1E5-E396273E55FB}"/>
              </a:ext>
            </a:extLst>
          </p:cNvPr>
          <p:cNvCxnSpPr/>
          <p:nvPr/>
        </p:nvCxnSpPr>
        <p:spPr>
          <a:xfrm>
            <a:off x="4169943" y="263004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21A3D1FD-4FC8-3430-E4BE-D8FD3FF4BC31}"/>
              </a:ext>
            </a:extLst>
          </p:cNvPr>
          <p:cNvCxnSpPr/>
          <p:nvPr/>
        </p:nvCxnSpPr>
        <p:spPr>
          <a:xfrm>
            <a:off x="4169943" y="502272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50C90F8D-F9BC-33E2-2DCA-1464AAE97FCC}"/>
              </a:ext>
            </a:extLst>
          </p:cNvPr>
          <p:cNvCxnSpPr/>
          <p:nvPr/>
        </p:nvCxnSpPr>
        <p:spPr>
          <a:xfrm>
            <a:off x="4169943" y="561708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标题 1">
            <a:extLst>
              <a:ext uri="{FF2B5EF4-FFF2-40B4-BE49-F238E27FC236}">
                <a16:creationId xmlns:a16="http://schemas.microsoft.com/office/drawing/2014/main" id="{0F08AA16-D7EE-D167-665E-63CF50BDF76F}"/>
              </a:ext>
            </a:extLst>
          </p:cNvPr>
          <p:cNvSpPr>
            <a:spLocks noGrp="1"/>
          </p:cNvSpPr>
          <p:nvPr>
            <p:ph type="title"/>
          </p:nvPr>
        </p:nvSpPr>
        <p:spPr>
          <a:xfrm>
            <a:off x="838200" y="365125"/>
            <a:ext cx="10515600" cy="1325563"/>
          </a:xfrm>
        </p:spPr>
        <p:txBody>
          <a:bodyPr/>
          <a:lstStyle/>
          <a:p>
            <a:pPr algn="ctr"/>
            <a:r>
              <a:rPr lang="en-US" altLang="zh-CN" b="1" dirty="0" err="1"/>
              <a:t>fs_irq_key</a:t>
            </a:r>
            <a:r>
              <a:rPr lang="zh-CN" altLang="en-US" b="1" dirty="0"/>
              <a:t>实验程序（</a:t>
            </a:r>
            <a:r>
              <a:rPr lang="en-US" altLang="zh-CN" b="1" dirty="0"/>
              <a:t>2</a:t>
            </a:r>
            <a:r>
              <a:rPr lang="zh-CN" altLang="en-US" b="1" dirty="0"/>
              <a:t>）</a:t>
            </a:r>
          </a:p>
        </p:txBody>
      </p:sp>
      <p:pic>
        <p:nvPicPr>
          <p:cNvPr id="5" name="图片 4">
            <a:extLst>
              <a:ext uri="{FF2B5EF4-FFF2-40B4-BE49-F238E27FC236}">
                <a16:creationId xmlns:a16="http://schemas.microsoft.com/office/drawing/2014/main" id="{A6F45319-FE80-A9D9-2969-B91EED2658DE}"/>
              </a:ext>
            </a:extLst>
          </p:cNvPr>
          <p:cNvPicPr>
            <a:picLocks noChangeAspect="1"/>
          </p:cNvPicPr>
          <p:nvPr/>
        </p:nvPicPr>
        <p:blipFill>
          <a:blip r:embed="rId2"/>
          <a:stretch>
            <a:fillRect/>
          </a:stretch>
        </p:blipFill>
        <p:spPr>
          <a:xfrm>
            <a:off x="3992880" y="1845257"/>
            <a:ext cx="5567499" cy="4573718"/>
          </a:xfrm>
          <a:prstGeom prst="rect">
            <a:avLst/>
          </a:prstGeom>
        </p:spPr>
      </p:pic>
    </p:spTree>
    <p:extLst>
      <p:ext uri="{BB962C8B-B14F-4D97-AF65-F5344CB8AC3E}">
        <p14:creationId xmlns:p14="http://schemas.microsoft.com/office/powerpoint/2010/main" val="29753234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315856E-F457-FE0E-724B-AFAAE05081E1}"/>
              </a:ext>
            </a:extLst>
          </p:cNvPr>
          <p:cNvPicPr>
            <a:picLocks noChangeAspect="1"/>
          </p:cNvPicPr>
          <p:nvPr/>
        </p:nvPicPr>
        <p:blipFill>
          <a:blip r:embed="rId2"/>
          <a:stretch>
            <a:fillRect/>
          </a:stretch>
        </p:blipFill>
        <p:spPr>
          <a:xfrm>
            <a:off x="1543934" y="180459"/>
            <a:ext cx="6113156" cy="6090557"/>
          </a:xfrm>
          <a:prstGeom prst="rect">
            <a:avLst/>
          </a:prstGeom>
        </p:spPr>
      </p:pic>
      <p:sp>
        <p:nvSpPr>
          <p:cNvPr id="2" name="文本框 1">
            <a:extLst>
              <a:ext uri="{FF2B5EF4-FFF2-40B4-BE49-F238E27FC236}">
                <a16:creationId xmlns:a16="http://schemas.microsoft.com/office/drawing/2014/main" id="{655C33C3-646F-8C9C-7833-F64A599A36DF}"/>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5</a:t>
            </a:r>
            <a:endParaRPr lang="zh-CN" altLang="en-US" b="1" dirty="0"/>
          </a:p>
        </p:txBody>
      </p:sp>
    </p:spTree>
    <p:extLst>
      <p:ext uri="{BB962C8B-B14F-4D97-AF65-F5344CB8AC3E}">
        <p14:creationId xmlns:p14="http://schemas.microsoft.com/office/powerpoint/2010/main" val="24302490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3D810FA-1B50-2788-42F6-88ADDADD80F7}"/>
              </a:ext>
            </a:extLst>
          </p:cNvPr>
          <p:cNvPicPr>
            <a:picLocks noChangeAspect="1"/>
          </p:cNvPicPr>
          <p:nvPr/>
        </p:nvPicPr>
        <p:blipFill>
          <a:blip r:embed="rId2"/>
          <a:stretch>
            <a:fillRect/>
          </a:stretch>
        </p:blipFill>
        <p:spPr>
          <a:xfrm>
            <a:off x="2791930" y="0"/>
            <a:ext cx="6608140" cy="6294664"/>
          </a:xfrm>
          <a:prstGeom prst="rect">
            <a:avLst/>
          </a:prstGeom>
        </p:spPr>
      </p:pic>
      <p:cxnSp>
        <p:nvCxnSpPr>
          <p:cNvPr id="5" name="直接箭头连接符 4">
            <a:extLst>
              <a:ext uri="{FF2B5EF4-FFF2-40B4-BE49-F238E27FC236}">
                <a16:creationId xmlns:a16="http://schemas.microsoft.com/office/drawing/2014/main" id="{AE4BB9DC-6F40-F140-62E4-A78AEB0DE4BC}"/>
              </a:ext>
            </a:extLst>
          </p:cNvPr>
          <p:cNvCxnSpPr>
            <a:cxnSpLocks/>
          </p:cNvCxnSpPr>
          <p:nvPr/>
        </p:nvCxnSpPr>
        <p:spPr>
          <a:xfrm>
            <a:off x="2241369" y="3301152"/>
            <a:ext cx="46482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5C0A0B5A-F8D8-DB1E-C8B1-3C56FA699C75}"/>
              </a:ext>
            </a:extLst>
          </p:cNvPr>
          <p:cNvCxnSpPr>
            <a:cxnSpLocks/>
          </p:cNvCxnSpPr>
          <p:nvPr/>
        </p:nvCxnSpPr>
        <p:spPr>
          <a:xfrm>
            <a:off x="7964533" y="5316038"/>
            <a:ext cx="0" cy="45834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C7CDF17D-5CD6-1A5B-EB11-25F3EDDE637A}"/>
              </a:ext>
            </a:extLst>
          </p:cNvPr>
          <p:cNvCxnSpPr/>
          <p:nvPr/>
        </p:nvCxnSpPr>
        <p:spPr>
          <a:xfrm flipH="1">
            <a:off x="5448300" y="359288"/>
            <a:ext cx="457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C3A9987A-0ADD-A3F1-73B0-01333D1EF4ED}"/>
              </a:ext>
            </a:extLst>
          </p:cNvPr>
          <p:cNvCxnSpPr>
            <a:cxnSpLocks/>
          </p:cNvCxnSpPr>
          <p:nvPr/>
        </p:nvCxnSpPr>
        <p:spPr>
          <a:xfrm flipH="1">
            <a:off x="4694838" y="1504492"/>
            <a:ext cx="457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240A7176-F407-F5C5-7915-104F354F56E2}"/>
              </a:ext>
            </a:extLst>
          </p:cNvPr>
          <p:cNvSpPr txBox="1"/>
          <p:nvPr/>
        </p:nvSpPr>
        <p:spPr>
          <a:xfrm>
            <a:off x="5280261" y="1319826"/>
            <a:ext cx="3549370" cy="369332"/>
          </a:xfrm>
          <a:prstGeom prst="rect">
            <a:avLst/>
          </a:prstGeom>
          <a:solidFill>
            <a:srgbClr val="FFFF00"/>
          </a:solidFill>
        </p:spPr>
        <p:txBody>
          <a:bodyPr wrap="none" rtlCol="0">
            <a:spAutoFit/>
          </a:bodyPr>
          <a:lstStyle/>
          <a:p>
            <a:r>
              <a:rPr lang="zh-CN" altLang="en-US" b="1" dirty="0"/>
              <a:t>该函数由</a:t>
            </a:r>
            <a:r>
              <a:rPr lang="en-US" altLang="zh-CN" b="1" dirty="0"/>
              <a:t>fs3399_led_mode.c</a:t>
            </a:r>
            <a:r>
              <a:rPr lang="zh-CN" altLang="en-US" b="1" dirty="0"/>
              <a:t>提供</a:t>
            </a:r>
          </a:p>
        </p:txBody>
      </p:sp>
      <p:sp>
        <p:nvSpPr>
          <p:cNvPr id="2" name="文本框 1">
            <a:extLst>
              <a:ext uri="{FF2B5EF4-FFF2-40B4-BE49-F238E27FC236}">
                <a16:creationId xmlns:a16="http://schemas.microsoft.com/office/drawing/2014/main" id="{4D858CB6-3463-6444-6A53-D3E15B7A684A}"/>
              </a:ext>
            </a:extLst>
          </p:cNvPr>
          <p:cNvSpPr txBox="1"/>
          <p:nvPr/>
        </p:nvSpPr>
        <p:spPr>
          <a:xfrm>
            <a:off x="1180688"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5</a:t>
            </a:r>
            <a:endParaRPr lang="zh-CN" altLang="en-US" b="1" dirty="0"/>
          </a:p>
        </p:txBody>
      </p:sp>
    </p:spTree>
    <p:extLst>
      <p:ext uri="{BB962C8B-B14F-4D97-AF65-F5344CB8AC3E}">
        <p14:creationId xmlns:p14="http://schemas.microsoft.com/office/powerpoint/2010/main" val="30955620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6014EB9-AB3E-3C4D-C200-0AB5243B6511}"/>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5</a:t>
            </a:r>
            <a:endParaRPr lang="zh-CN" altLang="en-US" b="1" dirty="0"/>
          </a:p>
        </p:txBody>
      </p:sp>
      <p:sp>
        <p:nvSpPr>
          <p:cNvPr id="8" name="内容占位符 2">
            <a:extLst>
              <a:ext uri="{FF2B5EF4-FFF2-40B4-BE49-F238E27FC236}">
                <a16:creationId xmlns:a16="http://schemas.microsoft.com/office/drawing/2014/main" id="{346E3AEB-176B-0688-E744-43E9CB3DD69F}"/>
              </a:ext>
            </a:extLst>
          </p:cNvPr>
          <p:cNvSpPr>
            <a:spLocks noGrp="1"/>
          </p:cNvSpPr>
          <p:nvPr>
            <p:ph idx="1"/>
          </p:nvPr>
        </p:nvSpPr>
        <p:spPr>
          <a:xfrm>
            <a:off x="1230085" y="1793194"/>
            <a:ext cx="2786744" cy="500970"/>
          </a:xfrm>
        </p:spPr>
        <p:txBody>
          <a:bodyPr>
            <a:normAutofit/>
          </a:bodyPr>
          <a:lstStyle/>
          <a:p>
            <a:r>
              <a:rPr lang="en-US" altLang="zh-CN" sz="2000" b="1" dirty="0"/>
              <a:t>3</a:t>
            </a:r>
            <a:r>
              <a:rPr lang="zh-CN" altLang="en-US" sz="2000" b="1" dirty="0"/>
              <a:t>、</a:t>
            </a:r>
            <a:r>
              <a:rPr lang="en-US" altLang="zh-CN" sz="2000" b="1" dirty="0"/>
              <a:t>fs3399_led_mode.c</a:t>
            </a:r>
            <a:endParaRPr lang="zh-CN" altLang="en-US" sz="2000" b="1" dirty="0"/>
          </a:p>
        </p:txBody>
      </p:sp>
      <p:sp>
        <p:nvSpPr>
          <p:cNvPr id="14" name="标题 1">
            <a:extLst>
              <a:ext uri="{FF2B5EF4-FFF2-40B4-BE49-F238E27FC236}">
                <a16:creationId xmlns:a16="http://schemas.microsoft.com/office/drawing/2014/main" id="{0F08AA16-D7EE-D167-665E-63CF50BDF76F}"/>
              </a:ext>
            </a:extLst>
          </p:cNvPr>
          <p:cNvSpPr>
            <a:spLocks noGrp="1"/>
          </p:cNvSpPr>
          <p:nvPr>
            <p:ph type="title"/>
          </p:nvPr>
        </p:nvSpPr>
        <p:spPr>
          <a:xfrm>
            <a:off x="838200" y="365125"/>
            <a:ext cx="10515600" cy="1325563"/>
          </a:xfrm>
        </p:spPr>
        <p:txBody>
          <a:bodyPr/>
          <a:lstStyle/>
          <a:p>
            <a:pPr algn="ctr"/>
            <a:r>
              <a:rPr lang="en-US" altLang="zh-CN" b="1" dirty="0" err="1"/>
              <a:t>fs_irq_key</a:t>
            </a:r>
            <a:r>
              <a:rPr lang="zh-CN" altLang="en-US" b="1" dirty="0"/>
              <a:t>实验程序（</a:t>
            </a:r>
            <a:r>
              <a:rPr lang="en-US" altLang="zh-CN" b="1" dirty="0"/>
              <a:t>3</a:t>
            </a:r>
            <a:r>
              <a:rPr lang="zh-CN" altLang="en-US" b="1" dirty="0"/>
              <a:t>）</a:t>
            </a:r>
          </a:p>
        </p:txBody>
      </p:sp>
      <p:pic>
        <p:nvPicPr>
          <p:cNvPr id="5" name="图片 4">
            <a:extLst>
              <a:ext uri="{FF2B5EF4-FFF2-40B4-BE49-F238E27FC236}">
                <a16:creationId xmlns:a16="http://schemas.microsoft.com/office/drawing/2014/main" id="{AAE5527E-2D7F-4800-BD10-AFF0D0DF5983}"/>
              </a:ext>
            </a:extLst>
          </p:cNvPr>
          <p:cNvPicPr>
            <a:picLocks noChangeAspect="1"/>
          </p:cNvPicPr>
          <p:nvPr/>
        </p:nvPicPr>
        <p:blipFill>
          <a:blip r:embed="rId2"/>
          <a:stretch>
            <a:fillRect/>
          </a:stretch>
        </p:blipFill>
        <p:spPr>
          <a:xfrm>
            <a:off x="4359780" y="1690689"/>
            <a:ext cx="3159527" cy="4846758"/>
          </a:xfrm>
          <a:prstGeom prst="rect">
            <a:avLst/>
          </a:prstGeom>
        </p:spPr>
      </p:pic>
    </p:spTree>
    <p:extLst>
      <p:ext uri="{BB962C8B-B14F-4D97-AF65-F5344CB8AC3E}">
        <p14:creationId xmlns:p14="http://schemas.microsoft.com/office/powerpoint/2010/main" val="3842986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FD05AA9-80F4-E636-E8CA-2ADB81C81F20}"/>
              </a:ext>
            </a:extLst>
          </p:cNvPr>
          <p:cNvPicPr>
            <a:picLocks noChangeAspect="1"/>
          </p:cNvPicPr>
          <p:nvPr/>
        </p:nvPicPr>
        <p:blipFill>
          <a:blip r:embed="rId2"/>
          <a:stretch>
            <a:fillRect/>
          </a:stretch>
        </p:blipFill>
        <p:spPr>
          <a:xfrm>
            <a:off x="1868884" y="2331043"/>
            <a:ext cx="3926318" cy="2780506"/>
          </a:xfrm>
          <a:prstGeom prst="rect">
            <a:avLst/>
          </a:prstGeom>
        </p:spPr>
      </p:pic>
      <p:sp>
        <p:nvSpPr>
          <p:cNvPr id="2" name="内容占位符 2">
            <a:extLst>
              <a:ext uri="{FF2B5EF4-FFF2-40B4-BE49-F238E27FC236}">
                <a16:creationId xmlns:a16="http://schemas.microsoft.com/office/drawing/2014/main" id="{B92E793B-5440-4EF6-CFDF-194CAAE99687}"/>
              </a:ext>
            </a:extLst>
          </p:cNvPr>
          <p:cNvSpPr>
            <a:spLocks noGrp="1"/>
          </p:cNvSpPr>
          <p:nvPr>
            <p:ph idx="1"/>
          </p:nvPr>
        </p:nvSpPr>
        <p:spPr>
          <a:xfrm>
            <a:off x="1515836" y="1875354"/>
            <a:ext cx="4279366" cy="4351338"/>
          </a:xfrm>
        </p:spPr>
        <p:txBody>
          <a:bodyPr>
            <a:normAutofit/>
          </a:bodyPr>
          <a:lstStyle/>
          <a:p>
            <a:r>
              <a:rPr lang="en-US" altLang="zh-CN" sz="2000" b="1" dirty="0"/>
              <a:t>5</a:t>
            </a:r>
            <a:r>
              <a:rPr lang="zh-CN" altLang="en-US" sz="2000" b="1" dirty="0"/>
              <a:t>、</a:t>
            </a:r>
            <a:r>
              <a:rPr lang="en-US" altLang="zh-CN" sz="2000" b="1" dirty="0"/>
              <a:t>fs3399_led_mode.h</a:t>
            </a:r>
            <a:endParaRPr lang="zh-CN" altLang="en-US" sz="2000" b="1" dirty="0"/>
          </a:p>
        </p:txBody>
      </p:sp>
      <p:sp>
        <p:nvSpPr>
          <p:cNvPr id="3" name="标题 1">
            <a:extLst>
              <a:ext uri="{FF2B5EF4-FFF2-40B4-BE49-F238E27FC236}">
                <a16:creationId xmlns:a16="http://schemas.microsoft.com/office/drawing/2014/main" id="{FFC15F73-C95B-10DC-6AD8-FCA884FF3DE7}"/>
              </a:ext>
            </a:extLst>
          </p:cNvPr>
          <p:cNvSpPr>
            <a:spLocks noGrp="1"/>
          </p:cNvSpPr>
          <p:nvPr>
            <p:ph type="title"/>
          </p:nvPr>
        </p:nvSpPr>
        <p:spPr>
          <a:xfrm>
            <a:off x="838200" y="365125"/>
            <a:ext cx="10515600" cy="1325563"/>
          </a:xfrm>
        </p:spPr>
        <p:txBody>
          <a:bodyPr/>
          <a:lstStyle/>
          <a:p>
            <a:pPr algn="ctr"/>
            <a:r>
              <a:rPr lang="en-US" altLang="zh-CN" b="1" dirty="0" err="1"/>
              <a:t>fs_irq_key</a:t>
            </a:r>
            <a:r>
              <a:rPr lang="zh-CN" altLang="en-US" b="1" dirty="0"/>
              <a:t>实验程序（</a:t>
            </a:r>
            <a:r>
              <a:rPr lang="en-US" altLang="zh-CN" b="1" dirty="0"/>
              <a:t>5</a:t>
            </a:r>
            <a:r>
              <a:rPr lang="zh-CN" altLang="en-US" b="1" dirty="0"/>
              <a:t>）</a:t>
            </a:r>
          </a:p>
        </p:txBody>
      </p:sp>
      <p:sp>
        <p:nvSpPr>
          <p:cNvPr id="4" name="文本框 3">
            <a:extLst>
              <a:ext uri="{FF2B5EF4-FFF2-40B4-BE49-F238E27FC236}">
                <a16:creationId xmlns:a16="http://schemas.microsoft.com/office/drawing/2014/main" id="{BA4F6A29-3974-1A7F-58F5-0D2B553A0FFB}"/>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5</a:t>
            </a:r>
            <a:endParaRPr lang="zh-CN" altLang="en-US" b="1" dirty="0"/>
          </a:p>
        </p:txBody>
      </p:sp>
    </p:spTree>
    <p:extLst>
      <p:ext uri="{BB962C8B-B14F-4D97-AF65-F5344CB8AC3E}">
        <p14:creationId xmlns:p14="http://schemas.microsoft.com/office/powerpoint/2010/main" val="6235775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A749897-FC39-ACD8-BF71-B97943BCC943}"/>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fs_irq_key</a:t>
            </a:r>
            <a:r>
              <a:rPr lang="zh-CN" altLang="en-US" b="1" dirty="0"/>
              <a:t>实验程序</a:t>
            </a:r>
          </a:p>
        </p:txBody>
      </p:sp>
      <p:sp>
        <p:nvSpPr>
          <p:cNvPr id="7" name="内容占位符 2">
            <a:extLst>
              <a:ext uri="{FF2B5EF4-FFF2-40B4-BE49-F238E27FC236}">
                <a16:creationId xmlns:a16="http://schemas.microsoft.com/office/drawing/2014/main" id="{0164717B-A44C-107C-834B-657E75999E68}"/>
              </a:ext>
            </a:extLst>
          </p:cNvPr>
          <p:cNvSpPr>
            <a:spLocks noGrp="1"/>
          </p:cNvSpPr>
          <p:nvPr>
            <p:ph idx="1"/>
          </p:nvPr>
        </p:nvSpPr>
        <p:spPr>
          <a:xfrm>
            <a:off x="1306286" y="1825625"/>
            <a:ext cx="9633857" cy="4351338"/>
          </a:xfrm>
        </p:spPr>
        <p:txBody>
          <a:bodyPr>
            <a:normAutofit fontScale="77500" lnSpcReduction="20000"/>
          </a:bodyPr>
          <a:lstStyle/>
          <a:p>
            <a:r>
              <a:rPr lang="zh-CN" altLang="en-US" sz="2400" b="1" dirty="0"/>
              <a:t>请按照前面的“</a:t>
            </a:r>
            <a:r>
              <a:rPr lang="zh-CN" altLang="en-US" sz="2400" b="1" dirty="0">
                <a:solidFill>
                  <a:srgbClr val="C00000"/>
                </a:solidFill>
              </a:rPr>
              <a:t>运行fs_led实验程序</a:t>
            </a:r>
            <a:r>
              <a:rPr lang="zh-CN" altLang="en-US" sz="2400" b="1" dirty="0"/>
              <a:t>”的步骤，运行“</a:t>
            </a:r>
            <a:r>
              <a:rPr lang="en-US" altLang="zh-CN" sz="2400" b="1" dirty="0" err="1"/>
              <a:t>fs_irq_key</a:t>
            </a:r>
            <a:r>
              <a:rPr lang="zh-CN" altLang="en-US" sz="2400" b="1" dirty="0"/>
              <a:t>实验程序”：</a:t>
            </a:r>
            <a:endParaRPr lang="en-US" altLang="zh-CN" sz="2400" b="1" dirty="0"/>
          </a:p>
          <a:p>
            <a:pPr lvl="1"/>
            <a:endParaRPr lang="en-US" altLang="zh-CN" sz="2000" b="1" dirty="0"/>
          </a:p>
          <a:p>
            <a:pPr lvl="1"/>
            <a:r>
              <a:rPr lang="en-US" altLang="zh-CN" sz="2000" b="1" dirty="0"/>
              <a:t>1</a:t>
            </a:r>
            <a:r>
              <a:rPr lang="zh-CN" altLang="en-US" sz="2000" b="1" dirty="0"/>
              <a:t>、关闭</a:t>
            </a:r>
            <a:r>
              <a:rPr lang="en-US" altLang="zh-CN" sz="2000" b="1" dirty="0"/>
              <a:t>PuTTY</a:t>
            </a:r>
            <a:r>
              <a:rPr lang="zh-CN" altLang="en-US" sz="2000" b="1" dirty="0"/>
              <a:t>，再打开</a:t>
            </a:r>
            <a:r>
              <a:rPr lang="en-US" altLang="zh-CN" sz="2000" b="1" dirty="0"/>
              <a:t>PuTTY</a:t>
            </a:r>
            <a:r>
              <a:rPr lang="zh-CN" altLang="en-US" sz="2000" b="1" dirty="0"/>
              <a:t>；按实验箱的</a:t>
            </a:r>
            <a:r>
              <a:rPr lang="en-US" altLang="zh-CN" sz="2000" b="1" dirty="0"/>
              <a:t>RST</a:t>
            </a:r>
            <a:r>
              <a:rPr lang="zh-CN" altLang="en-US" sz="2000" b="1" dirty="0"/>
              <a:t>按键；倒计时状态按</a:t>
            </a:r>
            <a:r>
              <a:rPr lang="en-US" altLang="zh-CN" sz="2000" b="1" dirty="0" err="1"/>
              <a:t>Ctrl+C</a:t>
            </a:r>
            <a:r>
              <a:rPr lang="zh-CN" altLang="en-US" sz="2000" b="1" dirty="0"/>
              <a:t>，进入“</a:t>
            </a:r>
            <a:r>
              <a:rPr lang="en-US" altLang="zh-CN" sz="2000" b="1" dirty="0"/>
              <a:t>=&gt;”</a:t>
            </a:r>
            <a:r>
              <a:rPr lang="zh-CN" altLang="en-US" sz="2000" b="1" dirty="0"/>
              <a:t>状态</a:t>
            </a:r>
          </a:p>
          <a:p>
            <a:pPr lvl="1"/>
            <a:endParaRPr lang="zh-CN" altLang="en-US" sz="2000" b="1" dirty="0"/>
          </a:p>
          <a:p>
            <a:pPr lvl="1"/>
            <a:r>
              <a:rPr lang="en-US" altLang="zh-CN" sz="2000" b="1" dirty="0"/>
              <a:t>2</a:t>
            </a:r>
            <a:r>
              <a:rPr lang="zh-CN" altLang="en-US" sz="2000" b="1" dirty="0"/>
              <a:t>、检查</a:t>
            </a:r>
            <a:r>
              <a:rPr lang="en-US" altLang="zh-CN" sz="2000" b="1" dirty="0"/>
              <a:t>JTAG</a:t>
            </a:r>
            <a:r>
              <a:rPr lang="zh-CN" altLang="en-US" sz="2000" b="1" dirty="0"/>
              <a:t>是否连接到虚拟机（</a:t>
            </a:r>
            <a:r>
              <a:rPr lang="en-US" altLang="zh-CN" sz="2000" b="1" dirty="0"/>
              <a:t>Ubuntu</a:t>
            </a:r>
            <a:r>
              <a:rPr lang="zh-CN" altLang="en-US" sz="2000" b="1" dirty="0"/>
              <a:t>）</a:t>
            </a:r>
          </a:p>
          <a:p>
            <a:pPr lvl="1"/>
            <a:endParaRPr lang="zh-CN" altLang="en-US" sz="2000" b="1" dirty="0"/>
          </a:p>
          <a:p>
            <a:pPr lvl="1"/>
            <a:r>
              <a:rPr lang="en-US" altLang="zh-CN" sz="2000" b="1" dirty="0"/>
              <a:t>3</a:t>
            </a:r>
            <a:r>
              <a:rPr lang="zh-CN" altLang="en-US" sz="2000" b="1" dirty="0"/>
              <a:t>、检查</a:t>
            </a:r>
            <a:r>
              <a:rPr lang="en-US" altLang="zh-CN" sz="2000" b="1" dirty="0"/>
              <a:t>FS_JTAG</a:t>
            </a:r>
            <a:r>
              <a:rPr lang="zh-CN" altLang="en-US" sz="2000" b="1" dirty="0"/>
              <a:t>是否处于连接状态（连接到</a:t>
            </a:r>
            <a:r>
              <a:rPr lang="en-US" altLang="zh-CN" sz="2000" b="1" dirty="0"/>
              <a:t>fs3399</a:t>
            </a:r>
            <a:r>
              <a:rPr lang="zh-CN" altLang="en-US" sz="2000" b="1" dirty="0"/>
              <a:t>）</a:t>
            </a:r>
          </a:p>
          <a:p>
            <a:pPr lvl="1"/>
            <a:endParaRPr lang="zh-CN" altLang="en-US" sz="2000" b="1" dirty="0"/>
          </a:p>
          <a:p>
            <a:pPr lvl="1"/>
            <a:r>
              <a:rPr lang="en-US" altLang="zh-CN" sz="2000" b="1" dirty="0"/>
              <a:t>4</a:t>
            </a:r>
            <a:r>
              <a:rPr lang="zh-CN" altLang="en-US" sz="2000" b="1" dirty="0"/>
              <a:t>、打开实验工程（使实验工程处于打开状态）</a:t>
            </a:r>
          </a:p>
          <a:p>
            <a:pPr lvl="1"/>
            <a:endParaRPr lang="zh-CN" altLang="en-US" sz="2000" b="1" dirty="0"/>
          </a:p>
          <a:p>
            <a:pPr lvl="1"/>
            <a:r>
              <a:rPr lang="en-US" altLang="zh-CN" sz="2000" b="1" dirty="0"/>
              <a:t>5</a:t>
            </a:r>
            <a:r>
              <a:rPr lang="zh-CN" altLang="en-US" sz="2000" b="1" dirty="0"/>
              <a:t>、进入调试状态：</a:t>
            </a:r>
            <a:r>
              <a:rPr lang="en-US" altLang="zh-CN" sz="2000" b="1" dirty="0"/>
              <a:t>Run -&gt; Debug Configurations</a:t>
            </a:r>
          </a:p>
          <a:p>
            <a:pPr lvl="1"/>
            <a:endParaRPr lang="en-US" altLang="zh-CN" sz="2000" b="1" dirty="0"/>
          </a:p>
          <a:p>
            <a:pPr lvl="1"/>
            <a:r>
              <a:rPr lang="en-US" altLang="zh-CN" sz="2000" b="1" dirty="0"/>
              <a:t>6</a:t>
            </a:r>
            <a:r>
              <a:rPr lang="zh-CN" altLang="en-US" sz="2000" b="1" dirty="0"/>
              <a:t>、点击运行图标，运行实验工程（此时，</a:t>
            </a:r>
            <a:r>
              <a:rPr lang="zh-CN" altLang="en-US" sz="2000" b="1" dirty="0">
                <a:solidFill>
                  <a:srgbClr val="C00000"/>
                </a:solidFill>
              </a:rPr>
              <a:t>按</a:t>
            </a:r>
            <a:r>
              <a:rPr lang="en-US" altLang="zh-CN" sz="2000" b="1" dirty="0">
                <a:solidFill>
                  <a:srgbClr val="C00000"/>
                </a:solidFill>
              </a:rPr>
              <a:t>KEY1</a:t>
            </a:r>
            <a:r>
              <a:rPr lang="zh-CN" altLang="en-US" sz="2000" b="1" dirty="0">
                <a:solidFill>
                  <a:srgbClr val="C00000"/>
                </a:solidFill>
              </a:rPr>
              <a:t>键会控制</a:t>
            </a:r>
            <a:r>
              <a:rPr lang="en-US" altLang="zh-CN" sz="2000" b="1" dirty="0">
                <a:solidFill>
                  <a:srgbClr val="C00000"/>
                </a:solidFill>
              </a:rPr>
              <a:t>LED1</a:t>
            </a:r>
            <a:r>
              <a:rPr lang="zh-CN" altLang="en-US" sz="2000" b="1" dirty="0">
                <a:solidFill>
                  <a:srgbClr val="C00000"/>
                </a:solidFill>
              </a:rPr>
              <a:t>灯的亮灭</a:t>
            </a:r>
            <a:r>
              <a:rPr lang="zh-CN" altLang="en-US" sz="2000" b="1" dirty="0"/>
              <a:t>）</a:t>
            </a:r>
          </a:p>
          <a:p>
            <a:pPr lvl="1"/>
            <a:endParaRPr lang="zh-CN" altLang="en-US" sz="2000" b="1" dirty="0"/>
          </a:p>
          <a:p>
            <a:pPr lvl="1"/>
            <a:r>
              <a:rPr lang="en-US" altLang="zh-CN" sz="2000" b="1" dirty="0"/>
              <a:t>7</a:t>
            </a:r>
            <a:r>
              <a:rPr lang="zh-CN" altLang="en-US" sz="2000" b="1" dirty="0"/>
              <a:t>、点击停止图标，停止运行实验工程</a:t>
            </a:r>
          </a:p>
          <a:p>
            <a:pPr lvl="1"/>
            <a:endParaRPr lang="zh-CN" altLang="en-US" sz="2000" b="1" dirty="0"/>
          </a:p>
          <a:p>
            <a:pPr lvl="1"/>
            <a:r>
              <a:rPr lang="en-US" altLang="zh-CN" sz="2000" b="1" dirty="0"/>
              <a:t>8</a:t>
            </a:r>
            <a:r>
              <a:rPr lang="zh-CN" altLang="en-US" sz="2000" b="1" dirty="0"/>
              <a:t>、关闭实验工程（使实验工程处于关闭状态）</a:t>
            </a:r>
          </a:p>
          <a:p>
            <a:endParaRPr lang="zh-CN" altLang="en-US" sz="2400" b="1" dirty="0"/>
          </a:p>
        </p:txBody>
      </p:sp>
      <p:sp>
        <p:nvSpPr>
          <p:cNvPr id="2" name="文本框 1">
            <a:extLst>
              <a:ext uri="{FF2B5EF4-FFF2-40B4-BE49-F238E27FC236}">
                <a16:creationId xmlns:a16="http://schemas.microsoft.com/office/drawing/2014/main" id="{905CE294-3228-B05C-B3B7-A2BB251352C3}"/>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5</a:t>
            </a:r>
            <a:endParaRPr lang="zh-CN" altLang="en-US" b="1" dirty="0"/>
          </a:p>
        </p:txBody>
      </p:sp>
    </p:spTree>
    <p:extLst>
      <p:ext uri="{BB962C8B-B14F-4D97-AF65-F5344CB8AC3E}">
        <p14:creationId xmlns:p14="http://schemas.microsoft.com/office/powerpoint/2010/main" val="35152065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5B9C2-11EB-449B-3E8A-68F6F4C5BE6E}"/>
              </a:ext>
            </a:extLst>
          </p:cNvPr>
          <p:cNvSpPr>
            <a:spLocks noGrp="1"/>
          </p:cNvSpPr>
          <p:nvPr>
            <p:ph type="title"/>
          </p:nvPr>
        </p:nvSpPr>
        <p:spPr>
          <a:xfrm>
            <a:off x="838200" y="2620645"/>
            <a:ext cx="10515600" cy="1325563"/>
          </a:xfrm>
        </p:spPr>
        <p:txBody>
          <a:bodyPr/>
          <a:lstStyle/>
          <a:p>
            <a:pPr algn="ctr"/>
            <a:r>
              <a:rPr lang="zh-CN" altLang="en-US" b="1" dirty="0"/>
              <a:t>实验</a:t>
            </a:r>
            <a:r>
              <a:rPr lang="en-US" altLang="zh-CN" b="1" dirty="0"/>
              <a:t>6    </a:t>
            </a:r>
            <a:r>
              <a:rPr lang="zh-CN" altLang="en-US" b="1" dirty="0"/>
              <a:t>串口（</a:t>
            </a:r>
            <a:r>
              <a:rPr lang="en-US" altLang="zh-CN" b="1" dirty="0"/>
              <a:t>Debug_2</a:t>
            </a:r>
            <a:r>
              <a:rPr lang="zh-CN" altLang="en-US" b="1" dirty="0"/>
              <a:t>）</a:t>
            </a:r>
          </a:p>
        </p:txBody>
      </p:sp>
    </p:spTree>
    <p:extLst>
      <p:ext uri="{BB962C8B-B14F-4D97-AF65-F5344CB8AC3E}">
        <p14:creationId xmlns:p14="http://schemas.microsoft.com/office/powerpoint/2010/main" val="22011349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2CB67A8-4C13-59A8-3234-73E20AAB9825}"/>
              </a:ext>
            </a:extLst>
          </p:cNvPr>
          <p:cNvPicPr>
            <a:picLocks noChangeAspect="1"/>
          </p:cNvPicPr>
          <p:nvPr/>
        </p:nvPicPr>
        <p:blipFill>
          <a:blip r:embed="rId2"/>
          <a:stretch>
            <a:fillRect/>
          </a:stretch>
        </p:blipFill>
        <p:spPr>
          <a:xfrm>
            <a:off x="1508760" y="2120239"/>
            <a:ext cx="8614954" cy="4046327"/>
          </a:xfrm>
          <a:prstGeom prst="rect">
            <a:avLst/>
          </a:prstGeom>
        </p:spPr>
      </p:pic>
      <p:sp>
        <p:nvSpPr>
          <p:cNvPr id="6" name="标题 1">
            <a:extLst>
              <a:ext uri="{FF2B5EF4-FFF2-40B4-BE49-F238E27FC236}">
                <a16:creationId xmlns:a16="http://schemas.microsoft.com/office/drawing/2014/main" id="{6417BAF9-B737-9E7E-1C5D-E9700A676F53}"/>
              </a:ext>
            </a:extLst>
          </p:cNvPr>
          <p:cNvSpPr>
            <a:spLocks noGrp="1"/>
          </p:cNvSpPr>
          <p:nvPr>
            <p:ph type="title"/>
          </p:nvPr>
        </p:nvSpPr>
        <p:spPr>
          <a:xfrm>
            <a:off x="838200" y="365125"/>
            <a:ext cx="10515600" cy="1325563"/>
          </a:xfrm>
        </p:spPr>
        <p:txBody>
          <a:bodyPr/>
          <a:lstStyle/>
          <a:p>
            <a:pPr algn="ctr"/>
            <a:r>
              <a:rPr lang="zh-CN" altLang="en-US" b="1" dirty="0"/>
              <a:t>串口（</a:t>
            </a:r>
            <a:r>
              <a:rPr lang="en-US" altLang="zh-CN" b="1" dirty="0"/>
              <a:t>Debug_2</a:t>
            </a:r>
            <a:r>
              <a:rPr lang="zh-CN" altLang="en-US" b="1" dirty="0"/>
              <a:t>）的电原理图</a:t>
            </a:r>
          </a:p>
        </p:txBody>
      </p:sp>
      <p:sp>
        <p:nvSpPr>
          <p:cNvPr id="7" name="文本框 6">
            <a:extLst>
              <a:ext uri="{FF2B5EF4-FFF2-40B4-BE49-F238E27FC236}">
                <a16:creationId xmlns:a16="http://schemas.microsoft.com/office/drawing/2014/main" id="{65B34034-3D0C-0383-5363-7D016979A86D}"/>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
        <p:nvSpPr>
          <p:cNvPr id="9" name="文本框 8">
            <a:extLst>
              <a:ext uri="{FF2B5EF4-FFF2-40B4-BE49-F238E27FC236}">
                <a16:creationId xmlns:a16="http://schemas.microsoft.com/office/drawing/2014/main" id="{36E2F2A9-52DD-77DA-B7CD-4DD945ECAE9A}"/>
              </a:ext>
            </a:extLst>
          </p:cNvPr>
          <p:cNvSpPr txBox="1"/>
          <p:nvPr/>
        </p:nvSpPr>
        <p:spPr>
          <a:xfrm>
            <a:off x="9472204" y="2120239"/>
            <a:ext cx="1303020" cy="400110"/>
          </a:xfrm>
          <a:prstGeom prst="rect">
            <a:avLst/>
          </a:prstGeom>
          <a:solidFill>
            <a:srgbClr val="FFFF00"/>
          </a:solidFill>
        </p:spPr>
        <p:txBody>
          <a:bodyPr wrap="square">
            <a:spAutoFit/>
          </a:bodyPr>
          <a:lstStyle/>
          <a:p>
            <a:pPr algn="ctr"/>
            <a:r>
              <a:rPr lang="en-US" altLang="zh-CN" sz="2000" b="1" dirty="0"/>
              <a:t>Debug_2</a:t>
            </a:r>
            <a:endParaRPr lang="zh-CN" altLang="en-US" sz="2000" dirty="0"/>
          </a:p>
        </p:txBody>
      </p:sp>
      <p:sp>
        <p:nvSpPr>
          <p:cNvPr id="2" name="文本框 1">
            <a:extLst>
              <a:ext uri="{FF2B5EF4-FFF2-40B4-BE49-F238E27FC236}">
                <a16:creationId xmlns:a16="http://schemas.microsoft.com/office/drawing/2014/main" id="{570A5789-76C4-483D-26E2-685621293545}"/>
              </a:ext>
            </a:extLst>
          </p:cNvPr>
          <p:cNvSpPr txBox="1"/>
          <p:nvPr/>
        </p:nvSpPr>
        <p:spPr>
          <a:xfrm>
            <a:off x="4746581" y="5221888"/>
            <a:ext cx="970767" cy="338554"/>
          </a:xfrm>
          <a:prstGeom prst="rect">
            <a:avLst/>
          </a:prstGeom>
          <a:solidFill>
            <a:srgbClr val="FFC000"/>
          </a:solidFill>
        </p:spPr>
        <p:txBody>
          <a:bodyPr wrap="square" rtlCol="0">
            <a:spAutoFit/>
          </a:bodyPr>
          <a:lstStyle/>
          <a:p>
            <a:r>
              <a:rPr lang="en-US" altLang="zh-CN" sz="800" b="1" dirty="0"/>
              <a:t>TTL</a:t>
            </a:r>
            <a:r>
              <a:rPr lang="zh-CN" altLang="en-US" sz="800" b="1" dirty="0"/>
              <a:t>电平与</a:t>
            </a:r>
            <a:r>
              <a:rPr lang="en-US" altLang="zh-CN" sz="800" b="1" dirty="0"/>
              <a:t>RS232</a:t>
            </a:r>
            <a:r>
              <a:rPr lang="zh-CN" altLang="en-US" sz="800" b="1" dirty="0"/>
              <a:t>电平转换芯片</a:t>
            </a:r>
          </a:p>
        </p:txBody>
      </p:sp>
    </p:spTree>
    <p:extLst>
      <p:ext uri="{BB962C8B-B14F-4D97-AF65-F5344CB8AC3E}">
        <p14:creationId xmlns:p14="http://schemas.microsoft.com/office/powerpoint/2010/main" val="36461775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58DDC13-EAE2-CA31-DCFC-A7FF0913D402}"/>
              </a:ext>
            </a:extLst>
          </p:cNvPr>
          <p:cNvPicPr>
            <a:picLocks noChangeAspect="1"/>
          </p:cNvPicPr>
          <p:nvPr/>
        </p:nvPicPr>
        <p:blipFill>
          <a:blip r:embed="rId2"/>
          <a:stretch>
            <a:fillRect/>
          </a:stretch>
        </p:blipFill>
        <p:spPr>
          <a:xfrm>
            <a:off x="1988820" y="1975756"/>
            <a:ext cx="7856220" cy="1950694"/>
          </a:xfrm>
          <a:prstGeom prst="rect">
            <a:avLst/>
          </a:prstGeom>
        </p:spPr>
      </p:pic>
      <p:pic>
        <p:nvPicPr>
          <p:cNvPr id="7" name="图片 6">
            <a:extLst>
              <a:ext uri="{FF2B5EF4-FFF2-40B4-BE49-F238E27FC236}">
                <a16:creationId xmlns:a16="http://schemas.microsoft.com/office/drawing/2014/main" id="{F5E980E9-E994-1E9C-ECD9-985621DAF919}"/>
              </a:ext>
            </a:extLst>
          </p:cNvPr>
          <p:cNvPicPr>
            <a:picLocks noChangeAspect="1"/>
          </p:cNvPicPr>
          <p:nvPr/>
        </p:nvPicPr>
        <p:blipFill>
          <a:blip r:embed="rId3"/>
          <a:stretch>
            <a:fillRect/>
          </a:stretch>
        </p:blipFill>
        <p:spPr>
          <a:xfrm>
            <a:off x="2297430" y="4311223"/>
            <a:ext cx="7597140" cy="1000236"/>
          </a:xfrm>
          <a:prstGeom prst="rect">
            <a:avLst/>
          </a:prstGeom>
        </p:spPr>
      </p:pic>
      <p:sp>
        <p:nvSpPr>
          <p:cNvPr id="12" name="标题 1">
            <a:extLst>
              <a:ext uri="{FF2B5EF4-FFF2-40B4-BE49-F238E27FC236}">
                <a16:creationId xmlns:a16="http://schemas.microsoft.com/office/drawing/2014/main" id="{4FC95A4D-CA3E-2752-328A-68AB4EA30CB3}"/>
              </a:ext>
            </a:extLst>
          </p:cNvPr>
          <p:cNvSpPr>
            <a:spLocks noGrp="1"/>
          </p:cNvSpPr>
          <p:nvPr>
            <p:ph type="title"/>
          </p:nvPr>
        </p:nvSpPr>
        <p:spPr>
          <a:xfrm>
            <a:off x="838200" y="365125"/>
            <a:ext cx="10515600" cy="1325563"/>
          </a:xfrm>
        </p:spPr>
        <p:txBody>
          <a:bodyPr/>
          <a:lstStyle/>
          <a:p>
            <a:pPr algn="ctr"/>
            <a:r>
              <a:rPr lang="zh-CN" altLang="en-US" b="1" dirty="0"/>
              <a:t>串口（</a:t>
            </a:r>
            <a:r>
              <a:rPr lang="en-US" altLang="zh-CN" b="1" dirty="0"/>
              <a:t>Debug_2</a:t>
            </a:r>
            <a:r>
              <a:rPr lang="zh-CN" altLang="en-US" b="1" dirty="0"/>
              <a:t>）的引脚</a:t>
            </a:r>
          </a:p>
        </p:txBody>
      </p:sp>
      <p:sp>
        <p:nvSpPr>
          <p:cNvPr id="13" name="文本框 12">
            <a:extLst>
              <a:ext uri="{FF2B5EF4-FFF2-40B4-BE49-F238E27FC236}">
                <a16:creationId xmlns:a16="http://schemas.microsoft.com/office/drawing/2014/main" id="{5FA19EB4-A42D-40CF-7E03-C56B88574D1A}"/>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Tree>
    <p:extLst>
      <p:ext uri="{BB962C8B-B14F-4D97-AF65-F5344CB8AC3E}">
        <p14:creationId xmlns:p14="http://schemas.microsoft.com/office/powerpoint/2010/main" val="33584266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A4FCD88-7DCE-88E2-7165-9A1123CD4C99}"/>
              </a:ext>
            </a:extLst>
          </p:cNvPr>
          <p:cNvSpPr>
            <a:spLocks noGrp="1"/>
          </p:cNvSpPr>
          <p:nvPr>
            <p:ph idx="1"/>
          </p:nvPr>
        </p:nvSpPr>
        <p:spPr>
          <a:xfrm>
            <a:off x="1097280" y="1845734"/>
            <a:ext cx="9859191" cy="3942745"/>
          </a:xfrm>
        </p:spPr>
        <p:txBody>
          <a:bodyPr>
            <a:normAutofit lnSpcReduction="10000"/>
          </a:bodyPr>
          <a:lstStyle/>
          <a:p>
            <a:r>
              <a:rPr lang="zh-CN" altLang="en-US" sz="2000" b="1" dirty="0"/>
              <a:t>将对应的 </a:t>
            </a:r>
            <a:r>
              <a:rPr lang="en-US" altLang="zh-CN" sz="2000" b="1" dirty="0"/>
              <a:t>GPIO </a:t>
            </a:r>
            <a:r>
              <a:rPr lang="zh-CN" altLang="en-US" sz="2000" b="1" dirty="0"/>
              <a:t>引脚配置为</a:t>
            </a:r>
            <a:r>
              <a:rPr lang="zh-CN" altLang="en-US" sz="2000" b="1" dirty="0">
                <a:solidFill>
                  <a:srgbClr val="C00000"/>
                </a:solidFill>
              </a:rPr>
              <a:t>复用功能</a:t>
            </a:r>
            <a:r>
              <a:rPr lang="zh-CN" altLang="en-US" sz="2000" b="1" dirty="0"/>
              <a:t>，复用为串口功能</a:t>
            </a:r>
          </a:p>
          <a:p>
            <a:endParaRPr lang="en-US" altLang="zh-CN" sz="2000" b="1" dirty="0"/>
          </a:p>
          <a:p>
            <a:r>
              <a:rPr lang="zh-CN" altLang="en-US" sz="2000" b="1" dirty="0"/>
              <a:t>软件复位（</a:t>
            </a:r>
            <a:r>
              <a:rPr lang="en-US" altLang="zh-CN" sz="2000" b="1" dirty="0" err="1"/>
              <a:t>uart</a:t>
            </a:r>
            <a:r>
              <a:rPr lang="zh-CN" altLang="en-US" sz="2000" b="1" dirty="0"/>
              <a:t>、</a:t>
            </a:r>
            <a:r>
              <a:rPr lang="en-US" altLang="zh-CN" sz="2000" b="1" dirty="0" err="1"/>
              <a:t>rcvr_fifo</a:t>
            </a:r>
            <a:r>
              <a:rPr lang="zh-CN" altLang="en-US" sz="2000" b="1" dirty="0"/>
              <a:t>、</a:t>
            </a:r>
            <a:r>
              <a:rPr lang="en-US" altLang="zh-CN" sz="2000" b="1" dirty="0" err="1"/>
              <a:t>xmit_fifo</a:t>
            </a:r>
            <a:r>
              <a:rPr lang="zh-CN" altLang="en-US" sz="2000" b="1" dirty="0"/>
              <a:t>）</a:t>
            </a:r>
            <a:endParaRPr lang="en-US" altLang="zh-CN" sz="2000" b="1" dirty="0"/>
          </a:p>
          <a:p>
            <a:endParaRPr lang="en-US" altLang="zh-CN" sz="2000" b="1" dirty="0"/>
          </a:p>
          <a:p>
            <a:r>
              <a:rPr lang="zh-CN" altLang="en-US" sz="2000" b="1" dirty="0">
                <a:solidFill>
                  <a:srgbClr val="C00000"/>
                </a:solidFill>
              </a:rPr>
              <a:t>禁止中断</a:t>
            </a:r>
            <a:r>
              <a:rPr lang="zh-CN" altLang="en-US" sz="2000" b="1" dirty="0"/>
              <a:t>（本实验采用轮询的方式进行发送数据）</a:t>
            </a:r>
            <a:endParaRPr lang="en-US" altLang="zh-CN" sz="2000" b="1" dirty="0"/>
          </a:p>
          <a:p>
            <a:endParaRPr lang="en-US" altLang="zh-CN" sz="2000" b="1" dirty="0"/>
          </a:p>
          <a:p>
            <a:r>
              <a:rPr lang="zh-CN" altLang="en-US" sz="2000" b="1" dirty="0"/>
              <a:t>设置串口协议（数据长度，禁止校验位，设置停止位，波特率计算等等）</a:t>
            </a:r>
            <a:endParaRPr lang="en-US" altLang="zh-CN" sz="2000" b="1" dirty="0"/>
          </a:p>
          <a:p>
            <a:endParaRPr lang="en-US" altLang="zh-CN" sz="2000" b="1" dirty="0"/>
          </a:p>
          <a:p>
            <a:r>
              <a:rPr lang="zh-CN" altLang="en-US" sz="2000" b="1" dirty="0"/>
              <a:t>进行数据发送</a:t>
            </a:r>
          </a:p>
        </p:txBody>
      </p:sp>
      <p:sp>
        <p:nvSpPr>
          <p:cNvPr id="4" name="标题 1">
            <a:extLst>
              <a:ext uri="{FF2B5EF4-FFF2-40B4-BE49-F238E27FC236}">
                <a16:creationId xmlns:a16="http://schemas.microsoft.com/office/drawing/2014/main" id="{4C92FA7E-B926-6441-6474-841E9695F854}"/>
              </a:ext>
            </a:extLst>
          </p:cNvPr>
          <p:cNvSpPr>
            <a:spLocks noGrp="1"/>
          </p:cNvSpPr>
          <p:nvPr>
            <p:ph type="title"/>
          </p:nvPr>
        </p:nvSpPr>
        <p:spPr>
          <a:xfrm>
            <a:off x="838200" y="365125"/>
            <a:ext cx="10515600" cy="1325563"/>
          </a:xfrm>
        </p:spPr>
        <p:txBody>
          <a:bodyPr/>
          <a:lstStyle/>
          <a:p>
            <a:pPr algn="ctr"/>
            <a:r>
              <a:rPr lang="zh-CN" altLang="en-US" b="1" dirty="0"/>
              <a:t>怎样通过串口（</a:t>
            </a:r>
            <a:r>
              <a:rPr lang="en-US" altLang="zh-CN" b="1" dirty="0"/>
              <a:t>Debug_2</a:t>
            </a:r>
            <a:r>
              <a:rPr lang="zh-CN" altLang="en-US" b="1" dirty="0"/>
              <a:t>）发送数据</a:t>
            </a:r>
          </a:p>
        </p:txBody>
      </p:sp>
      <p:sp>
        <p:nvSpPr>
          <p:cNvPr id="5" name="文本框 4">
            <a:extLst>
              <a:ext uri="{FF2B5EF4-FFF2-40B4-BE49-F238E27FC236}">
                <a16:creationId xmlns:a16="http://schemas.microsoft.com/office/drawing/2014/main" id="{EA869112-73FC-28C1-D613-F165BEC5B3FD}"/>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Tree>
    <p:extLst>
      <p:ext uri="{BB962C8B-B14F-4D97-AF65-F5344CB8AC3E}">
        <p14:creationId xmlns:p14="http://schemas.microsoft.com/office/powerpoint/2010/main" val="36627771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CE0F59E-2F1E-6310-81A7-14D764674598}"/>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
        <p:nvSpPr>
          <p:cNvPr id="8" name="标题 1">
            <a:extLst>
              <a:ext uri="{FF2B5EF4-FFF2-40B4-BE49-F238E27FC236}">
                <a16:creationId xmlns:a16="http://schemas.microsoft.com/office/drawing/2014/main" id="{55DE2810-42AF-F137-86F3-0D64585D23B0}"/>
              </a:ext>
            </a:extLst>
          </p:cNvPr>
          <p:cNvSpPr>
            <a:spLocks noGrp="1"/>
          </p:cNvSpPr>
          <p:nvPr>
            <p:ph type="title"/>
          </p:nvPr>
        </p:nvSpPr>
        <p:spPr>
          <a:xfrm>
            <a:off x="838200" y="365125"/>
            <a:ext cx="10515600" cy="1325563"/>
          </a:xfrm>
        </p:spPr>
        <p:txBody>
          <a:bodyPr/>
          <a:lstStyle/>
          <a:p>
            <a:pPr algn="ctr"/>
            <a:r>
              <a:rPr lang="en-US" altLang="zh-CN" b="1" dirty="0" err="1"/>
              <a:t>fs_uart</a:t>
            </a:r>
            <a:r>
              <a:rPr lang="zh-CN" altLang="en-US" b="1" dirty="0"/>
              <a:t>实验程序（</a:t>
            </a:r>
            <a:r>
              <a:rPr lang="en-US" altLang="zh-CN" b="1" dirty="0"/>
              <a:t>1</a:t>
            </a:r>
            <a:r>
              <a:rPr lang="zh-CN" altLang="en-US" b="1" dirty="0"/>
              <a:t>）</a:t>
            </a:r>
          </a:p>
        </p:txBody>
      </p:sp>
      <p:pic>
        <p:nvPicPr>
          <p:cNvPr id="10" name="图片 9">
            <a:extLst>
              <a:ext uri="{FF2B5EF4-FFF2-40B4-BE49-F238E27FC236}">
                <a16:creationId xmlns:a16="http://schemas.microsoft.com/office/drawing/2014/main" id="{670F4988-4946-1AA1-991C-18EFD57D5AC4}"/>
              </a:ext>
            </a:extLst>
          </p:cNvPr>
          <p:cNvPicPr>
            <a:picLocks noChangeAspect="1"/>
          </p:cNvPicPr>
          <p:nvPr/>
        </p:nvPicPr>
        <p:blipFill>
          <a:blip r:embed="rId2"/>
          <a:stretch>
            <a:fillRect/>
          </a:stretch>
        </p:blipFill>
        <p:spPr>
          <a:xfrm>
            <a:off x="4434841" y="1759391"/>
            <a:ext cx="5072806" cy="5098609"/>
          </a:xfrm>
          <a:prstGeom prst="rect">
            <a:avLst/>
          </a:prstGeom>
        </p:spPr>
      </p:pic>
      <p:sp>
        <p:nvSpPr>
          <p:cNvPr id="11" name="内容占位符 2">
            <a:extLst>
              <a:ext uri="{FF2B5EF4-FFF2-40B4-BE49-F238E27FC236}">
                <a16:creationId xmlns:a16="http://schemas.microsoft.com/office/drawing/2014/main" id="{6E75D285-0A5B-B614-B23F-699A29DD3BF9}"/>
              </a:ext>
            </a:extLst>
          </p:cNvPr>
          <p:cNvSpPr>
            <a:spLocks noGrp="1"/>
          </p:cNvSpPr>
          <p:nvPr>
            <p:ph idx="1"/>
          </p:nvPr>
        </p:nvSpPr>
        <p:spPr>
          <a:xfrm>
            <a:off x="1230086" y="1875354"/>
            <a:ext cx="1454267" cy="484125"/>
          </a:xfrm>
        </p:spPr>
        <p:txBody>
          <a:bodyPr>
            <a:normAutofit/>
          </a:bodyPr>
          <a:lstStyle/>
          <a:p>
            <a:r>
              <a:rPr lang="en-US" altLang="zh-CN" sz="2000" b="1" dirty="0"/>
              <a:t>1</a:t>
            </a:r>
            <a:r>
              <a:rPr lang="zh-CN" altLang="en-US" sz="2000" b="1" dirty="0"/>
              <a:t>、</a:t>
            </a:r>
            <a:r>
              <a:rPr lang="en-US" altLang="zh-CN" sz="2000" b="1" dirty="0" err="1"/>
              <a:t>main.c</a:t>
            </a:r>
            <a:endParaRPr lang="zh-CN" altLang="en-US" sz="2000" b="1" dirty="0"/>
          </a:p>
        </p:txBody>
      </p:sp>
      <p:cxnSp>
        <p:nvCxnSpPr>
          <p:cNvPr id="12" name="直接箭头连接符 11">
            <a:extLst>
              <a:ext uri="{FF2B5EF4-FFF2-40B4-BE49-F238E27FC236}">
                <a16:creationId xmlns:a16="http://schemas.microsoft.com/office/drawing/2014/main" id="{7AE4E6C8-940A-2082-091A-C2EB586EB01A}"/>
              </a:ext>
            </a:extLst>
          </p:cNvPr>
          <p:cNvCxnSpPr/>
          <p:nvPr/>
        </p:nvCxnSpPr>
        <p:spPr>
          <a:xfrm>
            <a:off x="4634763" y="344538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3327F892-FAAC-0CBD-E95F-79C2C16E9B04}"/>
              </a:ext>
            </a:extLst>
          </p:cNvPr>
          <p:cNvCxnSpPr/>
          <p:nvPr/>
        </p:nvCxnSpPr>
        <p:spPr>
          <a:xfrm>
            <a:off x="4581423" y="440550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67AD62A6-824C-5142-7A0C-A06910B7D767}"/>
              </a:ext>
            </a:extLst>
          </p:cNvPr>
          <p:cNvCxnSpPr/>
          <p:nvPr/>
        </p:nvCxnSpPr>
        <p:spPr>
          <a:xfrm>
            <a:off x="4634763" y="506082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82EF799C-3160-9813-9537-4AA3058F766B}"/>
              </a:ext>
            </a:extLst>
          </p:cNvPr>
          <p:cNvCxnSpPr/>
          <p:nvPr/>
        </p:nvCxnSpPr>
        <p:spPr>
          <a:xfrm>
            <a:off x="4634763" y="564756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BB150295-822A-8E35-5BB5-A5BC4FE273C9}"/>
              </a:ext>
            </a:extLst>
          </p:cNvPr>
          <p:cNvSpPr txBox="1"/>
          <p:nvPr/>
        </p:nvSpPr>
        <p:spPr>
          <a:xfrm>
            <a:off x="6868070" y="4711664"/>
            <a:ext cx="4842992" cy="369332"/>
          </a:xfrm>
          <a:prstGeom prst="rect">
            <a:avLst/>
          </a:prstGeom>
          <a:solidFill>
            <a:srgbClr val="FFFF00"/>
          </a:solidFill>
        </p:spPr>
        <p:txBody>
          <a:bodyPr wrap="none" rtlCol="0">
            <a:spAutoFit/>
          </a:bodyPr>
          <a:lstStyle/>
          <a:p>
            <a:r>
              <a:rPr lang="en-US" altLang="zh-CN" b="1" dirty="0"/>
              <a:t>4</a:t>
            </a:r>
            <a:r>
              <a:rPr lang="zh-CN" altLang="en-US" b="1" dirty="0"/>
              <a:t>个函数由</a:t>
            </a:r>
            <a:r>
              <a:rPr lang="en-US" altLang="zh-CN" b="1" dirty="0"/>
              <a:t>fs3399_uart.c</a:t>
            </a:r>
            <a:r>
              <a:rPr lang="zh-CN" altLang="en-US" b="1" dirty="0"/>
              <a:t>和</a:t>
            </a:r>
            <a:r>
              <a:rPr lang="en-US" altLang="zh-CN" b="1" dirty="0"/>
              <a:t>fs3399_printf.c</a:t>
            </a:r>
            <a:r>
              <a:rPr lang="zh-CN" altLang="en-US" b="1" dirty="0"/>
              <a:t>提供</a:t>
            </a:r>
          </a:p>
        </p:txBody>
      </p:sp>
    </p:spTree>
    <p:extLst>
      <p:ext uri="{BB962C8B-B14F-4D97-AF65-F5344CB8AC3E}">
        <p14:creationId xmlns:p14="http://schemas.microsoft.com/office/powerpoint/2010/main" val="311880329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1C8A4C21-CCBF-4826-823B-F35DBDF58C76}"/>
              </a:ext>
            </a:extLst>
          </p:cNvPr>
          <p:cNvPicPr>
            <a:picLocks noChangeAspect="1"/>
          </p:cNvPicPr>
          <p:nvPr/>
        </p:nvPicPr>
        <p:blipFill>
          <a:blip r:embed="rId2"/>
          <a:stretch>
            <a:fillRect/>
          </a:stretch>
        </p:blipFill>
        <p:spPr>
          <a:xfrm>
            <a:off x="3484407" y="1690688"/>
            <a:ext cx="4322276" cy="4847270"/>
          </a:xfrm>
          <a:prstGeom prst="rect">
            <a:avLst/>
          </a:prstGeom>
        </p:spPr>
      </p:pic>
      <p:pic>
        <p:nvPicPr>
          <p:cNvPr id="16" name="图片 15">
            <a:extLst>
              <a:ext uri="{FF2B5EF4-FFF2-40B4-BE49-F238E27FC236}">
                <a16:creationId xmlns:a16="http://schemas.microsoft.com/office/drawing/2014/main" id="{932E2233-D41A-4C22-AE10-1680570FC829}"/>
              </a:ext>
            </a:extLst>
          </p:cNvPr>
          <p:cNvPicPr>
            <a:picLocks noChangeAspect="1"/>
          </p:cNvPicPr>
          <p:nvPr/>
        </p:nvPicPr>
        <p:blipFill>
          <a:blip r:embed="rId3"/>
          <a:stretch>
            <a:fillRect/>
          </a:stretch>
        </p:blipFill>
        <p:spPr>
          <a:xfrm>
            <a:off x="7960489" y="2229212"/>
            <a:ext cx="4033691" cy="3459958"/>
          </a:xfrm>
          <a:prstGeom prst="rect">
            <a:avLst/>
          </a:prstGeom>
        </p:spPr>
      </p:pic>
      <p:sp>
        <p:nvSpPr>
          <p:cNvPr id="6" name="文本框 5">
            <a:extLst>
              <a:ext uri="{FF2B5EF4-FFF2-40B4-BE49-F238E27FC236}">
                <a16:creationId xmlns:a16="http://schemas.microsoft.com/office/drawing/2014/main" id="{B6014EB9-AB3E-3C4D-C200-0AB5243B6511}"/>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
        <p:nvSpPr>
          <p:cNvPr id="7" name="标题 1">
            <a:extLst>
              <a:ext uri="{FF2B5EF4-FFF2-40B4-BE49-F238E27FC236}">
                <a16:creationId xmlns:a16="http://schemas.microsoft.com/office/drawing/2014/main" id="{DC4F6329-6CC0-5E1D-A8C2-2ACEE69772FA}"/>
              </a:ext>
            </a:extLst>
          </p:cNvPr>
          <p:cNvSpPr>
            <a:spLocks noGrp="1"/>
          </p:cNvSpPr>
          <p:nvPr>
            <p:ph type="title"/>
          </p:nvPr>
        </p:nvSpPr>
        <p:spPr>
          <a:xfrm>
            <a:off x="838200" y="365125"/>
            <a:ext cx="10515600" cy="1325563"/>
          </a:xfrm>
        </p:spPr>
        <p:txBody>
          <a:bodyPr/>
          <a:lstStyle/>
          <a:p>
            <a:pPr algn="ctr"/>
            <a:r>
              <a:rPr lang="en-US" altLang="zh-CN" b="1" dirty="0" err="1"/>
              <a:t>fs_uart</a:t>
            </a:r>
            <a:r>
              <a:rPr lang="zh-CN" altLang="en-US" b="1" dirty="0"/>
              <a:t>实验程序（</a:t>
            </a:r>
            <a:r>
              <a:rPr lang="en-US" altLang="zh-CN" b="1" dirty="0"/>
              <a:t>2</a:t>
            </a:r>
            <a:r>
              <a:rPr lang="zh-CN" altLang="en-US" b="1" dirty="0"/>
              <a:t>）</a:t>
            </a:r>
          </a:p>
        </p:txBody>
      </p:sp>
      <p:sp>
        <p:nvSpPr>
          <p:cNvPr id="8" name="内容占位符 2">
            <a:extLst>
              <a:ext uri="{FF2B5EF4-FFF2-40B4-BE49-F238E27FC236}">
                <a16:creationId xmlns:a16="http://schemas.microsoft.com/office/drawing/2014/main" id="{346E3AEB-176B-0688-E744-43E9CB3DD69F}"/>
              </a:ext>
            </a:extLst>
          </p:cNvPr>
          <p:cNvSpPr>
            <a:spLocks noGrp="1"/>
          </p:cNvSpPr>
          <p:nvPr>
            <p:ph idx="1"/>
          </p:nvPr>
        </p:nvSpPr>
        <p:spPr>
          <a:xfrm>
            <a:off x="1325619" y="1875354"/>
            <a:ext cx="2336158" cy="369332"/>
          </a:xfrm>
        </p:spPr>
        <p:txBody>
          <a:bodyPr>
            <a:normAutofit/>
          </a:bodyPr>
          <a:lstStyle/>
          <a:p>
            <a:r>
              <a:rPr lang="en-US" altLang="zh-CN" sz="2000" b="1" dirty="0"/>
              <a:t>2</a:t>
            </a:r>
            <a:r>
              <a:rPr lang="zh-CN" altLang="en-US" sz="2000" b="1" dirty="0"/>
              <a:t>、</a:t>
            </a:r>
            <a:r>
              <a:rPr lang="en-US" altLang="zh-CN" sz="2000" b="1" dirty="0"/>
              <a:t>fs3399_uart.c</a:t>
            </a:r>
            <a:endParaRPr lang="zh-CN" altLang="en-US" sz="2000" b="1" dirty="0"/>
          </a:p>
        </p:txBody>
      </p:sp>
      <p:cxnSp>
        <p:nvCxnSpPr>
          <p:cNvPr id="9" name="直接箭头连接符 8">
            <a:extLst>
              <a:ext uri="{FF2B5EF4-FFF2-40B4-BE49-F238E27FC236}">
                <a16:creationId xmlns:a16="http://schemas.microsoft.com/office/drawing/2014/main" id="{CB699C93-271D-895A-A1E5-E396273E55FB}"/>
              </a:ext>
            </a:extLst>
          </p:cNvPr>
          <p:cNvCxnSpPr>
            <a:cxnSpLocks/>
            <a:stCxn id="2" idx="3"/>
          </p:cNvCxnSpPr>
          <p:nvPr/>
        </p:nvCxnSpPr>
        <p:spPr>
          <a:xfrm>
            <a:off x="3163112" y="2871712"/>
            <a:ext cx="34485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50C90F8D-F9BC-33E2-2DCA-1464AAE97FCC}"/>
              </a:ext>
            </a:extLst>
          </p:cNvPr>
          <p:cNvCxnSpPr>
            <a:cxnSpLocks/>
          </p:cNvCxnSpPr>
          <p:nvPr/>
        </p:nvCxnSpPr>
        <p:spPr>
          <a:xfrm>
            <a:off x="8448301" y="2060020"/>
            <a:ext cx="0" cy="18827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2CE16072-8C1F-35CF-9FDA-D2BBC4AA3A1D}"/>
              </a:ext>
            </a:extLst>
          </p:cNvPr>
          <p:cNvSpPr txBox="1"/>
          <p:nvPr/>
        </p:nvSpPr>
        <p:spPr>
          <a:xfrm>
            <a:off x="1824284" y="2687046"/>
            <a:ext cx="1338828" cy="369332"/>
          </a:xfrm>
          <a:prstGeom prst="rect">
            <a:avLst/>
          </a:prstGeom>
          <a:solidFill>
            <a:srgbClr val="FFFF00"/>
          </a:solidFill>
        </p:spPr>
        <p:txBody>
          <a:bodyPr wrap="none" rtlCol="0">
            <a:spAutoFit/>
          </a:bodyPr>
          <a:lstStyle/>
          <a:p>
            <a:r>
              <a:rPr lang="zh-CN" altLang="en-US" b="1" dirty="0"/>
              <a:t>串口初始化</a:t>
            </a:r>
          </a:p>
        </p:txBody>
      </p:sp>
      <p:sp>
        <p:nvSpPr>
          <p:cNvPr id="3" name="文本框 2">
            <a:extLst>
              <a:ext uri="{FF2B5EF4-FFF2-40B4-BE49-F238E27FC236}">
                <a16:creationId xmlns:a16="http://schemas.microsoft.com/office/drawing/2014/main" id="{CD11B6A6-2E01-F132-DBF2-C9595CA50DA4}"/>
              </a:ext>
            </a:extLst>
          </p:cNvPr>
          <p:cNvSpPr txBox="1"/>
          <p:nvPr/>
        </p:nvSpPr>
        <p:spPr>
          <a:xfrm>
            <a:off x="8917153" y="2044546"/>
            <a:ext cx="1107996" cy="369332"/>
          </a:xfrm>
          <a:prstGeom prst="rect">
            <a:avLst/>
          </a:prstGeom>
          <a:solidFill>
            <a:srgbClr val="FFFF00"/>
          </a:solidFill>
        </p:spPr>
        <p:txBody>
          <a:bodyPr wrap="none" rtlCol="0">
            <a:spAutoFit/>
          </a:bodyPr>
          <a:lstStyle/>
          <a:p>
            <a:r>
              <a:rPr lang="zh-CN" altLang="en-US" b="1" dirty="0"/>
              <a:t>发送字符</a:t>
            </a:r>
          </a:p>
        </p:txBody>
      </p:sp>
      <p:sp>
        <p:nvSpPr>
          <p:cNvPr id="4" name="文本框 3">
            <a:extLst>
              <a:ext uri="{FF2B5EF4-FFF2-40B4-BE49-F238E27FC236}">
                <a16:creationId xmlns:a16="http://schemas.microsoft.com/office/drawing/2014/main" id="{FDC7560B-B7D6-13D4-2B6A-31B7F2C033ED}"/>
              </a:ext>
            </a:extLst>
          </p:cNvPr>
          <p:cNvSpPr txBox="1"/>
          <p:nvPr/>
        </p:nvSpPr>
        <p:spPr>
          <a:xfrm>
            <a:off x="9307920" y="3408218"/>
            <a:ext cx="1274182" cy="338554"/>
          </a:xfrm>
          <a:prstGeom prst="rect">
            <a:avLst/>
          </a:prstGeom>
          <a:solidFill>
            <a:srgbClr val="FFFF00"/>
          </a:solidFill>
        </p:spPr>
        <p:txBody>
          <a:bodyPr wrap="square" rtlCol="0">
            <a:spAutoFit/>
          </a:bodyPr>
          <a:lstStyle/>
          <a:p>
            <a:r>
              <a:rPr lang="zh-CN" altLang="en-US" sz="1600" b="1" dirty="0"/>
              <a:t>发送字符串</a:t>
            </a:r>
          </a:p>
        </p:txBody>
      </p:sp>
      <p:sp>
        <p:nvSpPr>
          <p:cNvPr id="20" name="文本框 19">
            <a:extLst>
              <a:ext uri="{FF2B5EF4-FFF2-40B4-BE49-F238E27FC236}">
                <a16:creationId xmlns:a16="http://schemas.microsoft.com/office/drawing/2014/main" id="{D5F45921-F537-419D-A5E9-5BCEA7E00DD4}"/>
              </a:ext>
            </a:extLst>
          </p:cNvPr>
          <p:cNvSpPr txBox="1"/>
          <p:nvPr/>
        </p:nvSpPr>
        <p:spPr>
          <a:xfrm>
            <a:off x="8987866" y="4614933"/>
            <a:ext cx="1037283" cy="338554"/>
          </a:xfrm>
          <a:prstGeom prst="rect">
            <a:avLst/>
          </a:prstGeom>
          <a:solidFill>
            <a:srgbClr val="FFFF00"/>
          </a:solidFill>
        </p:spPr>
        <p:txBody>
          <a:bodyPr wrap="square" rtlCol="0">
            <a:spAutoFit/>
          </a:bodyPr>
          <a:lstStyle/>
          <a:p>
            <a:r>
              <a:rPr lang="zh-CN" altLang="en-US" sz="1600" b="1" dirty="0"/>
              <a:t>接收字符</a:t>
            </a:r>
          </a:p>
        </p:txBody>
      </p:sp>
    </p:spTree>
    <p:extLst>
      <p:ext uri="{BB962C8B-B14F-4D97-AF65-F5344CB8AC3E}">
        <p14:creationId xmlns:p14="http://schemas.microsoft.com/office/powerpoint/2010/main" val="28668858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6014EB9-AB3E-3C4D-C200-0AB5243B6511}"/>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
        <p:nvSpPr>
          <p:cNvPr id="7" name="标题 1">
            <a:extLst>
              <a:ext uri="{FF2B5EF4-FFF2-40B4-BE49-F238E27FC236}">
                <a16:creationId xmlns:a16="http://schemas.microsoft.com/office/drawing/2014/main" id="{DC4F6329-6CC0-5E1D-A8C2-2ACEE69772FA}"/>
              </a:ext>
            </a:extLst>
          </p:cNvPr>
          <p:cNvSpPr>
            <a:spLocks noGrp="1"/>
          </p:cNvSpPr>
          <p:nvPr>
            <p:ph type="title"/>
          </p:nvPr>
        </p:nvSpPr>
        <p:spPr>
          <a:xfrm>
            <a:off x="838200" y="365125"/>
            <a:ext cx="10515600" cy="1325563"/>
          </a:xfrm>
        </p:spPr>
        <p:txBody>
          <a:bodyPr/>
          <a:lstStyle/>
          <a:p>
            <a:pPr algn="ctr"/>
            <a:r>
              <a:rPr lang="en-US" altLang="zh-CN" b="1" dirty="0" err="1"/>
              <a:t>fs_uart</a:t>
            </a:r>
            <a:r>
              <a:rPr lang="zh-CN" altLang="en-US" b="1" dirty="0"/>
              <a:t>实验程序（</a:t>
            </a:r>
            <a:r>
              <a:rPr lang="en-US" altLang="zh-CN" b="1" dirty="0"/>
              <a:t>3</a:t>
            </a:r>
            <a:r>
              <a:rPr lang="zh-CN" altLang="en-US" b="1" dirty="0"/>
              <a:t>）</a:t>
            </a:r>
          </a:p>
        </p:txBody>
      </p:sp>
      <p:sp>
        <p:nvSpPr>
          <p:cNvPr id="8" name="内容占位符 2">
            <a:extLst>
              <a:ext uri="{FF2B5EF4-FFF2-40B4-BE49-F238E27FC236}">
                <a16:creationId xmlns:a16="http://schemas.microsoft.com/office/drawing/2014/main" id="{346E3AEB-176B-0688-E744-43E9CB3DD69F}"/>
              </a:ext>
            </a:extLst>
          </p:cNvPr>
          <p:cNvSpPr>
            <a:spLocks noGrp="1"/>
          </p:cNvSpPr>
          <p:nvPr>
            <p:ph idx="1"/>
          </p:nvPr>
        </p:nvSpPr>
        <p:spPr>
          <a:xfrm>
            <a:off x="838200" y="1825625"/>
            <a:ext cx="4279366" cy="4351338"/>
          </a:xfrm>
        </p:spPr>
        <p:txBody>
          <a:bodyPr>
            <a:normAutofit/>
          </a:bodyPr>
          <a:lstStyle/>
          <a:p>
            <a:r>
              <a:rPr lang="en-US" altLang="zh-CN" sz="2000" b="1" dirty="0"/>
              <a:t>3</a:t>
            </a:r>
            <a:r>
              <a:rPr lang="zh-CN" altLang="en-US" sz="2000" b="1" dirty="0"/>
              <a:t>、</a:t>
            </a:r>
            <a:r>
              <a:rPr lang="en-US" altLang="zh-CN" sz="2000" b="1" dirty="0"/>
              <a:t>fs3399_printf.c</a:t>
            </a:r>
            <a:endParaRPr lang="zh-CN" altLang="en-US" sz="2000" b="1" dirty="0"/>
          </a:p>
        </p:txBody>
      </p:sp>
      <p:pic>
        <p:nvPicPr>
          <p:cNvPr id="3" name="图片 2">
            <a:extLst>
              <a:ext uri="{FF2B5EF4-FFF2-40B4-BE49-F238E27FC236}">
                <a16:creationId xmlns:a16="http://schemas.microsoft.com/office/drawing/2014/main" id="{C0483145-AF3F-A5A8-47E7-8D8482CDE000}"/>
              </a:ext>
            </a:extLst>
          </p:cNvPr>
          <p:cNvPicPr>
            <a:picLocks noChangeAspect="1"/>
          </p:cNvPicPr>
          <p:nvPr/>
        </p:nvPicPr>
        <p:blipFill>
          <a:blip r:embed="rId2"/>
          <a:stretch>
            <a:fillRect/>
          </a:stretch>
        </p:blipFill>
        <p:spPr>
          <a:xfrm>
            <a:off x="7297313" y="1646555"/>
            <a:ext cx="2994265" cy="4846320"/>
          </a:xfrm>
          <a:prstGeom prst="rect">
            <a:avLst/>
          </a:prstGeom>
        </p:spPr>
      </p:pic>
      <p:pic>
        <p:nvPicPr>
          <p:cNvPr id="9" name="图片 8">
            <a:extLst>
              <a:ext uri="{FF2B5EF4-FFF2-40B4-BE49-F238E27FC236}">
                <a16:creationId xmlns:a16="http://schemas.microsoft.com/office/drawing/2014/main" id="{6B50124E-18DB-2777-F9DE-81804BE8FB8D}"/>
              </a:ext>
            </a:extLst>
          </p:cNvPr>
          <p:cNvPicPr>
            <a:picLocks noChangeAspect="1"/>
          </p:cNvPicPr>
          <p:nvPr/>
        </p:nvPicPr>
        <p:blipFill>
          <a:blip r:embed="rId3"/>
          <a:stretch>
            <a:fillRect/>
          </a:stretch>
        </p:blipFill>
        <p:spPr>
          <a:xfrm>
            <a:off x="3124580" y="1870711"/>
            <a:ext cx="3254976" cy="4486274"/>
          </a:xfrm>
          <a:prstGeom prst="rect">
            <a:avLst/>
          </a:prstGeom>
        </p:spPr>
      </p:pic>
      <p:cxnSp>
        <p:nvCxnSpPr>
          <p:cNvPr id="10" name="直接箭头连接符 9">
            <a:extLst>
              <a:ext uri="{FF2B5EF4-FFF2-40B4-BE49-F238E27FC236}">
                <a16:creationId xmlns:a16="http://schemas.microsoft.com/office/drawing/2014/main" id="{2E1E46F2-8FEE-0A37-C288-FACC103B9C03}"/>
              </a:ext>
            </a:extLst>
          </p:cNvPr>
          <p:cNvCxnSpPr/>
          <p:nvPr/>
        </p:nvCxnSpPr>
        <p:spPr>
          <a:xfrm>
            <a:off x="6843475" y="5006399"/>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482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1F67BAC-6ADF-C689-2CDA-810656FB19C6}"/>
              </a:ext>
            </a:extLst>
          </p:cNvPr>
          <p:cNvPicPr>
            <a:picLocks noChangeAspect="1"/>
          </p:cNvPicPr>
          <p:nvPr/>
        </p:nvPicPr>
        <p:blipFill>
          <a:blip r:embed="rId2"/>
          <a:stretch>
            <a:fillRect/>
          </a:stretch>
        </p:blipFill>
        <p:spPr>
          <a:xfrm>
            <a:off x="979638" y="180459"/>
            <a:ext cx="6542468" cy="6213021"/>
          </a:xfrm>
          <a:prstGeom prst="rect">
            <a:avLst/>
          </a:prstGeom>
        </p:spPr>
      </p:pic>
      <p:sp>
        <p:nvSpPr>
          <p:cNvPr id="2" name="文本框 1">
            <a:extLst>
              <a:ext uri="{FF2B5EF4-FFF2-40B4-BE49-F238E27FC236}">
                <a16:creationId xmlns:a16="http://schemas.microsoft.com/office/drawing/2014/main" id="{60E2658E-DE0E-A27F-D7F9-096555DD9E0A}"/>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Tree>
    <p:extLst>
      <p:ext uri="{BB962C8B-B14F-4D97-AF65-F5344CB8AC3E}">
        <p14:creationId xmlns:p14="http://schemas.microsoft.com/office/powerpoint/2010/main" val="30435610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264AA55-242B-419E-6588-F808777BD0F1}"/>
              </a:ext>
            </a:extLst>
          </p:cNvPr>
          <p:cNvPicPr>
            <a:picLocks noChangeAspect="1"/>
          </p:cNvPicPr>
          <p:nvPr/>
        </p:nvPicPr>
        <p:blipFill>
          <a:blip r:embed="rId2"/>
          <a:stretch>
            <a:fillRect/>
          </a:stretch>
        </p:blipFill>
        <p:spPr>
          <a:xfrm>
            <a:off x="3384904" y="122465"/>
            <a:ext cx="6271278" cy="6180364"/>
          </a:xfrm>
          <a:prstGeom prst="rect">
            <a:avLst/>
          </a:prstGeom>
        </p:spPr>
      </p:pic>
      <p:sp>
        <p:nvSpPr>
          <p:cNvPr id="2" name="文本框 1">
            <a:extLst>
              <a:ext uri="{FF2B5EF4-FFF2-40B4-BE49-F238E27FC236}">
                <a16:creationId xmlns:a16="http://schemas.microsoft.com/office/drawing/2014/main" id="{08569850-4146-9797-3EBE-E78D61411AEF}"/>
              </a:ext>
            </a:extLst>
          </p:cNvPr>
          <p:cNvSpPr txBox="1"/>
          <p:nvPr/>
        </p:nvSpPr>
        <p:spPr>
          <a:xfrm>
            <a:off x="1421120"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Tree>
    <p:extLst>
      <p:ext uri="{BB962C8B-B14F-4D97-AF65-F5344CB8AC3E}">
        <p14:creationId xmlns:p14="http://schemas.microsoft.com/office/powerpoint/2010/main" val="26949031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2ECD090-FC18-96B1-2C41-E337F2E5593D}"/>
              </a:ext>
            </a:extLst>
          </p:cNvPr>
          <p:cNvPicPr>
            <a:picLocks noChangeAspect="1"/>
          </p:cNvPicPr>
          <p:nvPr/>
        </p:nvPicPr>
        <p:blipFill>
          <a:blip r:embed="rId2"/>
          <a:stretch>
            <a:fillRect/>
          </a:stretch>
        </p:blipFill>
        <p:spPr>
          <a:xfrm>
            <a:off x="3302370" y="0"/>
            <a:ext cx="6501660" cy="6308209"/>
          </a:xfrm>
          <a:prstGeom prst="rect">
            <a:avLst/>
          </a:prstGeom>
        </p:spPr>
      </p:pic>
      <p:sp>
        <p:nvSpPr>
          <p:cNvPr id="2" name="文本框 1">
            <a:extLst>
              <a:ext uri="{FF2B5EF4-FFF2-40B4-BE49-F238E27FC236}">
                <a16:creationId xmlns:a16="http://schemas.microsoft.com/office/drawing/2014/main" id="{34E0EBC1-2880-B042-4493-89C1015C0E9D}"/>
              </a:ext>
            </a:extLst>
          </p:cNvPr>
          <p:cNvSpPr txBox="1"/>
          <p:nvPr/>
        </p:nvSpPr>
        <p:spPr>
          <a:xfrm>
            <a:off x="1289552"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Tree>
    <p:extLst>
      <p:ext uri="{BB962C8B-B14F-4D97-AF65-F5344CB8AC3E}">
        <p14:creationId xmlns:p14="http://schemas.microsoft.com/office/powerpoint/2010/main" val="37500851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E045566-7C4B-6C0A-F0F6-8CCD19CE9BEA}"/>
              </a:ext>
            </a:extLst>
          </p:cNvPr>
          <p:cNvPicPr>
            <a:picLocks noChangeAspect="1"/>
          </p:cNvPicPr>
          <p:nvPr/>
        </p:nvPicPr>
        <p:blipFill>
          <a:blip r:embed="rId2"/>
          <a:stretch>
            <a:fillRect/>
          </a:stretch>
        </p:blipFill>
        <p:spPr>
          <a:xfrm>
            <a:off x="3159904" y="269421"/>
            <a:ext cx="5872192" cy="6090557"/>
          </a:xfrm>
          <a:prstGeom prst="rect">
            <a:avLst/>
          </a:prstGeom>
        </p:spPr>
      </p:pic>
      <p:sp>
        <p:nvSpPr>
          <p:cNvPr id="2" name="文本框 1">
            <a:extLst>
              <a:ext uri="{FF2B5EF4-FFF2-40B4-BE49-F238E27FC236}">
                <a16:creationId xmlns:a16="http://schemas.microsoft.com/office/drawing/2014/main" id="{A8EEED83-7712-2A38-0FB3-27280A8AE472}"/>
              </a:ext>
            </a:extLst>
          </p:cNvPr>
          <p:cNvSpPr txBox="1"/>
          <p:nvPr/>
        </p:nvSpPr>
        <p:spPr>
          <a:xfrm>
            <a:off x="1552688"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Tree>
    <p:extLst>
      <p:ext uri="{BB962C8B-B14F-4D97-AF65-F5344CB8AC3E}">
        <p14:creationId xmlns:p14="http://schemas.microsoft.com/office/powerpoint/2010/main" val="209882788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4916BFA-E92E-45B5-BA37-169452680612}"/>
              </a:ext>
            </a:extLst>
          </p:cNvPr>
          <p:cNvPicPr>
            <a:picLocks noChangeAspect="1"/>
          </p:cNvPicPr>
          <p:nvPr/>
        </p:nvPicPr>
        <p:blipFill rotWithShape="1">
          <a:blip r:embed="rId2"/>
          <a:srcRect b="60422"/>
          <a:stretch/>
        </p:blipFill>
        <p:spPr>
          <a:xfrm>
            <a:off x="1229641" y="1975272"/>
            <a:ext cx="5565980" cy="2471934"/>
          </a:xfrm>
          <a:prstGeom prst="rect">
            <a:avLst/>
          </a:prstGeom>
        </p:spPr>
      </p:pic>
      <p:pic>
        <p:nvPicPr>
          <p:cNvPr id="3" name="图片 2">
            <a:extLst>
              <a:ext uri="{FF2B5EF4-FFF2-40B4-BE49-F238E27FC236}">
                <a16:creationId xmlns:a16="http://schemas.microsoft.com/office/drawing/2014/main" id="{F22C303F-47F0-E97B-BF8B-740E90092C40}"/>
              </a:ext>
            </a:extLst>
          </p:cNvPr>
          <p:cNvPicPr>
            <a:picLocks noChangeAspect="1"/>
          </p:cNvPicPr>
          <p:nvPr/>
        </p:nvPicPr>
        <p:blipFill rotWithShape="1">
          <a:blip r:embed="rId2"/>
          <a:srcRect t="40502"/>
          <a:stretch/>
        </p:blipFill>
        <p:spPr>
          <a:xfrm>
            <a:off x="6212810" y="1945290"/>
            <a:ext cx="5565980" cy="3716080"/>
          </a:xfrm>
          <a:prstGeom prst="rect">
            <a:avLst/>
          </a:prstGeom>
        </p:spPr>
      </p:pic>
      <p:cxnSp>
        <p:nvCxnSpPr>
          <p:cNvPr id="4" name="直接箭头连接符 3">
            <a:extLst>
              <a:ext uri="{FF2B5EF4-FFF2-40B4-BE49-F238E27FC236}">
                <a16:creationId xmlns:a16="http://schemas.microsoft.com/office/drawing/2014/main" id="{26866C51-E0A5-0F98-9EEF-680AA3B79485}"/>
              </a:ext>
            </a:extLst>
          </p:cNvPr>
          <p:cNvCxnSpPr>
            <a:cxnSpLocks/>
          </p:cNvCxnSpPr>
          <p:nvPr/>
        </p:nvCxnSpPr>
        <p:spPr>
          <a:xfrm>
            <a:off x="5540238" y="2203872"/>
            <a:ext cx="672572"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C718D8EB-486A-15A9-DB8E-6EDB16A1216D}"/>
              </a:ext>
            </a:extLst>
          </p:cNvPr>
          <p:cNvSpPr txBox="1"/>
          <p:nvPr/>
        </p:nvSpPr>
        <p:spPr>
          <a:xfrm>
            <a:off x="1294889" y="1135680"/>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Tree>
    <p:extLst>
      <p:ext uri="{BB962C8B-B14F-4D97-AF65-F5344CB8AC3E}">
        <p14:creationId xmlns:p14="http://schemas.microsoft.com/office/powerpoint/2010/main" val="213623835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37FB10E1-DF35-4815-943A-9EA1549A9346}"/>
              </a:ext>
            </a:extLst>
          </p:cNvPr>
          <p:cNvPicPr>
            <a:picLocks noChangeAspect="1"/>
          </p:cNvPicPr>
          <p:nvPr/>
        </p:nvPicPr>
        <p:blipFill rotWithShape="1">
          <a:blip r:embed="rId2"/>
          <a:srcRect b="37490"/>
          <a:stretch/>
        </p:blipFill>
        <p:spPr>
          <a:xfrm>
            <a:off x="1134837" y="2334985"/>
            <a:ext cx="6111050" cy="3396344"/>
          </a:xfrm>
          <a:prstGeom prst="rect">
            <a:avLst/>
          </a:prstGeom>
        </p:spPr>
      </p:pic>
      <p:sp>
        <p:nvSpPr>
          <p:cNvPr id="6" name="文本框 5">
            <a:extLst>
              <a:ext uri="{FF2B5EF4-FFF2-40B4-BE49-F238E27FC236}">
                <a16:creationId xmlns:a16="http://schemas.microsoft.com/office/drawing/2014/main" id="{B6014EB9-AB3E-3C4D-C200-0AB5243B6511}"/>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
        <p:nvSpPr>
          <p:cNvPr id="7" name="标题 1">
            <a:extLst>
              <a:ext uri="{FF2B5EF4-FFF2-40B4-BE49-F238E27FC236}">
                <a16:creationId xmlns:a16="http://schemas.microsoft.com/office/drawing/2014/main" id="{DC4F6329-6CC0-5E1D-A8C2-2ACEE69772FA}"/>
              </a:ext>
            </a:extLst>
          </p:cNvPr>
          <p:cNvSpPr>
            <a:spLocks noGrp="1"/>
          </p:cNvSpPr>
          <p:nvPr>
            <p:ph type="title"/>
          </p:nvPr>
        </p:nvSpPr>
        <p:spPr>
          <a:xfrm>
            <a:off x="838200" y="365125"/>
            <a:ext cx="10515600" cy="1325563"/>
          </a:xfrm>
        </p:spPr>
        <p:txBody>
          <a:bodyPr/>
          <a:lstStyle/>
          <a:p>
            <a:pPr algn="ctr"/>
            <a:r>
              <a:rPr lang="en-US" altLang="zh-CN" b="1" dirty="0" err="1"/>
              <a:t>fs_uart</a:t>
            </a:r>
            <a:r>
              <a:rPr lang="zh-CN" altLang="en-US" b="1" dirty="0"/>
              <a:t>实验程序（</a:t>
            </a:r>
            <a:r>
              <a:rPr lang="en-US" altLang="zh-CN" b="1" dirty="0"/>
              <a:t>4</a:t>
            </a:r>
            <a:r>
              <a:rPr lang="zh-CN" altLang="en-US" b="1" dirty="0"/>
              <a:t>）</a:t>
            </a:r>
          </a:p>
        </p:txBody>
      </p:sp>
      <p:sp>
        <p:nvSpPr>
          <p:cNvPr id="8" name="内容占位符 2">
            <a:extLst>
              <a:ext uri="{FF2B5EF4-FFF2-40B4-BE49-F238E27FC236}">
                <a16:creationId xmlns:a16="http://schemas.microsoft.com/office/drawing/2014/main" id="{346E3AEB-176B-0688-E744-43E9CB3DD69F}"/>
              </a:ext>
            </a:extLst>
          </p:cNvPr>
          <p:cNvSpPr>
            <a:spLocks noGrp="1"/>
          </p:cNvSpPr>
          <p:nvPr>
            <p:ph idx="1"/>
          </p:nvPr>
        </p:nvSpPr>
        <p:spPr>
          <a:xfrm>
            <a:off x="1134837" y="1875354"/>
            <a:ext cx="4041320" cy="377989"/>
          </a:xfrm>
        </p:spPr>
        <p:txBody>
          <a:bodyPr>
            <a:normAutofit/>
          </a:bodyPr>
          <a:lstStyle/>
          <a:p>
            <a:r>
              <a:rPr lang="en-US" altLang="zh-CN" sz="2000" b="1" dirty="0"/>
              <a:t>4</a:t>
            </a:r>
            <a:r>
              <a:rPr lang="zh-CN" altLang="en-US" sz="2000" b="1" dirty="0"/>
              <a:t>、</a:t>
            </a:r>
            <a:r>
              <a:rPr lang="en-US" altLang="zh-CN" sz="2000" b="1" dirty="0"/>
              <a:t>fs3399_uart.h</a:t>
            </a:r>
            <a:endParaRPr lang="zh-CN" altLang="en-US" sz="2000" b="1" dirty="0"/>
          </a:p>
        </p:txBody>
      </p:sp>
      <p:pic>
        <p:nvPicPr>
          <p:cNvPr id="3" name="图片 2">
            <a:extLst>
              <a:ext uri="{FF2B5EF4-FFF2-40B4-BE49-F238E27FC236}">
                <a16:creationId xmlns:a16="http://schemas.microsoft.com/office/drawing/2014/main" id="{A927B084-78CA-005C-78DA-629C271DF33F}"/>
              </a:ext>
            </a:extLst>
          </p:cNvPr>
          <p:cNvPicPr>
            <a:picLocks noChangeAspect="1"/>
          </p:cNvPicPr>
          <p:nvPr/>
        </p:nvPicPr>
        <p:blipFill rotWithShape="1">
          <a:blip r:embed="rId2"/>
          <a:srcRect t="62670" r="55090"/>
          <a:stretch/>
        </p:blipFill>
        <p:spPr>
          <a:xfrm>
            <a:off x="7519307" y="2777444"/>
            <a:ext cx="3061607" cy="2320081"/>
          </a:xfrm>
          <a:prstGeom prst="rect">
            <a:avLst/>
          </a:prstGeom>
        </p:spPr>
      </p:pic>
    </p:spTree>
    <p:extLst>
      <p:ext uri="{BB962C8B-B14F-4D97-AF65-F5344CB8AC3E}">
        <p14:creationId xmlns:p14="http://schemas.microsoft.com/office/powerpoint/2010/main" val="247360044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256B422-2063-33EC-D39B-4806DADD743D}"/>
              </a:ext>
            </a:extLst>
          </p:cNvPr>
          <p:cNvPicPr>
            <a:picLocks noChangeAspect="1"/>
          </p:cNvPicPr>
          <p:nvPr/>
        </p:nvPicPr>
        <p:blipFill>
          <a:blip r:embed="rId2"/>
          <a:stretch>
            <a:fillRect/>
          </a:stretch>
        </p:blipFill>
        <p:spPr>
          <a:xfrm>
            <a:off x="2486449" y="2421680"/>
            <a:ext cx="3893107" cy="3304169"/>
          </a:xfrm>
          <a:prstGeom prst="rect">
            <a:avLst/>
          </a:prstGeom>
        </p:spPr>
      </p:pic>
      <p:sp>
        <p:nvSpPr>
          <p:cNvPr id="6" name="文本框 5">
            <a:extLst>
              <a:ext uri="{FF2B5EF4-FFF2-40B4-BE49-F238E27FC236}">
                <a16:creationId xmlns:a16="http://schemas.microsoft.com/office/drawing/2014/main" id="{49BD29BC-78FC-E248-0925-F8F1D3652CD8}"/>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
        <p:nvSpPr>
          <p:cNvPr id="7" name="标题 1">
            <a:extLst>
              <a:ext uri="{FF2B5EF4-FFF2-40B4-BE49-F238E27FC236}">
                <a16:creationId xmlns:a16="http://schemas.microsoft.com/office/drawing/2014/main" id="{DA45D65D-D352-B21B-5D4D-3A100AA65420}"/>
              </a:ext>
            </a:extLst>
          </p:cNvPr>
          <p:cNvSpPr>
            <a:spLocks noGrp="1"/>
          </p:cNvSpPr>
          <p:nvPr>
            <p:ph type="title"/>
          </p:nvPr>
        </p:nvSpPr>
        <p:spPr>
          <a:xfrm>
            <a:off x="838200" y="365125"/>
            <a:ext cx="10515600" cy="1325563"/>
          </a:xfrm>
        </p:spPr>
        <p:txBody>
          <a:bodyPr/>
          <a:lstStyle/>
          <a:p>
            <a:pPr algn="ctr"/>
            <a:r>
              <a:rPr lang="en-US" altLang="zh-CN" b="1" dirty="0" err="1"/>
              <a:t>fs_uart</a:t>
            </a:r>
            <a:r>
              <a:rPr lang="zh-CN" altLang="en-US" b="1" dirty="0"/>
              <a:t>实验程序（</a:t>
            </a:r>
            <a:r>
              <a:rPr lang="en-US" altLang="zh-CN" b="1" dirty="0"/>
              <a:t>5</a:t>
            </a:r>
            <a:r>
              <a:rPr lang="zh-CN" altLang="en-US" b="1" dirty="0"/>
              <a:t>）</a:t>
            </a:r>
          </a:p>
        </p:txBody>
      </p:sp>
      <p:sp>
        <p:nvSpPr>
          <p:cNvPr id="8" name="内容占位符 2">
            <a:extLst>
              <a:ext uri="{FF2B5EF4-FFF2-40B4-BE49-F238E27FC236}">
                <a16:creationId xmlns:a16="http://schemas.microsoft.com/office/drawing/2014/main" id="{254ADB88-04AB-042D-77E1-E2AEE6244B49}"/>
              </a:ext>
            </a:extLst>
          </p:cNvPr>
          <p:cNvSpPr>
            <a:spLocks noGrp="1"/>
          </p:cNvSpPr>
          <p:nvPr>
            <p:ph idx="1"/>
          </p:nvPr>
        </p:nvSpPr>
        <p:spPr>
          <a:xfrm>
            <a:off x="1253002" y="1875354"/>
            <a:ext cx="2139683" cy="361660"/>
          </a:xfrm>
        </p:spPr>
        <p:txBody>
          <a:bodyPr>
            <a:normAutofit lnSpcReduction="10000"/>
          </a:bodyPr>
          <a:lstStyle/>
          <a:p>
            <a:r>
              <a:rPr lang="en-US" altLang="zh-CN" sz="2000" b="1" dirty="0"/>
              <a:t>5</a:t>
            </a:r>
            <a:r>
              <a:rPr lang="zh-CN" altLang="en-US" sz="2000" b="1" dirty="0"/>
              <a:t>、</a:t>
            </a:r>
            <a:r>
              <a:rPr lang="en-US" altLang="zh-CN" sz="2000" b="1" dirty="0"/>
              <a:t>fs3399_printf.h</a:t>
            </a:r>
            <a:endParaRPr lang="zh-CN" altLang="en-US" sz="2000" b="1" dirty="0"/>
          </a:p>
        </p:txBody>
      </p:sp>
    </p:spTree>
    <p:extLst>
      <p:ext uri="{BB962C8B-B14F-4D97-AF65-F5344CB8AC3E}">
        <p14:creationId xmlns:p14="http://schemas.microsoft.com/office/powerpoint/2010/main" val="8174823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9BD29BC-78FC-E248-0925-F8F1D3652CD8}"/>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
        <p:nvSpPr>
          <p:cNvPr id="7" name="标题 1">
            <a:extLst>
              <a:ext uri="{FF2B5EF4-FFF2-40B4-BE49-F238E27FC236}">
                <a16:creationId xmlns:a16="http://schemas.microsoft.com/office/drawing/2014/main" id="{DA45D65D-D352-B21B-5D4D-3A100AA65420}"/>
              </a:ext>
            </a:extLst>
          </p:cNvPr>
          <p:cNvSpPr>
            <a:spLocks noGrp="1"/>
          </p:cNvSpPr>
          <p:nvPr>
            <p:ph type="title"/>
          </p:nvPr>
        </p:nvSpPr>
        <p:spPr>
          <a:xfrm>
            <a:off x="838200" y="365125"/>
            <a:ext cx="10515600" cy="1325563"/>
          </a:xfrm>
        </p:spPr>
        <p:txBody>
          <a:bodyPr/>
          <a:lstStyle/>
          <a:p>
            <a:pPr algn="ctr"/>
            <a:r>
              <a:rPr lang="en-US" altLang="zh-CN" b="1" dirty="0" err="1"/>
              <a:t>fs_uart</a:t>
            </a:r>
            <a:r>
              <a:rPr lang="zh-CN" altLang="en-US" b="1" dirty="0"/>
              <a:t>实验程序（</a:t>
            </a:r>
            <a:r>
              <a:rPr lang="en-US" altLang="zh-CN" b="1" dirty="0"/>
              <a:t>6</a:t>
            </a:r>
            <a:r>
              <a:rPr lang="zh-CN" altLang="en-US" b="1" dirty="0"/>
              <a:t>）</a:t>
            </a:r>
          </a:p>
        </p:txBody>
      </p:sp>
      <p:sp>
        <p:nvSpPr>
          <p:cNvPr id="8" name="内容占位符 2">
            <a:extLst>
              <a:ext uri="{FF2B5EF4-FFF2-40B4-BE49-F238E27FC236}">
                <a16:creationId xmlns:a16="http://schemas.microsoft.com/office/drawing/2014/main" id="{254ADB88-04AB-042D-77E1-E2AEE6244B49}"/>
              </a:ext>
            </a:extLst>
          </p:cNvPr>
          <p:cNvSpPr>
            <a:spLocks noGrp="1"/>
          </p:cNvSpPr>
          <p:nvPr>
            <p:ph idx="1"/>
          </p:nvPr>
        </p:nvSpPr>
        <p:spPr>
          <a:xfrm>
            <a:off x="1181100" y="1817460"/>
            <a:ext cx="1676400" cy="346076"/>
          </a:xfrm>
        </p:spPr>
        <p:txBody>
          <a:bodyPr>
            <a:normAutofit lnSpcReduction="10000"/>
          </a:bodyPr>
          <a:lstStyle/>
          <a:p>
            <a:r>
              <a:rPr lang="en-US" altLang="zh-CN" sz="2000" b="1" dirty="0"/>
              <a:t>6</a:t>
            </a:r>
            <a:r>
              <a:rPr lang="zh-CN" altLang="en-US" sz="2000" b="1" dirty="0"/>
              <a:t>、</a:t>
            </a:r>
            <a:r>
              <a:rPr lang="en-US" altLang="zh-CN" sz="2000" b="1" dirty="0" err="1"/>
              <a:t>ctype.h</a:t>
            </a:r>
            <a:endParaRPr lang="zh-CN" altLang="en-US" sz="2000" b="1" dirty="0"/>
          </a:p>
        </p:txBody>
      </p:sp>
      <p:pic>
        <p:nvPicPr>
          <p:cNvPr id="3" name="图片 2">
            <a:extLst>
              <a:ext uri="{FF2B5EF4-FFF2-40B4-BE49-F238E27FC236}">
                <a16:creationId xmlns:a16="http://schemas.microsoft.com/office/drawing/2014/main" id="{907F852C-26CC-BDCB-9647-513C48543331}"/>
              </a:ext>
            </a:extLst>
          </p:cNvPr>
          <p:cNvPicPr>
            <a:picLocks noChangeAspect="1"/>
          </p:cNvPicPr>
          <p:nvPr/>
        </p:nvPicPr>
        <p:blipFill>
          <a:blip r:embed="rId2"/>
          <a:stretch>
            <a:fillRect/>
          </a:stretch>
        </p:blipFill>
        <p:spPr>
          <a:xfrm>
            <a:off x="2915113" y="1581187"/>
            <a:ext cx="3194494" cy="5423770"/>
          </a:xfrm>
          <a:prstGeom prst="rect">
            <a:avLst/>
          </a:prstGeom>
        </p:spPr>
      </p:pic>
    </p:spTree>
    <p:extLst>
      <p:ext uri="{BB962C8B-B14F-4D97-AF65-F5344CB8AC3E}">
        <p14:creationId xmlns:p14="http://schemas.microsoft.com/office/powerpoint/2010/main" val="227152120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9BD29BC-78FC-E248-0925-F8F1D3652CD8}"/>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
        <p:nvSpPr>
          <p:cNvPr id="7" name="标题 1">
            <a:extLst>
              <a:ext uri="{FF2B5EF4-FFF2-40B4-BE49-F238E27FC236}">
                <a16:creationId xmlns:a16="http://schemas.microsoft.com/office/drawing/2014/main" id="{DA45D65D-D352-B21B-5D4D-3A100AA65420}"/>
              </a:ext>
            </a:extLst>
          </p:cNvPr>
          <p:cNvSpPr>
            <a:spLocks noGrp="1"/>
          </p:cNvSpPr>
          <p:nvPr>
            <p:ph type="title"/>
          </p:nvPr>
        </p:nvSpPr>
        <p:spPr>
          <a:xfrm>
            <a:off x="838200" y="365125"/>
            <a:ext cx="10515600" cy="1325563"/>
          </a:xfrm>
        </p:spPr>
        <p:txBody>
          <a:bodyPr/>
          <a:lstStyle/>
          <a:p>
            <a:pPr algn="ctr"/>
            <a:r>
              <a:rPr lang="en-US" altLang="zh-CN" b="1" dirty="0" err="1"/>
              <a:t>fs_uart</a:t>
            </a:r>
            <a:r>
              <a:rPr lang="zh-CN" altLang="en-US" b="1" dirty="0"/>
              <a:t>实验程序（</a:t>
            </a:r>
            <a:r>
              <a:rPr lang="en-US" altLang="zh-CN" b="1" dirty="0"/>
              <a:t>7</a:t>
            </a:r>
            <a:r>
              <a:rPr lang="zh-CN" altLang="en-US" b="1" dirty="0"/>
              <a:t>）</a:t>
            </a:r>
          </a:p>
        </p:txBody>
      </p:sp>
      <p:sp>
        <p:nvSpPr>
          <p:cNvPr id="8" name="内容占位符 2">
            <a:extLst>
              <a:ext uri="{FF2B5EF4-FFF2-40B4-BE49-F238E27FC236}">
                <a16:creationId xmlns:a16="http://schemas.microsoft.com/office/drawing/2014/main" id="{254ADB88-04AB-042D-77E1-E2AEE6244B49}"/>
              </a:ext>
            </a:extLst>
          </p:cNvPr>
          <p:cNvSpPr>
            <a:spLocks noGrp="1"/>
          </p:cNvSpPr>
          <p:nvPr>
            <p:ph idx="1"/>
          </p:nvPr>
        </p:nvSpPr>
        <p:spPr>
          <a:xfrm>
            <a:off x="1140278" y="1838941"/>
            <a:ext cx="1374322" cy="447059"/>
          </a:xfrm>
        </p:spPr>
        <p:txBody>
          <a:bodyPr>
            <a:normAutofit/>
          </a:bodyPr>
          <a:lstStyle/>
          <a:p>
            <a:r>
              <a:rPr lang="en-US" altLang="zh-CN" sz="2000" b="1" dirty="0"/>
              <a:t>7</a:t>
            </a:r>
            <a:r>
              <a:rPr lang="zh-CN" altLang="en-US" sz="2000" b="1" dirty="0"/>
              <a:t>、</a:t>
            </a:r>
            <a:r>
              <a:rPr lang="en-US" altLang="zh-CN" sz="2000" b="1" dirty="0" err="1"/>
              <a:t>stdarg.h</a:t>
            </a:r>
            <a:endParaRPr lang="zh-CN" altLang="en-US" sz="2000" b="1" dirty="0"/>
          </a:p>
        </p:txBody>
      </p:sp>
      <p:pic>
        <p:nvPicPr>
          <p:cNvPr id="3" name="图片 2">
            <a:extLst>
              <a:ext uri="{FF2B5EF4-FFF2-40B4-BE49-F238E27FC236}">
                <a16:creationId xmlns:a16="http://schemas.microsoft.com/office/drawing/2014/main" id="{1186EB1B-C30B-2819-2B67-78DE54AE2621}"/>
              </a:ext>
            </a:extLst>
          </p:cNvPr>
          <p:cNvPicPr>
            <a:picLocks noChangeAspect="1"/>
          </p:cNvPicPr>
          <p:nvPr/>
        </p:nvPicPr>
        <p:blipFill>
          <a:blip r:embed="rId2"/>
          <a:stretch>
            <a:fillRect/>
          </a:stretch>
        </p:blipFill>
        <p:spPr>
          <a:xfrm>
            <a:off x="2637065" y="1852258"/>
            <a:ext cx="5308471" cy="4324705"/>
          </a:xfrm>
          <a:prstGeom prst="rect">
            <a:avLst/>
          </a:prstGeom>
        </p:spPr>
      </p:pic>
    </p:spTree>
    <p:extLst>
      <p:ext uri="{BB962C8B-B14F-4D97-AF65-F5344CB8AC3E}">
        <p14:creationId xmlns:p14="http://schemas.microsoft.com/office/powerpoint/2010/main" val="154157061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A749897-FC39-ACD8-BF71-B97943BCC943}"/>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fs_uart</a:t>
            </a:r>
            <a:r>
              <a:rPr lang="zh-CN" altLang="en-US" b="1" dirty="0"/>
              <a:t>实验程序</a:t>
            </a:r>
          </a:p>
        </p:txBody>
      </p:sp>
      <p:sp>
        <p:nvSpPr>
          <p:cNvPr id="7" name="内容占位符 2">
            <a:extLst>
              <a:ext uri="{FF2B5EF4-FFF2-40B4-BE49-F238E27FC236}">
                <a16:creationId xmlns:a16="http://schemas.microsoft.com/office/drawing/2014/main" id="{0164717B-A44C-107C-834B-657E75999E68}"/>
              </a:ext>
            </a:extLst>
          </p:cNvPr>
          <p:cNvSpPr>
            <a:spLocks noGrp="1"/>
          </p:cNvSpPr>
          <p:nvPr>
            <p:ph idx="1"/>
          </p:nvPr>
        </p:nvSpPr>
        <p:spPr>
          <a:xfrm>
            <a:off x="1355270" y="1825625"/>
            <a:ext cx="9348109" cy="4351338"/>
          </a:xfrm>
        </p:spPr>
        <p:txBody>
          <a:bodyPr>
            <a:normAutofit fontScale="77500" lnSpcReduction="20000"/>
          </a:bodyPr>
          <a:lstStyle/>
          <a:p>
            <a:r>
              <a:rPr lang="zh-CN" altLang="en-US" sz="2400" b="1" dirty="0"/>
              <a:t>请按照前面的“</a:t>
            </a:r>
            <a:r>
              <a:rPr lang="zh-CN" altLang="en-US" sz="2400" b="1" dirty="0">
                <a:solidFill>
                  <a:srgbClr val="C00000"/>
                </a:solidFill>
              </a:rPr>
              <a:t>运行fs_led实验程序</a:t>
            </a:r>
            <a:r>
              <a:rPr lang="zh-CN" altLang="en-US" sz="2400" b="1" dirty="0"/>
              <a:t>”的步骤，运行“</a:t>
            </a:r>
            <a:r>
              <a:rPr lang="en-US" altLang="zh-CN" sz="2400" b="1" dirty="0" err="1"/>
              <a:t>fs_uart</a:t>
            </a:r>
            <a:r>
              <a:rPr lang="zh-CN" altLang="en-US" sz="2400" b="1" dirty="0"/>
              <a:t>实验程序”：</a:t>
            </a:r>
            <a:endParaRPr lang="en-US" altLang="zh-CN" sz="2400" b="1" dirty="0"/>
          </a:p>
          <a:p>
            <a:pPr lvl="1"/>
            <a:endParaRPr lang="en-US" altLang="zh-CN" sz="2000" b="1" dirty="0"/>
          </a:p>
          <a:p>
            <a:pPr lvl="1"/>
            <a:r>
              <a:rPr lang="en-US" altLang="zh-CN" sz="2000" b="1" dirty="0"/>
              <a:t>1</a:t>
            </a:r>
            <a:r>
              <a:rPr lang="zh-CN" altLang="en-US" sz="2000" b="1" dirty="0"/>
              <a:t>、关闭</a:t>
            </a:r>
            <a:r>
              <a:rPr lang="en-US" altLang="zh-CN" sz="2000" b="1" dirty="0"/>
              <a:t>PuTTY</a:t>
            </a:r>
            <a:r>
              <a:rPr lang="zh-CN" altLang="en-US" sz="2000" b="1" dirty="0"/>
              <a:t>，再打开</a:t>
            </a:r>
            <a:r>
              <a:rPr lang="en-US" altLang="zh-CN" sz="2000" b="1" dirty="0"/>
              <a:t>PuTTY</a:t>
            </a:r>
            <a:r>
              <a:rPr lang="zh-CN" altLang="en-US" sz="2000" b="1" dirty="0"/>
              <a:t>；按实验箱的</a:t>
            </a:r>
            <a:r>
              <a:rPr lang="en-US" altLang="zh-CN" sz="2000" b="1" dirty="0"/>
              <a:t>RST</a:t>
            </a:r>
            <a:r>
              <a:rPr lang="zh-CN" altLang="en-US" sz="2000" b="1" dirty="0"/>
              <a:t>按键；倒计时状态按</a:t>
            </a:r>
            <a:r>
              <a:rPr lang="en-US" altLang="zh-CN" sz="2000" b="1" dirty="0" err="1"/>
              <a:t>Ctrl+C</a:t>
            </a:r>
            <a:r>
              <a:rPr lang="zh-CN" altLang="en-US" sz="2000" b="1" dirty="0"/>
              <a:t>，进入“</a:t>
            </a:r>
            <a:r>
              <a:rPr lang="en-US" altLang="zh-CN" sz="2000" b="1" dirty="0"/>
              <a:t>=&gt;”</a:t>
            </a:r>
            <a:r>
              <a:rPr lang="zh-CN" altLang="en-US" sz="2000" b="1" dirty="0"/>
              <a:t>状态</a:t>
            </a:r>
          </a:p>
          <a:p>
            <a:pPr lvl="1"/>
            <a:endParaRPr lang="zh-CN" altLang="en-US" sz="2000" b="1" dirty="0"/>
          </a:p>
          <a:p>
            <a:pPr lvl="1"/>
            <a:r>
              <a:rPr lang="en-US" altLang="zh-CN" sz="2000" b="1" dirty="0"/>
              <a:t>2</a:t>
            </a:r>
            <a:r>
              <a:rPr lang="zh-CN" altLang="en-US" sz="2000" b="1" dirty="0"/>
              <a:t>、检查</a:t>
            </a:r>
            <a:r>
              <a:rPr lang="en-US" altLang="zh-CN" sz="2000" b="1" dirty="0"/>
              <a:t>JTAG</a:t>
            </a:r>
            <a:r>
              <a:rPr lang="zh-CN" altLang="en-US" sz="2000" b="1" dirty="0"/>
              <a:t>是否连接到虚拟机（</a:t>
            </a:r>
            <a:r>
              <a:rPr lang="en-US" altLang="zh-CN" sz="2000" b="1" dirty="0"/>
              <a:t>Ubuntu</a:t>
            </a:r>
            <a:r>
              <a:rPr lang="zh-CN" altLang="en-US" sz="2000" b="1" dirty="0"/>
              <a:t>）</a:t>
            </a:r>
          </a:p>
          <a:p>
            <a:pPr lvl="1"/>
            <a:endParaRPr lang="zh-CN" altLang="en-US" sz="2000" b="1" dirty="0"/>
          </a:p>
          <a:p>
            <a:pPr lvl="1"/>
            <a:r>
              <a:rPr lang="en-US" altLang="zh-CN" sz="2000" b="1" dirty="0"/>
              <a:t>3</a:t>
            </a:r>
            <a:r>
              <a:rPr lang="zh-CN" altLang="en-US" sz="2000" b="1" dirty="0"/>
              <a:t>、检查</a:t>
            </a:r>
            <a:r>
              <a:rPr lang="en-US" altLang="zh-CN" sz="2000" b="1" dirty="0"/>
              <a:t>FS_JTAG</a:t>
            </a:r>
            <a:r>
              <a:rPr lang="zh-CN" altLang="en-US" sz="2000" b="1" dirty="0"/>
              <a:t>是否处于连接状态（连接到</a:t>
            </a:r>
            <a:r>
              <a:rPr lang="en-US" altLang="zh-CN" sz="2000" b="1" dirty="0"/>
              <a:t>fs3399</a:t>
            </a:r>
            <a:r>
              <a:rPr lang="zh-CN" altLang="en-US" sz="2000" b="1" dirty="0"/>
              <a:t>）</a:t>
            </a:r>
          </a:p>
          <a:p>
            <a:pPr lvl="1"/>
            <a:endParaRPr lang="zh-CN" altLang="en-US" sz="2000" b="1" dirty="0"/>
          </a:p>
          <a:p>
            <a:pPr lvl="1"/>
            <a:r>
              <a:rPr lang="en-US" altLang="zh-CN" sz="2000" b="1" dirty="0"/>
              <a:t>4</a:t>
            </a:r>
            <a:r>
              <a:rPr lang="zh-CN" altLang="en-US" sz="2000" b="1" dirty="0"/>
              <a:t>、打开实验工程（使实验工程处于打开状态）</a:t>
            </a:r>
          </a:p>
          <a:p>
            <a:pPr lvl="1"/>
            <a:endParaRPr lang="zh-CN" altLang="en-US" sz="2000" b="1" dirty="0"/>
          </a:p>
          <a:p>
            <a:pPr lvl="1"/>
            <a:r>
              <a:rPr lang="en-US" altLang="zh-CN" sz="2000" b="1" dirty="0"/>
              <a:t>5</a:t>
            </a:r>
            <a:r>
              <a:rPr lang="zh-CN" altLang="en-US" sz="2000" b="1" dirty="0"/>
              <a:t>、进入调试状态：</a:t>
            </a:r>
            <a:r>
              <a:rPr lang="en-US" altLang="zh-CN" sz="2000" b="1" dirty="0"/>
              <a:t>Run -&gt; Debug Configurations</a:t>
            </a:r>
          </a:p>
          <a:p>
            <a:pPr lvl="1"/>
            <a:endParaRPr lang="en-US" altLang="zh-CN" sz="2000" b="1" dirty="0"/>
          </a:p>
          <a:p>
            <a:pPr lvl="1"/>
            <a:r>
              <a:rPr lang="en-US" altLang="zh-CN" sz="2000" b="1" dirty="0"/>
              <a:t>6</a:t>
            </a:r>
            <a:r>
              <a:rPr lang="zh-CN" altLang="en-US" sz="2000" b="1" dirty="0"/>
              <a:t>、点击运行图标，运行实验工程</a:t>
            </a:r>
          </a:p>
          <a:p>
            <a:pPr lvl="1"/>
            <a:endParaRPr lang="zh-CN" altLang="en-US" sz="2000" b="1" dirty="0"/>
          </a:p>
          <a:p>
            <a:pPr lvl="1"/>
            <a:r>
              <a:rPr lang="en-US" altLang="zh-CN" sz="2000" b="1" dirty="0"/>
              <a:t>7</a:t>
            </a:r>
            <a:r>
              <a:rPr lang="zh-CN" altLang="en-US" sz="2000" b="1" dirty="0"/>
              <a:t>、点击停止图标，停止运行实验工程</a:t>
            </a:r>
          </a:p>
          <a:p>
            <a:pPr lvl="1"/>
            <a:endParaRPr lang="zh-CN" altLang="en-US" sz="2000" b="1" dirty="0"/>
          </a:p>
          <a:p>
            <a:pPr lvl="1"/>
            <a:r>
              <a:rPr lang="en-US" altLang="zh-CN" sz="2000" b="1" dirty="0"/>
              <a:t>8</a:t>
            </a:r>
            <a:r>
              <a:rPr lang="zh-CN" altLang="en-US" sz="2000" b="1" dirty="0"/>
              <a:t>、关闭实验工程（使实验工程处于关闭状态）</a:t>
            </a:r>
          </a:p>
          <a:p>
            <a:endParaRPr lang="zh-CN" altLang="en-US" sz="2400" b="1" dirty="0"/>
          </a:p>
        </p:txBody>
      </p:sp>
      <p:sp>
        <p:nvSpPr>
          <p:cNvPr id="2" name="文本框 1">
            <a:extLst>
              <a:ext uri="{FF2B5EF4-FFF2-40B4-BE49-F238E27FC236}">
                <a16:creationId xmlns:a16="http://schemas.microsoft.com/office/drawing/2014/main" id="{F84AAE6C-FD14-7A0D-BB9F-6DBD41DC896E}"/>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Tree>
    <p:extLst>
      <p:ext uri="{BB962C8B-B14F-4D97-AF65-F5344CB8AC3E}">
        <p14:creationId xmlns:p14="http://schemas.microsoft.com/office/powerpoint/2010/main" val="33359323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F37461E-8AC3-1EF7-C846-C6C4E243B8BF}"/>
              </a:ext>
            </a:extLst>
          </p:cNvPr>
          <p:cNvSpPr>
            <a:spLocks noGrp="1"/>
          </p:cNvSpPr>
          <p:nvPr>
            <p:ph idx="1"/>
          </p:nvPr>
        </p:nvSpPr>
        <p:spPr>
          <a:xfrm>
            <a:off x="1097280" y="1845734"/>
            <a:ext cx="6724106" cy="711372"/>
          </a:xfrm>
        </p:spPr>
        <p:txBody>
          <a:bodyPr>
            <a:normAutofit/>
          </a:bodyPr>
          <a:lstStyle/>
          <a:p>
            <a:r>
              <a:rPr lang="zh-CN" altLang="en-US" sz="2400" b="1" dirty="0"/>
              <a:t>程序执行后，</a:t>
            </a:r>
            <a:r>
              <a:rPr lang="en-US" altLang="zh-CN" sz="2400" b="1" dirty="0"/>
              <a:t>Putty</a:t>
            </a:r>
            <a:r>
              <a:rPr lang="zh-CN" altLang="en-US" sz="2400" b="1" dirty="0"/>
              <a:t>上会显示相应的字符（字符串）</a:t>
            </a:r>
          </a:p>
        </p:txBody>
      </p:sp>
      <p:pic>
        <p:nvPicPr>
          <p:cNvPr id="5" name="图片 4">
            <a:extLst>
              <a:ext uri="{FF2B5EF4-FFF2-40B4-BE49-F238E27FC236}">
                <a16:creationId xmlns:a16="http://schemas.microsoft.com/office/drawing/2014/main" id="{4DF23631-7E6C-22CF-0AAE-49EB82853775}"/>
              </a:ext>
            </a:extLst>
          </p:cNvPr>
          <p:cNvPicPr>
            <a:picLocks noChangeAspect="1"/>
          </p:cNvPicPr>
          <p:nvPr/>
        </p:nvPicPr>
        <p:blipFill>
          <a:blip r:embed="rId2"/>
          <a:stretch>
            <a:fillRect/>
          </a:stretch>
        </p:blipFill>
        <p:spPr>
          <a:xfrm>
            <a:off x="1208116" y="2948469"/>
            <a:ext cx="5887272" cy="2724530"/>
          </a:xfrm>
          <a:prstGeom prst="rect">
            <a:avLst/>
          </a:prstGeom>
        </p:spPr>
      </p:pic>
      <p:sp>
        <p:nvSpPr>
          <p:cNvPr id="2" name="文本框 1">
            <a:extLst>
              <a:ext uri="{FF2B5EF4-FFF2-40B4-BE49-F238E27FC236}">
                <a16:creationId xmlns:a16="http://schemas.microsoft.com/office/drawing/2014/main" id="{1BC4524B-03AB-5EDA-929F-C7A31FC6FD1A}"/>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6</a:t>
            </a:r>
            <a:endParaRPr lang="zh-CN" altLang="en-US" b="1" dirty="0"/>
          </a:p>
        </p:txBody>
      </p:sp>
      <p:sp>
        <p:nvSpPr>
          <p:cNvPr id="8" name="标题 1">
            <a:extLst>
              <a:ext uri="{FF2B5EF4-FFF2-40B4-BE49-F238E27FC236}">
                <a16:creationId xmlns:a16="http://schemas.microsoft.com/office/drawing/2014/main" id="{A482AF45-30FD-25B5-8659-97F40FC0498E}"/>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fs_uart</a:t>
            </a:r>
            <a:r>
              <a:rPr lang="zh-CN" altLang="en-US" b="1" dirty="0"/>
              <a:t>实验程序</a:t>
            </a:r>
          </a:p>
        </p:txBody>
      </p:sp>
      <p:pic>
        <p:nvPicPr>
          <p:cNvPr id="6" name="图片 5">
            <a:extLst>
              <a:ext uri="{FF2B5EF4-FFF2-40B4-BE49-F238E27FC236}">
                <a16:creationId xmlns:a16="http://schemas.microsoft.com/office/drawing/2014/main" id="{017BA4E2-3484-C7FC-85A2-247A40C28159}"/>
              </a:ext>
            </a:extLst>
          </p:cNvPr>
          <p:cNvPicPr>
            <a:picLocks noChangeAspect="1"/>
          </p:cNvPicPr>
          <p:nvPr/>
        </p:nvPicPr>
        <p:blipFill>
          <a:blip r:embed="rId3"/>
          <a:stretch>
            <a:fillRect/>
          </a:stretch>
        </p:blipFill>
        <p:spPr>
          <a:xfrm>
            <a:off x="8263396" y="2149845"/>
            <a:ext cx="3353451" cy="4027118"/>
          </a:xfrm>
          <a:prstGeom prst="rect">
            <a:avLst/>
          </a:prstGeom>
          <a:ln>
            <a:solidFill>
              <a:srgbClr val="FF0000"/>
            </a:solidFill>
          </a:ln>
        </p:spPr>
      </p:pic>
      <p:cxnSp>
        <p:nvCxnSpPr>
          <p:cNvPr id="9" name="直接箭头连接符 8">
            <a:extLst>
              <a:ext uri="{FF2B5EF4-FFF2-40B4-BE49-F238E27FC236}">
                <a16:creationId xmlns:a16="http://schemas.microsoft.com/office/drawing/2014/main" id="{70569F86-4C44-8E2C-F4C3-5959D97EFAD4}"/>
              </a:ext>
            </a:extLst>
          </p:cNvPr>
          <p:cNvCxnSpPr>
            <a:cxnSpLocks/>
          </p:cNvCxnSpPr>
          <p:nvPr/>
        </p:nvCxnSpPr>
        <p:spPr>
          <a:xfrm flipV="1">
            <a:off x="2805830" y="3670126"/>
            <a:ext cx="5336088" cy="14404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4ACB9687-D744-0313-372B-69E1B83581C0}"/>
              </a:ext>
            </a:extLst>
          </p:cNvPr>
          <p:cNvCxnSpPr>
            <a:cxnSpLocks/>
          </p:cNvCxnSpPr>
          <p:nvPr/>
        </p:nvCxnSpPr>
        <p:spPr>
          <a:xfrm>
            <a:off x="4258849" y="4058433"/>
            <a:ext cx="3870543" cy="69519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E2240DC7-F1EA-D8F2-16EB-86391EE5F560}"/>
              </a:ext>
            </a:extLst>
          </p:cNvPr>
          <p:cNvCxnSpPr>
            <a:cxnSpLocks/>
          </p:cNvCxnSpPr>
          <p:nvPr/>
        </p:nvCxnSpPr>
        <p:spPr>
          <a:xfrm>
            <a:off x="3551129" y="4265112"/>
            <a:ext cx="4590789" cy="12776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B64180DF-5D13-68E0-2445-AD5F6C39FA0D}"/>
              </a:ext>
            </a:extLst>
          </p:cNvPr>
          <p:cNvCxnSpPr>
            <a:cxnSpLocks/>
          </p:cNvCxnSpPr>
          <p:nvPr/>
        </p:nvCxnSpPr>
        <p:spPr>
          <a:xfrm>
            <a:off x="3928605" y="4609578"/>
            <a:ext cx="4213313" cy="145478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16617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5B9C2-11EB-449B-3E8A-68F6F4C5BE6E}"/>
              </a:ext>
            </a:extLst>
          </p:cNvPr>
          <p:cNvSpPr>
            <a:spLocks noGrp="1"/>
          </p:cNvSpPr>
          <p:nvPr>
            <p:ph type="title"/>
          </p:nvPr>
        </p:nvSpPr>
        <p:spPr>
          <a:xfrm>
            <a:off x="838200" y="2620645"/>
            <a:ext cx="10515600" cy="1325563"/>
          </a:xfrm>
        </p:spPr>
        <p:txBody>
          <a:bodyPr/>
          <a:lstStyle/>
          <a:p>
            <a:pPr algn="ctr"/>
            <a:r>
              <a:rPr lang="zh-CN" altLang="en-US" b="1" dirty="0"/>
              <a:t>实验</a:t>
            </a:r>
            <a:r>
              <a:rPr lang="en-US" altLang="zh-CN" b="1" dirty="0"/>
              <a:t>7    A/D</a:t>
            </a:r>
            <a:r>
              <a:rPr lang="zh-CN" altLang="en-US" b="1" dirty="0"/>
              <a:t>转换</a:t>
            </a:r>
          </a:p>
        </p:txBody>
      </p:sp>
    </p:spTree>
    <p:extLst>
      <p:ext uri="{BB962C8B-B14F-4D97-AF65-F5344CB8AC3E}">
        <p14:creationId xmlns:p14="http://schemas.microsoft.com/office/powerpoint/2010/main" val="332989875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F34CFB56-AE99-80E2-C66B-C4DF69087976}"/>
              </a:ext>
            </a:extLst>
          </p:cNvPr>
          <p:cNvSpPr>
            <a:spLocks noGrp="1"/>
          </p:cNvSpPr>
          <p:nvPr>
            <p:ph type="title"/>
          </p:nvPr>
        </p:nvSpPr>
        <p:spPr>
          <a:xfrm>
            <a:off x="838200" y="365125"/>
            <a:ext cx="10515600" cy="1325563"/>
          </a:xfrm>
        </p:spPr>
        <p:txBody>
          <a:bodyPr/>
          <a:lstStyle/>
          <a:p>
            <a:pPr algn="ctr"/>
            <a:r>
              <a:rPr lang="en-US" altLang="zh-CN" b="1" dirty="0"/>
              <a:t>A/D</a:t>
            </a:r>
            <a:r>
              <a:rPr lang="zh-CN" altLang="en-US" b="1" dirty="0"/>
              <a:t>转换的原理图</a:t>
            </a:r>
          </a:p>
        </p:txBody>
      </p:sp>
      <p:pic>
        <p:nvPicPr>
          <p:cNvPr id="7" name="图片 6">
            <a:extLst>
              <a:ext uri="{FF2B5EF4-FFF2-40B4-BE49-F238E27FC236}">
                <a16:creationId xmlns:a16="http://schemas.microsoft.com/office/drawing/2014/main" id="{2FE44A44-6E55-8E3D-9BE5-06447AC021A9}"/>
              </a:ext>
            </a:extLst>
          </p:cNvPr>
          <p:cNvPicPr>
            <a:picLocks noChangeAspect="1"/>
          </p:cNvPicPr>
          <p:nvPr/>
        </p:nvPicPr>
        <p:blipFill>
          <a:blip r:embed="rId2"/>
          <a:stretch>
            <a:fillRect/>
          </a:stretch>
        </p:blipFill>
        <p:spPr>
          <a:xfrm>
            <a:off x="7496627" y="2691264"/>
            <a:ext cx="4242806" cy="2620333"/>
          </a:xfrm>
          <a:prstGeom prst="rect">
            <a:avLst/>
          </a:prstGeom>
        </p:spPr>
      </p:pic>
      <p:sp>
        <p:nvSpPr>
          <p:cNvPr id="11" name="文本框 10">
            <a:extLst>
              <a:ext uri="{FF2B5EF4-FFF2-40B4-BE49-F238E27FC236}">
                <a16:creationId xmlns:a16="http://schemas.microsoft.com/office/drawing/2014/main" id="{5925F4B4-D94D-6EFF-8B81-BF6031DF84E6}"/>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7</a:t>
            </a:r>
            <a:endParaRPr lang="zh-CN" altLang="en-US" b="1" dirty="0"/>
          </a:p>
        </p:txBody>
      </p:sp>
      <p:pic>
        <p:nvPicPr>
          <p:cNvPr id="3" name="图片 2">
            <a:extLst>
              <a:ext uri="{FF2B5EF4-FFF2-40B4-BE49-F238E27FC236}">
                <a16:creationId xmlns:a16="http://schemas.microsoft.com/office/drawing/2014/main" id="{2BE57840-90C4-8415-2E3A-A748E33C3AB2}"/>
              </a:ext>
            </a:extLst>
          </p:cNvPr>
          <p:cNvPicPr>
            <a:picLocks noChangeAspect="1"/>
          </p:cNvPicPr>
          <p:nvPr/>
        </p:nvPicPr>
        <p:blipFill>
          <a:blip r:embed="rId3"/>
          <a:stretch>
            <a:fillRect/>
          </a:stretch>
        </p:blipFill>
        <p:spPr>
          <a:xfrm>
            <a:off x="1009129" y="2605975"/>
            <a:ext cx="4595856" cy="2790909"/>
          </a:xfrm>
          <a:prstGeom prst="rect">
            <a:avLst/>
          </a:prstGeom>
        </p:spPr>
      </p:pic>
      <p:cxnSp>
        <p:nvCxnSpPr>
          <p:cNvPr id="5" name="直接箭头连接符 4">
            <a:extLst>
              <a:ext uri="{FF2B5EF4-FFF2-40B4-BE49-F238E27FC236}">
                <a16:creationId xmlns:a16="http://schemas.microsoft.com/office/drawing/2014/main" id="{B6DFC567-9FB5-A70F-1D4A-EAF7208473C4}"/>
              </a:ext>
            </a:extLst>
          </p:cNvPr>
          <p:cNvCxnSpPr>
            <a:cxnSpLocks/>
          </p:cNvCxnSpPr>
          <p:nvPr/>
        </p:nvCxnSpPr>
        <p:spPr>
          <a:xfrm>
            <a:off x="7133573" y="4052732"/>
            <a:ext cx="570874"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CF863BE0-F959-4181-61D1-8E20116F7F61}"/>
              </a:ext>
            </a:extLst>
          </p:cNvPr>
          <p:cNvSpPr txBox="1"/>
          <p:nvPr/>
        </p:nvSpPr>
        <p:spPr>
          <a:xfrm>
            <a:off x="5993517" y="3868066"/>
            <a:ext cx="877163" cy="369332"/>
          </a:xfrm>
          <a:prstGeom prst="rect">
            <a:avLst/>
          </a:prstGeom>
          <a:solidFill>
            <a:srgbClr val="FFFF00"/>
          </a:solidFill>
        </p:spPr>
        <p:txBody>
          <a:bodyPr wrap="none" rtlCol="0">
            <a:spAutoFit/>
          </a:bodyPr>
          <a:lstStyle/>
          <a:p>
            <a:r>
              <a:rPr lang="zh-CN" altLang="en-US" b="1" dirty="0"/>
              <a:t>电位器</a:t>
            </a:r>
          </a:p>
        </p:txBody>
      </p:sp>
      <p:sp>
        <p:nvSpPr>
          <p:cNvPr id="15" name="文本框 14">
            <a:extLst>
              <a:ext uri="{FF2B5EF4-FFF2-40B4-BE49-F238E27FC236}">
                <a16:creationId xmlns:a16="http://schemas.microsoft.com/office/drawing/2014/main" id="{8068A20E-5904-5724-1010-2689CE7CBBA8}"/>
              </a:ext>
            </a:extLst>
          </p:cNvPr>
          <p:cNvSpPr txBox="1"/>
          <p:nvPr/>
        </p:nvSpPr>
        <p:spPr>
          <a:xfrm>
            <a:off x="752630" y="3868066"/>
            <a:ext cx="877163" cy="369332"/>
          </a:xfrm>
          <a:prstGeom prst="rect">
            <a:avLst/>
          </a:prstGeom>
          <a:solidFill>
            <a:srgbClr val="FFFF00"/>
          </a:solidFill>
        </p:spPr>
        <p:txBody>
          <a:bodyPr wrap="none" rtlCol="0">
            <a:spAutoFit/>
          </a:bodyPr>
          <a:lstStyle/>
          <a:p>
            <a:r>
              <a:rPr lang="zh-CN" altLang="en-US" b="1" dirty="0"/>
              <a:t>电位器</a:t>
            </a:r>
          </a:p>
        </p:txBody>
      </p:sp>
    </p:spTree>
    <p:extLst>
      <p:ext uri="{BB962C8B-B14F-4D97-AF65-F5344CB8AC3E}">
        <p14:creationId xmlns:p14="http://schemas.microsoft.com/office/powerpoint/2010/main" val="108955026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500764A0-FE1F-751F-244D-A416597994DA}"/>
              </a:ext>
            </a:extLst>
          </p:cNvPr>
          <p:cNvSpPr>
            <a:spLocks noGrp="1"/>
          </p:cNvSpPr>
          <p:nvPr>
            <p:ph type="title"/>
          </p:nvPr>
        </p:nvSpPr>
        <p:spPr>
          <a:xfrm>
            <a:off x="838200" y="365125"/>
            <a:ext cx="10515600" cy="1325563"/>
          </a:xfrm>
        </p:spPr>
        <p:txBody>
          <a:bodyPr/>
          <a:lstStyle/>
          <a:p>
            <a:pPr algn="ctr"/>
            <a:r>
              <a:rPr lang="en-US" altLang="zh-CN" b="1" dirty="0"/>
              <a:t>A/D</a:t>
            </a:r>
            <a:r>
              <a:rPr lang="zh-CN" altLang="en-US" b="1" dirty="0"/>
              <a:t>转换的引脚</a:t>
            </a:r>
          </a:p>
        </p:txBody>
      </p:sp>
      <p:sp>
        <p:nvSpPr>
          <p:cNvPr id="11" name="文本框 10">
            <a:extLst>
              <a:ext uri="{FF2B5EF4-FFF2-40B4-BE49-F238E27FC236}">
                <a16:creationId xmlns:a16="http://schemas.microsoft.com/office/drawing/2014/main" id="{16AB40FB-2D3D-182C-05CE-FB608C8049D7}"/>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7</a:t>
            </a:r>
            <a:endParaRPr lang="zh-CN" altLang="en-US" b="1" dirty="0"/>
          </a:p>
        </p:txBody>
      </p:sp>
      <p:pic>
        <p:nvPicPr>
          <p:cNvPr id="12" name="图片 11">
            <a:extLst>
              <a:ext uri="{FF2B5EF4-FFF2-40B4-BE49-F238E27FC236}">
                <a16:creationId xmlns:a16="http://schemas.microsoft.com/office/drawing/2014/main" id="{28E6B4AC-C269-DACA-EE21-EE49C5651D4B}"/>
              </a:ext>
            </a:extLst>
          </p:cNvPr>
          <p:cNvPicPr>
            <a:picLocks noChangeAspect="1"/>
          </p:cNvPicPr>
          <p:nvPr/>
        </p:nvPicPr>
        <p:blipFill>
          <a:blip r:embed="rId2"/>
          <a:stretch>
            <a:fillRect/>
          </a:stretch>
        </p:blipFill>
        <p:spPr>
          <a:xfrm>
            <a:off x="3297368" y="1991202"/>
            <a:ext cx="5376935" cy="2657511"/>
          </a:xfrm>
          <a:prstGeom prst="rect">
            <a:avLst/>
          </a:prstGeom>
        </p:spPr>
      </p:pic>
      <p:sp>
        <p:nvSpPr>
          <p:cNvPr id="13" name="文本框 12">
            <a:extLst>
              <a:ext uri="{FF2B5EF4-FFF2-40B4-BE49-F238E27FC236}">
                <a16:creationId xmlns:a16="http://schemas.microsoft.com/office/drawing/2014/main" id="{E5E0D1F6-F4C5-1797-B9EC-D6D89579D7C8}"/>
              </a:ext>
            </a:extLst>
          </p:cNvPr>
          <p:cNvSpPr txBox="1"/>
          <p:nvPr/>
        </p:nvSpPr>
        <p:spPr>
          <a:xfrm>
            <a:off x="3795386" y="2983894"/>
            <a:ext cx="768159" cy="369332"/>
          </a:xfrm>
          <a:prstGeom prst="rect">
            <a:avLst/>
          </a:prstGeom>
          <a:solidFill>
            <a:srgbClr val="FFFF00"/>
          </a:solidFill>
        </p:spPr>
        <p:txBody>
          <a:bodyPr wrap="none" rtlCol="0">
            <a:spAutoFit/>
          </a:bodyPr>
          <a:lstStyle/>
          <a:p>
            <a:r>
              <a:rPr lang="zh-CN" altLang="en-US" b="1" dirty="0"/>
              <a:t>通道</a:t>
            </a:r>
            <a:r>
              <a:rPr lang="en-US" altLang="zh-CN" b="1" dirty="0"/>
              <a:t>2</a:t>
            </a:r>
            <a:endParaRPr lang="zh-CN" altLang="en-US" b="1" dirty="0"/>
          </a:p>
        </p:txBody>
      </p:sp>
      <p:sp>
        <p:nvSpPr>
          <p:cNvPr id="2" name="文本框 1">
            <a:extLst>
              <a:ext uri="{FF2B5EF4-FFF2-40B4-BE49-F238E27FC236}">
                <a16:creationId xmlns:a16="http://schemas.microsoft.com/office/drawing/2014/main" id="{5BDCC20E-8FBC-1E50-1ACE-1421BA65CBEA}"/>
              </a:ext>
            </a:extLst>
          </p:cNvPr>
          <p:cNvSpPr txBox="1"/>
          <p:nvPr/>
        </p:nvSpPr>
        <p:spPr>
          <a:xfrm>
            <a:off x="2730674" y="4997885"/>
            <a:ext cx="4297971" cy="369332"/>
          </a:xfrm>
          <a:prstGeom prst="rect">
            <a:avLst/>
          </a:prstGeom>
          <a:solidFill>
            <a:srgbClr val="FFC000"/>
          </a:solidFill>
        </p:spPr>
        <p:txBody>
          <a:bodyPr wrap="none" rtlCol="0">
            <a:spAutoFit/>
          </a:bodyPr>
          <a:lstStyle/>
          <a:p>
            <a:r>
              <a:rPr lang="en-US" altLang="zh-CN" b="1" dirty="0"/>
              <a:t>RK3399</a:t>
            </a:r>
            <a:r>
              <a:rPr lang="zh-CN" altLang="en-US" b="1" dirty="0"/>
              <a:t>芯片自带</a:t>
            </a:r>
            <a:r>
              <a:rPr lang="en-US" altLang="zh-CN" b="1" dirty="0"/>
              <a:t>5</a:t>
            </a:r>
            <a:r>
              <a:rPr lang="zh-CN" altLang="en-US" b="1" dirty="0"/>
              <a:t>个通道的</a:t>
            </a:r>
            <a:r>
              <a:rPr lang="en-US" altLang="zh-CN" b="1" dirty="0"/>
              <a:t>A/D</a:t>
            </a:r>
            <a:r>
              <a:rPr lang="zh-CN" altLang="en-US" b="1" dirty="0"/>
              <a:t>转换功能</a:t>
            </a:r>
          </a:p>
        </p:txBody>
      </p:sp>
    </p:spTree>
    <p:extLst>
      <p:ext uri="{BB962C8B-B14F-4D97-AF65-F5344CB8AC3E}">
        <p14:creationId xmlns:p14="http://schemas.microsoft.com/office/powerpoint/2010/main" val="12099443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F54315F0-6A59-7331-8B7A-ABD84EC1E6D7}"/>
              </a:ext>
            </a:extLst>
          </p:cNvPr>
          <p:cNvSpPr>
            <a:spLocks noGrp="1"/>
          </p:cNvSpPr>
          <p:nvPr>
            <p:ph type="title"/>
          </p:nvPr>
        </p:nvSpPr>
        <p:spPr>
          <a:xfrm>
            <a:off x="838200" y="365125"/>
            <a:ext cx="10515600" cy="1325563"/>
          </a:xfrm>
        </p:spPr>
        <p:txBody>
          <a:bodyPr/>
          <a:lstStyle/>
          <a:p>
            <a:pPr algn="ctr"/>
            <a:r>
              <a:rPr lang="en-US" altLang="zh-CN" b="1" dirty="0"/>
              <a:t>A/D</a:t>
            </a:r>
            <a:r>
              <a:rPr lang="zh-CN" altLang="en-US" b="1" dirty="0"/>
              <a:t>转换的端口地址</a:t>
            </a:r>
          </a:p>
        </p:txBody>
      </p:sp>
      <p:sp>
        <p:nvSpPr>
          <p:cNvPr id="11" name="文本框 10">
            <a:extLst>
              <a:ext uri="{FF2B5EF4-FFF2-40B4-BE49-F238E27FC236}">
                <a16:creationId xmlns:a16="http://schemas.microsoft.com/office/drawing/2014/main" id="{524D3639-EFE2-1EDB-17B4-9C39D8AC65D0}"/>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7</a:t>
            </a:r>
            <a:endParaRPr lang="zh-CN" altLang="en-US" b="1" dirty="0"/>
          </a:p>
        </p:txBody>
      </p:sp>
      <p:pic>
        <p:nvPicPr>
          <p:cNvPr id="3" name="图片 2">
            <a:extLst>
              <a:ext uri="{FF2B5EF4-FFF2-40B4-BE49-F238E27FC236}">
                <a16:creationId xmlns:a16="http://schemas.microsoft.com/office/drawing/2014/main" id="{430109CC-B8A3-FE09-491F-A040AA3200F9}"/>
              </a:ext>
            </a:extLst>
          </p:cNvPr>
          <p:cNvPicPr>
            <a:picLocks noChangeAspect="1"/>
          </p:cNvPicPr>
          <p:nvPr/>
        </p:nvPicPr>
        <p:blipFill>
          <a:blip r:embed="rId2"/>
          <a:stretch>
            <a:fillRect/>
          </a:stretch>
        </p:blipFill>
        <p:spPr>
          <a:xfrm>
            <a:off x="1028105" y="2250463"/>
            <a:ext cx="9439406" cy="2004529"/>
          </a:xfrm>
          <a:prstGeom prst="rect">
            <a:avLst/>
          </a:prstGeom>
        </p:spPr>
      </p:pic>
      <p:sp>
        <p:nvSpPr>
          <p:cNvPr id="5" name="文本框 4">
            <a:extLst>
              <a:ext uri="{FF2B5EF4-FFF2-40B4-BE49-F238E27FC236}">
                <a16:creationId xmlns:a16="http://schemas.microsoft.com/office/drawing/2014/main" id="{FD5D938F-322F-975C-AA3A-FC27FEB7AB74}"/>
              </a:ext>
            </a:extLst>
          </p:cNvPr>
          <p:cNvSpPr txBox="1"/>
          <p:nvPr/>
        </p:nvSpPr>
        <p:spPr>
          <a:xfrm>
            <a:off x="9333904" y="2730549"/>
            <a:ext cx="954107" cy="276999"/>
          </a:xfrm>
          <a:prstGeom prst="rect">
            <a:avLst/>
          </a:prstGeom>
          <a:solidFill>
            <a:srgbClr val="FFFF00"/>
          </a:solidFill>
        </p:spPr>
        <p:txBody>
          <a:bodyPr wrap="none" rtlCol="0">
            <a:spAutoFit/>
          </a:bodyPr>
          <a:lstStyle/>
          <a:p>
            <a:r>
              <a:rPr lang="zh-CN" altLang="en-US" sz="1200" b="1" dirty="0"/>
              <a:t>数据寄存器</a:t>
            </a:r>
          </a:p>
        </p:txBody>
      </p:sp>
      <p:sp>
        <p:nvSpPr>
          <p:cNvPr id="7" name="文本框 6">
            <a:extLst>
              <a:ext uri="{FF2B5EF4-FFF2-40B4-BE49-F238E27FC236}">
                <a16:creationId xmlns:a16="http://schemas.microsoft.com/office/drawing/2014/main" id="{F2DD8C00-9200-A8F5-E420-508482A4BDB8}"/>
              </a:ext>
            </a:extLst>
          </p:cNvPr>
          <p:cNvSpPr txBox="1"/>
          <p:nvPr/>
        </p:nvSpPr>
        <p:spPr>
          <a:xfrm>
            <a:off x="9354781" y="3102154"/>
            <a:ext cx="954107" cy="276999"/>
          </a:xfrm>
          <a:prstGeom prst="rect">
            <a:avLst/>
          </a:prstGeom>
          <a:solidFill>
            <a:srgbClr val="FFFF00"/>
          </a:solidFill>
        </p:spPr>
        <p:txBody>
          <a:bodyPr wrap="none" rtlCol="0">
            <a:spAutoFit/>
          </a:bodyPr>
          <a:lstStyle/>
          <a:p>
            <a:r>
              <a:rPr lang="zh-CN" altLang="en-US" sz="1200" b="1" dirty="0"/>
              <a:t>状态寄存器</a:t>
            </a:r>
          </a:p>
        </p:txBody>
      </p:sp>
      <p:sp>
        <p:nvSpPr>
          <p:cNvPr id="12" name="文本框 11">
            <a:extLst>
              <a:ext uri="{FF2B5EF4-FFF2-40B4-BE49-F238E27FC236}">
                <a16:creationId xmlns:a16="http://schemas.microsoft.com/office/drawing/2014/main" id="{7E7AA044-508B-26DE-7DC8-C27168F96995}"/>
              </a:ext>
            </a:extLst>
          </p:cNvPr>
          <p:cNvSpPr txBox="1"/>
          <p:nvPr/>
        </p:nvSpPr>
        <p:spPr>
          <a:xfrm>
            <a:off x="9342255" y="3496723"/>
            <a:ext cx="954107" cy="276999"/>
          </a:xfrm>
          <a:prstGeom prst="rect">
            <a:avLst/>
          </a:prstGeom>
          <a:solidFill>
            <a:srgbClr val="FFFF00"/>
          </a:solidFill>
        </p:spPr>
        <p:txBody>
          <a:bodyPr wrap="none" rtlCol="0">
            <a:spAutoFit/>
          </a:bodyPr>
          <a:lstStyle/>
          <a:p>
            <a:r>
              <a:rPr lang="zh-CN" altLang="en-US" sz="1200" b="1" dirty="0"/>
              <a:t>控制寄存器</a:t>
            </a:r>
          </a:p>
        </p:txBody>
      </p:sp>
      <p:sp>
        <p:nvSpPr>
          <p:cNvPr id="13" name="文本框 12">
            <a:extLst>
              <a:ext uri="{FF2B5EF4-FFF2-40B4-BE49-F238E27FC236}">
                <a16:creationId xmlns:a16="http://schemas.microsoft.com/office/drawing/2014/main" id="{8E01F84F-37CA-E6F8-0D77-C0E7B14B68D1}"/>
              </a:ext>
            </a:extLst>
          </p:cNvPr>
          <p:cNvSpPr txBox="1"/>
          <p:nvPr/>
        </p:nvSpPr>
        <p:spPr>
          <a:xfrm>
            <a:off x="9058406" y="4642979"/>
            <a:ext cx="954107" cy="276999"/>
          </a:xfrm>
          <a:prstGeom prst="rect">
            <a:avLst/>
          </a:prstGeom>
          <a:solidFill>
            <a:srgbClr val="FFFF00"/>
          </a:solidFill>
        </p:spPr>
        <p:txBody>
          <a:bodyPr wrap="none" rtlCol="0">
            <a:spAutoFit/>
          </a:bodyPr>
          <a:lstStyle/>
          <a:p>
            <a:r>
              <a:rPr lang="zh-CN" altLang="en-US" sz="1200" b="1" dirty="0"/>
              <a:t>数据寄存器</a:t>
            </a:r>
          </a:p>
        </p:txBody>
      </p:sp>
      <p:pic>
        <p:nvPicPr>
          <p:cNvPr id="15" name="图片 14">
            <a:extLst>
              <a:ext uri="{FF2B5EF4-FFF2-40B4-BE49-F238E27FC236}">
                <a16:creationId xmlns:a16="http://schemas.microsoft.com/office/drawing/2014/main" id="{17922B17-E8F0-8ABB-7883-8C276B8DF5D1}"/>
              </a:ext>
            </a:extLst>
          </p:cNvPr>
          <p:cNvPicPr>
            <a:picLocks noChangeAspect="1"/>
          </p:cNvPicPr>
          <p:nvPr/>
        </p:nvPicPr>
        <p:blipFill>
          <a:blip r:embed="rId3"/>
          <a:stretch>
            <a:fillRect/>
          </a:stretch>
        </p:blipFill>
        <p:spPr>
          <a:xfrm>
            <a:off x="565766" y="4607537"/>
            <a:ext cx="9843363" cy="1200318"/>
          </a:xfrm>
          <a:prstGeom prst="rect">
            <a:avLst/>
          </a:prstGeom>
        </p:spPr>
      </p:pic>
    </p:spTree>
    <p:extLst>
      <p:ext uri="{BB962C8B-B14F-4D97-AF65-F5344CB8AC3E}">
        <p14:creationId xmlns:p14="http://schemas.microsoft.com/office/powerpoint/2010/main" val="248803516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9B808BB-083D-87E0-E47A-E2D9A9C2BB85}"/>
              </a:ext>
            </a:extLst>
          </p:cNvPr>
          <p:cNvSpPr>
            <a:spLocks noGrp="1"/>
          </p:cNvSpPr>
          <p:nvPr>
            <p:ph idx="1"/>
          </p:nvPr>
        </p:nvSpPr>
        <p:spPr>
          <a:xfrm>
            <a:off x="1097280" y="1845734"/>
            <a:ext cx="9353006" cy="3787623"/>
          </a:xfrm>
        </p:spPr>
        <p:txBody>
          <a:bodyPr>
            <a:normAutofit fontScale="92500" lnSpcReduction="10000"/>
          </a:bodyPr>
          <a:lstStyle/>
          <a:p>
            <a:pPr>
              <a:lnSpc>
                <a:spcPct val="150000"/>
              </a:lnSpc>
            </a:pPr>
            <a:r>
              <a:rPr lang="zh-CN" altLang="en-US" sz="2400" b="1" dirty="0"/>
              <a:t>选择</a:t>
            </a:r>
            <a:r>
              <a:rPr lang="en-US" altLang="zh-CN" sz="2400" b="1" dirty="0"/>
              <a:t>A/D</a:t>
            </a:r>
            <a:r>
              <a:rPr lang="zh-CN" altLang="en-US" sz="2400" b="1" dirty="0"/>
              <a:t>采集通道（通道</a:t>
            </a:r>
            <a:r>
              <a:rPr lang="en-US" altLang="zh-CN" sz="2400" b="1" dirty="0"/>
              <a:t>2</a:t>
            </a:r>
            <a:r>
              <a:rPr lang="zh-CN" altLang="en-US" sz="2400" b="1" dirty="0"/>
              <a:t>）</a:t>
            </a:r>
            <a:r>
              <a:rPr lang="en-US" altLang="zh-CN" sz="2400" b="1" dirty="0"/>
              <a:t>—</a:t>
            </a:r>
            <a:r>
              <a:rPr lang="zh-CN" altLang="en-US" sz="2400" b="1" dirty="0"/>
              <a:t>控制寄存器</a:t>
            </a:r>
            <a:r>
              <a:rPr lang="en-US" altLang="zh-CN" sz="2400" b="1" dirty="0"/>
              <a:t>SARADC_CTRL</a:t>
            </a:r>
            <a:endParaRPr lang="zh-CN" altLang="en-US" sz="2400" b="1" dirty="0"/>
          </a:p>
          <a:p>
            <a:pPr>
              <a:lnSpc>
                <a:spcPct val="150000"/>
              </a:lnSpc>
            </a:pPr>
            <a:r>
              <a:rPr lang="zh-CN" altLang="en-US" sz="2400" b="1" dirty="0"/>
              <a:t>使能</a:t>
            </a:r>
            <a:r>
              <a:rPr lang="en-US" altLang="zh-CN" sz="2400" b="1" dirty="0"/>
              <a:t>A/D</a:t>
            </a:r>
            <a:r>
              <a:rPr lang="zh-CN" altLang="en-US" sz="2400" b="1" dirty="0"/>
              <a:t>转换器</a:t>
            </a:r>
            <a:r>
              <a:rPr lang="en-US" altLang="zh-CN" sz="2400" b="1" dirty="0"/>
              <a:t>—</a:t>
            </a:r>
            <a:r>
              <a:rPr lang="zh-CN" altLang="en-US" sz="2400" b="1" dirty="0">
                <a:solidFill>
                  <a:srgbClr val="C00000"/>
                </a:solidFill>
              </a:rPr>
              <a:t>控制寄存器</a:t>
            </a:r>
            <a:r>
              <a:rPr lang="en-US" altLang="zh-CN" sz="2400" b="1" dirty="0"/>
              <a:t>SARADC_CTRL</a:t>
            </a:r>
            <a:endParaRPr lang="zh-CN" altLang="en-US" sz="2400" b="1" dirty="0"/>
          </a:p>
          <a:p>
            <a:pPr>
              <a:lnSpc>
                <a:spcPct val="150000"/>
              </a:lnSpc>
            </a:pPr>
            <a:r>
              <a:rPr lang="zh-CN" altLang="en-US" sz="2400" b="1" dirty="0"/>
              <a:t>等待一段时间</a:t>
            </a:r>
          </a:p>
          <a:p>
            <a:pPr>
              <a:lnSpc>
                <a:spcPct val="150000"/>
              </a:lnSpc>
            </a:pPr>
            <a:r>
              <a:rPr lang="zh-CN" altLang="en-US" sz="2400" b="1" dirty="0"/>
              <a:t>查询</a:t>
            </a:r>
            <a:r>
              <a:rPr lang="en-US" altLang="zh-CN" sz="2400" b="1" dirty="0"/>
              <a:t>A/D</a:t>
            </a:r>
            <a:r>
              <a:rPr lang="zh-CN" altLang="en-US" sz="2400" b="1" dirty="0"/>
              <a:t>是否转换结束？</a:t>
            </a:r>
            <a:r>
              <a:rPr lang="en-US" altLang="zh-CN" sz="2400" b="1" dirty="0"/>
              <a:t>—</a:t>
            </a:r>
            <a:r>
              <a:rPr lang="zh-CN" altLang="en-US" sz="2400" b="1" dirty="0">
                <a:solidFill>
                  <a:srgbClr val="C00000"/>
                </a:solidFill>
              </a:rPr>
              <a:t>状态寄存器</a:t>
            </a:r>
            <a:r>
              <a:rPr lang="en-US" altLang="zh-CN" sz="2400" b="1" dirty="0"/>
              <a:t>SARADC_STAS</a:t>
            </a:r>
          </a:p>
          <a:p>
            <a:pPr>
              <a:lnSpc>
                <a:spcPct val="150000"/>
              </a:lnSpc>
            </a:pPr>
            <a:r>
              <a:rPr lang="zh-CN" altLang="en-US" sz="2400" b="1" dirty="0"/>
              <a:t>如果是，则读取</a:t>
            </a:r>
            <a:r>
              <a:rPr lang="en-US" altLang="zh-CN" sz="2400" b="1" dirty="0"/>
              <a:t>A/D</a:t>
            </a:r>
            <a:r>
              <a:rPr lang="zh-CN" altLang="en-US" sz="2400" b="1" dirty="0"/>
              <a:t>转换数据</a:t>
            </a:r>
            <a:r>
              <a:rPr lang="en-US" altLang="zh-CN" sz="2400" b="1" dirty="0"/>
              <a:t>—</a:t>
            </a:r>
            <a:r>
              <a:rPr lang="zh-CN" altLang="en-US" sz="2400" b="1" dirty="0">
                <a:solidFill>
                  <a:srgbClr val="C00000"/>
                </a:solidFill>
              </a:rPr>
              <a:t>数据寄存器</a:t>
            </a:r>
            <a:r>
              <a:rPr lang="en-US" altLang="zh-CN" sz="2400" b="1" dirty="0"/>
              <a:t>SARADC_DATA</a:t>
            </a:r>
            <a:endParaRPr lang="zh-CN" altLang="en-US" sz="2400" b="1" dirty="0"/>
          </a:p>
          <a:p>
            <a:pPr>
              <a:lnSpc>
                <a:spcPct val="150000"/>
              </a:lnSpc>
            </a:pPr>
            <a:r>
              <a:rPr lang="zh-CN" altLang="en-US" sz="2400" b="1" dirty="0"/>
              <a:t>送串口，在</a:t>
            </a:r>
            <a:r>
              <a:rPr lang="en-US" altLang="zh-CN" sz="2400" b="1" dirty="0"/>
              <a:t>Putty</a:t>
            </a:r>
            <a:r>
              <a:rPr lang="zh-CN" altLang="en-US" sz="2400" b="1" dirty="0"/>
              <a:t>上显示</a:t>
            </a:r>
          </a:p>
        </p:txBody>
      </p:sp>
      <p:sp>
        <p:nvSpPr>
          <p:cNvPr id="4" name="标题 1">
            <a:extLst>
              <a:ext uri="{FF2B5EF4-FFF2-40B4-BE49-F238E27FC236}">
                <a16:creationId xmlns:a16="http://schemas.microsoft.com/office/drawing/2014/main" id="{B48E30DE-D4E7-C094-C0A2-185FAD839F51}"/>
              </a:ext>
            </a:extLst>
          </p:cNvPr>
          <p:cNvSpPr>
            <a:spLocks noGrp="1"/>
          </p:cNvSpPr>
          <p:nvPr>
            <p:ph type="title"/>
          </p:nvPr>
        </p:nvSpPr>
        <p:spPr>
          <a:xfrm>
            <a:off x="838200" y="365125"/>
            <a:ext cx="10515600" cy="1325563"/>
          </a:xfrm>
        </p:spPr>
        <p:txBody>
          <a:bodyPr/>
          <a:lstStyle/>
          <a:p>
            <a:pPr algn="ctr"/>
            <a:r>
              <a:rPr lang="zh-CN" altLang="en-US" b="1" dirty="0"/>
              <a:t>怎样获取</a:t>
            </a:r>
            <a:r>
              <a:rPr lang="en-US" altLang="zh-CN" b="1" dirty="0"/>
              <a:t>A/D</a:t>
            </a:r>
            <a:r>
              <a:rPr lang="zh-CN" altLang="en-US" b="1" dirty="0"/>
              <a:t>转换值（查询方式）</a:t>
            </a:r>
          </a:p>
        </p:txBody>
      </p:sp>
      <p:sp>
        <p:nvSpPr>
          <p:cNvPr id="9" name="文本框 8">
            <a:extLst>
              <a:ext uri="{FF2B5EF4-FFF2-40B4-BE49-F238E27FC236}">
                <a16:creationId xmlns:a16="http://schemas.microsoft.com/office/drawing/2014/main" id="{5642C053-3E75-87B5-B0A5-9FEC389E9FAC}"/>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7</a:t>
            </a:r>
            <a:endParaRPr lang="zh-CN" altLang="en-US" b="1" dirty="0"/>
          </a:p>
        </p:txBody>
      </p:sp>
    </p:spTree>
    <p:extLst>
      <p:ext uri="{BB962C8B-B14F-4D97-AF65-F5344CB8AC3E}">
        <p14:creationId xmlns:p14="http://schemas.microsoft.com/office/powerpoint/2010/main" val="184141593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CE0F59E-2F1E-6310-81A7-14D764674598}"/>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7</a:t>
            </a:r>
            <a:endParaRPr lang="zh-CN" altLang="en-US" b="1" dirty="0"/>
          </a:p>
        </p:txBody>
      </p:sp>
      <p:sp>
        <p:nvSpPr>
          <p:cNvPr id="11" name="内容占位符 2">
            <a:extLst>
              <a:ext uri="{FF2B5EF4-FFF2-40B4-BE49-F238E27FC236}">
                <a16:creationId xmlns:a16="http://schemas.microsoft.com/office/drawing/2014/main" id="{6E75D285-0A5B-B614-B23F-699A29DD3BF9}"/>
              </a:ext>
            </a:extLst>
          </p:cNvPr>
          <p:cNvSpPr>
            <a:spLocks noGrp="1"/>
          </p:cNvSpPr>
          <p:nvPr>
            <p:ph idx="1"/>
          </p:nvPr>
        </p:nvSpPr>
        <p:spPr>
          <a:xfrm>
            <a:off x="1160375" y="1825625"/>
            <a:ext cx="1646405" cy="386896"/>
          </a:xfrm>
        </p:spPr>
        <p:txBody>
          <a:bodyPr>
            <a:normAutofit/>
          </a:bodyPr>
          <a:lstStyle/>
          <a:p>
            <a:r>
              <a:rPr lang="en-US" altLang="zh-CN" sz="2000" b="1" dirty="0"/>
              <a:t>1</a:t>
            </a:r>
            <a:r>
              <a:rPr lang="zh-CN" altLang="en-US" sz="2000" b="1" dirty="0"/>
              <a:t>、</a:t>
            </a:r>
            <a:r>
              <a:rPr lang="en-US" altLang="zh-CN" sz="2000" b="1" dirty="0" err="1"/>
              <a:t>main.c</a:t>
            </a:r>
            <a:endParaRPr lang="zh-CN" altLang="en-US" sz="2000" b="1" dirty="0"/>
          </a:p>
        </p:txBody>
      </p:sp>
      <p:cxnSp>
        <p:nvCxnSpPr>
          <p:cNvPr id="12" name="直接箭头连接符 11">
            <a:extLst>
              <a:ext uri="{FF2B5EF4-FFF2-40B4-BE49-F238E27FC236}">
                <a16:creationId xmlns:a16="http://schemas.microsoft.com/office/drawing/2014/main" id="{7AE4E6C8-940A-2082-091A-C2EB586EB01A}"/>
              </a:ext>
            </a:extLst>
          </p:cNvPr>
          <p:cNvCxnSpPr/>
          <p:nvPr/>
        </p:nvCxnSpPr>
        <p:spPr>
          <a:xfrm>
            <a:off x="4634763" y="344538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3327F892-FAAC-0CBD-E95F-79C2C16E9B04}"/>
              </a:ext>
            </a:extLst>
          </p:cNvPr>
          <p:cNvCxnSpPr/>
          <p:nvPr/>
        </p:nvCxnSpPr>
        <p:spPr>
          <a:xfrm>
            <a:off x="4581423" y="440550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67AD62A6-824C-5142-7A0C-A06910B7D767}"/>
              </a:ext>
            </a:extLst>
          </p:cNvPr>
          <p:cNvCxnSpPr/>
          <p:nvPr/>
        </p:nvCxnSpPr>
        <p:spPr>
          <a:xfrm>
            <a:off x="4634763" y="506082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82EF799C-3160-9813-9537-4AA3058F766B}"/>
              </a:ext>
            </a:extLst>
          </p:cNvPr>
          <p:cNvCxnSpPr/>
          <p:nvPr/>
        </p:nvCxnSpPr>
        <p:spPr>
          <a:xfrm>
            <a:off x="4634763" y="564756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标题 1">
            <a:extLst>
              <a:ext uri="{FF2B5EF4-FFF2-40B4-BE49-F238E27FC236}">
                <a16:creationId xmlns:a16="http://schemas.microsoft.com/office/drawing/2014/main" id="{C278831A-C1E9-558C-158A-D169BF639901}"/>
              </a:ext>
            </a:extLst>
          </p:cNvPr>
          <p:cNvSpPr>
            <a:spLocks noGrp="1"/>
          </p:cNvSpPr>
          <p:nvPr>
            <p:ph type="title"/>
          </p:nvPr>
        </p:nvSpPr>
        <p:spPr>
          <a:xfrm>
            <a:off x="838200" y="365125"/>
            <a:ext cx="10515600" cy="1325563"/>
          </a:xfrm>
        </p:spPr>
        <p:txBody>
          <a:bodyPr/>
          <a:lstStyle/>
          <a:p>
            <a:pPr algn="ctr"/>
            <a:r>
              <a:rPr lang="en-US" altLang="zh-CN" b="1" dirty="0" err="1"/>
              <a:t>fs_adc</a:t>
            </a:r>
            <a:r>
              <a:rPr lang="zh-CN" altLang="en-US" b="1" dirty="0"/>
              <a:t>实验程序（</a:t>
            </a:r>
            <a:r>
              <a:rPr lang="en-US" altLang="zh-CN" b="1" dirty="0"/>
              <a:t>1</a:t>
            </a:r>
            <a:r>
              <a:rPr lang="zh-CN" altLang="en-US" b="1" dirty="0"/>
              <a:t>）</a:t>
            </a:r>
          </a:p>
        </p:txBody>
      </p:sp>
      <p:pic>
        <p:nvPicPr>
          <p:cNvPr id="5" name="图片 4">
            <a:extLst>
              <a:ext uri="{FF2B5EF4-FFF2-40B4-BE49-F238E27FC236}">
                <a16:creationId xmlns:a16="http://schemas.microsoft.com/office/drawing/2014/main" id="{854055C5-8895-9294-D242-B9D1448CE1A2}"/>
              </a:ext>
            </a:extLst>
          </p:cNvPr>
          <p:cNvPicPr>
            <a:picLocks noChangeAspect="1"/>
          </p:cNvPicPr>
          <p:nvPr/>
        </p:nvPicPr>
        <p:blipFill>
          <a:blip r:embed="rId2"/>
          <a:stretch>
            <a:fillRect/>
          </a:stretch>
        </p:blipFill>
        <p:spPr>
          <a:xfrm>
            <a:off x="3263980" y="1825625"/>
            <a:ext cx="6065092" cy="4570296"/>
          </a:xfrm>
          <a:prstGeom prst="rect">
            <a:avLst/>
          </a:prstGeom>
        </p:spPr>
      </p:pic>
      <p:cxnSp>
        <p:nvCxnSpPr>
          <p:cNvPr id="7" name="直接箭头连接符 6">
            <a:extLst>
              <a:ext uri="{FF2B5EF4-FFF2-40B4-BE49-F238E27FC236}">
                <a16:creationId xmlns:a16="http://schemas.microsoft.com/office/drawing/2014/main" id="{AA257616-B4C6-D1E0-6470-CB83A28AB566}"/>
              </a:ext>
            </a:extLst>
          </p:cNvPr>
          <p:cNvCxnSpPr/>
          <p:nvPr/>
        </p:nvCxnSpPr>
        <p:spPr>
          <a:xfrm flipH="1">
            <a:off x="5439741" y="4063278"/>
            <a:ext cx="457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4DE8C609-C618-8042-23DF-060E8CAD8C59}"/>
              </a:ext>
            </a:extLst>
          </p:cNvPr>
          <p:cNvCxnSpPr/>
          <p:nvPr/>
        </p:nvCxnSpPr>
        <p:spPr>
          <a:xfrm flipH="1">
            <a:off x="6067926" y="4779350"/>
            <a:ext cx="457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37B1788F-A86A-1165-C295-5FCEFA268797}"/>
              </a:ext>
            </a:extLst>
          </p:cNvPr>
          <p:cNvCxnSpPr/>
          <p:nvPr/>
        </p:nvCxnSpPr>
        <p:spPr>
          <a:xfrm flipH="1">
            <a:off x="9329072" y="5123815"/>
            <a:ext cx="457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CB19F9A4-8804-E812-A7A9-2E454A23C3BE}"/>
              </a:ext>
            </a:extLst>
          </p:cNvPr>
          <p:cNvSpPr txBox="1"/>
          <p:nvPr/>
        </p:nvSpPr>
        <p:spPr>
          <a:xfrm>
            <a:off x="10070927" y="4829995"/>
            <a:ext cx="1816273" cy="461665"/>
          </a:xfrm>
          <a:prstGeom prst="rect">
            <a:avLst/>
          </a:prstGeom>
          <a:solidFill>
            <a:srgbClr val="FFFF00"/>
          </a:solidFill>
        </p:spPr>
        <p:txBody>
          <a:bodyPr wrap="square" rtlCol="0">
            <a:spAutoFit/>
          </a:bodyPr>
          <a:lstStyle/>
          <a:p>
            <a:r>
              <a:rPr lang="en-US" altLang="zh-CN" sz="1200" b="1" dirty="0"/>
              <a:t>A/D</a:t>
            </a:r>
            <a:r>
              <a:rPr lang="zh-CN" altLang="en-US" sz="1200" b="1" dirty="0"/>
              <a:t>转换值送</a:t>
            </a:r>
            <a:r>
              <a:rPr lang="en-US" altLang="zh-CN" sz="1200" b="1" dirty="0"/>
              <a:t>Debug_2</a:t>
            </a:r>
            <a:r>
              <a:rPr lang="zh-CN" altLang="en-US" sz="1200" b="1" dirty="0"/>
              <a:t>串口，在</a:t>
            </a:r>
            <a:r>
              <a:rPr lang="en-US" altLang="zh-CN" sz="1200" b="1" dirty="0"/>
              <a:t>Putty</a:t>
            </a:r>
            <a:r>
              <a:rPr lang="zh-CN" altLang="en-US" sz="1200" b="1" dirty="0"/>
              <a:t>上显示</a:t>
            </a:r>
          </a:p>
        </p:txBody>
      </p:sp>
      <p:sp>
        <p:nvSpPr>
          <p:cNvPr id="2" name="文本框 1">
            <a:extLst>
              <a:ext uri="{FF2B5EF4-FFF2-40B4-BE49-F238E27FC236}">
                <a16:creationId xmlns:a16="http://schemas.microsoft.com/office/drawing/2014/main" id="{B49340AD-8252-1629-C00B-BA3909BB04C4}"/>
              </a:ext>
            </a:extLst>
          </p:cNvPr>
          <p:cNvSpPr txBox="1"/>
          <p:nvPr/>
        </p:nvSpPr>
        <p:spPr>
          <a:xfrm>
            <a:off x="6809781" y="4640850"/>
            <a:ext cx="2470397" cy="276999"/>
          </a:xfrm>
          <a:prstGeom prst="rect">
            <a:avLst/>
          </a:prstGeom>
          <a:solidFill>
            <a:srgbClr val="FFFF00"/>
          </a:solidFill>
        </p:spPr>
        <p:txBody>
          <a:bodyPr wrap="square" rtlCol="0">
            <a:spAutoFit/>
          </a:bodyPr>
          <a:lstStyle/>
          <a:p>
            <a:r>
              <a:rPr lang="en-US" altLang="zh-CN" sz="1200" b="1" dirty="0"/>
              <a:t>A/D</a:t>
            </a:r>
            <a:r>
              <a:rPr lang="zh-CN" altLang="en-US" sz="1200" b="1" dirty="0"/>
              <a:t>转换函数由</a:t>
            </a:r>
            <a:r>
              <a:rPr lang="en-US" altLang="zh-CN" sz="1200" b="1" dirty="0"/>
              <a:t>fs3399_adc.c</a:t>
            </a:r>
            <a:r>
              <a:rPr lang="zh-CN" altLang="en-US" sz="1200" b="1" dirty="0"/>
              <a:t>提供</a:t>
            </a:r>
          </a:p>
        </p:txBody>
      </p:sp>
    </p:spTree>
    <p:extLst>
      <p:ext uri="{BB962C8B-B14F-4D97-AF65-F5344CB8AC3E}">
        <p14:creationId xmlns:p14="http://schemas.microsoft.com/office/powerpoint/2010/main" val="82206950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6014EB9-AB3E-3C4D-C200-0AB5243B6511}"/>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7</a:t>
            </a:r>
            <a:endParaRPr lang="zh-CN" altLang="en-US" b="1" dirty="0"/>
          </a:p>
        </p:txBody>
      </p:sp>
      <p:sp>
        <p:nvSpPr>
          <p:cNvPr id="8" name="内容占位符 2">
            <a:extLst>
              <a:ext uri="{FF2B5EF4-FFF2-40B4-BE49-F238E27FC236}">
                <a16:creationId xmlns:a16="http://schemas.microsoft.com/office/drawing/2014/main" id="{346E3AEB-176B-0688-E744-43E9CB3DD69F}"/>
              </a:ext>
            </a:extLst>
          </p:cNvPr>
          <p:cNvSpPr>
            <a:spLocks noGrp="1"/>
          </p:cNvSpPr>
          <p:nvPr>
            <p:ph idx="1"/>
          </p:nvPr>
        </p:nvSpPr>
        <p:spPr>
          <a:xfrm>
            <a:off x="1011760" y="1875354"/>
            <a:ext cx="2392747" cy="443302"/>
          </a:xfrm>
        </p:spPr>
        <p:txBody>
          <a:bodyPr>
            <a:normAutofit/>
          </a:bodyPr>
          <a:lstStyle/>
          <a:p>
            <a:r>
              <a:rPr lang="en-US" altLang="zh-CN" sz="2000" b="1" dirty="0"/>
              <a:t>2</a:t>
            </a:r>
            <a:r>
              <a:rPr lang="zh-CN" altLang="en-US" sz="2000" b="1" dirty="0"/>
              <a:t>、</a:t>
            </a:r>
            <a:r>
              <a:rPr lang="en-US" altLang="zh-CN" sz="2000" b="1" dirty="0"/>
              <a:t>fs3399_adc.c</a:t>
            </a:r>
            <a:endParaRPr lang="zh-CN" altLang="en-US" sz="2000" b="1" dirty="0"/>
          </a:p>
        </p:txBody>
      </p:sp>
      <p:cxnSp>
        <p:nvCxnSpPr>
          <p:cNvPr id="9" name="直接箭头连接符 8">
            <a:extLst>
              <a:ext uri="{FF2B5EF4-FFF2-40B4-BE49-F238E27FC236}">
                <a16:creationId xmlns:a16="http://schemas.microsoft.com/office/drawing/2014/main" id="{CB699C93-271D-895A-A1E5-E396273E55FB}"/>
              </a:ext>
            </a:extLst>
          </p:cNvPr>
          <p:cNvCxnSpPr/>
          <p:nvPr/>
        </p:nvCxnSpPr>
        <p:spPr>
          <a:xfrm>
            <a:off x="4169943" y="263004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21A3D1FD-4FC8-3430-E4BE-D8FD3FF4BC31}"/>
              </a:ext>
            </a:extLst>
          </p:cNvPr>
          <p:cNvCxnSpPr/>
          <p:nvPr/>
        </p:nvCxnSpPr>
        <p:spPr>
          <a:xfrm>
            <a:off x="4169943" y="502272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50C90F8D-F9BC-33E2-2DCA-1464AAE97FCC}"/>
              </a:ext>
            </a:extLst>
          </p:cNvPr>
          <p:cNvCxnSpPr/>
          <p:nvPr/>
        </p:nvCxnSpPr>
        <p:spPr>
          <a:xfrm>
            <a:off x="4169943" y="561708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标题 1">
            <a:extLst>
              <a:ext uri="{FF2B5EF4-FFF2-40B4-BE49-F238E27FC236}">
                <a16:creationId xmlns:a16="http://schemas.microsoft.com/office/drawing/2014/main" id="{0F08AA16-D7EE-D167-665E-63CF50BDF76F}"/>
              </a:ext>
            </a:extLst>
          </p:cNvPr>
          <p:cNvSpPr>
            <a:spLocks noGrp="1"/>
          </p:cNvSpPr>
          <p:nvPr>
            <p:ph type="title"/>
          </p:nvPr>
        </p:nvSpPr>
        <p:spPr>
          <a:xfrm>
            <a:off x="838200" y="365125"/>
            <a:ext cx="10515600" cy="1325563"/>
          </a:xfrm>
        </p:spPr>
        <p:txBody>
          <a:bodyPr/>
          <a:lstStyle/>
          <a:p>
            <a:pPr algn="ctr"/>
            <a:r>
              <a:rPr lang="en-US" altLang="zh-CN" b="1" dirty="0" err="1"/>
              <a:t>fs_adc</a:t>
            </a:r>
            <a:r>
              <a:rPr lang="zh-CN" altLang="en-US" b="1" dirty="0"/>
              <a:t>实验程序（</a:t>
            </a:r>
            <a:r>
              <a:rPr lang="en-US" altLang="zh-CN" b="1" dirty="0"/>
              <a:t>2</a:t>
            </a:r>
            <a:r>
              <a:rPr lang="zh-CN" altLang="en-US" b="1" dirty="0"/>
              <a:t>）</a:t>
            </a:r>
          </a:p>
        </p:txBody>
      </p:sp>
      <p:cxnSp>
        <p:nvCxnSpPr>
          <p:cNvPr id="2" name="直接箭头连接符 1">
            <a:extLst>
              <a:ext uri="{FF2B5EF4-FFF2-40B4-BE49-F238E27FC236}">
                <a16:creationId xmlns:a16="http://schemas.microsoft.com/office/drawing/2014/main" id="{C61DADC1-22FF-CD86-51B3-4910F49F1A27}"/>
              </a:ext>
            </a:extLst>
          </p:cNvPr>
          <p:cNvCxnSpPr/>
          <p:nvPr/>
        </p:nvCxnSpPr>
        <p:spPr>
          <a:xfrm flipH="1">
            <a:off x="6256020" y="4733168"/>
            <a:ext cx="457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 name="直接箭头连接符 2">
            <a:extLst>
              <a:ext uri="{FF2B5EF4-FFF2-40B4-BE49-F238E27FC236}">
                <a16:creationId xmlns:a16="http://schemas.microsoft.com/office/drawing/2014/main" id="{C38DB332-1433-E268-E4CD-971EE2BB0CDE}"/>
              </a:ext>
            </a:extLst>
          </p:cNvPr>
          <p:cNvCxnSpPr/>
          <p:nvPr/>
        </p:nvCxnSpPr>
        <p:spPr>
          <a:xfrm flipH="1">
            <a:off x="9525000" y="5914268"/>
            <a:ext cx="457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直接箭头连接符 3">
            <a:extLst>
              <a:ext uri="{FF2B5EF4-FFF2-40B4-BE49-F238E27FC236}">
                <a16:creationId xmlns:a16="http://schemas.microsoft.com/office/drawing/2014/main" id="{E86E5D57-B5C6-2A90-AA0F-D26467D0930E}"/>
              </a:ext>
            </a:extLst>
          </p:cNvPr>
          <p:cNvCxnSpPr/>
          <p:nvPr/>
        </p:nvCxnSpPr>
        <p:spPr>
          <a:xfrm flipH="1">
            <a:off x="5638800" y="3552068"/>
            <a:ext cx="457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65DAB0AE-4840-C0D8-52F8-7A0135BA2A7D}"/>
              </a:ext>
            </a:extLst>
          </p:cNvPr>
          <p:cNvPicPr>
            <a:picLocks noChangeAspect="1"/>
          </p:cNvPicPr>
          <p:nvPr/>
        </p:nvPicPr>
        <p:blipFill>
          <a:blip r:embed="rId2"/>
          <a:stretch>
            <a:fillRect/>
          </a:stretch>
        </p:blipFill>
        <p:spPr>
          <a:xfrm>
            <a:off x="3903313" y="1690688"/>
            <a:ext cx="6342246" cy="4924509"/>
          </a:xfrm>
          <a:prstGeom prst="rect">
            <a:avLst/>
          </a:prstGeom>
        </p:spPr>
      </p:pic>
      <p:cxnSp>
        <p:nvCxnSpPr>
          <p:cNvPr id="13" name="直接箭头连接符 12">
            <a:extLst>
              <a:ext uri="{FF2B5EF4-FFF2-40B4-BE49-F238E27FC236}">
                <a16:creationId xmlns:a16="http://schemas.microsoft.com/office/drawing/2014/main" id="{F741C676-F38A-FF56-25BC-A28D7E125D22}"/>
              </a:ext>
            </a:extLst>
          </p:cNvPr>
          <p:cNvCxnSpPr>
            <a:cxnSpLocks/>
          </p:cNvCxnSpPr>
          <p:nvPr/>
        </p:nvCxnSpPr>
        <p:spPr>
          <a:xfrm>
            <a:off x="3273567" y="2552132"/>
            <a:ext cx="629746"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7FA06FA5-01A4-F6A7-DF14-3874EE890F72}"/>
              </a:ext>
            </a:extLst>
          </p:cNvPr>
          <p:cNvCxnSpPr>
            <a:cxnSpLocks/>
          </p:cNvCxnSpPr>
          <p:nvPr/>
        </p:nvCxnSpPr>
        <p:spPr>
          <a:xfrm flipH="1">
            <a:off x="8227191" y="5888527"/>
            <a:ext cx="58319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39918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a:extLst>
              <a:ext uri="{FF2B5EF4-FFF2-40B4-BE49-F238E27FC236}">
                <a16:creationId xmlns:a16="http://schemas.microsoft.com/office/drawing/2014/main" id="{A05D0AFE-E19C-D1C2-A57E-D366E974DE2D}"/>
              </a:ext>
            </a:extLst>
          </p:cNvPr>
          <p:cNvSpPr>
            <a:spLocks noGrp="1"/>
          </p:cNvSpPr>
          <p:nvPr>
            <p:ph idx="1"/>
          </p:nvPr>
        </p:nvSpPr>
        <p:spPr>
          <a:xfrm>
            <a:off x="1181100" y="1875354"/>
            <a:ext cx="1953986" cy="573932"/>
          </a:xfrm>
        </p:spPr>
        <p:txBody>
          <a:bodyPr>
            <a:normAutofit/>
          </a:bodyPr>
          <a:lstStyle/>
          <a:p>
            <a:r>
              <a:rPr lang="en-US" altLang="zh-CN" sz="2000" b="1" dirty="0"/>
              <a:t>3</a:t>
            </a:r>
            <a:r>
              <a:rPr lang="zh-CN" altLang="en-US" sz="2000" b="1" dirty="0"/>
              <a:t>、</a:t>
            </a:r>
            <a:r>
              <a:rPr lang="en-US" altLang="zh-CN" sz="2000" b="1" dirty="0"/>
              <a:t>fs3399_adc.h</a:t>
            </a:r>
            <a:endParaRPr lang="zh-CN" altLang="en-US" sz="2000" b="1" dirty="0"/>
          </a:p>
        </p:txBody>
      </p:sp>
      <p:sp>
        <p:nvSpPr>
          <p:cNvPr id="9" name="标题 1">
            <a:extLst>
              <a:ext uri="{FF2B5EF4-FFF2-40B4-BE49-F238E27FC236}">
                <a16:creationId xmlns:a16="http://schemas.microsoft.com/office/drawing/2014/main" id="{1D216D6C-6478-E983-8841-034F0EB98EF1}"/>
              </a:ext>
            </a:extLst>
          </p:cNvPr>
          <p:cNvSpPr>
            <a:spLocks noGrp="1"/>
          </p:cNvSpPr>
          <p:nvPr>
            <p:ph type="title"/>
          </p:nvPr>
        </p:nvSpPr>
        <p:spPr>
          <a:xfrm>
            <a:off x="838200" y="365125"/>
            <a:ext cx="10515600" cy="1325563"/>
          </a:xfrm>
        </p:spPr>
        <p:txBody>
          <a:bodyPr/>
          <a:lstStyle/>
          <a:p>
            <a:pPr algn="ctr"/>
            <a:r>
              <a:rPr lang="en-US" altLang="zh-CN" b="1" dirty="0" err="1"/>
              <a:t>fs_adc</a:t>
            </a:r>
            <a:r>
              <a:rPr lang="zh-CN" altLang="en-US" b="1" dirty="0"/>
              <a:t>实验程序（</a:t>
            </a:r>
            <a:r>
              <a:rPr lang="en-US" altLang="zh-CN" b="1" dirty="0"/>
              <a:t>3</a:t>
            </a:r>
            <a:r>
              <a:rPr lang="zh-CN" altLang="en-US" b="1" dirty="0"/>
              <a:t>）</a:t>
            </a:r>
          </a:p>
        </p:txBody>
      </p:sp>
      <p:pic>
        <p:nvPicPr>
          <p:cNvPr id="3" name="图片 2">
            <a:extLst>
              <a:ext uri="{FF2B5EF4-FFF2-40B4-BE49-F238E27FC236}">
                <a16:creationId xmlns:a16="http://schemas.microsoft.com/office/drawing/2014/main" id="{6807C36E-FF0C-D8BD-0AE6-5048633EC752}"/>
              </a:ext>
            </a:extLst>
          </p:cNvPr>
          <p:cNvPicPr>
            <a:picLocks noChangeAspect="1"/>
          </p:cNvPicPr>
          <p:nvPr/>
        </p:nvPicPr>
        <p:blipFill>
          <a:blip r:embed="rId2"/>
          <a:stretch>
            <a:fillRect/>
          </a:stretch>
        </p:blipFill>
        <p:spPr>
          <a:xfrm>
            <a:off x="3379692" y="1825625"/>
            <a:ext cx="6891813" cy="4436382"/>
          </a:xfrm>
          <a:prstGeom prst="rect">
            <a:avLst/>
          </a:prstGeom>
        </p:spPr>
      </p:pic>
      <p:sp>
        <p:nvSpPr>
          <p:cNvPr id="4" name="文本框 3">
            <a:extLst>
              <a:ext uri="{FF2B5EF4-FFF2-40B4-BE49-F238E27FC236}">
                <a16:creationId xmlns:a16="http://schemas.microsoft.com/office/drawing/2014/main" id="{E81ED4F4-2CAD-473A-A94C-6DDCA1F0FD1D}"/>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7</a:t>
            </a:r>
            <a:endParaRPr lang="zh-CN" altLang="en-US" b="1" dirty="0"/>
          </a:p>
        </p:txBody>
      </p:sp>
    </p:spTree>
    <p:extLst>
      <p:ext uri="{BB962C8B-B14F-4D97-AF65-F5344CB8AC3E}">
        <p14:creationId xmlns:p14="http://schemas.microsoft.com/office/powerpoint/2010/main" val="74506355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A749897-FC39-ACD8-BF71-B97943BCC943}"/>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fs_adc</a:t>
            </a:r>
            <a:r>
              <a:rPr lang="zh-CN" altLang="en-US" b="1" dirty="0"/>
              <a:t>实验程序</a:t>
            </a:r>
          </a:p>
        </p:txBody>
      </p:sp>
      <p:sp>
        <p:nvSpPr>
          <p:cNvPr id="7" name="内容占位符 2">
            <a:extLst>
              <a:ext uri="{FF2B5EF4-FFF2-40B4-BE49-F238E27FC236}">
                <a16:creationId xmlns:a16="http://schemas.microsoft.com/office/drawing/2014/main" id="{0164717B-A44C-107C-834B-657E75999E68}"/>
              </a:ext>
            </a:extLst>
          </p:cNvPr>
          <p:cNvSpPr>
            <a:spLocks noGrp="1"/>
          </p:cNvSpPr>
          <p:nvPr>
            <p:ph idx="1"/>
          </p:nvPr>
        </p:nvSpPr>
        <p:spPr>
          <a:xfrm>
            <a:off x="838200" y="1825625"/>
            <a:ext cx="10515600" cy="4351338"/>
          </a:xfrm>
        </p:spPr>
        <p:txBody>
          <a:bodyPr>
            <a:normAutofit fontScale="77500" lnSpcReduction="20000"/>
          </a:bodyPr>
          <a:lstStyle/>
          <a:p>
            <a:r>
              <a:rPr lang="zh-CN" altLang="en-US" sz="2400" b="1" dirty="0"/>
              <a:t>请按照前面的“</a:t>
            </a:r>
            <a:r>
              <a:rPr lang="zh-CN" altLang="en-US" sz="2400" b="1" dirty="0">
                <a:solidFill>
                  <a:srgbClr val="C00000"/>
                </a:solidFill>
              </a:rPr>
              <a:t>运行fs_led实验程序</a:t>
            </a:r>
            <a:r>
              <a:rPr lang="zh-CN" altLang="en-US" sz="2400" b="1" dirty="0"/>
              <a:t>”的步骤，运行“</a:t>
            </a:r>
            <a:r>
              <a:rPr lang="en-US" altLang="zh-CN" sz="2400" b="1" dirty="0" err="1"/>
              <a:t>fs_adc</a:t>
            </a:r>
            <a:r>
              <a:rPr lang="zh-CN" altLang="en-US" sz="2400" b="1" dirty="0"/>
              <a:t>实验程序”：</a:t>
            </a:r>
            <a:endParaRPr lang="en-US" altLang="zh-CN" sz="2400" b="1" dirty="0"/>
          </a:p>
          <a:p>
            <a:pPr lvl="1"/>
            <a:endParaRPr lang="en-US" altLang="zh-CN" sz="2000" b="1" dirty="0"/>
          </a:p>
          <a:p>
            <a:pPr lvl="1"/>
            <a:r>
              <a:rPr lang="en-US" altLang="zh-CN" sz="2000" b="1" dirty="0"/>
              <a:t>1</a:t>
            </a:r>
            <a:r>
              <a:rPr lang="zh-CN" altLang="en-US" sz="2000" b="1" dirty="0"/>
              <a:t>、关闭</a:t>
            </a:r>
            <a:r>
              <a:rPr lang="en-US" altLang="zh-CN" sz="2000" b="1" dirty="0"/>
              <a:t>PuTTY</a:t>
            </a:r>
            <a:r>
              <a:rPr lang="zh-CN" altLang="en-US" sz="2000" b="1" dirty="0"/>
              <a:t>，再打开</a:t>
            </a:r>
            <a:r>
              <a:rPr lang="en-US" altLang="zh-CN" sz="2000" b="1" dirty="0"/>
              <a:t>PuTTY</a:t>
            </a:r>
            <a:r>
              <a:rPr lang="zh-CN" altLang="en-US" sz="2000" b="1" dirty="0"/>
              <a:t>；按实验箱的</a:t>
            </a:r>
            <a:r>
              <a:rPr lang="en-US" altLang="zh-CN" sz="2000" b="1" dirty="0"/>
              <a:t>RST</a:t>
            </a:r>
            <a:r>
              <a:rPr lang="zh-CN" altLang="en-US" sz="2000" b="1" dirty="0"/>
              <a:t>按键；倒计时状态按</a:t>
            </a:r>
            <a:r>
              <a:rPr lang="en-US" altLang="zh-CN" sz="2000" b="1" dirty="0" err="1"/>
              <a:t>Ctrl+C</a:t>
            </a:r>
            <a:r>
              <a:rPr lang="zh-CN" altLang="en-US" sz="2000" b="1" dirty="0"/>
              <a:t>，进入“</a:t>
            </a:r>
            <a:r>
              <a:rPr lang="en-US" altLang="zh-CN" sz="2000" b="1" dirty="0"/>
              <a:t>=&gt;”</a:t>
            </a:r>
            <a:r>
              <a:rPr lang="zh-CN" altLang="en-US" sz="2000" b="1" dirty="0"/>
              <a:t>状态</a:t>
            </a:r>
          </a:p>
          <a:p>
            <a:pPr lvl="1"/>
            <a:endParaRPr lang="zh-CN" altLang="en-US" sz="2000" b="1" dirty="0"/>
          </a:p>
          <a:p>
            <a:pPr lvl="1"/>
            <a:r>
              <a:rPr lang="en-US" altLang="zh-CN" sz="2000" b="1" dirty="0"/>
              <a:t>2</a:t>
            </a:r>
            <a:r>
              <a:rPr lang="zh-CN" altLang="en-US" sz="2000" b="1" dirty="0"/>
              <a:t>、检查</a:t>
            </a:r>
            <a:r>
              <a:rPr lang="en-US" altLang="zh-CN" sz="2000" b="1" dirty="0"/>
              <a:t>JTAG</a:t>
            </a:r>
            <a:r>
              <a:rPr lang="zh-CN" altLang="en-US" sz="2000" b="1" dirty="0"/>
              <a:t>是否连接到虚拟机（</a:t>
            </a:r>
            <a:r>
              <a:rPr lang="en-US" altLang="zh-CN" sz="2000" b="1" dirty="0"/>
              <a:t>Ubuntu</a:t>
            </a:r>
            <a:r>
              <a:rPr lang="zh-CN" altLang="en-US" sz="2000" b="1" dirty="0"/>
              <a:t>）</a:t>
            </a:r>
          </a:p>
          <a:p>
            <a:pPr lvl="1"/>
            <a:endParaRPr lang="zh-CN" altLang="en-US" sz="2000" b="1" dirty="0"/>
          </a:p>
          <a:p>
            <a:pPr lvl="1"/>
            <a:r>
              <a:rPr lang="en-US" altLang="zh-CN" sz="2000" b="1" dirty="0"/>
              <a:t>3</a:t>
            </a:r>
            <a:r>
              <a:rPr lang="zh-CN" altLang="en-US" sz="2000" b="1" dirty="0"/>
              <a:t>、检查</a:t>
            </a:r>
            <a:r>
              <a:rPr lang="en-US" altLang="zh-CN" sz="2000" b="1" dirty="0"/>
              <a:t>FS_JTAG</a:t>
            </a:r>
            <a:r>
              <a:rPr lang="zh-CN" altLang="en-US" sz="2000" b="1" dirty="0"/>
              <a:t>是否处于连接状态（连接到</a:t>
            </a:r>
            <a:r>
              <a:rPr lang="en-US" altLang="zh-CN" sz="2000" b="1" dirty="0"/>
              <a:t>fs3399</a:t>
            </a:r>
            <a:r>
              <a:rPr lang="zh-CN" altLang="en-US" sz="2000" b="1" dirty="0"/>
              <a:t>）</a:t>
            </a:r>
          </a:p>
          <a:p>
            <a:pPr lvl="1"/>
            <a:endParaRPr lang="zh-CN" altLang="en-US" sz="2000" b="1" dirty="0"/>
          </a:p>
          <a:p>
            <a:pPr lvl="1"/>
            <a:r>
              <a:rPr lang="en-US" altLang="zh-CN" sz="2000" b="1" dirty="0"/>
              <a:t>4</a:t>
            </a:r>
            <a:r>
              <a:rPr lang="zh-CN" altLang="en-US" sz="2000" b="1" dirty="0"/>
              <a:t>、打开实验工程（使实验工程处于打开状态）</a:t>
            </a:r>
          </a:p>
          <a:p>
            <a:pPr lvl="1"/>
            <a:endParaRPr lang="zh-CN" altLang="en-US" sz="2000" b="1" dirty="0"/>
          </a:p>
          <a:p>
            <a:pPr lvl="1"/>
            <a:r>
              <a:rPr lang="en-US" altLang="zh-CN" sz="2000" b="1" dirty="0"/>
              <a:t>5</a:t>
            </a:r>
            <a:r>
              <a:rPr lang="zh-CN" altLang="en-US" sz="2000" b="1" dirty="0"/>
              <a:t>、进入调试状态：</a:t>
            </a:r>
            <a:r>
              <a:rPr lang="en-US" altLang="zh-CN" sz="2000" b="1" dirty="0"/>
              <a:t>Run -&gt; Debug Configurations</a:t>
            </a:r>
          </a:p>
          <a:p>
            <a:pPr lvl="1"/>
            <a:endParaRPr lang="en-US" altLang="zh-CN" sz="2000" b="1" dirty="0"/>
          </a:p>
          <a:p>
            <a:pPr lvl="1"/>
            <a:r>
              <a:rPr lang="en-US" altLang="zh-CN" sz="2000" b="1" dirty="0"/>
              <a:t>6</a:t>
            </a:r>
            <a:r>
              <a:rPr lang="zh-CN" altLang="en-US" sz="2000" b="1" dirty="0"/>
              <a:t>、点击运行图标，运行实验工程</a:t>
            </a:r>
          </a:p>
          <a:p>
            <a:pPr lvl="1"/>
            <a:endParaRPr lang="zh-CN" altLang="en-US" sz="2000" b="1" dirty="0"/>
          </a:p>
          <a:p>
            <a:pPr lvl="1"/>
            <a:r>
              <a:rPr lang="en-US" altLang="zh-CN" sz="2000" b="1" dirty="0"/>
              <a:t>7</a:t>
            </a:r>
            <a:r>
              <a:rPr lang="zh-CN" altLang="en-US" sz="2000" b="1" dirty="0"/>
              <a:t>、点击停止图标，停止运行实验工程</a:t>
            </a:r>
          </a:p>
          <a:p>
            <a:pPr lvl="1"/>
            <a:endParaRPr lang="zh-CN" altLang="en-US" sz="2000" b="1" dirty="0"/>
          </a:p>
          <a:p>
            <a:pPr lvl="1"/>
            <a:r>
              <a:rPr lang="en-US" altLang="zh-CN" sz="2000" b="1" dirty="0"/>
              <a:t>8</a:t>
            </a:r>
            <a:r>
              <a:rPr lang="zh-CN" altLang="en-US" sz="2000" b="1" dirty="0"/>
              <a:t>、关闭实验工程（使实验工程处于关闭状态）</a:t>
            </a:r>
          </a:p>
          <a:p>
            <a:endParaRPr lang="zh-CN" altLang="en-US" sz="2400" b="1" dirty="0"/>
          </a:p>
        </p:txBody>
      </p:sp>
      <p:sp>
        <p:nvSpPr>
          <p:cNvPr id="2" name="文本框 1">
            <a:extLst>
              <a:ext uri="{FF2B5EF4-FFF2-40B4-BE49-F238E27FC236}">
                <a16:creationId xmlns:a16="http://schemas.microsoft.com/office/drawing/2014/main" id="{92940664-2B1D-E4BB-4B75-4E9FBB612EE8}"/>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7</a:t>
            </a:r>
            <a:endParaRPr lang="zh-CN" altLang="en-US" b="1" dirty="0"/>
          </a:p>
        </p:txBody>
      </p:sp>
    </p:spTree>
    <p:extLst>
      <p:ext uri="{BB962C8B-B14F-4D97-AF65-F5344CB8AC3E}">
        <p14:creationId xmlns:p14="http://schemas.microsoft.com/office/powerpoint/2010/main" val="398209611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F37461E-8AC3-1EF7-C846-C6C4E243B8BF}"/>
              </a:ext>
            </a:extLst>
          </p:cNvPr>
          <p:cNvSpPr>
            <a:spLocks noGrp="1"/>
          </p:cNvSpPr>
          <p:nvPr>
            <p:ph idx="1"/>
          </p:nvPr>
        </p:nvSpPr>
        <p:spPr/>
        <p:txBody>
          <a:bodyPr>
            <a:normAutofit/>
          </a:bodyPr>
          <a:lstStyle/>
          <a:p>
            <a:r>
              <a:rPr lang="zh-CN" altLang="en-US" sz="2000" b="1" dirty="0"/>
              <a:t>程序执行后，</a:t>
            </a:r>
            <a:r>
              <a:rPr lang="en-US" altLang="zh-CN" sz="2000" b="1" dirty="0"/>
              <a:t>Putty</a:t>
            </a:r>
            <a:r>
              <a:rPr lang="zh-CN" altLang="en-US" sz="2000" b="1" dirty="0"/>
              <a:t>上会显示</a:t>
            </a:r>
            <a:r>
              <a:rPr lang="en-US" altLang="zh-CN" sz="2000" b="1" dirty="0"/>
              <a:t>A/D</a:t>
            </a:r>
            <a:r>
              <a:rPr lang="zh-CN" altLang="en-US" sz="2000" b="1" dirty="0"/>
              <a:t>转换的值；旋转电位器，</a:t>
            </a:r>
            <a:r>
              <a:rPr lang="en-US" altLang="zh-CN" sz="2000" b="1" dirty="0"/>
              <a:t>A/D</a:t>
            </a:r>
            <a:r>
              <a:rPr lang="zh-CN" altLang="en-US" sz="2000" b="1" dirty="0"/>
              <a:t>转换值会改变</a:t>
            </a:r>
          </a:p>
        </p:txBody>
      </p:sp>
      <p:sp>
        <p:nvSpPr>
          <p:cNvPr id="2" name="文本框 1">
            <a:extLst>
              <a:ext uri="{FF2B5EF4-FFF2-40B4-BE49-F238E27FC236}">
                <a16:creationId xmlns:a16="http://schemas.microsoft.com/office/drawing/2014/main" id="{918B2456-026D-DEA1-E422-782546E18592}"/>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7</a:t>
            </a:r>
            <a:endParaRPr lang="zh-CN" altLang="en-US" b="1" dirty="0"/>
          </a:p>
        </p:txBody>
      </p:sp>
      <p:pic>
        <p:nvPicPr>
          <p:cNvPr id="7" name="图片 6">
            <a:extLst>
              <a:ext uri="{FF2B5EF4-FFF2-40B4-BE49-F238E27FC236}">
                <a16:creationId xmlns:a16="http://schemas.microsoft.com/office/drawing/2014/main" id="{4B6DF877-7EAA-D441-02E2-951656B7B023}"/>
              </a:ext>
            </a:extLst>
          </p:cNvPr>
          <p:cNvPicPr>
            <a:picLocks noChangeAspect="1"/>
          </p:cNvPicPr>
          <p:nvPr/>
        </p:nvPicPr>
        <p:blipFill>
          <a:blip r:embed="rId2"/>
          <a:stretch>
            <a:fillRect/>
          </a:stretch>
        </p:blipFill>
        <p:spPr>
          <a:xfrm>
            <a:off x="6915150" y="2195088"/>
            <a:ext cx="3058694" cy="4297787"/>
          </a:xfrm>
          <a:prstGeom prst="rect">
            <a:avLst/>
          </a:prstGeom>
        </p:spPr>
      </p:pic>
      <p:sp>
        <p:nvSpPr>
          <p:cNvPr id="8" name="标题 1">
            <a:extLst>
              <a:ext uri="{FF2B5EF4-FFF2-40B4-BE49-F238E27FC236}">
                <a16:creationId xmlns:a16="http://schemas.microsoft.com/office/drawing/2014/main" id="{7CCF5A0B-5C12-3A75-5D1C-64AAFAA683BE}"/>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fs_adc</a:t>
            </a:r>
            <a:r>
              <a:rPr lang="zh-CN" altLang="en-US" b="1" dirty="0"/>
              <a:t>实验程序</a:t>
            </a:r>
          </a:p>
        </p:txBody>
      </p:sp>
      <p:pic>
        <p:nvPicPr>
          <p:cNvPr id="9" name="图片 8">
            <a:extLst>
              <a:ext uri="{FF2B5EF4-FFF2-40B4-BE49-F238E27FC236}">
                <a16:creationId xmlns:a16="http://schemas.microsoft.com/office/drawing/2014/main" id="{3F88200B-2B81-3655-D913-90845F20EDFE}"/>
              </a:ext>
            </a:extLst>
          </p:cNvPr>
          <p:cNvPicPr>
            <a:picLocks noChangeAspect="1"/>
          </p:cNvPicPr>
          <p:nvPr/>
        </p:nvPicPr>
        <p:blipFill>
          <a:blip r:embed="rId3"/>
          <a:stretch>
            <a:fillRect/>
          </a:stretch>
        </p:blipFill>
        <p:spPr>
          <a:xfrm>
            <a:off x="1800752" y="3093733"/>
            <a:ext cx="4242806" cy="2620333"/>
          </a:xfrm>
          <a:prstGeom prst="rect">
            <a:avLst/>
          </a:prstGeom>
        </p:spPr>
      </p:pic>
      <p:cxnSp>
        <p:nvCxnSpPr>
          <p:cNvPr id="10" name="直接箭头连接符 9">
            <a:extLst>
              <a:ext uri="{FF2B5EF4-FFF2-40B4-BE49-F238E27FC236}">
                <a16:creationId xmlns:a16="http://schemas.microsoft.com/office/drawing/2014/main" id="{2A9E9D3F-4CAF-3AE5-5339-52BC1959A939}"/>
              </a:ext>
            </a:extLst>
          </p:cNvPr>
          <p:cNvCxnSpPr>
            <a:cxnSpLocks/>
          </p:cNvCxnSpPr>
          <p:nvPr/>
        </p:nvCxnSpPr>
        <p:spPr>
          <a:xfrm>
            <a:off x="1555733" y="4517552"/>
            <a:ext cx="570874"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18D1A26D-A8FA-B1B3-6C8F-1BE02FAE7436}"/>
              </a:ext>
            </a:extLst>
          </p:cNvPr>
          <p:cNvSpPr txBox="1"/>
          <p:nvPr/>
        </p:nvSpPr>
        <p:spPr>
          <a:xfrm>
            <a:off x="445474" y="4332886"/>
            <a:ext cx="877163" cy="369332"/>
          </a:xfrm>
          <a:prstGeom prst="rect">
            <a:avLst/>
          </a:prstGeom>
          <a:solidFill>
            <a:srgbClr val="FFFF00"/>
          </a:solidFill>
        </p:spPr>
        <p:txBody>
          <a:bodyPr wrap="none" rtlCol="0">
            <a:spAutoFit/>
          </a:bodyPr>
          <a:lstStyle/>
          <a:p>
            <a:r>
              <a:rPr lang="zh-CN" altLang="en-US" b="1" dirty="0"/>
              <a:t>电位器</a:t>
            </a:r>
          </a:p>
        </p:txBody>
      </p:sp>
    </p:spTree>
    <p:extLst>
      <p:ext uri="{BB962C8B-B14F-4D97-AF65-F5344CB8AC3E}">
        <p14:creationId xmlns:p14="http://schemas.microsoft.com/office/powerpoint/2010/main" val="235440002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5B9C2-11EB-449B-3E8A-68F6F4C5BE6E}"/>
              </a:ext>
            </a:extLst>
          </p:cNvPr>
          <p:cNvSpPr>
            <a:spLocks noGrp="1"/>
          </p:cNvSpPr>
          <p:nvPr>
            <p:ph type="title"/>
          </p:nvPr>
        </p:nvSpPr>
        <p:spPr>
          <a:xfrm>
            <a:off x="838200" y="2620645"/>
            <a:ext cx="10515600" cy="1325563"/>
          </a:xfrm>
        </p:spPr>
        <p:txBody>
          <a:bodyPr/>
          <a:lstStyle/>
          <a:p>
            <a:pPr algn="ctr"/>
            <a:r>
              <a:rPr lang="zh-CN" altLang="en-US" b="1" dirty="0"/>
              <a:t>实验</a:t>
            </a:r>
            <a:r>
              <a:rPr lang="en-US" altLang="zh-CN" b="1" dirty="0"/>
              <a:t>8    I2C</a:t>
            </a:r>
            <a:r>
              <a:rPr lang="zh-CN" altLang="en-US" b="1" dirty="0"/>
              <a:t>总线</a:t>
            </a:r>
          </a:p>
        </p:txBody>
      </p:sp>
    </p:spTree>
    <p:extLst>
      <p:ext uri="{BB962C8B-B14F-4D97-AF65-F5344CB8AC3E}">
        <p14:creationId xmlns:p14="http://schemas.microsoft.com/office/powerpoint/2010/main" val="423442977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F34CFB56-AE99-80E2-C66B-C4DF69087976}"/>
              </a:ext>
            </a:extLst>
          </p:cNvPr>
          <p:cNvSpPr>
            <a:spLocks noGrp="1"/>
          </p:cNvSpPr>
          <p:nvPr>
            <p:ph type="title"/>
          </p:nvPr>
        </p:nvSpPr>
        <p:spPr>
          <a:xfrm>
            <a:off x="838200" y="365125"/>
            <a:ext cx="10515600" cy="1325563"/>
          </a:xfrm>
        </p:spPr>
        <p:txBody>
          <a:bodyPr/>
          <a:lstStyle/>
          <a:p>
            <a:pPr algn="ctr"/>
            <a:r>
              <a:rPr lang="zh-CN" altLang="en-US" b="1" dirty="0"/>
              <a:t>温度传感器与</a:t>
            </a:r>
            <a:r>
              <a:rPr lang="en-US" altLang="zh-CN" b="1" dirty="0"/>
              <a:t>I2C</a:t>
            </a:r>
            <a:r>
              <a:rPr lang="zh-CN" altLang="en-US" b="1" dirty="0"/>
              <a:t>总线的接线图</a:t>
            </a:r>
          </a:p>
        </p:txBody>
      </p:sp>
      <p:sp>
        <p:nvSpPr>
          <p:cNvPr id="11" name="文本框 10">
            <a:extLst>
              <a:ext uri="{FF2B5EF4-FFF2-40B4-BE49-F238E27FC236}">
                <a16:creationId xmlns:a16="http://schemas.microsoft.com/office/drawing/2014/main" id="{5925F4B4-D94D-6EFF-8B81-BF6031DF84E6}"/>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8</a:t>
            </a:r>
            <a:endParaRPr lang="zh-CN" altLang="en-US" b="1" dirty="0"/>
          </a:p>
        </p:txBody>
      </p:sp>
      <p:cxnSp>
        <p:nvCxnSpPr>
          <p:cNvPr id="5" name="直接箭头连接符 4">
            <a:extLst>
              <a:ext uri="{FF2B5EF4-FFF2-40B4-BE49-F238E27FC236}">
                <a16:creationId xmlns:a16="http://schemas.microsoft.com/office/drawing/2014/main" id="{B6DFC567-9FB5-A70F-1D4A-EAF7208473C4}"/>
              </a:ext>
            </a:extLst>
          </p:cNvPr>
          <p:cNvCxnSpPr>
            <a:cxnSpLocks/>
          </p:cNvCxnSpPr>
          <p:nvPr/>
        </p:nvCxnSpPr>
        <p:spPr>
          <a:xfrm>
            <a:off x="7133573" y="4052732"/>
            <a:ext cx="570874"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CF863BE0-F959-4181-61D1-8E20116F7F61}"/>
              </a:ext>
            </a:extLst>
          </p:cNvPr>
          <p:cNvSpPr txBox="1"/>
          <p:nvPr/>
        </p:nvSpPr>
        <p:spPr>
          <a:xfrm>
            <a:off x="5993517" y="3868066"/>
            <a:ext cx="877163" cy="369332"/>
          </a:xfrm>
          <a:prstGeom prst="rect">
            <a:avLst/>
          </a:prstGeom>
          <a:solidFill>
            <a:srgbClr val="FFFF00"/>
          </a:solidFill>
        </p:spPr>
        <p:txBody>
          <a:bodyPr wrap="none" rtlCol="0">
            <a:spAutoFit/>
          </a:bodyPr>
          <a:lstStyle/>
          <a:p>
            <a:r>
              <a:rPr lang="zh-CN" altLang="en-US" b="1" dirty="0"/>
              <a:t>电位器</a:t>
            </a:r>
          </a:p>
        </p:txBody>
      </p:sp>
      <p:pic>
        <p:nvPicPr>
          <p:cNvPr id="9" name="图片 8">
            <a:extLst>
              <a:ext uri="{FF2B5EF4-FFF2-40B4-BE49-F238E27FC236}">
                <a16:creationId xmlns:a16="http://schemas.microsoft.com/office/drawing/2014/main" id="{7540C21B-CE83-111B-D41A-33E8CEF7A886}"/>
              </a:ext>
            </a:extLst>
          </p:cNvPr>
          <p:cNvPicPr>
            <a:picLocks noChangeAspect="1"/>
          </p:cNvPicPr>
          <p:nvPr/>
        </p:nvPicPr>
        <p:blipFill>
          <a:blip r:embed="rId2"/>
          <a:stretch>
            <a:fillRect/>
          </a:stretch>
        </p:blipFill>
        <p:spPr>
          <a:xfrm>
            <a:off x="2047238" y="2055938"/>
            <a:ext cx="8517348" cy="3156220"/>
          </a:xfrm>
          <a:prstGeom prst="rect">
            <a:avLst/>
          </a:prstGeom>
        </p:spPr>
      </p:pic>
      <p:sp>
        <p:nvSpPr>
          <p:cNvPr id="10" name="文本框 9">
            <a:extLst>
              <a:ext uri="{FF2B5EF4-FFF2-40B4-BE49-F238E27FC236}">
                <a16:creationId xmlns:a16="http://schemas.microsoft.com/office/drawing/2014/main" id="{8068A20E-5904-5724-1010-2689CE7CBBA8}"/>
              </a:ext>
            </a:extLst>
          </p:cNvPr>
          <p:cNvSpPr txBox="1"/>
          <p:nvPr/>
        </p:nvSpPr>
        <p:spPr>
          <a:xfrm>
            <a:off x="4533208" y="4299352"/>
            <a:ext cx="1338828" cy="369332"/>
          </a:xfrm>
          <a:prstGeom prst="rect">
            <a:avLst/>
          </a:prstGeom>
          <a:solidFill>
            <a:srgbClr val="FFC000"/>
          </a:solidFill>
        </p:spPr>
        <p:txBody>
          <a:bodyPr wrap="none" rtlCol="0">
            <a:spAutoFit/>
          </a:bodyPr>
          <a:lstStyle/>
          <a:p>
            <a:r>
              <a:rPr lang="zh-CN" altLang="en-US" b="1" dirty="0"/>
              <a:t>温度传感器</a:t>
            </a:r>
          </a:p>
        </p:txBody>
      </p:sp>
    </p:spTree>
    <p:extLst>
      <p:ext uri="{BB962C8B-B14F-4D97-AF65-F5344CB8AC3E}">
        <p14:creationId xmlns:p14="http://schemas.microsoft.com/office/powerpoint/2010/main" val="318243297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500764A0-FE1F-751F-244D-A416597994DA}"/>
              </a:ext>
            </a:extLst>
          </p:cNvPr>
          <p:cNvSpPr>
            <a:spLocks noGrp="1"/>
          </p:cNvSpPr>
          <p:nvPr>
            <p:ph type="title"/>
          </p:nvPr>
        </p:nvSpPr>
        <p:spPr>
          <a:xfrm>
            <a:off x="838200" y="365125"/>
            <a:ext cx="10515600" cy="1325563"/>
          </a:xfrm>
        </p:spPr>
        <p:txBody>
          <a:bodyPr/>
          <a:lstStyle/>
          <a:p>
            <a:pPr algn="ctr"/>
            <a:r>
              <a:rPr lang="en-US" altLang="zh-CN" b="1" dirty="0"/>
              <a:t>I2C</a:t>
            </a:r>
            <a:r>
              <a:rPr lang="zh-CN" altLang="en-US" b="1" dirty="0"/>
              <a:t>总线的引脚（复用）</a:t>
            </a:r>
          </a:p>
        </p:txBody>
      </p:sp>
      <p:sp>
        <p:nvSpPr>
          <p:cNvPr id="11" name="文本框 10">
            <a:extLst>
              <a:ext uri="{FF2B5EF4-FFF2-40B4-BE49-F238E27FC236}">
                <a16:creationId xmlns:a16="http://schemas.microsoft.com/office/drawing/2014/main" id="{16AB40FB-2D3D-182C-05CE-FB608C8049D7}"/>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8</a:t>
            </a:r>
            <a:endParaRPr lang="zh-CN" altLang="en-US" b="1" dirty="0"/>
          </a:p>
        </p:txBody>
      </p:sp>
      <p:pic>
        <p:nvPicPr>
          <p:cNvPr id="3" name="图片 2">
            <a:extLst>
              <a:ext uri="{FF2B5EF4-FFF2-40B4-BE49-F238E27FC236}">
                <a16:creationId xmlns:a16="http://schemas.microsoft.com/office/drawing/2014/main" id="{3E3BEED6-B2BA-36AE-0022-0761DF48D4D0}"/>
              </a:ext>
            </a:extLst>
          </p:cNvPr>
          <p:cNvPicPr>
            <a:picLocks noChangeAspect="1"/>
          </p:cNvPicPr>
          <p:nvPr/>
        </p:nvPicPr>
        <p:blipFill>
          <a:blip r:embed="rId2"/>
          <a:stretch>
            <a:fillRect/>
          </a:stretch>
        </p:blipFill>
        <p:spPr>
          <a:xfrm>
            <a:off x="2004975" y="4447019"/>
            <a:ext cx="7811304" cy="1055709"/>
          </a:xfrm>
          <a:prstGeom prst="rect">
            <a:avLst/>
          </a:prstGeom>
        </p:spPr>
      </p:pic>
      <p:pic>
        <p:nvPicPr>
          <p:cNvPr id="5" name="图片 4">
            <a:extLst>
              <a:ext uri="{FF2B5EF4-FFF2-40B4-BE49-F238E27FC236}">
                <a16:creationId xmlns:a16="http://schemas.microsoft.com/office/drawing/2014/main" id="{152D89B1-8451-6DFF-6DAA-50F37346DCF1}"/>
              </a:ext>
            </a:extLst>
          </p:cNvPr>
          <p:cNvPicPr>
            <a:picLocks noChangeAspect="1"/>
          </p:cNvPicPr>
          <p:nvPr/>
        </p:nvPicPr>
        <p:blipFill>
          <a:blip r:embed="rId3"/>
          <a:stretch>
            <a:fillRect/>
          </a:stretch>
        </p:blipFill>
        <p:spPr>
          <a:xfrm>
            <a:off x="1747502" y="2128446"/>
            <a:ext cx="8326251" cy="1994501"/>
          </a:xfrm>
          <a:prstGeom prst="rect">
            <a:avLst/>
          </a:prstGeom>
        </p:spPr>
      </p:pic>
    </p:spTree>
    <p:extLst>
      <p:ext uri="{BB962C8B-B14F-4D97-AF65-F5344CB8AC3E}">
        <p14:creationId xmlns:p14="http://schemas.microsoft.com/office/powerpoint/2010/main" val="356731763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F54315F0-6A59-7331-8B7A-ABD84EC1E6D7}"/>
              </a:ext>
            </a:extLst>
          </p:cNvPr>
          <p:cNvSpPr>
            <a:spLocks noGrp="1"/>
          </p:cNvSpPr>
          <p:nvPr>
            <p:ph type="title"/>
          </p:nvPr>
        </p:nvSpPr>
        <p:spPr>
          <a:xfrm>
            <a:off x="838200" y="365125"/>
            <a:ext cx="10515600" cy="1325563"/>
          </a:xfrm>
        </p:spPr>
        <p:txBody>
          <a:bodyPr/>
          <a:lstStyle/>
          <a:p>
            <a:pPr algn="ctr"/>
            <a:r>
              <a:rPr lang="zh-CN" altLang="en-US" b="1" dirty="0"/>
              <a:t>有关的端口地址</a:t>
            </a:r>
          </a:p>
        </p:txBody>
      </p:sp>
      <p:sp>
        <p:nvSpPr>
          <p:cNvPr id="11" name="文本框 10">
            <a:extLst>
              <a:ext uri="{FF2B5EF4-FFF2-40B4-BE49-F238E27FC236}">
                <a16:creationId xmlns:a16="http://schemas.microsoft.com/office/drawing/2014/main" id="{524D3639-EFE2-1EDB-17B4-9C39D8AC65D0}"/>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8</a:t>
            </a:r>
            <a:endParaRPr lang="zh-CN" altLang="en-US" b="1" dirty="0"/>
          </a:p>
        </p:txBody>
      </p:sp>
      <p:sp>
        <p:nvSpPr>
          <p:cNvPr id="13" name="文本框 12">
            <a:extLst>
              <a:ext uri="{FF2B5EF4-FFF2-40B4-BE49-F238E27FC236}">
                <a16:creationId xmlns:a16="http://schemas.microsoft.com/office/drawing/2014/main" id="{8E01F84F-37CA-E6F8-0D77-C0E7B14B68D1}"/>
              </a:ext>
            </a:extLst>
          </p:cNvPr>
          <p:cNvSpPr txBox="1"/>
          <p:nvPr/>
        </p:nvSpPr>
        <p:spPr>
          <a:xfrm>
            <a:off x="9058406" y="4642979"/>
            <a:ext cx="954107" cy="276999"/>
          </a:xfrm>
          <a:prstGeom prst="rect">
            <a:avLst/>
          </a:prstGeom>
          <a:solidFill>
            <a:srgbClr val="FFFF00"/>
          </a:solidFill>
        </p:spPr>
        <p:txBody>
          <a:bodyPr wrap="none" rtlCol="0">
            <a:spAutoFit/>
          </a:bodyPr>
          <a:lstStyle/>
          <a:p>
            <a:r>
              <a:rPr lang="zh-CN" altLang="en-US" sz="1200" b="1" dirty="0"/>
              <a:t>数据寄存器</a:t>
            </a:r>
          </a:p>
        </p:txBody>
      </p:sp>
      <p:pic>
        <p:nvPicPr>
          <p:cNvPr id="15" name="图片 14">
            <a:extLst>
              <a:ext uri="{FF2B5EF4-FFF2-40B4-BE49-F238E27FC236}">
                <a16:creationId xmlns:a16="http://schemas.microsoft.com/office/drawing/2014/main" id="{17922B17-E8F0-8ABB-7883-8C276B8DF5D1}"/>
              </a:ext>
            </a:extLst>
          </p:cNvPr>
          <p:cNvPicPr>
            <a:picLocks noChangeAspect="1"/>
          </p:cNvPicPr>
          <p:nvPr/>
        </p:nvPicPr>
        <p:blipFill>
          <a:blip r:embed="rId2"/>
          <a:stretch>
            <a:fillRect/>
          </a:stretch>
        </p:blipFill>
        <p:spPr>
          <a:xfrm>
            <a:off x="565766" y="4607537"/>
            <a:ext cx="9843363" cy="1200318"/>
          </a:xfrm>
          <a:prstGeom prst="rect">
            <a:avLst/>
          </a:prstGeom>
        </p:spPr>
      </p:pic>
      <p:sp>
        <p:nvSpPr>
          <p:cNvPr id="2" name="内容占位符 2">
            <a:extLst>
              <a:ext uri="{FF2B5EF4-FFF2-40B4-BE49-F238E27FC236}">
                <a16:creationId xmlns:a16="http://schemas.microsoft.com/office/drawing/2014/main" id="{3BD1F8DA-53EB-9752-767C-F319EB348DA0}"/>
              </a:ext>
            </a:extLst>
          </p:cNvPr>
          <p:cNvSpPr>
            <a:spLocks noGrp="1"/>
          </p:cNvSpPr>
          <p:nvPr>
            <p:ph idx="1"/>
          </p:nvPr>
        </p:nvSpPr>
        <p:spPr>
          <a:xfrm>
            <a:off x="1190575" y="1875354"/>
            <a:ext cx="8593744" cy="3341625"/>
          </a:xfrm>
        </p:spPr>
        <p:txBody>
          <a:bodyPr>
            <a:normAutofit lnSpcReduction="10000"/>
          </a:bodyPr>
          <a:lstStyle/>
          <a:p>
            <a:r>
              <a:rPr lang="en-US" altLang="zh-CN" sz="2400" b="1" dirty="0"/>
              <a:t>PMUGRF_GPIO1B_IOMUX</a:t>
            </a:r>
            <a:r>
              <a:rPr lang="zh-CN" altLang="en-US" sz="2400" b="1" dirty="0"/>
              <a:t>：</a:t>
            </a:r>
            <a:r>
              <a:rPr lang="en-US" altLang="zh-CN" sz="2400" b="1" dirty="0">
                <a:solidFill>
                  <a:srgbClr val="C00000"/>
                </a:solidFill>
              </a:rPr>
              <a:t>GPIO</a:t>
            </a:r>
            <a:r>
              <a:rPr lang="zh-CN" altLang="en-US" sz="2400" b="1" dirty="0">
                <a:solidFill>
                  <a:srgbClr val="C00000"/>
                </a:solidFill>
              </a:rPr>
              <a:t>复用寄存器</a:t>
            </a:r>
          </a:p>
          <a:p>
            <a:pPr marL="538163" indent="-268288">
              <a:buSzPct val="60000"/>
              <a:buFont typeface="Wingdings" panose="05000000000000000000" pitchFamily="2" charset="2"/>
              <a:buChar char="l"/>
            </a:pPr>
            <a:r>
              <a:rPr lang="en-US" altLang="zh-CN" sz="2400" b="1" dirty="0"/>
              <a:t>I2C4_CON</a:t>
            </a:r>
            <a:r>
              <a:rPr lang="zh-CN" altLang="en-US" sz="2400" b="1" dirty="0"/>
              <a:t>：</a:t>
            </a:r>
            <a:r>
              <a:rPr lang="en-US" altLang="zh-CN" sz="2400" b="1" dirty="0"/>
              <a:t>I2C</a:t>
            </a:r>
            <a:r>
              <a:rPr lang="zh-CN" altLang="en-US" sz="2400" b="1" dirty="0"/>
              <a:t>控制寄存器</a:t>
            </a:r>
            <a:endParaRPr lang="en-US" altLang="zh-CN" sz="2400" b="1" dirty="0"/>
          </a:p>
          <a:p>
            <a:pPr marL="538163" indent="-268288">
              <a:buSzPct val="60000"/>
              <a:buFont typeface="Wingdings" panose="05000000000000000000" pitchFamily="2" charset="2"/>
              <a:buChar char="l"/>
            </a:pPr>
            <a:r>
              <a:rPr lang="en-US" altLang="zh-CN" sz="2400" b="1" dirty="0"/>
              <a:t>I2C4_IPD</a:t>
            </a:r>
            <a:r>
              <a:rPr lang="zh-CN" altLang="en-US" sz="2400" b="1" dirty="0"/>
              <a:t>：</a:t>
            </a:r>
            <a:r>
              <a:rPr lang="en-US" altLang="zh-CN" sz="2400" b="1" dirty="0"/>
              <a:t>I2C</a:t>
            </a:r>
            <a:r>
              <a:rPr lang="zh-CN" altLang="en-US" sz="2400" b="1" dirty="0"/>
              <a:t>中断等待寄存器</a:t>
            </a:r>
          </a:p>
          <a:p>
            <a:pPr marL="538163" indent="-268288">
              <a:buSzPct val="60000"/>
              <a:buFont typeface="Wingdings" panose="05000000000000000000" pitchFamily="2" charset="2"/>
              <a:buChar char="l"/>
            </a:pPr>
            <a:r>
              <a:rPr lang="en-US" altLang="zh-CN" sz="2400" b="1" dirty="0"/>
              <a:t>I2C4_MRXADDR</a:t>
            </a:r>
            <a:r>
              <a:rPr lang="zh-CN" altLang="en-US" sz="2400" b="1" dirty="0"/>
              <a:t>：</a:t>
            </a:r>
            <a:r>
              <a:rPr lang="en-US" altLang="zh-CN" sz="2400" b="1" dirty="0"/>
              <a:t>I2C</a:t>
            </a:r>
            <a:r>
              <a:rPr lang="zh-CN" altLang="en-US" sz="2400" b="1" dirty="0"/>
              <a:t>从机地址</a:t>
            </a:r>
          </a:p>
          <a:p>
            <a:pPr marL="538163" indent="-268288">
              <a:buSzPct val="60000"/>
              <a:buFont typeface="Wingdings" panose="05000000000000000000" pitchFamily="2" charset="2"/>
              <a:buChar char="l"/>
            </a:pPr>
            <a:r>
              <a:rPr lang="en-US" altLang="zh-CN" sz="2400" b="1" dirty="0"/>
              <a:t>I2C4_MRXRADDR</a:t>
            </a:r>
            <a:r>
              <a:rPr lang="zh-CN" altLang="en-US" sz="2400" b="1" dirty="0"/>
              <a:t>：</a:t>
            </a:r>
            <a:r>
              <a:rPr lang="en-US" altLang="zh-CN" sz="2400" b="1" dirty="0"/>
              <a:t>I2C</a:t>
            </a:r>
            <a:r>
              <a:rPr lang="zh-CN" altLang="en-US" sz="2400" b="1" dirty="0"/>
              <a:t>从机寄存器地址</a:t>
            </a:r>
            <a:endParaRPr lang="en-US" altLang="zh-CN" sz="2400" b="1" dirty="0"/>
          </a:p>
          <a:p>
            <a:pPr marL="538163" indent="-268288">
              <a:buSzPct val="60000"/>
              <a:buFont typeface="Wingdings" panose="05000000000000000000" pitchFamily="2" charset="2"/>
              <a:buChar char="l"/>
            </a:pPr>
            <a:r>
              <a:rPr lang="en-US" altLang="zh-CN" sz="2400" b="1" dirty="0"/>
              <a:t>I2C4_MRXCNT</a:t>
            </a:r>
            <a:r>
              <a:rPr lang="zh-CN" altLang="en-US" sz="2400" b="1" dirty="0"/>
              <a:t>：</a:t>
            </a:r>
            <a:r>
              <a:rPr lang="en-US" altLang="zh-CN" sz="2400" b="1" dirty="0"/>
              <a:t>I2C</a:t>
            </a:r>
            <a:r>
              <a:rPr lang="zh-CN" altLang="en-US" sz="2400" b="1" dirty="0"/>
              <a:t>接收数据长度</a:t>
            </a:r>
          </a:p>
          <a:p>
            <a:pPr marL="538163" indent="-268288">
              <a:buSzPct val="60000"/>
              <a:buFont typeface="Wingdings" panose="05000000000000000000" pitchFamily="2" charset="2"/>
              <a:buChar char="l"/>
            </a:pPr>
            <a:r>
              <a:rPr lang="en-US" altLang="zh-CN" sz="2400" b="1" dirty="0"/>
              <a:t>I2C4_RXDATA0</a:t>
            </a:r>
            <a:r>
              <a:rPr lang="zh-CN" altLang="en-US" sz="2400" b="1" dirty="0"/>
              <a:t>：</a:t>
            </a:r>
            <a:r>
              <a:rPr lang="en-US" altLang="zh-CN" sz="2400" b="1" dirty="0"/>
              <a:t>I2C</a:t>
            </a:r>
            <a:r>
              <a:rPr lang="zh-CN" altLang="en-US" sz="2400" b="1" dirty="0"/>
              <a:t>数据寄存器</a:t>
            </a:r>
          </a:p>
        </p:txBody>
      </p:sp>
    </p:spTree>
    <p:extLst>
      <p:ext uri="{BB962C8B-B14F-4D97-AF65-F5344CB8AC3E}">
        <p14:creationId xmlns:p14="http://schemas.microsoft.com/office/powerpoint/2010/main" val="242967507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9B808BB-083D-87E0-E47A-E2D9A9C2BB85}"/>
              </a:ext>
            </a:extLst>
          </p:cNvPr>
          <p:cNvSpPr>
            <a:spLocks noGrp="1"/>
          </p:cNvSpPr>
          <p:nvPr>
            <p:ph idx="1"/>
          </p:nvPr>
        </p:nvSpPr>
        <p:spPr>
          <a:xfrm>
            <a:off x="1384049" y="1960034"/>
            <a:ext cx="8441871" cy="4023360"/>
          </a:xfrm>
        </p:spPr>
        <p:txBody>
          <a:bodyPr>
            <a:normAutofit/>
          </a:bodyPr>
          <a:lstStyle/>
          <a:p>
            <a:pPr marL="269875" indent="-269875">
              <a:buSzPct val="50000"/>
              <a:buFont typeface="Wingdings" panose="05000000000000000000" pitchFamily="2" charset="2"/>
              <a:buChar char="l"/>
            </a:pPr>
            <a:r>
              <a:rPr lang="zh-CN" altLang="en-US" sz="2400" b="1" dirty="0"/>
              <a:t>设置管脚复用，复用为 </a:t>
            </a:r>
            <a:r>
              <a:rPr lang="en-US" altLang="zh-CN" sz="2400" b="1" dirty="0"/>
              <a:t>I2C </a:t>
            </a:r>
            <a:r>
              <a:rPr lang="zh-CN" altLang="en-US" sz="2400" b="1" dirty="0"/>
              <a:t>功能</a:t>
            </a:r>
          </a:p>
          <a:p>
            <a:pPr marL="269875" indent="-269875">
              <a:buSzPct val="50000"/>
              <a:buFont typeface="Wingdings" panose="05000000000000000000" pitchFamily="2" charset="2"/>
              <a:buChar char="l"/>
            </a:pPr>
            <a:r>
              <a:rPr lang="zh-CN" altLang="en-US" sz="2400" b="1" dirty="0"/>
              <a:t>清空控制器并使能</a:t>
            </a:r>
            <a:endParaRPr lang="en-US" altLang="zh-CN" sz="2400" b="1" dirty="0"/>
          </a:p>
          <a:p>
            <a:pPr marL="269875" indent="-269875">
              <a:buSzPct val="50000"/>
              <a:buFont typeface="Wingdings" panose="05000000000000000000" pitchFamily="2" charset="2"/>
              <a:buChar char="l"/>
            </a:pPr>
            <a:r>
              <a:rPr lang="zh-CN" altLang="en-US" sz="2400" b="1" dirty="0"/>
              <a:t>设置模式</a:t>
            </a:r>
          </a:p>
          <a:p>
            <a:pPr marL="269875" indent="-269875">
              <a:buSzPct val="50000"/>
              <a:buFont typeface="Wingdings" panose="05000000000000000000" pitchFamily="2" charset="2"/>
              <a:buChar char="l"/>
            </a:pPr>
            <a:r>
              <a:rPr lang="zh-CN" altLang="en-US" sz="2400" b="1" dirty="0"/>
              <a:t>设置从机地址、从机寄存器地址</a:t>
            </a:r>
          </a:p>
          <a:p>
            <a:pPr marL="269875" indent="-269875">
              <a:buSzPct val="50000"/>
              <a:buFont typeface="Wingdings" panose="05000000000000000000" pitchFamily="2" charset="2"/>
              <a:buChar char="l"/>
            </a:pPr>
            <a:r>
              <a:rPr lang="zh-CN" altLang="en-US" sz="2400" b="1" dirty="0"/>
              <a:t>发送起始信号</a:t>
            </a:r>
          </a:p>
          <a:p>
            <a:pPr marL="269875" indent="-269875">
              <a:buSzPct val="50000"/>
              <a:buFont typeface="Wingdings" panose="05000000000000000000" pitchFamily="2" charset="2"/>
              <a:buChar char="l"/>
            </a:pPr>
            <a:r>
              <a:rPr lang="zh-CN" altLang="en-US" sz="2400" b="1" dirty="0"/>
              <a:t>接收数据</a:t>
            </a:r>
          </a:p>
          <a:p>
            <a:pPr marL="269875" indent="-269875">
              <a:buSzPct val="50000"/>
              <a:buFont typeface="Wingdings" panose="05000000000000000000" pitchFamily="2" charset="2"/>
              <a:buChar char="l"/>
            </a:pPr>
            <a:r>
              <a:rPr lang="zh-CN" altLang="en-US" sz="2400" b="1" dirty="0"/>
              <a:t>停止信号</a:t>
            </a:r>
            <a:endParaRPr lang="zh-CN" altLang="en-US" sz="2000" b="1" dirty="0"/>
          </a:p>
        </p:txBody>
      </p:sp>
      <p:sp>
        <p:nvSpPr>
          <p:cNvPr id="4" name="标题 1">
            <a:extLst>
              <a:ext uri="{FF2B5EF4-FFF2-40B4-BE49-F238E27FC236}">
                <a16:creationId xmlns:a16="http://schemas.microsoft.com/office/drawing/2014/main" id="{B48E30DE-D4E7-C094-C0A2-185FAD839F51}"/>
              </a:ext>
            </a:extLst>
          </p:cNvPr>
          <p:cNvSpPr>
            <a:spLocks noGrp="1"/>
          </p:cNvSpPr>
          <p:nvPr>
            <p:ph type="title"/>
          </p:nvPr>
        </p:nvSpPr>
        <p:spPr>
          <a:xfrm>
            <a:off x="838200" y="365125"/>
            <a:ext cx="10515600" cy="1325563"/>
          </a:xfrm>
        </p:spPr>
        <p:txBody>
          <a:bodyPr/>
          <a:lstStyle/>
          <a:p>
            <a:pPr algn="ctr"/>
            <a:r>
              <a:rPr lang="zh-CN" altLang="en-US" b="1" dirty="0"/>
              <a:t>怎样获取</a:t>
            </a:r>
            <a:r>
              <a:rPr lang="en-US" altLang="zh-CN" b="1" dirty="0"/>
              <a:t>I2C</a:t>
            </a:r>
            <a:r>
              <a:rPr lang="zh-CN" altLang="en-US" b="1" dirty="0"/>
              <a:t>总线上的数据</a:t>
            </a:r>
          </a:p>
        </p:txBody>
      </p:sp>
      <p:sp>
        <p:nvSpPr>
          <p:cNvPr id="9" name="文本框 8">
            <a:extLst>
              <a:ext uri="{FF2B5EF4-FFF2-40B4-BE49-F238E27FC236}">
                <a16:creationId xmlns:a16="http://schemas.microsoft.com/office/drawing/2014/main" id="{5642C053-3E75-87B5-B0A5-9FEC389E9FAC}"/>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8</a:t>
            </a:r>
            <a:endParaRPr lang="zh-CN" altLang="en-US" b="1" dirty="0"/>
          </a:p>
        </p:txBody>
      </p:sp>
    </p:spTree>
    <p:extLst>
      <p:ext uri="{BB962C8B-B14F-4D97-AF65-F5344CB8AC3E}">
        <p14:creationId xmlns:p14="http://schemas.microsoft.com/office/powerpoint/2010/main" val="140619259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A8C6E-8A98-4215-AA9C-DF11BF3B144E}"/>
              </a:ext>
            </a:extLst>
          </p:cNvPr>
          <p:cNvSpPr>
            <a:spLocks noGrp="1"/>
          </p:cNvSpPr>
          <p:nvPr>
            <p:ph type="title"/>
          </p:nvPr>
        </p:nvSpPr>
        <p:spPr/>
        <p:txBody>
          <a:bodyPr/>
          <a:lstStyle/>
          <a:p>
            <a:r>
              <a:rPr lang="en-US" altLang="zh-CN" dirty="0"/>
              <a:t>I2C</a:t>
            </a:r>
            <a:r>
              <a:rPr lang="zh-CN" altLang="en-US" dirty="0"/>
              <a:t>时序图</a:t>
            </a:r>
          </a:p>
        </p:txBody>
      </p:sp>
      <p:pic>
        <p:nvPicPr>
          <p:cNvPr id="5" name="图片 4">
            <a:extLst>
              <a:ext uri="{FF2B5EF4-FFF2-40B4-BE49-F238E27FC236}">
                <a16:creationId xmlns:a16="http://schemas.microsoft.com/office/drawing/2014/main" id="{2732D7DB-ED20-40D3-A769-48699B71674F}"/>
              </a:ext>
            </a:extLst>
          </p:cNvPr>
          <p:cNvPicPr>
            <a:picLocks noChangeAspect="1"/>
          </p:cNvPicPr>
          <p:nvPr/>
        </p:nvPicPr>
        <p:blipFill>
          <a:blip r:embed="rId2"/>
          <a:stretch>
            <a:fillRect/>
          </a:stretch>
        </p:blipFill>
        <p:spPr>
          <a:xfrm>
            <a:off x="3184325" y="1605905"/>
            <a:ext cx="6496985" cy="2033070"/>
          </a:xfrm>
          <a:prstGeom prst="rect">
            <a:avLst/>
          </a:prstGeom>
        </p:spPr>
      </p:pic>
      <p:sp>
        <p:nvSpPr>
          <p:cNvPr id="8" name="文本框 7">
            <a:extLst>
              <a:ext uri="{FF2B5EF4-FFF2-40B4-BE49-F238E27FC236}">
                <a16:creationId xmlns:a16="http://schemas.microsoft.com/office/drawing/2014/main" id="{32DB5E69-871F-4F29-B3B9-01C5A65644E5}"/>
              </a:ext>
            </a:extLst>
          </p:cNvPr>
          <p:cNvSpPr txBox="1"/>
          <p:nvPr/>
        </p:nvSpPr>
        <p:spPr>
          <a:xfrm>
            <a:off x="697231" y="3674091"/>
            <a:ext cx="11021784" cy="2677656"/>
          </a:xfrm>
          <a:prstGeom prst="rect">
            <a:avLst/>
          </a:prstGeom>
          <a:noFill/>
        </p:spPr>
        <p:txBody>
          <a:bodyPr wrap="square">
            <a:spAutoFit/>
          </a:bodyPr>
          <a:lstStyle/>
          <a:p>
            <a:pPr marL="285750" indent="-285750">
              <a:buFont typeface="Wingdings" panose="05000000000000000000" pitchFamily="2" charset="2"/>
              <a:buChar char="l"/>
            </a:pPr>
            <a:r>
              <a:rPr lang="zh-CN" altLang="en-US" sz="1400" b="1" dirty="0">
                <a:solidFill>
                  <a:srgbClr val="C00000"/>
                </a:solidFill>
              </a:rPr>
              <a:t>开始位</a:t>
            </a:r>
            <a:r>
              <a:rPr lang="zh-CN" altLang="en-US" sz="1400" dirty="0">
                <a:solidFill>
                  <a:schemeClr val="tx1">
                    <a:lumMod val="75000"/>
                    <a:lumOff val="25000"/>
                  </a:schemeClr>
                </a:solidFill>
              </a:rPr>
              <a:t>：当 </a:t>
            </a:r>
            <a:r>
              <a:rPr lang="en-US" altLang="zh-CN" sz="1400" dirty="0">
                <a:solidFill>
                  <a:schemeClr val="tx1">
                    <a:lumMod val="75000"/>
                    <a:lumOff val="25000"/>
                  </a:schemeClr>
                </a:solidFill>
              </a:rPr>
              <a:t>SCL </a:t>
            </a:r>
            <a:r>
              <a:rPr lang="zh-CN" altLang="en-US" sz="1400" dirty="0">
                <a:solidFill>
                  <a:schemeClr val="tx1">
                    <a:lumMod val="75000"/>
                    <a:lumOff val="25000"/>
                  </a:schemeClr>
                </a:solidFill>
              </a:rPr>
              <a:t>为高电平时， </a:t>
            </a:r>
            <a:r>
              <a:rPr lang="en-US" altLang="zh-CN" sz="1400" dirty="0">
                <a:solidFill>
                  <a:schemeClr val="tx1">
                    <a:lumMod val="75000"/>
                    <a:lumOff val="25000"/>
                  </a:schemeClr>
                </a:solidFill>
              </a:rPr>
              <a:t>SDA </a:t>
            </a:r>
            <a:r>
              <a:rPr lang="zh-CN" altLang="en-US" sz="1400" dirty="0">
                <a:solidFill>
                  <a:schemeClr val="tx1">
                    <a:lumMod val="75000"/>
                    <a:lumOff val="25000"/>
                  </a:schemeClr>
                </a:solidFill>
              </a:rPr>
              <a:t>由高电平变为低电平的期间，上图中最左边的 </a:t>
            </a:r>
            <a:r>
              <a:rPr lang="en-US" altLang="zh-CN" sz="1400" dirty="0">
                <a:solidFill>
                  <a:srgbClr val="C00000"/>
                </a:solidFill>
              </a:rPr>
              <a:t>SRART condition </a:t>
            </a:r>
            <a:r>
              <a:rPr lang="zh-CN" altLang="en-US" sz="1400" dirty="0">
                <a:solidFill>
                  <a:schemeClr val="tx1">
                    <a:lumMod val="75000"/>
                    <a:lumOff val="25000"/>
                  </a:schemeClr>
                </a:solidFill>
              </a:rPr>
              <a:t>所标记的区域，这表示主机控制器要开始对从机发起访问了。</a:t>
            </a:r>
          </a:p>
          <a:p>
            <a:pPr marL="285750" indent="-285750">
              <a:buFont typeface="Wingdings" panose="05000000000000000000" pitchFamily="2" charset="2"/>
              <a:buChar char="l"/>
            </a:pPr>
            <a:r>
              <a:rPr lang="zh-CN" altLang="en-US" sz="1400" b="1" dirty="0">
                <a:solidFill>
                  <a:srgbClr val="C00000"/>
                </a:solidFill>
              </a:rPr>
              <a:t>地址位</a:t>
            </a:r>
            <a:r>
              <a:rPr lang="zh-CN" altLang="en-US" sz="1400" dirty="0">
                <a:solidFill>
                  <a:schemeClr val="tx1">
                    <a:lumMod val="75000"/>
                    <a:lumOff val="25000"/>
                  </a:schemeClr>
                </a:solidFill>
              </a:rPr>
              <a:t>：接下来的 </a:t>
            </a:r>
            <a:r>
              <a:rPr lang="en-US" altLang="zh-CN" sz="1400" dirty="0">
                <a:solidFill>
                  <a:schemeClr val="tx1">
                    <a:lumMod val="75000"/>
                    <a:lumOff val="25000"/>
                  </a:schemeClr>
                </a:solidFill>
              </a:rPr>
              <a:t>7 </a:t>
            </a:r>
            <a:r>
              <a:rPr lang="zh-CN" altLang="en-US" sz="1400" dirty="0">
                <a:solidFill>
                  <a:schemeClr val="tx1">
                    <a:lumMod val="75000"/>
                    <a:lumOff val="25000"/>
                  </a:schemeClr>
                </a:solidFill>
              </a:rPr>
              <a:t>个时钟周期，主机控制器将会发送</a:t>
            </a:r>
            <a:r>
              <a:rPr lang="zh-CN" altLang="en-US" sz="1400" dirty="0">
                <a:solidFill>
                  <a:srgbClr val="C00000"/>
                </a:solidFill>
              </a:rPr>
              <a:t>从机的 </a:t>
            </a:r>
            <a:r>
              <a:rPr lang="en-US" altLang="zh-CN" sz="1400" dirty="0">
                <a:solidFill>
                  <a:srgbClr val="C00000"/>
                </a:solidFill>
              </a:rPr>
              <a:t>7 </a:t>
            </a:r>
            <a:r>
              <a:rPr lang="zh-CN" altLang="en-US" sz="1400" dirty="0">
                <a:solidFill>
                  <a:srgbClr val="C00000"/>
                </a:solidFill>
              </a:rPr>
              <a:t>位地址</a:t>
            </a:r>
            <a:r>
              <a:rPr lang="zh-CN" altLang="en-US" sz="1400" dirty="0">
                <a:solidFill>
                  <a:schemeClr val="tx1">
                    <a:lumMod val="75000"/>
                    <a:lumOff val="25000"/>
                  </a:schemeClr>
                </a:solidFill>
              </a:rPr>
              <a:t>（如果是 </a:t>
            </a:r>
            <a:r>
              <a:rPr lang="en-US" altLang="zh-CN" sz="1400" dirty="0">
                <a:solidFill>
                  <a:schemeClr val="tx1">
                    <a:lumMod val="75000"/>
                    <a:lumOff val="25000"/>
                  </a:schemeClr>
                </a:solidFill>
              </a:rPr>
              <a:t>10 </a:t>
            </a:r>
            <a:r>
              <a:rPr lang="zh-CN" altLang="en-US" sz="1400" dirty="0">
                <a:solidFill>
                  <a:schemeClr val="tx1">
                    <a:lumMod val="75000"/>
                    <a:lumOff val="25000"/>
                  </a:schemeClr>
                </a:solidFill>
              </a:rPr>
              <a:t>位地址需要分两次发送），如上图中 </a:t>
            </a:r>
            <a:r>
              <a:rPr lang="en-US" altLang="zh-CN" sz="1400" dirty="0">
                <a:solidFill>
                  <a:schemeClr val="tx1">
                    <a:lumMod val="75000"/>
                    <a:lumOff val="25000"/>
                  </a:schemeClr>
                </a:solidFill>
              </a:rPr>
              <a:t>ADDRESS </a:t>
            </a:r>
            <a:r>
              <a:rPr lang="zh-CN" altLang="en-US" sz="1400" dirty="0">
                <a:solidFill>
                  <a:schemeClr val="tx1">
                    <a:lumMod val="75000"/>
                    <a:lumOff val="25000"/>
                  </a:schemeClr>
                </a:solidFill>
              </a:rPr>
              <a:t>所标记的区域。</a:t>
            </a:r>
          </a:p>
          <a:p>
            <a:pPr marL="285750" indent="-285750">
              <a:buFont typeface="Wingdings" panose="05000000000000000000" pitchFamily="2" charset="2"/>
              <a:buChar char="l"/>
            </a:pPr>
            <a:r>
              <a:rPr lang="zh-CN" altLang="en-US" sz="1400" b="1" dirty="0">
                <a:solidFill>
                  <a:srgbClr val="C00000"/>
                </a:solidFill>
              </a:rPr>
              <a:t>读</a:t>
            </a:r>
            <a:r>
              <a:rPr lang="en-US" altLang="zh-CN" sz="1400" b="1" dirty="0">
                <a:solidFill>
                  <a:srgbClr val="C00000"/>
                </a:solidFill>
              </a:rPr>
              <a:t>/</a:t>
            </a:r>
            <a:r>
              <a:rPr lang="zh-CN" altLang="en-US" sz="1400" b="1" dirty="0">
                <a:solidFill>
                  <a:srgbClr val="C00000"/>
                </a:solidFill>
              </a:rPr>
              <a:t>写位</a:t>
            </a:r>
            <a:r>
              <a:rPr lang="zh-CN" altLang="en-US" sz="1400" dirty="0">
                <a:solidFill>
                  <a:schemeClr val="tx1">
                    <a:lumMod val="75000"/>
                    <a:lumOff val="25000"/>
                  </a:schemeClr>
                </a:solidFill>
              </a:rPr>
              <a:t>：在第 </a:t>
            </a:r>
            <a:r>
              <a:rPr lang="en-US" altLang="zh-CN" sz="1400" dirty="0">
                <a:solidFill>
                  <a:schemeClr val="tx1">
                    <a:lumMod val="75000"/>
                    <a:lumOff val="25000"/>
                  </a:schemeClr>
                </a:solidFill>
              </a:rPr>
              <a:t>8 </a:t>
            </a:r>
            <a:r>
              <a:rPr lang="zh-CN" altLang="en-US" sz="1400" dirty="0">
                <a:solidFill>
                  <a:schemeClr val="tx1">
                    <a:lumMod val="75000"/>
                    <a:lumOff val="25000"/>
                  </a:schemeClr>
                </a:solidFill>
              </a:rPr>
              <a:t>个时钟周期，</a:t>
            </a:r>
            <a:r>
              <a:rPr lang="zh-CN" altLang="en-US" sz="1400" dirty="0">
                <a:solidFill>
                  <a:srgbClr val="C00000"/>
                </a:solidFill>
              </a:rPr>
              <a:t>如果 </a:t>
            </a:r>
            <a:r>
              <a:rPr lang="en-US" altLang="zh-CN" sz="1400" dirty="0">
                <a:solidFill>
                  <a:srgbClr val="C00000"/>
                </a:solidFill>
              </a:rPr>
              <a:t>SDA </a:t>
            </a:r>
            <a:r>
              <a:rPr lang="zh-CN" altLang="en-US" sz="1400" dirty="0">
                <a:solidFill>
                  <a:srgbClr val="C00000"/>
                </a:solidFill>
              </a:rPr>
              <a:t>为高电平则表示接下来要读取从机的数据，如果是低电平则表示主机要写数据到从机</a:t>
            </a:r>
            <a:r>
              <a:rPr lang="zh-CN" altLang="en-US" sz="1400" dirty="0">
                <a:solidFill>
                  <a:schemeClr val="tx1">
                    <a:lumMod val="75000"/>
                    <a:lumOff val="25000"/>
                  </a:schemeClr>
                </a:solidFill>
              </a:rPr>
              <a:t>，如上图中 </a:t>
            </a:r>
            <a:r>
              <a:rPr lang="en-US" altLang="zh-CN" sz="1400" dirty="0">
                <a:solidFill>
                  <a:schemeClr val="tx1">
                    <a:lumMod val="75000"/>
                    <a:lumOff val="25000"/>
                  </a:schemeClr>
                </a:solidFill>
              </a:rPr>
              <a:t>R/W </a:t>
            </a:r>
            <a:r>
              <a:rPr lang="zh-CN" altLang="en-US" sz="1400" dirty="0">
                <a:solidFill>
                  <a:schemeClr val="tx1">
                    <a:lumMod val="75000"/>
                    <a:lumOff val="25000"/>
                  </a:schemeClr>
                </a:solidFill>
              </a:rPr>
              <a:t>所标记的区域。</a:t>
            </a:r>
          </a:p>
          <a:p>
            <a:pPr marL="285750" indent="-285750">
              <a:buFont typeface="Wingdings" panose="05000000000000000000" pitchFamily="2" charset="2"/>
              <a:buChar char="l"/>
            </a:pPr>
            <a:r>
              <a:rPr lang="zh-CN" altLang="en-US" sz="1400" dirty="0">
                <a:solidFill>
                  <a:schemeClr val="tx1">
                    <a:lumMod val="75000"/>
                    <a:lumOff val="25000"/>
                  </a:schemeClr>
                </a:solidFill>
                <a:highlight>
                  <a:srgbClr val="FFFF00"/>
                </a:highlight>
              </a:rPr>
              <a:t>应答位</a:t>
            </a:r>
            <a:r>
              <a:rPr lang="zh-CN" altLang="en-US" sz="1400" dirty="0">
                <a:solidFill>
                  <a:schemeClr val="tx1">
                    <a:lumMod val="75000"/>
                    <a:lumOff val="25000"/>
                  </a:schemeClr>
                </a:solidFill>
              </a:rPr>
              <a:t>：在第 </a:t>
            </a:r>
            <a:r>
              <a:rPr lang="en-US" altLang="zh-CN" sz="1400" dirty="0">
                <a:solidFill>
                  <a:schemeClr val="tx1">
                    <a:lumMod val="75000"/>
                    <a:lumOff val="25000"/>
                  </a:schemeClr>
                </a:solidFill>
              </a:rPr>
              <a:t>9 </a:t>
            </a:r>
            <a:r>
              <a:rPr lang="zh-CN" altLang="en-US" sz="1400" dirty="0">
                <a:solidFill>
                  <a:schemeClr val="tx1">
                    <a:lumMod val="75000"/>
                    <a:lumOff val="25000"/>
                  </a:schemeClr>
                </a:solidFill>
              </a:rPr>
              <a:t>个时钟周期由从机进行应答，低电平为 </a:t>
            </a:r>
            <a:r>
              <a:rPr lang="en-US" altLang="zh-CN" sz="1400" dirty="0">
                <a:solidFill>
                  <a:schemeClr val="tx1">
                    <a:lumMod val="75000"/>
                    <a:lumOff val="25000"/>
                  </a:schemeClr>
                </a:solidFill>
              </a:rPr>
              <a:t>ACK</a:t>
            </a:r>
            <a:r>
              <a:rPr lang="zh-CN" altLang="en-US" sz="1400" dirty="0">
                <a:solidFill>
                  <a:schemeClr val="tx1">
                    <a:lumMod val="75000"/>
                    <a:lumOff val="25000"/>
                  </a:schemeClr>
                </a:solidFill>
              </a:rPr>
              <a:t>，高电平为 </a:t>
            </a:r>
            <a:r>
              <a:rPr lang="en-US" altLang="zh-CN" sz="1400" dirty="0">
                <a:solidFill>
                  <a:schemeClr val="tx1">
                    <a:lumMod val="75000"/>
                    <a:lumOff val="25000"/>
                  </a:schemeClr>
                </a:solidFill>
              </a:rPr>
              <a:t>NACK</a:t>
            </a:r>
            <a:r>
              <a:rPr lang="zh-CN" altLang="en-US" sz="1400" dirty="0">
                <a:solidFill>
                  <a:schemeClr val="tx1">
                    <a:lumMod val="75000"/>
                    <a:lumOff val="25000"/>
                  </a:schemeClr>
                </a:solidFill>
              </a:rPr>
              <a:t>，如果从机响应，应该发 </a:t>
            </a:r>
            <a:r>
              <a:rPr lang="en-US" altLang="zh-CN" sz="1400" dirty="0">
                <a:solidFill>
                  <a:schemeClr val="tx1">
                    <a:lumMod val="75000"/>
                    <a:lumOff val="25000"/>
                  </a:schemeClr>
                </a:solidFill>
              </a:rPr>
              <a:t>ACK</a:t>
            </a:r>
            <a:r>
              <a:rPr lang="zh-CN" altLang="en-US" sz="1400" dirty="0">
                <a:solidFill>
                  <a:schemeClr val="tx1">
                    <a:lumMod val="75000"/>
                    <a:lumOff val="25000"/>
                  </a:schemeClr>
                </a:solidFill>
              </a:rPr>
              <a:t>。</a:t>
            </a:r>
          </a:p>
          <a:p>
            <a:pPr marL="285750" indent="-285750">
              <a:buFont typeface="Wingdings" panose="05000000000000000000" pitchFamily="2" charset="2"/>
              <a:buChar char="l"/>
            </a:pPr>
            <a:r>
              <a:rPr lang="zh-CN" altLang="en-US" sz="1400" dirty="0">
                <a:solidFill>
                  <a:schemeClr val="tx1">
                    <a:lumMod val="75000"/>
                    <a:lumOff val="25000"/>
                  </a:schemeClr>
                </a:solidFill>
                <a:highlight>
                  <a:srgbClr val="FFFF00"/>
                </a:highlight>
              </a:rPr>
              <a:t>数据位</a:t>
            </a:r>
            <a:r>
              <a:rPr lang="zh-CN" altLang="en-US" sz="1400" dirty="0">
                <a:solidFill>
                  <a:schemeClr val="tx1">
                    <a:lumMod val="75000"/>
                    <a:lumOff val="25000"/>
                  </a:schemeClr>
                </a:solidFill>
              </a:rPr>
              <a:t>：在接下来的若干个周期内，主机可以持续读取数据（如果读</a:t>
            </a:r>
            <a:r>
              <a:rPr lang="en-US" altLang="zh-CN" sz="1400" dirty="0">
                <a:solidFill>
                  <a:schemeClr val="tx1">
                    <a:lumMod val="75000"/>
                    <a:lumOff val="25000"/>
                  </a:schemeClr>
                </a:solidFill>
              </a:rPr>
              <a:t>/</a:t>
            </a:r>
            <a:r>
              <a:rPr lang="zh-CN" altLang="en-US" sz="1400" dirty="0">
                <a:solidFill>
                  <a:schemeClr val="tx1">
                    <a:lumMod val="75000"/>
                    <a:lumOff val="25000"/>
                  </a:schemeClr>
                </a:solidFill>
              </a:rPr>
              <a:t>写位为读），或写数据（如果读</a:t>
            </a:r>
            <a:r>
              <a:rPr lang="en-US" altLang="zh-CN" sz="1400" dirty="0">
                <a:solidFill>
                  <a:schemeClr val="tx1">
                    <a:lumMod val="75000"/>
                    <a:lumOff val="25000"/>
                  </a:schemeClr>
                </a:solidFill>
              </a:rPr>
              <a:t>/</a:t>
            </a:r>
            <a:r>
              <a:rPr lang="zh-CN" altLang="en-US" sz="1400" dirty="0">
                <a:solidFill>
                  <a:schemeClr val="tx1">
                    <a:lumMod val="75000"/>
                    <a:lumOff val="25000"/>
                  </a:schemeClr>
                </a:solidFill>
              </a:rPr>
              <a:t>写位为写），每次数据传输完成（如时序图中的 </a:t>
            </a:r>
            <a:r>
              <a:rPr lang="en-US" altLang="zh-CN" sz="1400" dirty="0">
                <a:solidFill>
                  <a:schemeClr val="tx1">
                    <a:lumMod val="75000"/>
                    <a:lumOff val="25000"/>
                  </a:schemeClr>
                </a:solidFill>
              </a:rPr>
              <a:t>DATA </a:t>
            </a:r>
            <a:r>
              <a:rPr lang="zh-CN" altLang="en-US" sz="1400" dirty="0">
                <a:solidFill>
                  <a:schemeClr val="tx1">
                    <a:lumMod val="75000"/>
                    <a:lumOff val="25000"/>
                  </a:schemeClr>
                </a:solidFill>
              </a:rPr>
              <a:t>所标记的区域），也要进行应答，是</a:t>
            </a:r>
            <a:r>
              <a:rPr lang="zh-CN" altLang="en-US" sz="1400" b="1" dirty="0">
                <a:solidFill>
                  <a:srgbClr val="C00000"/>
                </a:solidFill>
              </a:rPr>
              <a:t>读则由主机控制器来应答，是写则由从机来应答</a:t>
            </a:r>
            <a:r>
              <a:rPr lang="zh-CN" altLang="en-US" sz="1400" dirty="0">
                <a:solidFill>
                  <a:schemeClr val="tx1">
                    <a:lumMod val="75000"/>
                    <a:lumOff val="25000"/>
                  </a:schemeClr>
                </a:solidFill>
              </a:rPr>
              <a:t>，只是在主机读完最后一个字节的数据后应该以 </a:t>
            </a:r>
            <a:r>
              <a:rPr lang="en-US" altLang="zh-CN" sz="1400" dirty="0">
                <a:solidFill>
                  <a:schemeClr val="tx1">
                    <a:lumMod val="75000"/>
                    <a:lumOff val="25000"/>
                  </a:schemeClr>
                </a:solidFill>
              </a:rPr>
              <a:t>NACK </a:t>
            </a:r>
            <a:r>
              <a:rPr lang="zh-CN" altLang="en-US" sz="1400" dirty="0">
                <a:solidFill>
                  <a:schemeClr val="tx1">
                    <a:lumMod val="75000"/>
                    <a:lumOff val="25000"/>
                  </a:schemeClr>
                </a:solidFill>
              </a:rPr>
              <a:t>来应答。</a:t>
            </a:r>
          </a:p>
          <a:p>
            <a:pPr marL="285750" indent="-285750">
              <a:buFont typeface="Wingdings" panose="05000000000000000000" pitchFamily="2" charset="2"/>
              <a:buChar char="l"/>
            </a:pPr>
            <a:r>
              <a:rPr lang="zh-CN" altLang="en-US" sz="1400" b="1" dirty="0">
                <a:solidFill>
                  <a:srgbClr val="C00000"/>
                </a:solidFill>
              </a:rPr>
              <a:t>停止位</a:t>
            </a:r>
            <a:r>
              <a:rPr lang="zh-CN" altLang="en-US" sz="1400" dirty="0">
                <a:solidFill>
                  <a:schemeClr val="tx1">
                    <a:lumMod val="75000"/>
                    <a:lumOff val="25000"/>
                  </a:schemeClr>
                </a:solidFill>
              </a:rPr>
              <a:t>：当 </a:t>
            </a:r>
            <a:r>
              <a:rPr lang="en-US" altLang="zh-CN" sz="1400" dirty="0">
                <a:solidFill>
                  <a:schemeClr val="tx1">
                    <a:lumMod val="75000"/>
                    <a:lumOff val="25000"/>
                  </a:schemeClr>
                </a:solidFill>
              </a:rPr>
              <a:t>SCL </a:t>
            </a:r>
            <a:r>
              <a:rPr lang="zh-CN" altLang="en-US" sz="1400" dirty="0">
                <a:solidFill>
                  <a:schemeClr val="tx1">
                    <a:lumMod val="75000"/>
                    <a:lumOff val="25000"/>
                  </a:schemeClr>
                </a:solidFill>
              </a:rPr>
              <a:t>为高电平时， </a:t>
            </a:r>
            <a:r>
              <a:rPr lang="en-US" altLang="zh-CN" sz="1400" dirty="0">
                <a:solidFill>
                  <a:schemeClr val="tx1">
                    <a:lumMod val="75000"/>
                    <a:lumOff val="25000"/>
                  </a:schemeClr>
                </a:solidFill>
              </a:rPr>
              <a:t>SDA </a:t>
            </a:r>
            <a:r>
              <a:rPr lang="zh-CN" altLang="en-US" sz="1400" dirty="0">
                <a:solidFill>
                  <a:schemeClr val="tx1">
                    <a:lumMod val="75000"/>
                    <a:lumOff val="25000"/>
                  </a:schemeClr>
                </a:solidFill>
              </a:rPr>
              <a:t>由低电平变为高电平的期间，如上图中最右边的 </a:t>
            </a:r>
            <a:r>
              <a:rPr lang="en-US" altLang="zh-CN" sz="1400" dirty="0">
                <a:solidFill>
                  <a:schemeClr val="tx1">
                    <a:lumMod val="75000"/>
                    <a:lumOff val="25000"/>
                  </a:schemeClr>
                </a:solidFill>
              </a:rPr>
              <a:t>STOP condition </a:t>
            </a:r>
            <a:r>
              <a:rPr lang="zh-CN" altLang="en-US" sz="1400" dirty="0">
                <a:solidFill>
                  <a:schemeClr val="tx1">
                    <a:lumMod val="75000"/>
                    <a:lumOff val="25000"/>
                  </a:schemeClr>
                </a:solidFill>
              </a:rPr>
              <a:t>所标记的区域，这表示主机控制器结束了对从机的访问 </a:t>
            </a:r>
          </a:p>
        </p:txBody>
      </p:sp>
      <p:sp>
        <p:nvSpPr>
          <p:cNvPr id="9" name="文本框 8">
            <a:extLst>
              <a:ext uri="{FF2B5EF4-FFF2-40B4-BE49-F238E27FC236}">
                <a16:creationId xmlns:a16="http://schemas.microsoft.com/office/drawing/2014/main" id="{9C7B9FB5-E15B-40B2-919C-FE28D3D5C201}"/>
              </a:ext>
            </a:extLst>
          </p:cNvPr>
          <p:cNvSpPr txBox="1"/>
          <p:nvPr/>
        </p:nvSpPr>
        <p:spPr>
          <a:xfrm>
            <a:off x="2024744" y="1883776"/>
            <a:ext cx="1379763" cy="1477328"/>
          </a:xfrm>
          <a:prstGeom prst="rect">
            <a:avLst/>
          </a:prstGeom>
          <a:noFill/>
        </p:spPr>
        <p:txBody>
          <a:bodyPr wrap="square" rtlCol="0">
            <a:spAutoFit/>
          </a:bodyPr>
          <a:lstStyle/>
          <a:p>
            <a:r>
              <a:rPr lang="zh-CN" altLang="en-US" b="1" dirty="0">
                <a:solidFill>
                  <a:srgbClr val="C00000"/>
                </a:solidFill>
              </a:rPr>
              <a:t>串行数据线</a:t>
            </a:r>
            <a:endParaRPr lang="en-US" altLang="zh-CN" b="1" dirty="0">
              <a:solidFill>
                <a:srgbClr val="C00000"/>
              </a:solidFill>
            </a:endParaRPr>
          </a:p>
          <a:p>
            <a:endParaRPr lang="en-US" altLang="zh-CN" b="1" dirty="0">
              <a:solidFill>
                <a:srgbClr val="C00000"/>
              </a:solidFill>
            </a:endParaRPr>
          </a:p>
          <a:p>
            <a:endParaRPr lang="en-US" altLang="zh-CN" b="1" dirty="0">
              <a:solidFill>
                <a:srgbClr val="C00000"/>
              </a:solidFill>
            </a:endParaRPr>
          </a:p>
          <a:p>
            <a:endParaRPr lang="en-US" altLang="zh-CN" b="1" dirty="0">
              <a:solidFill>
                <a:srgbClr val="C00000"/>
              </a:solidFill>
            </a:endParaRPr>
          </a:p>
          <a:p>
            <a:r>
              <a:rPr lang="zh-CN" altLang="en-US" b="1" dirty="0">
                <a:solidFill>
                  <a:srgbClr val="C00000"/>
                </a:solidFill>
              </a:rPr>
              <a:t>串行时钟线</a:t>
            </a:r>
          </a:p>
        </p:txBody>
      </p:sp>
    </p:spTree>
    <p:extLst>
      <p:ext uri="{BB962C8B-B14F-4D97-AF65-F5344CB8AC3E}">
        <p14:creationId xmlns:p14="http://schemas.microsoft.com/office/powerpoint/2010/main" val="388157429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3DE2DE6D-8FD7-20E6-F641-814F14F6517B}"/>
              </a:ext>
            </a:extLst>
          </p:cNvPr>
          <p:cNvSpPr>
            <a:spLocks noGrp="1"/>
          </p:cNvSpPr>
          <p:nvPr>
            <p:ph type="title"/>
          </p:nvPr>
        </p:nvSpPr>
        <p:spPr>
          <a:xfrm>
            <a:off x="838200" y="365125"/>
            <a:ext cx="10515600" cy="1325563"/>
          </a:xfrm>
        </p:spPr>
        <p:txBody>
          <a:bodyPr/>
          <a:lstStyle/>
          <a:p>
            <a:pPr algn="ctr"/>
            <a:r>
              <a:rPr lang="en-US" altLang="zh-CN" b="1" dirty="0"/>
              <a:t>fs_i2c</a:t>
            </a:r>
            <a:r>
              <a:rPr lang="zh-CN" altLang="en-US" b="1" dirty="0"/>
              <a:t>实验工程文件夹</a:t>
            </a:r>
          </a:p>
        </p:txBody>
      </p:sp>
      <p:sp>
        <p:nvSpPr>
          <p:cNvPr id="7" name="内容占位符 2">
            <a:extLst>
              <a:ext uri="{FF2B5EF4-FFF2-40B4-BE49-F238E27FC236}">
                <a16:creationId xmlns:a16="http://schemas.microsoft.com/office/drawing/2014/main" id="{5488A41A-389C-826E-AEA8-293A79BCEC13}"/>
              </a:ext>
            </a:extLst>
          </p:cNvPr>
          <p:cNvSpPr>
            <a:spLocks noGrp="1"/>
          </p:cNvSpPr>
          <p:nvPr>
            <p:ph idx="1"/>
          </p:nvPr>
        </p:nvSpPr>
        <p:spPr>
          <a:xfrm>
            <a:off x="1238250" y="1866042"/>
            <a:ext cx="4366735" cy="445980"/>
          </a:xfrm>
        </p:spPr>
        <p:txBody>
          <a:bodyPr>
            <a:normAutofit/>
          </a:bodyPr>
          <a:lstStyle/>
          <a:p>
            <a:r>
              <a:rPr lang="zh-CN" altLang="en-US" sz="2000" b="1" dirty="0"/>
              <a:t>汇编语言与</a:t>
            </a:r>
            <a:r>
              <a:rPr lang="en-US" altLang="zh-CN" sz="2000" b="1" dirty="0"/>
              <a:t>C</a:t>
            </a:r>
            <a:r>
              <a:rPr lang="zh-CN" altLang="en-US" sz="2000" b="1" dirty="0"/>
              <a:t>语言混合编程的程序</a:t>
            </a:r>
          </a:p>
        </p:txBody>
      </p:sp>
      <p:sp>
        <p:nvSpPr>
          <p:cNvPr id="2" name="文本框 1">
            <a:extLst>
              <a:ext uri="{FF2B5EF4-FFF2-40B4-BE49-F238E27FC236}">
                <a16:creationId xmlns:a16="http://schemas.microsoft.com/office/drawing/2014/main" id="{475E6CB8-1C21-7A1D-A1B5-217B5E591A55}"/>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8</a:t>
            </a:r>
            <a:endParaRPr lang="zh-CN" altLang="en-US" b="1" dirty="0"/>
          </a:p>
        </p:txBody>
      </p:sp>
      <p:pic>
        <p:nvPicPr>
          <p:cNvPr id="5" name="图片 4">
            <a:extLst>
              <a:ext uri="{FF2B5EF4-FFF2-40B4-BE49-F238E27FC236}">
                <a16:creationId xmlns:a16="http://schemas.microsoft.com/office/drawing/2014/main" id="{798C303D-2456-BBEB-30BB-BC0B38B599C9}"/>
              </a:ext>
            </a:extLst>
          </p:cNvPr>
          <p:cNvPicPr>
            <a:picLocks noChangeAspect="1"/>
          </p:cNvPicPr>
          <p:nvPr/>
        </p:nvPicPr>
        <p:blipFill>
          <a:blip r:embed="rId2"/>
          <a:stretch>
            <a:fillRect/>
          </a:stretch>
        </p:blipFill>
        <p:spPr>
          <a:xfrm>
            <a:off x="2314477" y="2312022"/>
            <a:ext cx="5751837" cy="3459378"/>
          </a:xfrm>
          <a:prstGeom prst="rect">
            <a:avLst/>
          </a:prstGeom>
        </p:spPr>
      </p:pic>
    </p:spTree>
    <p:extLst>
      <p:ext uri="{BB962C8B-B14F-4D97-AF65-F5344CB8AC3E}">
        <p14:creationId xmlns:p14="http://schemas.microsoft.com/office/powerpoint/2010/main" val="400676258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CE0F59E-2F1E-6310-81A7-14D764674598}"/>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8</a:t>
            </a:r>
            <a:endParaRPr lang="zh-CN" altLang="en-US" b="1" dirty="0"/>
          </a:p>
        </p:txBody>
      </p:sp>
      <p:sp>
        <p:nvSpPr>
          <p:cNvPr id="11" name="内容占位符 2">
            <a:extLst>
              <a:ext uri="{FF2B5EF4-FFF2-40B4-BE49-F238E27FC236}">
                <a16:creationId xmlns:a16="http://schemas.microsoft.com/office/drawing/2014/main" id="{6E75D285-0A5B-B614-B23F-699A29DD3BF9}"/>
              </a:ext>
            </a:extLst>
          </p:cNvPr>
          <p:cNvSpPr>
            <a:spLocks noGrp="1"/>
          </p:cNvSpPr>
          <p:nvPr>
            <p:ph idx="1"/>
          </p:nvPr>
        </p:nvSpPr>
        <p:spPr>
          <a:xfrm>
            <a:off x="838200" y="1825625"/>
            <a:ext cx="4279366" cy="4351338"/>
          </a:xfrm>
        </p:spPr>
        <p:txBody>
          <a:bodyPr>
            <a:normAutofit/>
          </a:bodyPr>
          <a:lstStyle/>
          <a:p>
            <a:r>
              <a:rPr lang="en-US" altLang="zh-CN" sz="2000" b="1" dirty="0"/>
              <a:t>1</a:t>
            </a:r>
            <a:r>
              <a:rPr lang="zh-CN" altLang="en-US" sz="2000" b="1" dirty="0"/>
              <a:t>、</a:t>
            </a:r>
            <a:r>
              <a:rPr lang="en-US" altLang="zh-CN" sz="2000" b="1" dirty="0" err="1"/>
              <a:t>main.c</a:t>
            </a:r>
            <a:endParaRPr lang="zh-CN" altLang="en-US" sz="2000" b="1" dirty="0"/>
          </a:p>
        </p:txBody>
      </p:sp>
      <p:cxnSp>
        <p:nvCxnSpPr>
          <p:cNvPr id="12" name="直接箭头连接符 11">
            <a:extLst>
              <a:ext uri="{FF2B5EF4-FFF2-40B4-BE49-F238E27FC236}">
                <a16:creationId xmlns:a16="http://schemas.microsoft.com/office/drawing/2014/main" id="{7AE4E6C8-940A-2082-091A-C2EB586EB01A}"/>
              </a:ext>
            </a:extLst>
          </p:cNvPr>
          <p:cNvCxnSpPr/>
          <p:nvPr/>
        </p:nvCxnSpPr>
        <p:spPr>
          <a:xfrm>
            <a:off x="4634763" y="344538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3327F892-FAAC-0CBD-E95F-79C2C16E9B04}"/>
              </a:ext>
            </a:extLst>
          </p:cNvPr>
          <p:cNvCxnSpPr/>
          <p:nvPr/>
        </p:nvCxnSpPr>
        <p:spPr>
          <a:xfrm>
            <a:off x="4581423" y="440550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67AD62A6-824C-5142-7A0C-A06910B7D767}"/>
              </a:ext>
            </a:extLst>
          </p:cNvPr>
          <p:cNvCxnSpPr/>
          <p:nvPr/>
        </p:nvCxnSpPr>
        <p:spPr>
          <a:xfrm>
            <a:off x="4634763" y="506082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82EF799C-3160-9813-9537-4AA3058F766B}"/>
              </a:ext>
            </a:extLst>
          </p:cNvPr>
          <p:cNvCxnSpPr/>
          <p:nvPr/>
        </p:nvCxnSpPr>
        <p:spPr>
          <a:xfrm>
            <a:off x="4634763" y="5647568"/>
            <a:ext cx="3507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标题 1">
            <a:extLst>
              <a:ext uri="{FF2B5EF4-FFF2-40B4-BE49-F238E27FC236}">
                <a16:creationId xmlns:a16="http://schemas.microsoft.com/office/drawing/2014/main" id="{C278831A-C1E9-558C-158A-D169BF639901}"/>
              </a:ext>
            </a:extLst>
          </p:cNvPr>
          <p:cNvSpPr>
            <a:spLocks noGrp="1"/>
          </p:cNvSpPr>
          <p:nvPr>
            <p:ph type="title"/>
          </p:nvPr>
        </p:nvSpPr>
        <p:spPr>
          <a:xfrm>
            <a:off x="838200" y="365125"/>
            <a:ext cx="10515600" cy="1325563"/>
          </a:xfrm>
        </p:spPr>
        <p:txBody>
          <a:bodyPr/>
          <a:lstStyle/>
          <a:p>
            <a:pPr algn="ctr"/>
            <a:r>
              <a:rPr lang="en-US" altLang="zh-CN" b="1" dirty="0"/>
              <a:t>fs_i2c</a:t>
            </a:r>
            <a:r>
              <a:rPr lang="zh-CN" altLang="en-US" b="1" dirty="0"/>
              <a:t>实验程序（</a:t>
            </a:r>
            <a:r>
              <a:rPr lang="en-US" altLang="zh-CN" b="1" dirty="0"/>
              <a:t>1</a:t>
            </a:r>
            <a:r>
              <a:rPr lang="zh-CN" altLang="en-US" b="1" dirty="0"/>
              <a:t>）</a:t>
            </a:r>
          </a:p>
        </p:txBody>
      </p:sp>
      <p:cxnSp>
        <p:nvCxnSpPr>
          <p:cNvPr id="7" name="直接箭头连接符 6">
            <a:extLst>
              <a:ext uri="{FF2B5EF4-FFF2-40B4-BE49-F238E27FC236}">
                <a16:creationId xmlns:a16="http://schemas.microsoft.com/office/drawing/2014/main" id="{AA257616-B4C6-D1E0-6470-CB83A28AB566}"/>
              </a:ext>
            </a:extLst>
          </p:cNvPr>
          <p:cNvCxnSpPr/>
          <p:nvPr/>
        </p:nvCxnSpPr>
        <p:spPr>
          <a:xfrm flipH="1">
            <a:off x="5439741" y="4063278"/>
            <a:ext cx="457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4DE8C609-C618-8042-23DF-060E8CAD8C59}"/>
              </a:ext>
            </a:extLst>
          </p:cNvPr>
          <p:cNvCxnSpPr/>
          <p:nvPr/>
        </p:nvCxnSpPr>
        <p:spPr>
          <a:xfrm flipH="1">
            <a:off x="6067926" y="4779350"/>
            <a:ext cx="457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CB19F9A4-8804-E812-A7A9-2E454A23C3BE}"/>
              </a:ext>
            </a:extLst>
          </p:cNvPr>
          <p:cNvSpPr txBox="1"/>
          <p:nvPr/>
        </p:nvSpPr>
        <p:spPr>
          <a:xfrm>
            <a:off x="9374689" y="5324402"/>
            <a:ext cx="1979111" cy="646331"/>
          </a:xfrm>
          <a:prstGeom prst="rect">
            <a:avLst/>
          </a:prstGeom>
          <a:solidFill>
            <a:srgbClr val="FFFF00"/>
          </a:solidFill>
        </p:spPr>
        <p:txBody>
          <a:bodyPr wrap="square" rtlCol="0">
            <a:spAutoFit/>
          </a:bodyPr>
          <a:lstStyle/>
          <a:p>
            <a:r>
              <a:rPr lang="zh-CN" altLang="en-US" sz="1200" b="1" dirty="0"/>
              <a:t>通过</a:t>
            </a:r>
            <a:r>
              <a:rPr lang="en-US" altLang="zh-CN" sz="1200" b="1" dirty="0"/>
              <a:t>I2C</a:t>
            </a:r>
            <a:r>
              <a:rPr lang="zh-CN" altLang="en-US" sz="1200" b="1" dirty="0"/>
              <a:t>总线采集到的温度传感器的值，送</a:t>
            </a:r>
            <a:r>
              <a:rPr lang="en-US" altLang="zh-CN" sz="1200" b="1" dirty="0"/>
              <a:t>Debug_2</a:t>
            </a:r>
            <a:r>
              <a:rPr lang="zh-CN" altLang="en-US" sz="1200" b="1" dirty="0"/>
              <a:t>串口，在</a:t>
            </a:r>
            <a:r>
              <a:rPr lang="en-US" altLang="zh-CN" sz="1200" b="1" dirty="0"/>
              <a:t>Putty</a:t>
            </a:r>
            <a:r>
              <a:rPr lang="zh-CN" altLang="en-US" sz="1200" b="1" dirty="0"/>
              <a:t>上显示</a:t>
            </a:r>
          </a:p>
        </p:txBody>
      </p:sp>
      <p:pic>
        <p:nvPicPr>
          <p:cNvPr id="4" name="图片 3">
            <a:extLst>
              <a:ext uri="{FF2B5EF4-FFF2-40B4-BE49-F238E27FC236}">
                <a16:creationId xmlns:a16="http://schemas.microsoft.com/office/drawing/2014/main" id="{2EDA88B8-64FB-3E50-9164-436F0BFBB180}"/>
              </a:ext>
            </a:extLst>
          </p:cNvPr>
          <p:cNvPicPr>
            <a:picLocks noChangeAspect="1"/>
          </p:cNvPicPr>
          <p:nvPr/>
        </p:nvPicPr>
        <p:blipFill>
          <a:blip r:embed="rId2"/>
          <a:stretch>
            <a:fillRect/>
          </a:stretch>
        </p:blipFill>
        <p:spPr>
          <a:xfrm>
            <a:off x="3192235" y="1782447"/>
            <a:ext cx="5927837" cy="4969121"/>
          </a:xfrm>
          <a:prstGeom prst="rect">
            <a:avLst/>
          </a:prstGeom>
        </p:spPr>
      </p:pic>
      <p:cxnSp>
        <p:nvCxnSpPr>
          <p:cNvPr id="16" name="直接箭头连接符 15">
            <a:extLst>
              <a:ext uri="{FF2B5EF4-FFF2-40B4-BE49-F238E27FC236}">
                <a16:creationId xmlns:a16="http://schemas.microsoft.com/office/drawing/2014/main" id="{DE7BD01B-7B72-9521-9416-32E7A8FDB0E0}"/>
              </a:ext>
            </a:extLst>
          </p:cNvPr>
          <p:cNvCxnSpPr>
            <a:cxnSpLocks/>
          </p:cNvCxnSpPr>
          <p:nvPr/>
        </p:nvCxnSpPr>
        <p:spPr>
          <a:xfrm flipH="1">
            <a:off x="6609834" y="4063278"/>
            <a:ext cx="56649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B228FB2F-2C23-794F-9BE0-FD572C9A1A9B}"/>
              </a:ext>
            </a:extLst>
          </p:cNvPr>
          <p:cNvCxnSpPr>
            <a:cxnSpLocks/>
          </p:cNvCxnSpPr>
          <p:nvPr/>
        </p:nvCxnSpPr>
        <p:spPr>
          <a:xfrm flipH="1">
            <a:off x="6644253" y="4544007"/>
            <a:ext cx="53207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8C3A44BC-6FB3-D26A-4912-520CA1DE98DF}"/>
              </a:ext>
            </a:extLst>
          </p:cNvPr>
          <p:cNvSpPr txBox="1"/>
          <p:nvPr/>
        </p:nvSpPr>
        <p:spPr>
          <a:xfrm>
            <a:off x="7471601" y="4402595"/>
            <a:ext cx="2054135" cy="276999"/>
          </a:xfrm>
          <a:prstGeom prst="rect">
            <a:avLst/>
          </a:prstGeom>
          <a:solidFill>
            <a:srgbClr val="FFFF00"/>
          </a:solidFill>
        </p:spPr>
        <p:txBody>
          <a:bodyPr wrap="square" rtlCol="0">
            <a:spAutoFit/>
          </a:bodyPr>
          <a:lstStyle/>
          <a:p>
            <a:r>
              <a:rPr lang="en-US" altLang="zh-CN" sz="1200" b="1" dirty="0"/>
              <a:t>5</a:t>
            </a:r>
            <a:r>
              <a:rPr lang="zh-CN" altLang="en-US" sz="1200" b="1" dirty="0"/>
              <a:t>个函数由</a:t>
            </a:r>
            <a:r>
              <a:rPr lang="en-US" altLang="zh-CN" sz="1200" b="1" dirty="0"/>
              <a:t>fs3399_i2c.c</a:t>
            </a:r>
            <a:r>
              <a:rPr lang="zh-CN" altLang="en-US" sz="1200" b="1" dirty="0"/>
              <a:t>提供</a:t>
            </a:r>
          </a:p>
        </p:txBody>
      </p:sp>
    </p:spTree>
    <p:extLst>
      <p:ext uri="{BB962C8B-B14F-4D97-AF65-F5344CB8AC3E}">
        <p14:creationId xmlns:p14="http://schemas.microsoft.com/office/powerpoint/2010/main" val="48587592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6014EB9-AB3E-3C4D-C200-0AB5243B6511}"/>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8</a:t>
            </a:r>
            <a:endParaRPr lang="zh-CN" altLang="en-US" b="1" dirty="0"/>
          </a:p>
        </p:txBody>
      </p:sp>
      <p:sp>
        <p:nvSpPr>
          <p:cNvPr id="8" name="内容占位符 2">
            <a:extLst>
              <a:ext uri="{FF2B5EF4-FFF2-40B4-BE49-F238E27FC236}">
                <a16:creationId xmlns:a16="http://schemas.microsoft.com/office/drawing/2014/main" id="{346E3AEB-176B-0688-E744-43E9CB3DD69F}"/>
              </a:ext>
            </a:extLst>
          </p:cNvPr>
          <p:cNvSpPr>
            <a:spLocks noGrp="1"/>
          </p:cNvSpPr>
          <p:nvPr>
            <p:ph idx="1"/>
          </p:nvPr>
        </p:nvSpPr>
        <p:spPr>
          <a:xfrm>
            <a:off x="1112169" y="1875354"/>
            <a:ext cx="4279366" cy="388259"/>
          </a:xfrm>
        </p:spPr>
        <p:txBody>
          <a:bodyPr>
            <a:normAutofit/>
          </a:bodyPr>
          <a:lstStyle/>
          <a:p>
            <a:r>
              <a:rPr lang="en-US" altLang="zh-CN" sz="2000" b="1" dirty="0"/>
              <a:t>2</a:t>
            </a:r>
            <a:r>
              <a:rPr lang="zh-CN" altLang="en-US" sz="2000" b="1" dirty="0"/>
              <a:t>、</a:t>
            </a:r>
            <a:r>
              <a:rPr lang="en-US" altLang="zh-CN" sz="2000" b="1" dirty="0"/>
              <a:t>fs3399_i2c.c</a:t>
            </a:r>
            <a:endParaRPr lang="zh-CN" altLang="en-US" sz="2000" b="1" dirty="0"/>
          </a:p>
        </p:txBody>
      </p:sp>
      <p:sp>
        <p:nvSpPr>
          <p:cNvPr id="14" name="标题 1">
            <a:extLst>
              <a:ext uri="{FF2B5EF4-FFF2-40B4-BE49-F238E27FC236}">
                <a16:creationId xmlns:a16="http://schemas.microsoft.com/office/drawing/2014/main" id="{0F08AA16-D7EE-D167-665E-63CF50BDF76F}"/>
              </a:ext>
            </a:extLst>
          </p:cNvPr>
          <p:cNvSpPr>
            <a:spLocks noGrp="1"/>
          </p:cNvSpPr>
          <p:nvPr>
            <p:ph type="title"/>
          </p:nvPr>
        </p:nvSpPr>
        <p:spPr>
          <a:xfrm>
            <a:off x="838200" y="365125"/>
            <a:ext cx="10515600" cy="1325563"/>
          </a:xfrm>
        </p:spPr>
        <p:txBody>
          <a:bodyPr/>
          <a:lstStyle/>
          <a:p>
            <a:pPr algn="ctr"/>
            <a:r>
              <a:rPr lang="en-US" altLang="zh-CN" b="1" dirty="0"/>
              <a:t>fs_i2c</a:t>
            </a:r>
            <a:r>
              <a:rPr lang="zh-CN" altLang="en-US" b="1" dirty="0"/>
              <a:t>实验程序（</a:t>
            </a:r>
            <a:r>
              <a:rPr lang="en-US" altLang="zh-CN" b="1" dirty="0"/>
              <a:t>2</a:t>
            </a:r>
            <a:r>
              <a:rPr lang="zh-CN" altLang="en-US" b="1" dirty="0"/>
              <a:t>）</a:t>
            </a:r>
          </a:p>
        </p:txBody>
      </p:sp>
      <p:pic>
        <p:nvPicPr>
          <p:cNvPr id="3" name="图片 2">
            <a:extLst>
              <a:ext uri="{FF2B5EF4-FFF2-40B4-BE49-F238E27FC236}">
                <a16:creationId xmlns:a16="http://schemas.microsoft.com/office/drawing/2014/main" id="{F3912B58-FF8B-497D-B764-26363D3F40AD}"/>
              </a:ext>
            </a:extLst>
          </p:cNvPr>
          <p:cNvPicPr>
            <a:picLocks noChangeAspect="1"/>
          </p:cNvPicPr>
          <p:nvPr/>
        </p:nvPicPr>
        <p:blipFill>
          <a:blip r:embed="rId2"/>
          <a:stretch>
            <a:fillRect/>
          </a:stretch>
        </p:blipFill>
        <p:spPr>
          <a:xfrm>
            <a:off x="1205594" y="2263613"/>
            <a:ext cx="4534572" cy="1802202"/>
          </a:xfrm>
          <a:prstGeom prst="rect">
            <a:avLst/>
          </a:prstGeom>
        </p:spPr>
      </p:pic>
      <p:pic>
        <p:nvPicPr>
          <p:cNvPr id="5" name="图片 4">
            <a:extLst>
              <a:ext uri="{FF2B5EF4-FFF2-40B4-BE49-F238E27FC236}">
                <a16:creationId xmlns:a16="http://schemas.microsoft.com/office/drawing/2014/main" id="{B8CAABD6-5399-4994-89E1-566395C8DAB5}"/>
              </a:ext>
            </a:extLst>
          </p:cNvPr>
          <p:cNvPicPr>
            <a:picLocks noChangeAspect="1"/>
          </p:cNvPicPr>
          <p:nvPr/>
        </p:nvPicPr>
        <p:blipFill>
          <a:blip r:embed="rId3"/>
          <a:stretch>
            <a:fillRect/>
          </a:stretch>
        </p:blipFill>
        <p:spPr>
          <a:xfrm>
            <a:off x="5829974" y="1482159"/>
            <a:ext cx="5249857" cy="5167312"/>
          </a:xfrm>
          <a:prstGeom prst="rect">
            <a:avLst/>
          </a:prstGeom>
        </p:spPr>
      </p:pic>
    </p:spTree>
    <p:extLst>
      <p:ext uri="{BB962C8B-B14F-4D97-AF65-F5344CB8AC3E}">
        <p14:creationId xmlns:p14="http://schemas.microsoft.com/office/powerpoint/2010/main" val="145088065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a:extLst>
              <a:ext uri="{FF2B5EF4-FFF2-40B4-BE49-F238E27FC236}">
                <a16:creationId xmlns:a16="http://schemas.microsoft.com/office/drawing/2014/main" id="{A05D0AFE-E19C-D1C2-A57E-D366E974DE2D}"/>
              </a:ext>
            </a:extLst>
          </p:cNvPr>
          <p:cNvSpPr>
            <a:spLocks noGrp="1"/>
          </p:cNvSpPr>
          <p:nvPr>
            <p:ph idx="1"/>
          </p:nvPr>
        </p:nvSpPr>
        <p:spPr>
          <a:xfrm>
            <a:off x="838200" y="1825625"/>
            <a:ext cx="4279366" cy="4351338"/>
          </a:xfrm>
        </p:spPr>
        <p:txBody>
          <a:bodyPr>
            <a:normAutofit/>
          </a:bodyPr>
          <a:lstStyle/>
          <a:p>
            <a:r>
              <a:rPr lang="en-US" altLang="zh-CN" sz="2000" b="1" dirty="0"/>
              <a:t>3</a:t>
            </a:r>
            <a:r>
              <a:rPr lang="zh-CN" altLang="en-US" sz="2000" b="1" dirty="0"/>
              <a:t>、</a:t>
            </a:r>
            <a:r>
              <a:rPr lang="en-US" altLang="zh-CN" sz="2000" b="1" dirty="0"/>
              <a:t>fs3399_i2c.h</a:t>
            </a:r>
            <a:endParaRPr lang="zh-CN" altLang="en-US" sz="2000" b="1" dirty="0"/>
          </a:p>
        </p:txBody>
      </p:sp>
      <p:sp>
        <p:nvSpPr>
          <p:cNvPr id="9" name="标题 1">
            <a:extLst>
              <a:ext uri="{FF2B5EF4-FFF2-40B4-BE49-F238E27FC236}">
                <a16:creationId xmlns:a16="http://schemas.microsoft.com/office/drawing/2014/main" id="{1D216D6C-6478-E983-8841-034F0EB98EF1}"/>
              </a:ext>
            </a:extLst>
          </p:cNvPr>
          <p:cNvSpPr>
            <a:spLocks noGrp="1"/>
          </p:cNvSpPr>
          <p:nvPr>
            <p:ph type="title"/>
          </p:nvPr>
        </p:nvSpPr>
        <p:spPr>
          <a:xfrm>
            <a:off x="838200" y="365125"/>
            <a:ext cx="10515600" cy="1325563"/>
          </a:xfrm>
        </p:spPr>
        <p:txBody>
          <a:bodyPr/>
          <a:lstStyle/>
          <a:p>
            <a:pPr algn="ctr"/>
            <a:r>
              <a:rPr lang="en-US" altLang="zh-CN" b="1" dirty="0"/>
              <a:t>fs_i2c</a:t>
            </a:r>
            <a:r>
              <a:rPr lang="zh-CN" altLang="en-US" b="1" dirty="0"/>
              <a:t>实验程序（</a:t>
            </a:r>
            <a:r>
              <a:rPr lang="en-US" altLang="zh-CN" b="1" dirty="0"/>
              <a:t>3</a:t>
            </a:r>
            <a:r>
              <a:rPr lang="zh-CN" altLang="en-US" b="1" dirty="0"/>
              <a:t>）</a:t>
            </a:r>
          </a:p>
        </p:txBody>
      </p:sp>
      <p:sp>
        <p:nvSpPr>
          <p:cNvPr id="4" name="文本框 3">
            <a:extLst>
              <a:ext uri="{FF2B5EF4-FFF2-40B4-BE49-F238E27FC236}">
                <a16:creationId xmlns:a16="http://schemas.microsoft.com/office/drawing/2014/main" id="{E81ED4F4-2CAD-473A-A94C-6DDCA1F0FD1D}"/>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8</a:t>
            </a:r>
            <a:endParaRPr lang="zh-CN" altLang="en-US" b="1" dirty="0"/>
          </a:p>
        </p:txBody>
      </p:sp>
      <p:pic>
        <p:nvPicPr>
          <p:cNvPr id="5" name="图片 4">
            <a:extLst>
              <a:ext uri="{FF2B5EF4-FFF2-40B4-BE49-F238E27FC236}">
                <a16:creationId xmlns:a16="http://schemas.microsoft.com/office/drawing/2014/main" id="{F22479C7-FB3F-AB23-2170-EF0E1890910D}"/>
              </a:ext>
            </a:extLst>
          </p:cNvPr>
          <p:cNvPicPr>
            <a:picLocks noChangeAspect="1"/>
          </p:cNvPicPr>
          <p:nvPr/>
        </p:nvPicPr>
        <p:blipFill>
          <a:blip r:embed="rId2"/>
          <a:stretch>
            <a:fillRect/>
          </a:stretch>
        </p:blipFill>
        <p:spPr>
          <a:xfrm>
            <a:off x="3148964" y="1732721"/>
            <a:ext cx="4215221" cy="5111344"/>
          </a:xfrm>
          <a:prstGeom prst="rect">
            <a:avLst/>
          </a:prstGeom>
        </p:spPr>
      </p:pic>
    </p:spTree>
    <p:extLst>
      <p:ext uri="{BB962C8B-B14F-4D97-AF65-F5344CB8AC3E}">
        <p14:creationId xmlns:p14="http://schemas.microsoft.com/office/powerpoint/2010/main" val="369535917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A749897-FC39-ACD8-BF71-B97943BCC943}"/>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a:t>fs_i2c</a:t>
            </a:r>
            <a:r>
              <a:rPr lang="zh-CN" altLang="en-US" b="1" dirty="0"/>
              <a:t>实验程序</a:t>
            </a:r>
          </a:p>
        </p:txBody>
      </p:sp>
      <p:sp>
        <p:nvSpPr>
          <p:cNvPr id="7" name="内容占位符 2">
            <a:extLst>
              <a:ext uri="{FF2B5EF4-FFF2-40B4-BE49-F238E27FC236}">
                <a16:creationId xmlns:a16="http://schemas.microsoft.com/office/drawing/2014/main" id="{0164717B-A44C-107C-834B-657E75999E68}"/>
              </a:ext>
            </a:extLst>
          </p:cNvPr>
          <p:cNvSpPr>
            <a:spLocks noGrp="1"/>
          </p:cNvSpPr>
          <p:nvPr>
            <p:ph idx="1"/>
          </p:nvPr>
        </p:nvSpPr>
        <p:spPr>
          <a:xfrm>
            <a:off x="1265464" y="1825625"/>
            <a:ext cx="10088336" cy="4351338"/>
          </a:xfrm>
        </p:spPr>
        <p:txBody>
          <a:bodyPr>
            <a:normAutofit fontScale="77500" lnSpcReduction="20000"/>
          </a:bodyPr>
          <a:lstStyle/>
          <a:p>
            <a:r>
              <a:rPr lang="zh-CN" altLang="en-US" sz="2400" b="1" dirty="0"/>
              <a:t>请按照前面的“</a:t>
            </a:r>
            <a:r>
              <a:rPr lang="zh-CN" altLang="en-US" sz="2400" b="1" dirty="0">
                <a:solidFill>
                  <a:srgbClr val="C00000"/>
                </a:solidFill>
              </a:rPr>
              <a:t>运行fs_led实验程序</a:t>
            </a:r>
            <a:r>
              <a:rPr lang="zh-CN" altLang="en-US" sz="2400" b="1" dirty="0"/>
              <a:t>”的步骤，运行“</a:t>
            </a:r>
            <a:r>
              <a:rPr lang="en-US" altLang="zh-CN" sz="2400" b="1" dirty="0"/>
              <a:t>fs_i2c</a:t>
            </a:r>
            <a:r>
              <a:rPr lang="zh-CN" altLang="en-US" sz="2400" b="1" dirty="0"/>
              <a:t>实验程序”：</a:t>
            </a:r>
            <a:endParaRPr lang="en-US" altLang="zh-CN" sz="2400" b="1" dirty="0"/>
          </a:p>
          <a:p>
            <a:pPr lvl="1"/>
            <a:endParaRPr lang="en-US" altLang="zh-CN" sz="2000" b="1" dirty="0"/>
          </a:p>
          <a:p>
            <a:pPr lvl="1"/>
            <a:r>
              <a:rPr lang="en-US" altLang="zh-CN" sz="2000" b="1" dirty="0"/>
              <a:t>1</a:t>
            </a:r>
            <a:r>
              <a:rPr lang="zh-CN" altLang="en-US" sz="2000" b="1" dirty="0"/>
              <a:t>、关闭</a:t>
            </a:r>
            <a:r>
              <a:rPr lang="en-US" altLang="zh-CN" sz="2000" b="1" dirty="0"/>
              <a:t>PuTTY</a:t>
            </a:r>
            <a:r>
              <a:rPr lang="zh-CN" altLang="en-US" sz="2000" b="1" dirty="0"/>
              <a:t>，再打开</a:t>
            </a:r>
            <a:r>
              <a:rPr lang="en-US" altLang="zh-CN" sz="2000" b="1" dirty="0"/>
              <a:t>PuTTY</a:t>
            </a:r>
            <a:r>
              <a:rPr lang="zh-CN" altLang="en-US" sz="2000" b="1" dirty="0"/>
              <a:t>；按实验箱的</a:t>
            </a:r>
            <a:r>
              <a:rPr lang="en-US" altLang="zh-CN" sz="2000" b="1" dirty="0"/>
              <a:t>RST</a:t>
            </a:r>
            <a:r>
              <a:rPr lang="zh-CN" altLang="en-US" sz="2000" b="1" dirty="0"/>
              <a:t>按键；倒计时状态按</a:t>
            </a:r>
            <a:r>
              <a:rPr lang="en-US" altLang="zh-CN" sz="2000" b="1" dirty="0" err="1"/>
              <a:t>Ctrl+C</a:t>
            </a:r>
            <a:r>
              <a:rPr lang="zh-CN" altLang="en-US" sz="2000" b="1" dirty="0"/>
              <a:t>，进入“</a:t>
            </a:r>
            <a:r>
              <a:rPr lang="en-US" altLang="zh-CN" sz="2000" b="1" dirty="0"/>
              <a:t>=&gt;”</a:t>
            </a:r>
            <a:r>
              <a:rPr lang="zh-CN" altLang="en-US" sz="2000" b="1" dirty="0"/>
              <a:t>状态</a:t>
            </a:r>
          </a:p>
          <a:p>
            <a:pPr lvl="1"/>
            <a:endParaRPr lang="zh-CN" altLang="en-US" sz="2000" b="1" dirty="0"/>
          </a:p>
          <a:p>
            <a:pPr lvl="1"/>
            <a:r>
              <a:rPr lang="en-US" altLang="zh-CN" sz="2000" b="1" dirty="0"/>
              <a:t>2</a:t>
            </a:r>
            <a:r>
              <a:rPr lang="zh-CN" altLang="en-US" sz="2000" b="1" dirty="0"/>
              <a:t>、检查</a:t>
            </a:r>
            <a:r>
              <a:rPr lang="en-US" altLang="zh-CN" sz="2000" b="1" dirty="0"/>
              <a:t>JTAG</a:t>
            </a:r>
            <a:r>
              <a:rPr lang="zh-CN" altLang="en-US" sz="2000" b="1" dirty="0"/>
              <a:t>是否连接到虚拟机（</a:t>
            </a:r>
            <a:r>
              <a:rPr lang="en-US" altLang="zh-CN" sz="2000" b="1" dirty="0"/>
              <a:t>Ubuntu</a:t>
            </a:r>
            <a:r>
              <a:rPr lang="zh-CN" altLang="en-US" sz="2000" b="1" dirty="0"/>
              <a:t>）</a:t>
            </a:r>
          </a:p>
          <a:p>
            <a:pPr lvl="1"/>
            <a:endParaRPr lang="zh-CN" altLang="en-US" sz="2000" b="1" dirty="0"/>
          </a:p>
          <a:p>
            <a:pPr lvl="1"/>
            <a:r>
              <a:rPr lang="en-US" altLang="zh-CN" sz="2000" b="1" dirty="0"/>
              <a:t>3</a:t>
            </a:r>
            <a:r>
              <a:rPr lang="zh-CN" altLang="en-US" sz="2000" b="1" dirty="0"/>
              <a:t>、检查</a:t>
            </a:r>
            <a:r>
              <a:rPr lang="en-US" altLang="zh-CN" sz="2000" b="1" dirty="0"/>
              <a:t>FS_JTAG</a:t>
            </a:r>
            <a:r>
              <a:rPr lang="zh-CN" altLang="en-US" sz="2000" b="1" dirty="0"/>
              <a:t>是否处于连接状态（连接到</a:t>
            </a:r>
            <a:r>
              <a:rPr lang="en-US" altLang="zh-CN" sz="2000" b="1" dirty="0"/>
              <a:t>fs3399</a:t>
            </a:r>
            <a:r>
              <a:rPr lang="zh-CN" altLang="en-US" sz="2000" b="1" dirty="0"/>
              <a:t>）</a:t>
            </a:r>
          </a:p>
          <a:p>
            <a:pPr lvl="1"/>
            <a:endParaRPr lang="zh-CN" altLang="en-US" sz="2000" b="1" dirty="0"/>
          </a:p>
          <a:p>
            <a:pPr lvl="1"/>
            <a:r>
              <a:rPr lang="en-US" altLang="zh-CN" sz="2000" b="1" dirty="0"/>
              <a:t>4</a:t>
            </a:r>
            <a:r>
              <a:rPr lang="zh-CN" altLang="en-US" sz="2000" b="1" dirty="0"/>
              <a:t>、打开实验工程（使实验工程处于打开状态）</a:t>
            </a:r>
          </a:p>
          <a:p>
            <a:pPr lvl="1"/>
            <a:endParaRPr lang="zh-CN" altLang="en-US" sz="2000" b="1" dirty="0"/>
          </a:p>
          <a:p>
            <a:pPr lvl="1"/>
            <a:r>
              <a:rPr lang="en-US" altLang="zh-CN" sz="2000" b="1" dirty="0"/>
              <a:t>5</a:t>
            </a:r>
            <a:r>
              <a:rPr lang="zh-CN" altLang="en-US" sz="2000" b="1" dirty="0"/>
              <a:t>、进入调试状态：</a:t>
            </a:r>
            <a:r>
              <a:rPr lang="en-US" altLang="zh-CN" sz="2000" b="1" dirty="0"/>
              <a:t>Run -&gt; Debug Configurations</a:t>
            </a:r>
          </a:p>
          <a:p>
            <a:pPr lvl="1"/>
            <a:endParaRPr lang="en-US" altLang="zh-CN" sz="2000" b="1" dirty="0"/>
          </a:p>
          <a:p>
            <a:pPr lvl="1"/>
            <a:r>
              <a:rPr lang="en-US" altLang="zh-CN" sz="2000" b="1" dirty="0"/>
              <a:t>6</a:t>
            </a:r>
            <a:r>
              <a:rPr lang="zh-CN" altLang="en-US" sz="2000" b="1" dirty="0"/>
              <a:t>、点击运行图标，运行实验工程</a:t>
            </a:r>
          </a:p>
          <a:p>
            <a:pPr lvl="1"/>
            <a:endParaRPr lang="zh-CN" altLang="en-US" sz="2000" b="1" dirty="0"/>
          </a:p>
          <a:p>
            <a:pPr lvl="1"/>
            <a:r>
              <a:rPr lang="en-US" altLang="zh-CN" sz="2000" b="1" dirty="0"/>
              <a:t>7</a:t>
            </a:r>
            <a:r>
              <a:rPr lang="zh-CN" altLang="en-US" sz="2000" b="1" dirty="0"/>
              <a:t>、点击停止图标，停止运行实验工程</a:t>
            </a:r>
          </a:p>
          <a:p>
            <a:pPr lvl="1"/>
            <a:endParaRPr lang="zh-CN" altLang="en-US" sz="2000" b="1" dirty="0"/>
          </a:p>
          <a:p>
            <a:pPr lvl="1"/>
            <a:r>
              <a:rPr lang="en-US" altLang="zh-CN" sz="2000" b="1" dirty="0"/>
              <a:t>8</a:t>
            </a:r>
            <a:r>
              <a:rPr lang="zh-CN" altLang="en-US" sz="2000" b="1" dirty="0"/>
              <a:t>、关闭实验工程（使实验工程处于关闭状态）</a:t>
            </a:r>
          </a:p>
          <a:p>
            <a:endParaRPr lang="zh-CN" altLang="en-US" sz="2400" b="1" dirty="0"/>
          </a:p>
        </p:txBody>
      </p:sp>
      <p:sp>
        <p:nvSpPr>
          <p:cNvPr id="2" name="文本框 1">
            <a:extLst>
              <a:ext uri="{FF2B5EF4-FFF2-40B4-BE49-F238E27FC236}">
                <a16:creationId xmlns:a16="http://schemas.microsoft.com/office/drawing/2014/main" id="{AD8B8D93-5A32-617B-8E49-E1F71EB6152E}"/>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8</a:t>
            </a:r>
            <a:endParaRPr lang="zh-CN" altLang="en-US" b="1" dirty="0"/>
          </a:p>
        </p:txBody>
      </p:sp>
    </p:spTree>
    <p:extLst>
      <p:ext uri="{BB962C8B-B14F-4D97-AF65-F5344CB8AC3E}">
        <p14:creationId xmlns:p14="http://schemas.microsoft.com/office/powerpoint/2010/main" val="260008372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F37461E-8AC3-1EF7-C846-C6C4E243B8BF}"/>
              </a:ext>
            </a:extLst>
          </p:cNvPr>
          <p:cNvSpPr>
            <a:spLocks noGrp="1"/>
          </p:cNvSpPr>
          <p:nvPr>
            <p:ph idx="1"/>
          </p:nvPr>
        </p:nvSpPr>
        <p:spPr/>
        <p:txBody>
          <a:bodyPr>
            <a:normAutofit/>
          </a:bodyPr>
          <a:lstStyle/>
          <a:p>
            <a:r>
              <a:rPr lang="zh-CN" altLang="en-US" sz="2000" b="1" dirty="0"/>
              <a:t>程序执行后，</a:t>
            </a:r>
            <a:r>
              <a:rPr lang="en-US" altLang="zh-CN" sz="2000" b="1" dirty="0"/>
              <a:t>Putty</a:t>
            </a:r>
            <a:r>
              <a:rPr lang="zh-CN" altLang="en-US" sz="2000" b="1" dirty="0"/>
              <a:t>上会显示温度传感器的值，将手指压到温度传感器芯片上，会增加温度值！</a:t>
            </a:r>
          </a:p>
        </p:txBody>
      </p:sp>
      <p:sp>
        <p:nvSpPr>
          <p:cNvPr id="2" name="文本框 1">
            <a:extLst>
              <a:ext uri="{FF2B5EF4-FFF2-40B4-BE49-F238E27FC236}">
                <a16:creationId xmlns:a16="http://schemas.microsoft.com/office/drawing/2014/main" id="{918B2456-026D-DEA1-E422-782546E18592}"/>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8</a:t>
            </a:r>
            <a:endParaRPr lang="zh-CN" altLang="en-US" b="1" dirty="0"/>
          </a:p>
        </p:txBody>
      </p:sp>
      <p:sp>
        <p:nvSpPr>
          <p:cNvPr id="9" name="标题 1">
            <a:extLst>
              <a:ext uri="{FF2B5EF4-FFF2-40B4-BE49-F238E27FC236}">
                <a16:creationId xmlns:a16="http://schemas.microsoft.com/office/drawing/2014/main" id="{CD3822C8-E755-332C-AFE5-FEE77CE39B46}"/>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a:t>fs_i2c</a:t>
            </a:r>
            <a:r>
              <a:rPr lang="zh-CN" altLang="en-US" b="1" dirty="0"/>
              <a:t>实验程序</a:t>
            </a:r>
          </a:p>
        </p:txBody>
      </p:sp>
      <p:pic>
        <p:nvPicPr>
          <p:cNvPr id="5" name="图片 4">
            <a:extLst>
              <a:ext uri="{FF2B5EF4-FFF2-40B4-BE49-F238E27FC236}">
                <a16:creationId xmlns:a16="http://schemas.microsoft.com/office/drawing/2014/main" id="{00B79689-8C4A-59EF-ACCF-2B420950EF0F}"/>
              </a:ext>
            </a:extLst>
          </p:cNvPr>
          <p:cNvPicPr>
            <a:picLocks noChangeAspect="1"/>
          </p:cNvPicPr>
          <p:nvPr/>
        </p:nvPicPr>
        <p:blipFill>
          <a:blip r:embed="rId2"/>
          <a:stretch>
            <a:fillRect/>
          </a:stretch>
        </p:blipFill>
        <p:spPr>
          <a:xfrm>
            <a:off x="1866900" y="2454334"/>
            <a:ext cx="2222922" cy="3598170"/>
          </a:xfrm>
          <a:prstGeom prst="rect">
            <a:avLst/>
          </a:prstGeom>
        </p:spPr>
      </p:pic>
      <p:pic>
        <p:nvPicPr>
          <p:cNvPr id="4" name="图片 3">
            <a:extLst>
              <a:ext uri="{FF2B5EF4-FFF2-40B4-BE49-F238E27FC236}">
                <a16:creationId xmlns:a16="http://schemas.microsoft.com/office/drawing/2014/main" id="{7DAF6152-1693-8903-B37E-EFD011BA1EE1}"/>
              </a:ext>
            </a:extLst>
          </p:cNvPr>
          <p:cNvPicPr>
            <a:picLocks noChangeAspect="1"/>
          </p:cNvPicPr>
          <p:nvPr/>
        </p:nvPicPr>
        <p:blipFill>
          <a:blip r:embed="rId3"/>
          <a:stretch>
            <a:fillRect/>
          </a:stretch>
        </p:blipFill>
        <p:spPr>
          <a:xfrm>
            <a:off x="4859442" y="2623641"/>
            <a:ext cx="5239910" cy="3259556"/>
          </a:xfrm>
          <a:prstGeom prst="rect">
            <a:avLst/>
          </a:prstGeom>
        </p:spPr>
      </p:pic>
      <p:sp>
        <p:nvSpPr>
          <p:cNvPr id="6" name="椭圆 5">
            <a:extLst>
              <a:ext uri="{FF2B5EF4-FFF2-40B4-BE49-F238E27FC236}">
                <a16:creationId xmlns:a16="http://schemas.microsoft.com/office/drawing/2014/main" id="{C5431C86-9F54-EEF0-14BF-9EAA3925DAA9}"/>
              </a:ext>
            </a:extLst>
          </p:cNvPr>
          <p:cNvSpPr/>
          <p:nvPr/>
        </p:nvSpPr>
        <p:spPr>
          <a:xfrm>
            <a:off x="6318724" y="4406996"/>
            <a:ext cx="519831" cy="450937"/>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742662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5B9C2-11EB-449B-3E8A-68F6F4C5BE6E}"/>
              </a:ext>
            </a:extLst>
          </p:cNvPr>
          <p:cNvSpPr>
            <a:spLocks noGrp="1"/>
          </p:cNvSpPr>
          <p:nvPr>
            <p:ph type="title"/>
          </p:nvPr>
        </p:nvSpPr>
        <p:spPr>
          <a:xfrm>
            <a:off x="838200" y="2620645"/>
            <a:ext cx="10515600" cy="1325563"/>
          </a:xfrm>
        </p:spPr>
        <p:txBody>
          <a:bodyPr/>
          <a:lstStyle/>
          <a:p>
            <a:pPr algn="ctr"/>
            <a:r>
              <a:rPr lang="zh-CN" altLang="en-US" b="1" dirty="0"/>
              <a:t>实验</a:t>
            </a:r>
            <a:r>
              <a:rPr lang="en-US" altLang="zh-CN" b="1" dirty="0"/>
              <a:t>9    </a:t>
            </a:r>
            <a:r>
              <a:rPr lang="zh-CN" altLang="en-US" b="1" dirty="0"/>
              <a:t>定时器</a:t>
            </a:r>
          </a:p>
        </p:txBody>
      </p:sp>
    </p:spTree>
    <p:extLst>
      <p:ext uri="{BB962C8B-B14F-4D97-AF65-F5344CB8AC3E}">
        <p14:creationId xmlns:p14="http://schemas.microsoft.com/office/powerpoint/2010/main" val="163617527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AF4765-34C4-D07F-0802-89D841D1976B}"/>
              </a:ext>
            </a:extLst>
          </p:cNvPr>
          <p:cNvSpPr>
            <a:spLocks noGrp="1"/>
          </p:cNvSpPr>
          <p:nvPr>
            <p:ph type="title"/>
          </p:nvPr>
        </p:nvSpPr>
        <p:spPr/>
        <p:txBody>
          <a:bodyPr/>
          <a:lstStyle/>
          <a:p>
            <a:pPr algn="ctr"/>
            <a:r>
              <a:rPr lang="zh-CN" altLang="en-US" b="1" dirty="0"/>
              <a:t>定时器</a:t>
            </a:r>
          </a:p>
        </p:txBody>
      </p:sp>
      <p:sp>
        <p:nvSpPr>
          <p:cNvPr id="3" name="内容占位符 2">
            <a:extLst>
              <a:ext uri="{FF2B5EF4-FFF2-40B4-BE49-F238E27FC236}">
                <a16:creationId xmlns:a16="http://schemas.microsoft.com/office/drawing/2014/main" id="{9755E108-10CA-1766-D83D-66AE83301E9C}"/>
              </a:ext>
            </a:extLst>
          </p:cNvPr>
          <p:cNvSpPr>
            <a:spLocks noGrp="1"/>
          </p:cNvSpPr>
          <p:nvPr>
            <p:ph idx="1"/>
          </p:nvPr>
        </p:nvSpPr>
        <p:spPr/>
        <p:txBody>
          <a:bodyPr>
            <a:normAutofit/>
          </a:bodyPr>
          <a:lstStyle/>
          <a:p>
            <a:r>
              <a:rPr lang="zh-CN" altLang="en-US" sz="2000" b="1" dirty="0"/>
              <a:t>该实验使用定时器，实现每隔</a:t>
            </a:r>
            <a:r>
              <a:rPr lang="en-US" altLang="zh-CN" sz="2000" b="1" dirty="0"/>
              <a:t>1</a:t>
            </a:r>
            <a:r>
              <a:rPr lang="zh-CN" altLang="en-US" sz="2000" b="1" dirty="0"/>
              <a:t>秒点亮</a:t>
            </a:r>
            <a:r>
              <a:rPr lang="en-US" altLang="zh-CN" sz="2000" b="1" dirty="0"/>
              <a:t>/</a:t>
            </a:r>
            <a:r>
              <a:rPr lang="zh-CN" altLang="en-US" sz="2000" b="1" dirty="0"/>
              <a:t>熄灭</a:t>
            </a:r>
            <a:r>
              <a:rPr lang="en-US" altLang="zh-CN" sz="2000" b="1" dirty="0"/>
              <a:t>3</a:t>
            </a:r>
            <a:r>
              <a:rPr lang="zh-CN" altLang="en-US" sz="2000" b="1" dirty="0"/>
              <a:t>个</a:t>
            </a:r>
            <a:r>
              <a:rPr lang="en-US" altLang="zh-CN" sz="2000" b="1" dirty="0"/>
              <a:t>LED</a:t>
            </a:r>
            <a:r>
              <a:rPr lang="zh-CN" altLang="en-US" sz="2000" b="1" dirty="0"/>
              <a:t>灯</a:t>
            </a:r>
          </a:p>
        </p:txBody>
      </p:sp>
      <p:sp>
        <p:nvSpPr>
          <p:cNvPr id="8" name="文本框 7">
            <a:extLst>
              <a:ext uri="{FF2B5EF4-FFF2-40B4-BE49-F238E27FC236}">
                <a16:creationId xmlns:a16="http://schemas.microsoft.com/office/drawing/2014/main" id="{2FEA9A20-95E4-B130-9B95-6300A85A6447}"/>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9</a:t>
            </a:r>
            <a:endParaRPr lang="zh-CN" altLang="en-US" b="1" dirty="0"/>
          </a:p>
        </p:txBody>
      </p:sp>
      <p:pic>
        <p:nvPicPr>
          <p:cNvPr id="5" name="图片 4">
            <a:extLst>
              <a:ext uri="{FF2B5EF4-FFF2-40B4-BE49-F238E27FC236}">
                <a16:creationId xmlns:a16="http://schemas.microsoft.com/office/drawing/2014/main" id="{D1E2EF7D-0979-3CCD-0487-543F88C7BB7D}"/>
              </a:ext>
            </a:extLst>
          </p:cNvPr>
          <p:cNvPicPr>
            <a:picLocks noChangeAspect="1"/>
          </p:cNvPicPr>
          <p:nvPr/>
        </p:nvPicPr>
        <p:blipFill>
          <a:blip r:embed="rId2"/>
          <a:stretch>
            <a:fillRect/>
          </a:stretch>
        </p:blipFill>
        <p:spPr>
          <a:xfrm>
            <a:off x="2540428" y="2352970"/>
            <a:ext cx="5877071" cy="3516124"/>
          </a:xfrm>
          <a:prstGeom prst="rect">
            <a:avLst/>
          </a:prstGeom>
        </p:spPr>
      </p:pic>
    </p:spTree>
    <p:extLst>
      <p:ext uri="{BB962C8B-B14F-4D97-AF65-F5344CB8AC3E}">
        <p14:creationId xmlns:p14="http://schemas.microsoft.com/office/powerpoint/2010/main" val="171766177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892BBDA-5D47-E065-7AD2-79F924CAE888}"/>
              </a:ext>
            </a:extLst>
          </p:cNvPr>
          <p:cNvPicPr>
            <a:picLocks noChangeAspect="1"/>
          </p:cNvPicPr>
          <p:nvPr/>
        </p:nvPicPr>
        <p:blipFill>
          <a:blip r:embed="rId2"/>
          <a:stretch>
            <a:fillRect/>
          </a:stretch>
        </p:blipFill>
        <p:spPr>
          <a:xfrm>
            <a:off x="2346952" y="1825624"/>
            <a:ext cx="3973560" cy="4382515"/>
          </a:xfrm>
          <a:prstGeom prst="rect">
            <a:avLst/>
          </a:prstGeom>
        </p:spPr>
      </p:pic>
      <p:pic>
        <p:nvPicPr>
          <p:cNvPr id="7" name="图片 6">
            <a:extLst>
              <a:ext uri="{FF2B5EF4-FFF2-40B4-BE49-F238E27FC236}">
                <a16:creationId xmlns:a16="http://schemas.microsoft.com/office/drawing/2014/main" id="{9F088121-6966-8CA9-A825-208A72FA8C71}"/>
              </a:ext>
            </a:extLst>
          </p:cNvPr>
          <p:cNvPicPr>
            <a:picLocks noChangeAspect="1"/>
          </p:cNvPicPr>
          <p:nvPr/>
        </p:nvPicPr>
        <p:blipFill>
          <a:blip r:embed="rId3"/>
          <a:stretch>
            <a:fillRect/>
          </a:stretch>
        </p:blipFill>
        <p:spPr>
          <a:xfrm>
            <a:off x="6996508" y="2177462"/>
            <a:ext cx="4105386" cy="3266015"/>
          </a:xfrm>
          <a:prstGeom prst="rect">
            <a:avLst/>
          </a:prstGeom>
        </p:spPr>
      </p:pic>
      <p:sp>
        <p:nvSpPr>
          <p:cNvPr id="8" name="文本框 7">
            <a:extLst>
              <a:ext uri="{FF2B5EF4-FFF2-40B4-BE49-F238E27FC236}">
                <a16:creationId xmlns:a16="http://schemas.microsoft.com/office/drawing/2014/main" id="{E19B0E56-0067-4CE7-F035-4ED73D2B69A8}"/>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9</a:t>
            </a:r>
            <a:endParaRPr lang="zh-CN" altLang="en-US" b="1" dirty="0"/>
          </a:p>
        </p:txBody>
      </p:sp>
      <p:sp>
        <p:nvSpPr>
          <p:cNvPr id="9" name="标题 1">
            <a:extLst>
              <a:ext uri="{FF2B5EF4-FFF2-40B4-BE49-F238E27FC236}">
                <a16:creationId xmlns:a16="http://schemas.microsoft.com/office/drawing/2014/main" id="{D427C47A-C6CE-60A1-B961-E2A12391E7D8}"/>
              </a:ext>
            </a:extLst>
          </p:cNvPr>
          <p:cNvSpPr>
            <a:spLocks noGrp="1"/>
          </p:cNvSpPr>
          <p:nvPr>
            <p:ph type="title"/>
          </p:nvPr>
        </p:nvSpPr>
        <p:spPr>
          <a:xfrm>
            <a:off x="838200" y="365125"/>
            <a:ext cx="10515600" cy="1325563"/>
          </a:xfrm>
        </p:spPr>
        <p:txBody>
          <a:bodyPr/>
          <a:lstStyle/>
          <a:p>
            <a:pPr algn="ctr"/>
            <a:r>
              <a:rPr lang="en-US" altLang="zh-CN" b="1" dirty="0" err="1"/>
              <a:t>fs_timer</a:t>
            </a:r>
            <a:r>
              <a:rPr lang="zh-CN" altLang="en-US" b="1" dirty="0"/>
              <a:t>实验程序</a:t>
            </a:r>
          </a:p>
        </p:txBody>
      </p:sp>
      <p:sp>
        <p:nvSpPr>
          <p:cNvPr id="10" name="内容占位符 2">
            <a:extLst>
              <a:ext uri="{FF2B5EF4-FFF2-40B4-BE49-F238E27FC236}">
                <a16:creationId xmlns:a16="http://schemas.microsoft.com/office/drawing/2014/main" id="{1FCE21D2-2752-E6DF-A1A9-033D50F45C4F}"/>
              </a:ext>
            </a:extLst>
          </p:cNvPr>
          <p:cNvSpPr>
            <a:spLocks noGrp="1"/>
          </p:cNvSpPr>
          <p:nvPr>
            <p:ph idx="1"/>
          </p:nvPr>
        </p:nvSpPr>
        <p:spPr>
          <a:xfrm>
            <a:off x="1121756" y="1814284"/>
            <a:ext cx="927480" cy="553359"/>
          </a:xfrm>
        </p:spPr>
        <p:txBody>
          <a:bodyPr>
            <a:normAutofit/>
          </a:bodyPr>
          <a:lstStyle/>
          <a:p>
            <a:r>
              <a:rPr lang="en-US" altLang="zh-CN" sz="2000" b="1" dirty="0" err="1"/>
              <a:t>main.c</a:t>
            </a:r>
            <a:endParaRPr lang="zh-CN" altLang="en-US" sz="2000" b="1" dirty="0"/>
          </a:p>
        </p:txBody>
      </p:sp>
    </p:spTree>
    <p:extLst>
      <p:ext uri="{BB962C8B-B14F-4D97-AF65-F5344CB8AC3E}">
        <p14:creationId xmlns:p14="http://schemas.microsoft.com/office/powerpoint/2010/main" val="319576213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A749897-FC39-ACD8-BF71-B97943BCC943}"/>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fs_timer</a:t>
            </a:r>
            <a:r>
              <a:rPr lang="zh-CN" altLang="en-US" b="1" dirty="0"/>
              <a:t>实验程序</a:t>
            </a:r>
          </a:p>
        </p:txBody>
      </p:sp>
      <p:sp>
        <p:nvSpPr>
          <p:cNvPr id="7" name="内容占位符 2">
            <a:extLst>
              <a:ext uri="{FF2B5EF4-FFF2-40B4-BE49-F238E27FC236}">
                <a16:creationId xmlns:a16="http://schemas.microsoft.com/office/drawing/2014/main" id="{0164717B-A44C-107C-834B-657E75999E68}"/>
              </a:ext>
            </a:extLst>
          </p:cNvPr>
          <p:cNvSpPr>
            <a:spLocks noGrp="1"/>
          </p:cNvSpPr>
          <p:nvPr>
            <p:ph idx="1"/>
          </p:nvPr>
        </p:nvSpPr>
        <p:spPr>
          <a:xfrm>
            <a:off x="838200" y="1825625"/>
            <a:ext cx="10515600" cy="4351338"/>
          </a:xfrm>
        </p:spPr>
        <p:txBody>
          <a:bodyPr>
            <a:normAutofit fontScale="77500" lnSpcReduction="20000"/>
          </a:bodyPr>
          <a:lstStyle/>
          <a:p>
            <a:r>
              <a:rPr lang="zh-CN" altLang="en-US" sz="2400" b="1" dirty="0"/>
              <a:t>请按照前面的“</a:t>
            </a:r>
            <a:r>
              <a:rPr lang="zh-CN" altLang="en-US" sz="2400" b="1" dirty="0">
                <a:solidFill>
                  <a:srgbClr val="C00000"/>
                </a:solidFill>
              </a:rPr>
              <a:t>运行fs_led实验程序</a:t>
            </a:r>
            <a:r>
              <a:rPr lang="zh-CN" altLang="en-US" sz="2400" b="1" dirty="0"/>
              <a:t>”的步骤，运行“</a:t>
            </a:r>
            <a:r>
              <a:rPr lang="en-US" altLang="zh-CN" sz="2400" b="1" dirty="0" err="1"/>
              <a:t>fs_timer</a:t>
            </a:r>
            <a:r>
              <a:rPr lang="zh-CN" altLang="en-US" sz="2400" b="1" dirty="0"/>
              <a:t>实验程序”：</a:t>
            </a:r>
            <a:endParaRPr lang="en-US" altLang="zh-CN" sz="2400" b="1" dirty="0"/>
          </a:p>
          <a:p>
            <a:pPr lvl="1"/>
            <a:endParaRPr lang="en-US" altLang="zh-CN" sz="2000" b="1" dirty="0"/>
          </a:p>
          <a:p>
            <a:pPr lvl="1"/>
            <a:r>
              <a:rPr lang="en-US" altLang="zh-CN" sz="2000" b="1" dirty="0"/>
              <a:t>1</a:t>
            </a:r>
            <a:r>
              <a:rPr lang="zh-CN" altLang="en-US" sz="2000" b="1" dirty="0"/>
              <a:t>、关闭</a:t>
            </a:r>
            <a:r>
              <a:rPr lang="en-US" altLang="zh-CN" sz="2000" b="1" dirty="0"/>
              <a:t>PuTTY</a:t>
            </a:r>
            <a:r>
              <a:rPr lang="zh-CN" altLang="en-US" sz="2000" b="1" dirty="0"/>
              <a:t>，再打开</a:t>
            </a:r>
            <a:r>
              <a:rPr lang="en-US" altLang="zh-CN" sz="2000" b="1" dirty="0"/>
              <a:t>PuTTY</a:t>
            </a:r>
            <a:r>
              <a:rPr lang="zh-CN" altLang="en-US" sz="2000" b="1" dirty="0"/>
              <a:t>；按实验箱的</a:t>
            </a:r>
            <a:r>
              <a:rPr lang="en-US" altLang="zh-CN" sz="2000" b="1" dirty="0"/>
              <a:t>RST</a:t>
            </a:r>
            <a:r>
              <a:rPr lang="zh-CN" altLang="en-US" sz="2000" b="1" dirty="0"/>
              <a:t>按键；倒计时状态按</a:t>
            </a:r>
            <a:r>
              <a:rPr lang="en-US" altLang="zh-CN" sz="2000" b="1" dirty="0" err="1"/>
              <a:t>Ctrl+C</a:t>
            </a:r>
            <a:r>
              <a:rPr lang="zh-CN" altLang="en-US" sz="2000" b="1" dirty="0"/>
              <a:t>，进入“</a:t>
            </a:r>
            <a:r>
              <a:rPr lang="en-US" altLang="zh-CN" sz="2000" b="1" dirty="0"/>
              <a:t>=&gt;”</a:t>
            </a:r>
            <a:r>
              <a:rPr lang="zh-CN" altLang="en-US" sz="2000" b="1" dirty="0"/>
              <a:t>状态</a:t>
            </a:r>
          </a:p>
          <a:p>
            <a:pPr lvl="1"/>
            <a:endParaRPr lang="zh-CN" altLang="en-US" sz="2000" b="1" dirty="0"/>
          </a:p>
          <a:p>
            <a:pPr lvl="1"/>
            <a:r>
              <a:rPr lang="en-US" altLang="zh-CN" sz="2000" b="1" dirty="0"/>
              <a:t>2</a:t>
            </a:r>
            <a:r>
              <a:rPr lang="zh-CN" altLang="en-US" sz="2000" b="1" dirty="0"/>
              <a:t>、检查</a:t>
            </a:r>
            <a:r>
              <a:rPr lang="en-US" altLang="zh-CN" sz="2000" b="1" dirty="0"/>
              <a:t>JTAG</a:t>
            </a:r>
            <a:r>
              <a:rPr lang="zh-CN" altLang="en-US" sz="2000" b="1" dirty="0"/>
              <a:t>是否连接到虚拟机（</a:t>
            </a:r>
            <a:r>
              <a:rPr lang="en-US" altLang="zh-CN" sz="2000" b="1" dirty="0"/>
              <a:t>Ubuntu</a:t>
            </a:r>
            <a:r>
              <a:rPr lang="zh-CN" altLang="en-US" sz="2000" b="1" dirty="0"/>
              <a:t>）</a:t>
            </a:r>
          </a:p>
          <a:p>
            <a:pPr lvl="1"/>
            <a:endParaRPr lang="zh-CN" altLang="en-US" sz="2000" b="1" dirty="0"/>
          </a:p>
          <a:p>
            <a:pPr lvl="1"/>
            <a:r>
              <a:rPr lang="en-US" altLang="zh-CN" sz="2000" b="1" dirty="0"/>
              <a:t>3</a:t>
            </a:r>
            <a:r>
              <a:rPr lang="zh-CN" altLang="en-US" sz="2000" b="1" dirty="0"/>
              <a:t>、检查</a:t>
            </a:r>
            <a:r>
              <a:rPr lang="en-US" altLang="zh-CN" sz="2000" b="1" dirty="0"/>
              <a:t>FS_JTAG</a:t>
            </a:r>
            <a:r>
              <a:rPr lang="zh-CN" altLang="en-US" sz="2000" b="1" dirty="0"/>
              <a:t>是否处于连接状态（连接到</a:t>
            </a:r>
            <a:r>
              <a:rPr lang="en-US" altLang="zh-CN" sz="2000" b="1" dirty="0"/>
              <a:t>fs3399</a:t>
            </a:r>
            <a:r>
              <a:rPr lang="zh-CN" altLang="en-US" sz="2000" b="1" dirty="0"/>
              <a:t>）</a:t>
            </a:r>
          </a:p>
          <a:p>
            <a:pPr lvl="1"/>
            <a:endParaRPr lang="zh-CN" altLang="en-US" sz="2000" b="1" dirty="0"/>
          </a:p>
          <a:p>
            <a:pPr lvl="1"/>
            <a:r>
              <a:rPr lang="en-US" altLang="zh-CN" sz="2000" b="1" dirty="0"/>
              <a:t>4</a:t>
            </a:r>
            <a:r>
              <a:rPr lang="zh-CN" altLang="en-US" sz="2000" b="1" dirty="0"/>
              <a:t>、打开实验工程（使实验工程处于打开状态）</a:t>
            </a:r>
          </a:p>
          <a:p>
            <a:pPr lvl="1"/>
            <a:endParaRPr lang="zh-CN" altLang="en-US" sz="2000" b="1" dirty="0"/>
          </a:p>
          <a:p>
            <a:pPr lvl="1"/>
            <a:r>
              <a:rPr lang="en-US" altLang="zh-CN" sz="2000" b="1" dirty="0"/>
              <a:t>5</a:t>
            </a:r>
            <a:r>
              <a:rPr lang="zh-CN" altLang="en-US" sz="2000" b="1" dirty="0"/>
              <a:t>、进入调试状态：</a:t>
            </a:r>
            <a:r>
              <a:rPr lang="en-US" altLang="zh-CN" sz="2000" b="1" dirty="0"/>
              <a:t>Run -&gt; Debug Configuration</a:t>
            </a:r>
          </a:p>
          <a:p>
            <a:pPr lvl="1"/>
            <a:endParaRPr lang="en-US" altLang="zh-CN" sz="2000" b="1" dirty="0"/>
          </a:p>
          <a:p>
            <a:pPr lvl="1"/>
            <a:r>
              <a:rPr lang="en-US" altLang="zh-CN" sz="2000" b="1" dirty="0"/>
              <a:t>6</a:t>
            </a:r>
            <a:r>
              <a:rPr lang="zh-CN" altLang="en-US" sz="2000" b="1" dirty="0"/>
              <a:t>、点击运行图标，运行实验工程（此时，</a:t>
            </a:r>
            <a:r>
              <a:rPr lang="zh-CN" altLang="en-US" sz="2000" b="1" dirty="0">
                <a:solidFill>
                  <a:srgbClr val="C00000"/>
                </a:solidFill>
              </a:rPr>
              <a:t>实验箱上的</a:t>
            </a:r>
            <a:r>
              <a:rPr lang="en-US" altLang="zh-CN" sz="2000" b="1" dirty="0">
                <a:solidFill>
                  <a:srgbClr val="C00000"/>
                </a:solidFill>
              </a:rPr>
              <a:t>3</a:t>
            </a:r>
            <a:r>
              <a:rPr lang="zh-CN" altLang="en-US" sz="2000" b="1" dirty="0">
                <a:solidFill>
                  <a:srgbClr val="C00000"/>
                </a:solidFill>
              </a:rPr>
              <a:t>个</a:t>
            </a:r>
            <a:r>
              <a:rPr lang="en-US" altLang="zh-CN" sz="2000" b="1" dirty="0">
                <a:solidFill>
                  <a:srgbClr val="C00000"/>
                </a:solidFill>
              </a:rPr>
              <a:t>LED</a:t>
            </a:r>
            <a:r>
              <a:rPr lang="zh-CN" altLang="en-US" sz="2000" b="1" dirty="0">
                <a:solidFill>
                  <a:srgbClr val="C00000"/>
                </a:solidFill>
              </a:rPr>
              <a:t>灯每隔</a:t>
            </a:r>
            <a:r>
              <a:rPr lang="en-US" altLang="zh-CN" sz="2000" b="1" dirty="0">
                <a:solidFill>
                  <a:srgbClr val="C00000"/>
                </a:solidFill>
              </a:rPr>
              <a:t>1</a:t>
            </a:r>
            <a:r>
              <a:rPr lang="zh-CN" altLang="en-US" sz="2000" b="1" dirty="0">
                <a:solidFill>
                  <a:srgbClr val="C00000"/>
                </a:solidFill>
              </a:rPr>
              <a:t>秒会点亮</a:t>
            </a:r>
            <a:r>
              <a:rPr lang="en-US" altLang="zh-CN" sz="2000" b="1" dirty="0">
                <a:solidFill>
                  <a:srgbClr val="C00000"/>
                </a:solidFill>
              </a:rPr>
              <a:t>/</a:t>
            </a:r>
            <a:r>
              <a:rPr lang="zh-CN" altLang="en-US" sz="2000" b="1" dirty="0">
                <a:solidFill>
                  <a:srgbClr val="C00000"/>
                </a:solidFill>
              </a:rPr>
              <a:t>熄灭</a:t>
            </a:r>
            <a:r>
              <a:rPr lang="zh-CN" altLang="en-US" sz="2000" b="1" dirty="0"/>
              <a:t>）</a:t>
            </a:r>
          </a:p>
          <a:p>
            <a:pPr lvl="1"/>
            <a:endParaRPr lang="zh-CN" altLang="en-US" sz="2000" b="1" dirty="0"/>
          </a:p>
          <a:p>
            <a:pPr lvl="1"/>
            <a:r>
              <a:rPr lang="en-US" altLang="zh-CN" sz="2000" b="1" dirty="0"/>
              <a:t>7</a:t>
            </a:r>
            <a:r>
              <a:rPr lang="zh-CN" altLang="en-US" sz="2000" b="1" dirty="0"/>
              <a:t>、点击停止图标，停止运行实验工程</a:t>
            </a:r>
          </a:p>
          <a:p>
            <a:pPr lvl="1"/>
            <a:endParaRPr lang="zh-CN" altLang="en-US" sz="2000" b="1" dirty="0"/>
          </a:p>
          <a:p>
            <a:pPr lvl="1"/>
            <a:r>
              <a:rPr lang="en-US" altLang="zh-CN" sz="2000" b="1" dirty="0"/>
              <a:t>8</a:t>
            </a:r>
            <a:r>
              <a:rPr lang="zh-CN" altLang="en-US" sz="2000" b="1" dirty="0"/>
              <a:t>、关闭实验工程（使实验工程处于关闭状态）</a:t>
            </a:r>
          </a:p>
          <a:p>
            <a:endParaRPr lang="zh-CN" altLang="en-US" sz="2400" b="1" dirty="0"/>
          </a:p>
        </p:txBody>
      </p:sp>
      <p:sp>
        <p:nvSpPr>
          <p:cNvPr id="2" name="文本框 1">
            <a:extLst>
              <a:ext uri="{FF2B5EF4-FFF2-40B4-BE49-F238E27FC236}">
                <a16:creationId xmlns:a16="http://schemas.microsoft.com/office/drawing/2014/main" id="{E9EA8ED2-D207-2383-72E5-E26A0F0EA11D}"/>
              </a:ext>
            </a:extLst>
          </p:cNvPr>
          <p:cNvSpPr txBox="1"/>
          <p:nvPr/>
        </p:nvSpPr>
        <p:spPr>
          <a:xfrm>
            <a:off x="5604985" y="180459"/>
            <a:ext cx="774571" cy="369332"/>
          </a:xfrm>
          <a:prstGeom prst="rect">
            <a:avLst/>
          </a:prstGeom>
          <a:solidFill>
            <a:srgbClr val="FFC000"/>
          </a:solidFill>
        </p:spPr>
        <p:txBody>
          <a:bodyPr wrap="none" rtlCol="0">
            <a:spAutoFit/>
          </a:bodyPr>
          <a:lstStyle/>
          <a:p>
            <a:r>
              <a:rPr lang="zh-CN" altLang="en-US" b="1" dirty="0"/>
              <a:t>实验</a:t>
            </a:r>
            <a:r>
              <a:rPr lang="en-US" altLang="zh-CN" b="1" dirty="0"/>
              <a:t>9</a:t>
            </a:r>
            <a:endParaRPr lang="zh-CN" altLang="en-US" b="1" dirty="0"/>
          </a:p>
        </p:txBody>
      </p:sp>
    </p:spTree>
    <p:extLst>
      <p:ext uri="{BB962C8B-B14F-4D97-AF65-F5344CB8AC3E}">
        <p14:creationId xmlns:p14="http://schemas.microsoft.com/office/powerpoint/2010/main" val="291933814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5B9C2-11EB-449B-3E8A-68F6F4C5BE6E}"/>
              </a:ext>
            </a:extLst>
          </p:cNvPr>
          <p:cNvSpPr>
            <a:spLocks noGrp="1"/>
          </p:cNvSpPr>
          <p:nvPr>
            <p:ph type="title"/>
          </p:nvPr>
        </p:nvSpPr>
        <p:spPr>
          <a:xfrm>
            <a:off x="838200" y="2620645"/>
            <a:ext cx="10515600" cy="1325563"/>
          </a:xfrm>
        </p:spPr>
        <p:txBody>
          <a:bodyPr/>
          <a:lstStyle/>
          <a:p>
            <a:pPr algn="ctr"/>
            <a:r>
              <a:rPr lang="zh-CN" altLang="en-US" b="1" dirty="0"/>
              <a:t>实验</a:t>
            </a:r>
            <a:r>
              <a:rPr lang="en-US" altLang="zh-CN" b="1" dirty="0"/>
              <a:t>10    </a:t>
            </a:r>
            <a:r>
              <a:rPr lang="zh-CN" altLang="en-US" b="1" dirty="0"/>
              <a:t>看门狗</a:t>
            </a:r>
          </a:p>
        </p:txBody>
      </p:sp>
    </p:spTree>
    <p:extLst>
      <p:ext uri="{BB962C8B-B14F-4D97-AF65-F5344CB8AC3E}">
        <p14:creationId xmlns:p14="http://schemas.microsoft.com/office/powerpoint/2010/main" val="111704481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AF4765-34C4-D07F-0802-89D841D1976B}"/>
              </a:ext>
            </a:extLst>
          </p:cNvPr>
          <p:cNvSpPr>
            <a:spLocks noGrp="1"/>
          </p:cNvSpPr>
          <p:nvPr>
            <p:ph type="title"/>
          </p:nvPr>
        </p:nvSpPr>
        <p:spPr/>
        <p:txBody>
          <a:bodyPr/>
          <a:lstStyle/>
          <a:p>
            <a:pPr algn="ctr"/>
            <a:r>
              <a:rPr lang="zh-CN" altLang="en-US" b="1" dirty="0"/>
              <a:t>看门狗</a:t>
            </a:r>
          </a:p>
        </p:txBody>
      </p:sp>
      <p:sp>
        <p:nvSpPr>
          <p:cNvPr id="3" name="内容占位符 2">
            <a:extLst>
              <a:ext uri="{FF2B5EF4-FFF2-40B4-BE49-F238E27FC236}">
                <a16:creationId xmlns:a16="http://schemas.microsoft.com/office/drawing/2014/main" id="{9755E108-10CA-1766-D83D-66AE83301E9C}"/>
              </a:ext>
            </a:extLst>
          </p:cNvPr>
          <p:cNvSpPr>
            <a:spLocks noGrp="1"/>
          </p:cNvSpPr>
          <p:nvPr>
            <p:ph idx="1"/>
          </p:nvPr>
        </p:nvSpPr>
        <p:spPr/>
        <p:txBody>
          <a:bodyPr>
            <a:normAutofit/>
          </a:bodyPr>
          <a:lstStyle/>
          <a:p>
            <a:pPr marL="0" indent="0">
              <a:buNone/>
            </a:pPr>
            <a:r>
              <a:rPr lang="zh-CN" altLang="en-US" sz="2000" b="1" dirty="0"/>
              <a:t>该实验实现：每隔</a:t>
            </a:r>
            <a:r>
              <a:rPr lang="en-US" altLang="zh-CN" sz="2000" b="1" dirty="0"/>
              <a:t>1</a:t>
            </a:r>
            <a:r>
              <a:rPr lang="zh-CN" altLang="en-US" sz="2000" b="1" dirty="0"/>
              <a:t>秒计数减</a:t>
            </a:r>
            <a:r>
              <a:rPr lang="en-US" altLang="zh-CN" sz="2000" b="1" dirty="0"/>
              <a:t>1</a:t>
            </a:r>
            <a:r>
              <a:rPr lang="zh-CN" altLang="en-US" sz="2000" b="1" dirty="0"/>
              <a:t>；计数减到</a:t>
            </a:r>
            <a:r>
              <a:rPr lang="en-US" altLang="zh-CN" sz="2000" b="1" dirty="0"/>
              <a:t>0</a:t>
            </a:r>
            <a:r>
              <a:rPr lang="zh-CN" altLang="en-US" sz="2000" b="1" dirty="0"/>
              <a:t>后，喂狗</a:t>
            </a:r>
            <a:r>
              <a:rPr lang="en-US" altLang="zh-CN" sz="2000" b="1" dirty="0"/>
              <a:t>1</a:t>
            </a:r>
            <a:r>
              <a:rPr lang="zh-CN" altLang="en-US" sz="2000" b="1" dirty="0"/>
              <a:t>次</a:t>
            </a:r>
            <a:endParaRPr lang="en-US" altLang="zh-CN" sz="2000" b="1" dirty="0"/>
          </a:p>
          <a:p>
            <a:pPr marL="0" indent="0">
              <a:buNone/>
            </a:pPr>
            <a:r>
              <a:rPr lang="zh-CN" altLang="en-US" b="1" dirty="0"/>
              <a:t>看门狗</a:t>
            </a:r>
            <a:r>
              <a:rPr lang="en-US" altLang="zh-CN" b="1" dirty="0"/>
              <a:t>watchdog</a:t>
            </a:r>
            <a:r>
              <a:rPr lang="zh-CN" altLang="en-US" b="1" dirty="0"/>
              <a:t>是一种用于监视系统运行情况的硬件设备，本质就是一个倒计时计数器。能够定时检测系统是否正常运行，并在系统出现故障或者卡死时自动重启系统，从而保证系统的稳定性和可靠性。</a:t>
            </a:r>
            <a:endParaRPr lang="en-US" altLang="zh-CN" b="1" dirty="0"/>
          </a:p>
          <a:p>
            <a:pPr marL="0" indent="0">
              <a:buNone/>
            </a:pPr>
            <a:r>
              <a:rPr lang="zh-CN" altLang="en-US" sz="2000" b="1" dirty="0"/>
              <a:t>基本原理：定期接收来自自主芯片的“喂狗信号”，如果在规定时间内没有收到信号，硬件看门狗将会触发系统复位，重启整个系统。</a:t>
            </a:r>
            <a:endParaRPr lang="en-US" altLang="zh-CN" sz="2000" b="1" dirty="0"/>
          </a:p>
          <a:p>
            <a:pPr marL="0" indent="0">
              <a:buNone/>
            </a:pPr>
            <a:r>
              <a:rPr lang="zh-CN" altLang="en-US" sz="2000" b="1" dirty="0"/>
              <a:t>硬件看门狗特别适合用于远程或无人值守的系统设备中，它能确保系统在出现故障时及时自动重启减少停机时间并提高系统的可用性。这在一些关键的嵌入式系统、服务器、网络设备等领域非常重要。</a:t>
            </a:r>
          </a:p>
        </p:txBody>
      </p:sp>
      <p:sp>
        <p:nvSpPr>
          <p:cNvPr id="4" name="文本框 3">
            <a:extLst>
              <a:ext uri="{FF2B5EF4-FFF2-40B4-BE49-F238E27FC236}">
                <a16:creationId xmlns:a16="http://schemas.microsoft.com/office/drawing/2014/main" id="{8C5E3B24-E0D3-9188-F7C8-D324DD912211}"/>
              </a:ext>
            </a:extLst>
          </p:cNvPr>
          <p:cNvSpPr txBox="1"/>
          <p:nvPr/>
        </p:nvSpPr>
        <p:spPr>
          <a:xfrm>
            <a:off x="5604985" y="180459"/>
            <a:ext cx="902811" cy="369332"/>
          </a:xfrm>
          <a:prstGeom prst="rect">
            <a:avLst/>
          </a:prstGeom>
          <a:solidFill>
            <a:srgbClr val="FFC000"/>
          </a:solidFill>
        </p:spPr>
        <p:txBody>
          <a:bodyPr wrap="none" rtlCol="0">
            <a:spAutoFit/>
          </a:bodyPr>
          <a:lstStyle/>
          <a:p>
            <a:r>
              <a:rPr lang="zh-CN" altLang="en-US" b="1" dirty="0"/>
              <a:t>实验</a:t>
            </a:r>
            <a:r>
              <a:rPr lang="en-US" altLang="zh-CN" b="1" dirty="0"/>
              <a:t>10</a:t>
            </a:r>
            <a:endParaRPr lang="zh-CN" altLang="en-US" b="1" dirty="0"/>
          </a:p>
        </p:txBody>
      </p:sp>
    </p:spTree>
    <p:extLst>
      <p:ext uri="{BB962C8B-B14F-4D97-AF65-F5344CB8AC3E}">
        <p14:creationId xmlns:p14="http://schemas.microsoft.com/office/powerpoint/2010/main" val="184073592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9717122-1CED-191D-892A-6CF9EBDB43D5}"/>
              </a:ext>
            </a:extLst>
          </p:cNvPr>
          <p:cNvPicPr>
            <a:picLocks noChangeAspect="1"/>
          </p:cNvPicPr>
          <p:nvPr/>
        </p:nvPicPr>
        <p:blipFill>
          <a:blip r:embed="rId2"/>
          <a:stretch>
            <a:fillRect/>
          </a:stretch>
        </p:blipFill>
        <p:spPr>
          <a:xfrm>
            <a:off x="1382209" y="2461364"/>
            <a:ext cx="5119943" cy="3650558"/>
          </a:xfrm>
          <a:prstGeom prst="rect">
            <a:avLst/>
          </a:prstGeom>
        </p:spPr>
      </p:pic>
      <p:pic>
        <p:nvPicPr>
          <p:cNvPr id="6" name="图片 5">
            <a:extLst>
              <a:ext uri="{FF2B5EF4-FFF2-40B4-BE49-F238E27FC236}">
                <a16:creationId xmlns:a16="http://schemas.microsoft.com/office/drawing/2014/main" id="{0B338D99-C6F0-C6FA-2B06-4E1A8332B44C}"/>
              </a:ext>
            </a:extLst>
          </p:cNvPr>
          <p:cNvPicPr>
            <a:picLocks noChangeAspect="1"/>
          </p:cNvPicPr>
          <p:nvPr/>
        </p:nvPicPr>
        <p:blipFill>
          <a:blip r:embed="rId3"/>
          <a:stretch>
            <a:fillRect/>
          </a:stretch>
        </p:blipFill>
        <p:spPr>
          <a:xfrm>
            <a:off x="5624186" y="2256421"/>
            <a:ext cx="5658857" cy="3725761"/>
          </a:xfrm>
          <a:prstGeom prst="rect">
            <a:avLst/>
          </a:prstGeom>
        </p:spPr>
      </p:pic>
      <p:sp>
        <p:nvSpPr>
          <p:cNvPr id="8" name="标题 1">
            <a:extLst>
              <a:ext uri="{FF2B5EF4-FFF2-40B4-BE49-F238E27FC236}">
                <a16:creationId xmlns:a16="http://schemas.microsoft.com/office/drawing/2014/main" id="{90502C76-F28B-219B-27E5-ED80D1B76BA7}"/>
              </a:ext>
            </a:extLst>
          </p:cNvPr>
          <p:cNvSpPr>
            <a:spLocks noGrp="1"/>
          </p:cNvSpPr>
          <p:nvPr>
            <p:ph type="title"/>
          </p:nvPr>
        </p:nvSpPr>
        <p:spPr>
          <a:xfrm>
            <a:off x="838200" y="365125"/>
            <a:ext cx="10515600" cy="1325563"/>
          </a:xfrm>
        </p:spPr>
        <p:txBody>
          <a:bodyPr/>
          <a:lstStyle/>
          <a:p>
            <a:pPr algn="ctr"/>
            <a:r>
              <a:rPr lang="en-US" altLang="zh-CN" b="1" dirty="0" err="1"/>
              <a:t>fs_wdt</a:t>
            </a:r>
            <a:r>
              <a:rPr lang="zh-CN" altLang="en-US" b="1" dirty="0"/>
              <a:t>实验程序（</a:t>
            </a:r>
            <a:r>
              <a:rPr lang="en-US" altLang="zh-CN" b="1" dirty="0"/>
              <a:t>1</a:t>
            </a:r>
            <a:r>
              <a:rPr lang="zh-CN" altLang="en-US" b="1" dirty="0"/>
              <a:t>）</a:t>
            </a:r>
          </a:p>
        </p:txBody>
      </p:sp>
      <p:sp>
        <p:nvSpPr>
          <p:cNvPr id="9" name="内容占位符 2">
            <a:extLst>
              <a:ext uri="{FF2B5EF4-FFF2-40B4-BE49-F238E27FC236}">
                <a16:creationId xmlns:a16="http://schemas.microsoft.com/office/drawing/2014/main" id="{76605100-0A9C-4AF7-AF04-397665FA784B}"/>
              </a:ext>
            </a:extLst>
          </p:cNvPr>
          <p:cNvSpPr>
            <a:spLocks noGrp="1"/>
          </p:cNvSpPr>
          <p:nvPr>
            <p:ph idx="1"/>
          </p:nvPr>
        </p:nvSpPr>
        <p:spPr>
          <a:xfrm>
            <a:off x="838200" y="1825625"/>
            <a:ext cx="10515600" cy="4351338"/>
          </a:xfrm>
        </p:spPr>
        <p:txBody>
          <a:bodyPr>
            <a:normAutofit/>
          </a:bodyPr>
          <a:lstStyle/>
          <a:p>
            <a:r>
              <a:rPr lang="en-US" altLang="zh-CN" sz="2000" b="1" dirty="0"/>
              <a:t>1</a:t>
            </a:r>
            <a:r>
              <a:rPr lang="zh-CN" altLang="en-US" sz="2000" b="1" dirty="0"/>
              <a:t>、</a:t>
            </a:r>
            <a:r>
              <a:rPr lang="en-US" altLang="zh-CN" sz="2000" b="1" dirty="0" err="1"/>
              <a:t>main.c</a:t>
            </a:r>
            <a:endParaRPr lang="zh-CN" altLang="en-US" sz="2000" b="1" dirty="0"/>
          </a:p>
        </p:txBody>
      </p:sp>
      <p:cxnSp>
        <p:nvCxnSpPr>
          <p:cNvPr id="11" name="直接箭头连接符 10">
            <a:extLst>
              <a:ext uri="{FF2B5EF4-FFF2-40B4-BE49-F238E27FC236}">
                <a16:creationId xmlns:a16="http://schemas.microsoft.com/office/drawing/2014/main" id="{6E8FD6DD-B575-3706-138B-28E6ADF03CE6}"/>
              </a:ext>
            </a:extLst>
          </p:cNvPr>
          <p:cNvCxnSpPr>
            <a:cxnSpLocks/>
          </p:cNvCxnSpPr>
          <p:nvPr/>
        </p:nvCxnSpPr>
        <p:spPr>
          <a:xfrm flipH="1">
            <a:off x="3030851" y="5982185"/>
            <a:ext cx="513567"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8C975D42-0C4D-770F-4FF9-DD1D5D33D9CE}"/>
              </a:ext>
            </a:extLst>
          </p:cNvPr>
          <p:cNvCxnSpPr>
            <a:cxnSpLocks/>
          </p:cNvCxnSpPr>
          <p:nvPr/>
        </p:nvCxnSpPr>
        <p:spPr>
          <a:xfrm>
            <a:off x="7870685" y="4651817"/>
            <a:ext cx="52818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13BD22AD-3E9B-01B2-EA9A-A08C770C1808}"/>
              </a:ext>
            </a:extLst>
          </p:cNvPr>
          <p:cNvSpPr txBox="1"/>
          <p:nvPr/>
        </p:nvSpPr>
        <p:spPr>
          <a:xfrm>
            <a:off x="542786" y="5650257"/>
            <a:ext cx="1445339" cy="461665"/>
          </a:xfrm>
          <a:prstGeom prst="rect">
            <a:avLst/>
          </a:prstGeom>
          <a:solidFill>
            <a:srgbClr val="FFFF00"/>
          </a:solidFill>
        </p:spPr>
        <p:txBody>
          <a:bodyPr wrap="square" rtlCol="0">
            <a:spAutoFit/>
          </a:bodyPr>
          <a:lstStyle/>
          <a:p>
            <a:r>
              <a:rPr lang="zh-CN" altLang="en-US" sz="1200" b="1" dirty="0"/>
              <a:t>该函数由</a:t>
            </a:r>
            <a:r>
              <a:rPr lang="en-US" altLang="zh-CN" sz="1200" b="1" dirty="0"/>
              <a:t>fs3399_wdt.c</a:t>
            </a:r>
            <a:r>
              <a:rPr lang="zh-CN" altLang="en-US" sz="1200" b="1" dirty="0"/>
              <a:t>提供</a:t>
            </a:r>
          </a:p>
        </p:txBody>
      </p:sp>
      <p:sp>
        <p:nvSpPr>
          <p:cNvPr id="2" name="文本框 1">
            <a:extLst>
              <a:ext uri="{FF2B5EF4-FFF2-40B4-BE49-F238E27FC236}">
                <a16:creationId xmlns:a16="http://schemas.microsoft.com/office/drawing/2014/main" id="{ABF21CCD-A011-DF05-9982-D9092C5A18F7}"/>
              </a:ext>
            </a:extLst>
          </p:cNvPr>
          <p:cNvSpPr txBox="1"/>
          <p:nvPr/>
        </p:nvSpPr>
        <p:spPr>
          <a:xfrm>
            <a:off x="7920926" y="5003926"/>
            <a:ext cx="3294856" cy="523220"/>
          </a:xfrm>
          <a:prstGeom prst="rect">
            <a:avLst/>
          </a:prstGeom>
          <a:solidFill>
            <a:srgbClr val="FFFF00"/>
          </a:solidFill>
        </p:spPr>
        <p:txBody>
          <a:bodyPr wrap="square" rtlCol="0">
            <a:spAutoFit/>
          </a:bodyPr>
          <a:lstStyle/>
          <a:p>
            <a:r>
              <a:rPr lang="zh-CN" altLang="en-US" sz="1400" b="1" dirty="0"/>
              <a:t>每隔</a:t>
            </a:r>
            <a:r>
              <a:rPr lang="en-US" altLang="zh-CN" sz="1400" b="1" dirty="0"/>
              <a:t>10s</a:t>
            </a:r>
            <a:r>
              <a:rPr lang="zh-CN" altLang="en-US" sz="1400" b="1" dirty="0"/>
              <a:t>，给寄存器写一个值，就会重启计数器</a:t>
            </a:r>
          </a:p>
        </p:txBody>
      </p:sp>
      <p:sp>
        <p:nvSpPr>
          <p:cNvPr id="4" name="文本框 3">
            <a:extLst>
              <a:ext uri="{FF2B5EF4-FFF2-40B4-BE49-F238E27FC236}">
                <a16:creationId xmlns:a16="http://schemas.microsoft.com/office/drawing/2014/main" id="{589D01E5-7D31-B6A7-75EB-86378BB2056C}"/>
              </a:ext>
            </a:extLst>
          </p:cNvPr>
          <p:cNvSpPr txBox="1"/>
          <p:nvPr/>
        </p:nvSpPr>
        <p:spPr>
          <a:xfrm>
            <a:off x="5604985" y="180459"/>
            <a:ext cx="902811" cy="369332"/>
          </a:xfrm>
          <a:prstGeom prst="rect">
            <a:avLst/>
          </a:prstGeom>
          <a:solidFill>
            <a:srgbClr val="FFC000"/>
          </a:solidFill>
        </p:spPr>
        <p:txBody>
          <a:bodyPr wrap="none" rtlCol="0">
            <a:spAutoFit/>
          </a:bodyPr>
          <a:lstStyle/>
          <a:p>
            <a:r>
              <a:rPr lang="zh-CN" altLang="en-US" b="1" dirty="0"/>
              <a:t>实验</a:t>
            </a:r>
            <a:r>
              <a:rPr lang="en-US" altLang="zh-CN" b="1" dirty="0"/>
              <a:t>10</a:t>
            </a:r>
            <a:endParaRPr lang="zh-CN" altLang="en-US" b="1" dirty="0"/>
          </a:p>
        </p:txBody>
      </p:sp>
    </p:spTree>
    <p:extLst>
      <p:ext uri="{BB962C8B-B14F-4D97-AF65-F5344CB8AC3E}">
        <p14:creationId xmlns:p14="http://schemas.microsoft.com/office/powerpoint/2010/main" val="398511892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E0363A1-43A0-1A76-5E3C-26BFEC35FCCB}"/>
              </a:ext>
            </a:extLst>
          </p:cNvPr>
          <p:cNvPicPr>
            <a:picLocks noChangeAspect="1"/>
          </p:cNvPicPr>
          <p:nvPr/>
        </p:nvPicPr>
        <p:blipFill>
          <a:blip r:embed="rId2"/>
          <a:stretch>
            <a:fillRect/>
          </a:stretch>
        </p:blipFill>
        <p:spPr>
          <a:xfrm>
            <a:off x="4603487" y="1801741"/>
            <a:ext cx="3111763" cy="4373289"/>
          </a:xfrm>
          <a:prstGeom prst="rect">
            <a:avLst/>
          </a:prstGeom>
        </p:spPr>
      </p:pic>
      <p:sp>
        <p:nvSpPr>
          <p:cNvPr id="8" name="标题 1">
            <a:extLst>
              <a:ext uri="{FF2B5EF4-FFF2-40B4-BE49-F238E27FC236}">
                <a16:creationId xmlns:a16="http://schemas.microsoft.com/office/drawing/2014/main" id="{9524D8D4-8486-75B9-93FB-AC717AD8CB93}"/>
              </a:ext>
            </a:extLst>
          </p:cNvPr>
          <p:cNvSpPr>
            <a:spLocks noGrp="1"/>
          </p:cNvSpPr>
          <p:nvPr>
            <p:ph type="title"/>
          </p:nvPr>
        </p:nvSpPr>
        <p:spPr>
          <a:xfrm>
            <a:off x="838200" y="365125"/>
            <a:ext cx="10515600" cy="1325563"/>
          </a:xfrm>
        </p:spPr>
        <p:txBody>
          <a:bodyPr/>
          <a:lstStyle/>
          <a:p>
            <a:pPr algn="ctr"/>
            <a:r>
              <a:rPr lang="en-US" altLang="zh-CN" b="1" dirty="0" err="1"/>
              <a:t>fs_wdt</a:t>
            </a:r>
            <a:r>
              <a:rPr lang="zh-CN" altLang="en-US" b="1" dirty="0"/>
              <a:t>实验程序（</a:t>
            </a:r>
            <a:r>
              <a:rPr lang="en-US" altLang="zh-CN" b="1" dirty="0"/>
              <a:t>2</a:t>
            </a:r>
            <a:r>
              <a:rPr lang="zh-CN" altLang="en-US" b="1" dirty="0"/>
              <a:t>）</a:t>
            </a:r>
          </a:p>
        </p:txBody>
      </p:sp>
      <p:sp>
        <p:nvSpPr>
          <p:cNvPr id="9" name="内容占位符 2">
            <a:extLst>
              <a:ext uri="{FF2B5EF4-FFF2-40B4-BE49-F238E27FC236}">
                <a16:creationId xmlns:a16="http://schemas.microsoft.com/office/drawing/2014/main" id="{CB46CD09-832B-4725-E1D0-7C7BED9CC790}"/>
              </a:ext>
            </a:extLst>
          </p:cNvPr>
          <p:cNvSpPr>
            <a:spLocks noGrp="1"/>
          </p:cNvSpPr>
          <p:nvPr>
            <p:ph idx="1"/>
          </p:nvPr>
        </p:nvSpPr>
        <p:spPr>
          <a:xfrm>
            <a:off x="838200" y="1825625"/>
            <a:ext cx="10515600" cy="4351338"/>
          </a:xfrm>
        </p:spPr>
        <p:txBody>
          <a:bodyPr>
            <a:normAutofit/>
          </a:bodyPr>
          <a:lstStyle/>
          <a:p>
            <a:r>
              <a:rPr lang="en-US" altLang="zh-CN" sz="2000" b="1" dirty="0"/>
              <a:t>2</a:t>
            </a:r>
            <a:r>
              <a:rPr lang="zh-CN" altLang="en-US" sz="2000" b="1" dirty="0"/>
              <a:t>、</a:t>
            </a:r>
            <a:r>
              <a:rPr lang="en-US" altLang="zh-CN" sz="2000" b="1" dirty="0"/>
              <a:t>fs3399_wdt.c</a:t>
            </a:r>
            <a:endParaRPr lang="zh-CN" altLang="en-US" sz="2000" b="1" dirty="0"/>
          </a:p>
        </p:txBody>
      </p:sp>
      <p:cxnSp>
        <p:nvCxnSpPr>
          <p:cNvPr id="10" name="直接箭头连接符 9">
            <a:extLst>
              <a:ext uri="{FF2B5EF4-FFF2-40B4-BE49-F238E27FC236}">
                <a16:creationId xmlns:a16="http://schemas.microsoft.com/office/drawing/2014/main" id="{95161D86-9329-2256-421E-D6FA6993B3CE}"/>
              </a:ext>
            </a:extLst>
          </p:cNvPr>
          <p:cNvCxnSpPr>
            <a:cxnSpLocks/>
          </p:cNvCxnSpPr>
          <p:nvPr/>
        </p:nvCxnSpPr>
        <p:spPr>
          <a:xfrm flipH="1">
            <a:off x="5525283" y="2679676"/>
            <a:ext cx="513567"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AD9FF0A4-01B6-20EE-F8A2-E19C316532BA}"/>
              </a:ext>
            </a:extLst>
          </p:cNvPr>
          <p:cNvSpPr txBox="1"/>
          <p:nvPr/>
        </p:nvSpPr>
        <p:spPr>
          <a:xfrm>
            <a:off x="5604985" y="180459"/>
            <a:ext cx="902811" cy="369332"/>
          </a:xfrm>
          <a:prstGeom prst="rect">
            <a:avLst/>
          </a:prstGeom>
          <a:solidFill>
            <a:srgbClr val="FFC000"/>
          </a:solidFill>
        </p:spPr>
        <p:txBody>
          <a:bodyPr wrap="none" rtlCol="0">
            <a:spAutoFit/>
          </a:bodyPr>
          <a:lstStyle/>
          <a:p>
            <a:r>
              <a:rPr lang="zh-CN" altLang="en-US" b="1" dirty="0"/>
              <a:t>实验</a:t>
            </a:r>
            <a:r>
              <a:rPr lang="en-US" altLang="zh-CN" b="1" dirty="0"/>
              <a:t>10</a:t>
            </a:r>
            <a:endParaRPr lang="zh-CN" altLang="en-US" b="1" dirty="0"/>
          </a:p>
        </p:txBody>
      </p:sp>
    </p:spTree>
    <p:extLst>
      <p:ext uri="{BB962C8B-B14F-4D97-AF65-F5344CB8AC3E}">
        <p14:creationId xmlns:p14="http://schemas.microsoft.com/office/powerpoint/2010/main" val="283091539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C39C2741-A4D7-B8C5-FA78-2D5E573AAEE7}"/>
              </a:ext>
            </a:extLst>
          </p:cNvPr>
          <p:cNvPicPr>
            <a:picLocks noChangeAspect="1"/>
          </p:cNvPicPr>
          <p:nvPr/>
        </p:nvPicPr>
        <p:blipFill>
          <a:blip r:embed="rId2"/>
          <a:stretch>
            <a:fillRect/>
          </a:stretch>
        </p:blipFill>
        <p:spPr>
          <a:xfrm>
            <a:off x="3069435" y="1825625"/>
            <a:ext cx="5712251" cy="4351338"/>
          </a:xfrm>
          <a:prstGeom prst="rect">
            <a:avLst/>
          </a:prstGeom>
        </p:spPr>
      </p:pic>
      <p:sp>
        <p:nvSpPr>
          <p:cNvPr id="8" name="标题 1">
            <a:extLst>
              <a:ext uri="{FF2B5EF4-FFF2-40B4-BE49-F238E27FC236}">
                <a16:creationId xmlns:a16="http://schemas.microsoft.com/office/drawing/2014/main" id="{9524D8D4-8486-75B9-93FB-AC717AD8CB93}"/>
              </a:ext>
            </a:extLst>
          </p:cNvPr>
          <p:cNvSpPr>
            <a:spLocks noGrp="1"/>
          </p:cNvSpPr>
          <p:nvPr>
            <p:ph type="title"/>
          </p:nvPr>
        </p:nvSpPr>
        <p:spPr>
          <a:xfrm>
            <a:off x="838200" y="365125"/>
            <a:ext cx="10515600" cy="1325563"/>
          </a:xfrm>
        </p:spPr>
        <p:txBody>
          <a:bodyPr/>
          <a:lstStyle/>
          <a:p>
            <a:pPr algn="ctr"/>
            <a:r>
              <a:rPr lang="en-US" altLang="zh-CN" b="1" dirty="0" err="1"/>
              <a:t>fs_wdt</a:t>
            </a:r>
            <a:r>
              <a:rPr lang="zh-CN" altLang="en-US" b="1" dirty="0"/>
              <a:t>实验程序（</a:t>
            </a:r>
            <a:r>
              <a:rPr lang="en-US" altLang="zh-CN" b="1" dirty="0"/>
              <a:t>3</a:t>
            </a:r>
            <a:r>
              <a:rPr lang="zh-CN" altLang="en-US" b="1" dirty="0"/>
              <a:t>）</a:t>
            </a:r>
          </a:p>
        </p:txBody>
      </p:sp>
      <p:sp>
        <p:nvSpPr>
          <p:cNvPr id="9" name="内容占位符 2">
            <a:extLst>
              <a:ext uri="{FF2B5EF4-FFF2-40B4-BE49-F238E27FC236}">
                <a16:creationId xmlns:a16="http://schemas.microsoft.com/office/drawing/2014/main" id="{CB46CD09-832B-4725-E1D0-7C7BED9CC790}"/>
              </a:ext>
            </a:extLst>
          </p:cNvPr>
          <p:cNvSpPr>
            <a:spLocks noGrp="1"/>
          </p:cNvSpPr>
          <p:nvPr>
            <p:ph idx="1"/>
          </p:nvPr>
        </p:nvSpPr>
        <p:spPr>
          <a:xfrm>
            <a:off x="838200" y="1825625"/>
            <a:ext cx="10515600" cy="4351338"/>
          </a:xfrm>
        </p:spPr>
        <p:txBody>
          <a:bodyPr>
            <a:normAutofit/>
          </a:bodyPr>
          <a:lstStyle/>
          <a:p>
            <a:r>
              <a:rPr lang="en-US" altLang="zh-CN" sz="2000" b="1" dirty="0"/>
              <a:t>3</a:t>
            </a:r>
            <a:r>
              <a:rPr lang="zh-CN" altLang="en-US" sz="2000" b="1" dirty="0"/>
              <a:t>、</a:t>
            </a:r>
            <a:r>
              <a:rPr lang="en-US" altLang="zh-CN" sz="2000" b="1" dirty="0"/>
              <a:t>fs3399_wdt.h</a:t>
            </a:r>
            <a:endParaRPr lang="zh-CN" altLang="en-US" sz="2000" b="1" dirty="0"/>
          </a:p>
        </p:txBody>
      </p:sp>
      <p:sp>
        <p:nvSpPr>
          <p:cNvPr id="2" name="文本框 1">
            <a:extLst>
              <a:ext uri="{FF2B5EF4-FFF2-40B4-BE49-F238E27FC236}">
                <a16:creationId xmlns:a16="http://schemas.microsoft.com/office/drawing/2014/main" id="{7660A2FF-0E2C-048B-2CB8-CACC84980E20}"/>
              </a:ext>
            </a:extLst>
          </p:cNvPr>
          <p:cNvSpPr txBox="1"/>
          <p:nvPr/>
        </p:nvSpPr>
        <p:spPr>
          <a:xfrm>
            <a:off x="5604985" y="180459"/>
            <a:ext cx="902811" cy="369332"/>
          </a:xfrm>
          <a:prstGeom prst="rect">
            <a:avLst/>
          </a:prstGeom>
          <a:solidFill>
            <a:srgbClr val="FFC000"/>
          </a:solidFill>
        </p:spPr>
        <p:txBody>
          <a:bodyPr wrap="none" rtlCol="0">
            <a:spAutoFit/>
          </a:bodyPr>
          <a:lstStyle/>
          <a:p>
            <a:r>
              <a:rPr lang="zh-CN" altLang="en-US" b="1" dirty="0"/>
              <a:t>实验</a:t>
            </a:r>
            <a:r>
              <a:rPr lang="en-US" altLang="zh-CN" b="1" dirty="0"/>
              <a:t>10</a:t>
            </a:r>
            <a:endParaRPr lang="zh-CN" altLang="en-US" b="1" dirty="0"/>
          </a:p>
        </p:txBody>
      </p:sp>
    </p:spTree>
    <p:extLst>
      <p:ext uri="{BB962C8B-B14F-4D97-AF65-F5344CB8AC3E}">
        <p14:creationId xmlns:p14="http://schemas.microsoft.com/office/powerpoint/2010/main" val="149484962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A749897-FC39-ACD8-BF71-B97943BCC943}"/>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fs_wdt</a:t>
            </a:r>
            <a:r>
              <a:rPr lang="zh-CN" altLang="en-US" b="1" dirty="0"/>
              <a:t>实验程序</a:t>
            </a:r>
          </a:p>
        </p:txBody>
      </p:sp>
      <p:sp>
        <p:nvSpPr>
          <p:cNvPr id="7" name="内容占位符 2">
            <a:extLst>
              <a:ext uri="{FF2B5EF4-FFF2-40B4-BE49-F238E27FC236}">
                <a16:creationId xmlns:a16="http://schemas.microsoft.com/office/drawing/2014/main" id="{0164717B-A44C-107C-834B-657E75999E68}"/>
              </a:ext>
            </a:extLst>
          </p:cNvPr>
          <p:cNvSpPr>
            <a:spLocks noGrp="1"/>
          </p:cNvSpPr>
          <p:nvPr>
            <p:ph idx="1"/>
          </p:nvPr>
        </p:nvSpPr>
        <p:spPr>
          <a:xfrm>
            <a:off x="838200" y="1825625"/>
            <a:ext cx="10515600" cy="4351338"/>
          </a:xfrm>
        </p:spPr>
        <p:txBody>
          <a:bodyPr>
            <a:normAutofit fontScale="77500" lnSpcReduction="20000"/>
          </a:bodyPr>
          <a:lstStyle/>
          <a:p>
            <a:r>
              <a:rPr lang="zh-CN" altLang="en-US" sz="2400" b="1" dirty="0"/>
              <a:t>请按照前面的“</a:t>
            </a:r>
            <a:r>
              <a:rPr lang="zh-CN" altLang="en-US" sz="2400" b="1" dirty="0">
                <a:solidFill>
                  <a:srgbClr val="C00000"/>
                </a:solidFill>
              </a:rPr>
              <a:t>运行fs_led实验程序</a:t>
            </a:r>
            <a:r>
              <a:rPr lang="zh-CN" altLang="en-US" sz="2400" b="1" dirty="0"/>
              <a:t>”的步骤，运行“</a:t>
            </a:r>
            <a:r>
              <a:rPr lang="en-US" altLang="zh-CN" sz="2400" b="1" dirty="0" err="1"/>
              <a:t>fs_wdt</a:t>
            </a:r>
            <a:r>
              <a:rPr lang="zh-CN" altLang="en-US" sz="2400" b="1" dirty="0"/>
              <a:t>实验程序”：</a:t>
            </a:r>
            <a:endParaRPr lang="en-US" altLang="zh-CN" sz="2400" b="1" dirty="0"/>
          </a:p>
          <a:p>
            <a:pPr lvl="1"/>
            <a:endParaRPr lang="en-US" altLang="zh-CN" sz="2000" b="1" dirty="0"/>
          </a:p>
          <a:p>
            <a:pPr lvl="1"/>
            <a:r>
              <a:rPr lang="en-US" altLang="zh-CN" sz="2000" b="1" dirty="0"/>
              <a:t>1</a:t>
            </a:r>
            <a:r>
              <a:rPr lang="zh-CN" altLang="en-US" sz="2000" b="1" dirty="0"/>
              <a:t>、关闭</a:t>
            </a:r>
            <a:r>
              <a:rPr lang="en-US" altLang="zh-CN" sz="2000" b="1" dirty="0"/>
              <a:t>PuTTY</a:t>
            </a:r>
            <a:r>
              <a:rPr lang="zh-CN" altLang="en-US" sz="2000" b="1" dirty="0"/>
              <a:t>，再打开</a:t>
            </a:r>
            <a:r>
              <a:rPr lang="en-US" altLang="zh-CN" sz="2000" b="1" dirty="0"/>
              <a:t>PuTTY</a:t>
            </a:r>
            <a:r>
              <a:rPr lang="zh-CN" altLang="en-US" sz="2000" b="1" dirty="0"/>
              <a:t>；按实验箱的</a:t>
            </a:r>
            <a:r>
              <a:rPr lang="en-US" altLang="zh-CN" sz="2000" b="1" dirty="0"/>
              <a:t>RST</a:t>
            </a:r>
            <a:r>
              <a:rPr lang="zh-CN" altLang="en-US" sz="2000" b="1" dirty="0"/>
              <a:t>按键；倒计时状态按</a:t>
            </a:r>
            <a:r>
              <a:rPr lang="en-US" altLang="zh-CN" sz="2000" b="1" dirty="0" err="1"/>
              <a:t>Ctrl+C</a:t>
            </a:r>
            <a:r>
              <a:rPr lang="zh-CN" altLang="en-US" sz="2000" b="1" dirty="0"/>
              <a:t>，进入“</a:t>
            </a:r>
            <a:r>
              <a:rPr lang="en-US" altLang="zh-CN" sz="2000" b="1" dirty="0"/>
              <a:t>=&gt;”</a:t>
            </a:r>
            <a:r>
              <a:rPr lang="zh-CN" altLang="en-US" sz="2000" b="1" dirty="0"/>
              <a:t>状态</a:t>
            </a:r>
          </a:p>
          <a:p>
            <a:pPr lvl="1"/>
            <a:endParaRPr lang="zh-CN" altLang="en-US" sz="2000" b="1" dirty="0"/>
          </a:p>
          <a:p>
            <a:pPr lvl="1"/>
            <a:r>
              <a:rPr lang="en-US" altLang="zh-CN" sz="2000" b="1" dirty="0"/>
              <a:t>2</a:t>
            </a:r>
            <a:r>
              <a:rPr lang="zh-CN" altLang="en-US" sz="2000" b="1" dirty="0"/>
              <a:t>、检查</a:t>
            </a:r>
            <a:r>
              <a:rPr lang="en-US" altLang="zh-CN" sz="2000" b="1" dirty="0"/>
              <a:t>JTAG</a:t>
            </a:r>
            <a:r>
              <a:rPr lang="zh-CN" altLang="en-US" sz="2000" b="1" dirty="0"/>
              <a:t>是否连接到虚拟机（</a:t>
            </a:r>
            <a:r>
              <a:rPr lang="en-US" altLang="zh-CN" sz="2000" b="1" dirty="0"/>
              <a:t>Ubuntu</a:t>
            </a:r>
            <a:r>
              <a:rPr lang="zh-CN" altLang="en-US" sz="2000" b="1" dirty="0"/>
              <a:t>）</a:t>
            </a:r>
          </a:p>
          <a:p>
            <a:pPr lvl="1"/>
            <a:endParaRPr lang="zh-CN" altLang="en-US" sz="2000" b="1" dirty="0"/>
          </a:p>
          <a:p>
            <a:pPr lvl="1"/>
            <a:r>
              <a:rPr lang="en-US" altLang="zh-CN" sz="2000" b="1" dirty="0"/>
              <a:t>3</a:t>
            </a:r>
            <a:r>
              <a:rPr lang="zh-CN" altLang="en-US" sz="2000" b="1" dirty="0"/>
              <a:t>、检查</a:t>
            </a:r>
            <a:r>
              <a:rPr lang="en-US" altLang="zh-CN" sz="2000" b="1" dirty="0"/>
              <a:t>FS_JTAG</a:t>
            </a:r>
            <a:r>
              <a:rPr lang="zh-CN" altLang="en-US" sz="2000" b="1" dirty="0"/>
              <a:t>是否处于连接状态（连接到</a:t>
            </a:r>
            <a:r>
              <a:rPr lang="en-US" altLang="zh-CN" sz="2000" b="1" dirty="0"/>
              <a:t>fs3399</a:t>
            </a:r>
            <a:r>
              <a:rPr lang="zh-CN" altLang="en-US" sz="2000" b="1" dirty="0"/>
              <a:t>）</a:t>
            </a:r>
          </a:p>
          <a:p>
            <a:pPr lvl="1"/>
            <a:endParaRPr lang="zh-CN" altLang="en-US" sz="2000" b="1" dirty="0"/>
          </a:p>
          <a:p>
            <a:pPr lvl="1"/>
            <a:r>
              <a:rPr lang="en-US" altLang="zh-CN" sz="2000" b="1" dirty="0"/>
              <a:t>4</a:t>
            </a:r>
            <a:r>
              <a:rPr lang="zh-CN" altLang="en-US" sz="2000" b="1" dirty="0"/>
              <a:t>、打开实验工程（使实验工程处于打开状态）</a:t>
            </a:r>
          </a:p>
          <a:p>
            <a:pPr lvl="1"/>
            <a:endParaRPr lang="zh-CN" altLang="en-US" sz="2000" b="1" dirty="0"/>
          </a:p>
          <a:p>
            <a:pPr lvl="1"/>
            <a:r>
              <a:rPr lang="en-US" altLang="zh-CN" sz="2000" b="1" dirty="0"/>
              <a:t>5</a:t>
            </a:r>
            <a:r>
              <a:rPr lang="zh-CN" altLang="en-US" sz="2000" b="1" dirty="0"/>
              <a:t>、进入调试状态：</a:t>
            </a:r>
            <a:r>
              <a:rPr lang="en-US" altLang="zh-CN" sz="2000" b="1" dirty="0"/>
              <a:t>Run -&gt; Debug Configurations</a:t>
            </a:r>
          </a:p>
          <a:p>
            <a:pPr lvl="1"/>
            <a:endParaRPr lang="en-US" altLang="zh-CN" sz="2000" b="1" dirty="0"/>
          </a:p>
          <a:p>
            <a:pPr lvl="1"/>
            <a:r>
              <a:rPr lang="en-US" altLang="zh-CN" sz="2000" b="1" dirty="0"/>
              <a:t>6</a:t>
            </a:r>
            <a:r>
              <a:rPr lang="zh-CN" altLang="en-US" sz="2000" b="1" dirty="0"/>
              <a:t>、点击运行图标，运行实验工程</a:t>
            </a:r>
          </a:p>
          <a:p>
            <a:pPr lvl="1"/>
            <a:endParaRPr lang="zh-CN" altLang="en-US" sz="2000" b="1" dirty="0"/>
          </a:p>
          <a:p>
            <a:pPr lvl="1"/>
            <a:r>
              <a:rPr lang="en-US" altLang="zh-CN" sz="2000" b="1" dirty="0"/>
              <a:t>7</a:t>
            </a:r>
            <a:r>
              <a:rPr lang="zh-CN" altLang="en-US" sz="2000" b="1" dirty="0"/>
              <a:t>、点击停止图标，停止运行实验工程</a:t>
            </a:r>
          </a:p>
          <a:p>
            <a:pPr lvl="1"/>
            <a:endParaRPr lang="zh-CN" altLang="en-US" sz="2000" b="1" dirty="0"/>
          </a:p>
          <a:p>
            <a:pPr lvl="1"/>
            <a:r>
              <a:rPr lang="en-US" altLang="zh-CN" sz="2000" b="1" dirty="0"/>
              <a:t>8</a:t>
            </a:r>
            <a:r>
              <a:rPr lang="zh-CN" altLang="en-US" sz="2000" b="1" dirty="0"/>
              <a:t>、关闭实验工程（使实验工程处于关闭状态）</a:t>
            </a:r>
          </a:p>
          <a:p>
            <a:endParaRPr lang="zh-CN" altLang="en-US" sz="2400" b="1" dirty="0"/>
          </a:p>
        </p:txBody>
      </p:sp>
      <p:sp>
        <p:nvSpPr>
          <p:cNvPr id="2" name="文本框 1">
            <a:extLst>
              <a:ext uri="{FF2B5EF4-FFF2-40B4-BE49-F238E27FC236}">
                <a16:creationId xmlns:a16="http://schemas.microsoft.com/office/drawing/2014/main" id="{459F47A9-1883-2006-79BD-05B2079FB659}"/>
              </a:ext>
            </a:extLst>
          </p:cNvPr>
          <p:cNvSpPr txBox="1"/>
          <p:nvPr/>
        </p:nvSpPr>
        <p:spPr>
          <a:xfrm>
            <a:off x="5604985" y="180459"/>
            <a:ext cx="902811" cy="369332"/>
          </a:xfrm>
          <a:prstGeom prst="rect">
            <a:avLst/>
          </a:prstGeom>
          <a:solidFill>
            <a:srgbClr val="FFC000"/>
          </a:solidFill>
        </p:spPr>
        <p:txBody>
          <a:bodyPr wrap="none" rtlCol="0">
            <a:spAutoFit/>
          </a:bodyPr>
          <a:lstStyle/>
          <a:p>
            <a:r>
              <a:rPr lang="zh-CN" altLang="en-US" b="1" dirty="0"/>
              <a:t>实验</a:t>
            </a:r>
            <a:r>
              <a:rPr lang="en-US" altLang="zh-CN" b="1" dirty="0"/>
              <a:t>10</a:t>
            </a:r>
            <a:endParaRPr lang="zh-CN" altLang="en-US" b="1" dirty="0"/>
          </a:p>
        </p:txBody>
      </p:sp>
    </p:spTree>
    <p:extLst>
      <p:ext uri="{BB962C8B-B14F-4D97-AF65-F5344CB8AC3E}">
        <p14:creationId xmlns:p14="http://schemas.microsoft.com/office/powerpoint/2010/main" val="16648656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755E108-10CA-1766-D83D-66AE83301E9C}"/>
              </a:ext>
            </a:extLst>
          </p:cNvPr>
          <p:cNvSpPr>
            <a:spLocks noGrp="1"/>
          </p:cNvSpPr>
          <p:nvPr>
            <p:ph idx="1"/>
          </p:nvPr>
        </p:nvSpPr>
        <p:spPr/>
        <p:txBody>
          <a:bodyPr>
            <a:normAutofit/>
          </a:bodyPr>
          <a:lstStyle/>
          <a:p>
            <a:r>
              <a:rPr lang="zh-CN" altLang="en-US" sz="2000" b="1" dirty="0"/>
              <a:t>程序执行后，每隔</a:t>
            </a:r>
            <a:r>
              <a:rPr lang="en-US" altLang="zh-CN" sz="2000" b="1" dirty="0"/>
              <a:t>1</a:t>
            </a:r>
            <a:r>
              <a:rPr lang="zh-CN" altLang="en-US" sz="2000" b="1" dirty="0"/>
              <a:t>秒计数减</a:t>
            </a:r>
            <a:r>
              <a:rPr lang="en-US" altLang="zh-CN" sz="2000" b="1" dirty="0"/>
              <a:t>1</a:t>
            </a:r>
            <a:r>
              <a:rPr lang="zh-CN" altLang="en-US" sz="2000" b="1" dirty="0"/>
              <a:t>；计数减到</a:t>
            </a:r>
            <a:r>
              <a:rPr lang="en-US" altLang="zh-CN" sz="2000" b="1" dirty="0"/>
              <a:t>0</a:t>
            </a:r>
            <a:r>
              <a:rPr lang="zh-CN" altLang="en-US" sz="2000" b="1" dirty="0"/>
              <a:t>后，喂狗</a:t>
            </a:r>
            <a:r>
              <a:rPr lang="en-US" altLang="zh-CN" sz="2000" b="1" dirty="0"/>
              <a:t>1</a:t>
            </a:r>
            <a:r>
              <a:rPr lang="zh-CN" altLang="en-US" sz="2000" b="1" dirty="0"/>
              <a:t>次；同时在</a:t>
            </a:r>
            <a:r>
              <a:rPr lang="en-US" altLang="zh-CN" sz="2000" b="1" dirty="0"/>
              <a:t>Putty</a:t>
            </a:r>
            <a:r>
              <a:rPr lang="zh-CN" altLang="en-US" sz="2000" b="1" dirty="0"/>
              <a:t>上显示相应的内容</a:t>
            </a:r>
          </a:p>
        </p:txBody>
      </p:sp>
      <p:pic>
        <p:nvPicPr>
          <p:cNvPr id="6" name="图片 5">
            <a:extLst>
              <a:ext uri="{FF2B5EF4-FFF2-40B4-BE49-F238E27FC236}">
                <a16:creationId xmlns:a16="http://schemas.microsoft.com/office/drawing/2014/main" id="{1040F19A-89E8-D7FE-F547-6B46DE38FDB5}"/>
              </a:ext>
            </a:extLst>
          </p:cNvPr>
          <p:cNvPicPr>
            <a:picLocks noChangeAspect="1"/>
          </p:cNvPicPr>
          <p:nvPr/>
        </p:nvPicPr>
        <p:blipFill>
          <a:blip r:embed="rId2"/>
          <a:stretch>
            <a:fillRect/>
          </a:stretch>
        </p:blipFill>
        <p:spPr>
          <a:xfrm>
            <a:off x="3607085" y="2240287"/>
            <a:ext cx="4517904" cy="3713746"/>
          </a:xfrm>
          <a:prstGeom prst="rect">
            <a:avLst/>
          </a:prstGeom>
        </p:spPr>
      </p:pic>
      <p:sp>
        <p:nvSpPr>
          <p:cNvPr id="8" name="标题 1">
            <a:extLst>
              <a:ext uri="{FF2B5EF4-FFF2-40B4-BE49-F238E27FC236}">
                <a16:creationId xmlns:a16="http://schemas.microsoft.com/office/drawing/2014/main" id="{5A67C085-1E15-584B-2235-9C52835FC027}"/>
              </a:ext>
            </a:extLst>
          </p:cNvPr>
          <p:cNvSpPr>
            <a:spLocks noGrp="1"/>
          </p:cNvSpPr>
          <p:nvPr>
            <p:ph type="title"/>
          </p:nvPr>
        </p:nvSpPr>
        <p:spPr>
          <a:xfrm>
            <a:off x="838200" y="365125"/>
            <a:ext cx="10515600" cy="1325563"/>
          </a:xfrm>
        </p:spPr>
        <p:txBody>
          <a:bodyPr/>
          <a:lstStyle/>
          <a:p>
            <a:pPr algn="ctr"/>
            <a:r>
              <a:rPr lang="zh-CN" altLang="en-US" b="1" dirty="0"/>
              <a:t>运行</a:t>
            </a:r>
            <a:r>
              <a:rPr lang="en-US" altLang="zh-CN" b="1" dirty="0" err="1"/>
              <a:t>fs_wdt</a:t>
            </a:r>
            <a:r>
              <a:rPr lang="zh-CN" altLang="en-US" b="1" dirty="0"/>
              <a:t>实验程序</a:t>
            </a:r>
          </a:p>
        </p:txBody>
      </p:sp>
      <p:sp>
        <p:nvSpPr>
          <p:cNvPr id="2" name="文本框 1">
            <a:extLst>
              <a:ext uri="{FF2B5EF4-FFF2-40B4-BE49-F238E27FC236}">
                <a16:creationId xmlns:a16="http://schemas.microsoft.com/office/drawing/2014/main" id="{A54CDC5F-F221-0921-883B-ECC6176F698B}"/>
              </a:ext>
            </a:extLst>
          </p:cNvPr>
          <p:cNvSpPr txBox="1"/>
          <p:nvPr/>
        </p:nvSpPr>
        <p:spPr>
          <a:xfrm>
            <a:off x="5604985" y="180459"/>
            <a:ext cx="902811" cy="369332"/>
          </a:xfrm>
          <a:prstGeom prst="rect">
            <a:avLst/>
          </a:prstGeom>
          <a:solidFill>
            <a:srgbClr val="FFC000"/>
          </a:solidFill>
        </p:spPr>
        <p:txBody>
          <a:bodyPr wrap="none" rtlCol="0">
            <a:spAutoFit/>
          </a:bodyPr>
          <a:lstStyle/>
          <a:p>
            <a:r>
              <a:rPr lang="zh-CN" altLang="en-US" b="1" dirty="0"/>
              <a:t>实验</a:t>
            </a:r>
            <a:r>
              <a:rPr lang="en-US" altLang="zh-CN" b="1" dirty="0"/>
              <a:t>10</a:t>
            </a:r>
            <a:endParaRPr lang="zh-CN" altLang="en-US" b="1" dirty="0"/>
          </a:p>
        </p:txBody>
      </p:sp>
    </p:spTree>
    <p:extLst>
      <p:ext uri="{BB962C8B-B14F-4D97-AF65-F5344CB8AC3E}">
        <p14:creationId xmlns:p14="http://schemas.microsoft.com/office/powerpoint/2010/main" val="296259754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A1DE2-6090-E0B4-F962-18C778BEB507}"/>
              </a:ext>
            </a:extLst>
          </p:cNvPr>
          <p:cNvSpPr>
            <a:spLocks noGrp="1"/>
          </p:cNvSpPr>
          <p:nvPr>
            <p:ph type="title"/>
          </p:nvPr>
        </p:nvSpPr>
        <p:spPr/>
        <p:txBody>
          <a:bodyPr/>
          <a:lstStyle/>
          <a:p>
            <a:pPr algn="ctr"/>
            <a:r>
              <a:rPr lang="zh-CN" altLang="en-US" b="1" dirty="0"/>
              <a:t>要求</a:t>
            </a:r>
          </a:p>
        </p:txBody>
      </p:sp>
      <p:sp>
        <p:nvSpPr>
          <p:cNvPr id="3" name="内容占位符 2">
            <a:extLst>
              <a:ext uri="{FF2B5EF4-FFF2-40B4-BE49-F238E27FC236}">
                <a16:creationId xmlns:a16="http://schemas.microsoft.com/office/drawing/2014/main" id="{F94025BE-E2A4-A8D7-3B45-378AA6BE205D}"/>
              </a:ext>
            </a:extLst>
          </p:cNvPr>
          <p:cNvSpPr>
            <a:spLocks noGrp="1"/>
          </p:cNvSpPr>
          <p:nvPr>
            <p:ph idx="1"/>
          </p:nvPr>
        </p:nvSpPr>
        <p:spPr>
          <a:xfrm>
            <a:off x="1186815" y="1752056"/>
            <a:ext cx="9818370" cy="4679769"/>
          </a:xfrm>
        </p:spPr>
        <p:txBody>
          <a:bodyPr>
            <a:normAutofit/>
          </a:bodyPr>
          <a:lstStyle/>
          <a:p>
            <a:pPr>
              <a:lnSpc>
                <a:spcPct val="120000"/>
              </a:lnSpc>
            </a:pPr>
            <a:r>
              <a:rPr lang="en-US" altLang="zh-CN" sz="2000" b="1" dirty="0"/>
              <a:t>1</a:t>
            </a:r>
            <a:r>
              <a:rPr lang="zh-CN" altLang="en-US" sz="2000" b="1" dirty="0"/>
              <a:t>、请同学们在自己的电脑上</a:t>
            </a:r>
            <a:r>
              <a:rPr lang="zh-CN" altLang="en-US" sz="2000" b="1" dirty="0">
                <a:solidFill>
                  <a:srgbClr val="C00000"/>
                </a:solidFill>
              </a:rPr>
              <a:t>安装</a:t>
            </a:r>
            <a:r>
              <a:rPr lang="en-US" altLang="zh-CN" sz="2000" b="1" dirty="0">
                <a:solidFill>
                  <a:srgbClr val="C00000"/>
                </a:solidFill>
              </a:rPr>
              <a:t>VMware</a:t>
            </a:r>
            <a:r>
              <a:rPr lang="zh-CN" altLang="en-US" sz="2000" b="1" dirty="0"/>
              <a:t>，解压</a:t>
            </a:r>
            <a:r>
              <a:rPr lang="en-US" altLang="zh-CN" sz="2000" b="1" dirty="0"/>
              <a:t>Ubuntu</a:t>
            </a:r>
            <a:r>
              <a:rPr lang="zh-CN" altLang="en-US" sz="2000" b="1" dirty="0"/>
              <a:t>虚拟机压缩文件，</a:t>
            </a:r>
            <a:r>
              <a:rPr lang="zh-CN" altLang="en-US" sz="2000" b="1" dirty="0">
                <a:solidFill>
                  <a:srgbClr val="C00000"/>
                </a:solidFill>
              </a:rPr>
              <a:t>打开</a:t>
            </a:r>
            <a:r>
              <a:rPr lang="en-US" altLang="zh-CN" sz="2000" b="1" dirty="0">
                <a:solidFill>
                  <a:srgbClr val="C00000"/>
                </a:solidFill>
              </a:rPr>
              <a:t>Ubuntu</a:t>
            </a:r>
            <a:r>
              <a:rPr lang="zh-CN" altLang="en-US" sz="2000" b="1" dirty="0">
                <a:solidFill>
                  <a:srgbClr val="C00000"/>
                </a:solidFill>
              </a:rPr>
              <a:t>虚拟机</a:t>
            </a:r>
            <a:r>
              <a:rPr lang="zh-CN" altLang="en-US" sz="2000" b="1" dirty="0"/>
              <a:t>；</a:t>
            </a:r>
            <a:r>
              <a:rPr lang="en-US" altLang="zh-CN" sz="2000" b="1" dirty="0"/>
              <a:t>VMware</a:t>
            </a:r>
            <a:r>
              <a:rPr lang="zh-CN" altLang="en-US" sz="2000" b="1" dirty="0"/>
              <a:t>软件和虚拟机压缩文件请从</a:t>
            </a:r>
            <a:r>
              <a:rPr lang="en-US" altLang="zh-CN" sz="2000" b="1" dirty="0"/>
              <a:t>FTP</a:t>
            </a:r>
            <a:r>
              <a:rPr lang="zh-CN" altLang="en-US" sz="2000" b="1" dirty="0"/>
              <a:t>上下载。</a:t>
            </a:r>
            <a:endParaRPr lang="en-US" altLang="zh-CN" sz="2000" b="1" dirty="0"/>
          </a:p>
          <a:p>
            <a:pPr>
              <a:lnSpc>
                <a:spcPct val="120000"/>
              </a:lnSpc>
            </a:pPr>
            <a:r>
              <a:rPr lang="en-US" altLang="zh-CN" sz="2000" b="1" dirty="0"/>
              <a:t>2</a:t>
            </a:r>
            <a:r>
              <a:rPr lang="zh-CN" altLang="en-US" sz="2000" b="1" dirty="0"/>
              <a:t>、请在实验箱上验证</a:t>
            </a:r>
            <a:r>
              <a:rPr lang="zh-CN" altLang="en-US" sz="2000" b="1" dirty="0">
                <a:solidFill>
                  <a:srgbClr val="C00000"/>
                </a:solidFill>
              </a:rPr>
              <a:t>实验</a:t>
            </a:r>
            <a:r>
              <a:rPr lang="en-US" altLang="zh-CN" sz="2000" b="1" dirty="0">
                <a:solidFill>
                  <a:srgbClr val="C00000"/>
                </a:solidFill>
              </a:rPr>
              <a:t>1</a:t>
            </a:r>
            <a:r>
              <a:rPr lang="zh-CN" altLang="en-US" sz="2000" b="1" dirty="0">
                <a:solidFill>
                  <a:srgbClr val="C00000"/>
                </a:solidFill>
                <a:latin typeface="等线" panose="02010600030101010101" pitchFamily="2" charset="-122"/>
                <a:ea typeface="等线" panose="02010600030101010101" pitchFamily="2" charset="-122"/>
              </a:rPr>
              <a:t>～实验</a:t>
            </a:r>
            <a:r>
              <a:rPr lang="en-US" altLang="zh-CN" sz="2000" b="1" dirty="0">
                <a:solidFill>
                  <a:srgbClr val="C00000"/>
                </a:solidFill>
                <a:latin typeface="等线" panose="02010600030101010101" pitchFamily="2" charset="-122"/>
                <a:ea typeface="等线" panose="02010600030101010101" pitchFamily="2" charset="-122"/>
              </a:rPr>
              <a:t>10</a:t>
            </a:r>
            <a:r>
              <a:rPr lang="zh-CN" altLang="en-US" sz="2000" b="1" dirty="0">
                <a:latin typeface="等线" panose="02010600030101010101" pitchFamily="2" charset="-122"/>
                <a:ea typeface="等线" panose="02010600030101010101" pitchFamily="2" charset="-122"/>
              </a:rPr>
              <a:t>，并将实验结果通过截屏、拍照等方式记录下来，拷贝到实验报告上。</a:t>
            </a:r>
            <a:endParaRPr lang="en-US" altLang="zh-CN" sz="2000" b="1" dirty="0">
              <a:latin typeface="等线" panose="02010600030101010101" pitchFamily="2" charset="-122"/>
              <a:ea typeface="等线" panose="02010600030101010101" pitchFamily="2" charset="-122"/>
            </a:endParaRPr>
          </a:p>
          <a:p>
            <a:pPr>
              <a:lnSpc>
                <a:spcPct val="120000"/>
              </a:lnSpc>
            </a:pPr>
            <a:r>
              <a:rPr lang="en-US" altLang="zh-CN" sz="2000" b="1" dirty="0">
                <a:latin typeface="等线" panose="02010600030101010101" pitchFamily="2" charset="-122"/>
                <a:ea typeface="等线" panose="02010600030101010101" pitchFamily="2" charset="-122"/>
              </a:rPr>
              <a:t>3</a:t>
            </a:r>
            <a:r>
              <a:rPr lang="zh-CN" altLang="en-US" sz="2000" b="1" dirty="0">
                <a:latin typeface="等线" panose="02010600030101010101" pitchFamily="2" charset="-122"/>
                <a:ea typeface="等线" panose="02010600030101010101" pitchFamily="2" charset="-122"/>
              </a:rPr>
              <a:t>、请按照实验报告的模板撰写实验报告，</a:t>
            </a:r>
            <a:endParaRPr lang="en-US" altLang="zh-CN" sz="2000" b="1" dirty="0">
              <a:latin typeface="等线" panose="02010600030101010101" pitchFamily="2" charset="-122"/>
              <a:ea typeface="等线" panose="02010600030101010101" pitchFamily="2" charset="-122"/>
            </a:endParaRPr>
          </a:p>
          <a:p>
            <a:pPr>
              <a:lnSpc>
                <a:spcPct val="120000"/>
              </a:lnSpc>
            </a:pPr>
            <a:r>
              <a:rPr lang="en-US" altLang="zh-CN" sz="2000" b="1" dirty="0">
                <a:latin typeface="等线" panose="02010600030101010101" pitchFamily="2" charset="-122"/>
                <a:ea typeface="等线" panose="02010600030101010101" pitchFamily="2" charset="-122"/>
              </a:rPr>
              <a:t>4</a:t>
            </a:r>
            <a:r>
              <a:rPr lang="zh-CN" altLang="en-US" sz="2000" b="1" dirty="0">
                <a:latin typeface="等线" panose="02010600030101010101" pitchFamily="2" charset="-122"/>
                <a:ea typeface="等线" panose="02010600030101010101" pitchFamily="2" charset="-122"/>
              </a:rPr>
              <a:t>、设计实验安排在第</a:t>
            </a:r>
            <a:r>
              <a:rPr lang="en-US" altLang="zh-CN" sz="2000" b="1" dirty="0">
                <a:latin typeface="等线" panose="02010600030101010101" pitchFamily="2" charset="-122"/>
                <a:ea typeface="等线" panose="02010600030101010101" pitchFamily="2" charset="-122"/>
              </a:rPr>
              <a:t>3</a:t>
            </a:r>
            <a:r>
              <a:rPr lang="zh-CN" altLang="en-US" sz="2000" b="1" dirty="0">
                <a:latin typeface="等线" panose="02010600030101010101" pitchFamily="2" charset="-122"/>
                <a:ea typeface="等线" panose="02010600030101010101" pitchFamily="2" charset="-122"/>
              </a:rPr>
              <a:t>次实验中完成。</a:t>
            </a:r>
            <a:endParaRPr lang="zh-CN" altLang="en-US" sz="2000" b="1" dirty="0"/>
          </a:p>
        </p:txBody>
      </p:sp>
    </p:spTree>
    <p:extLst>
      <p:ext uri="{BB962C8B-B14F-4D97-AF65-F5344CB8AC3E}">
        <p14:creationId xmlns:p14="http://schemas.microsoft.com/office/powerpoint/2010/main" val="4213921157"/>
      </p:ext>
    </p:extLst>
  </p:cSld>
  <p:clrMapOvr>
    <a:masterClrMapping/>
  </p:clrMapOvr>
</p:sld>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5463</TotalTime>
  <Words>6953</Words>
  <Application>Microsoft Office PowerPoint</Application>
  <PresentationFormat>宽屏</PresentationFormat>
  <Paragraphs>735</Paragraphs>
  <Slides>131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131</vt:i4>
      </vt:variant>
    </vt:vector>
  </HeadingPairs>
  <TitlesOfParts>
    <vt:vector size="143" baseType="lpstr">
      <vt:lpstr>-apple-system</vt:lpstr>
      <vt:lpstr>Helvetica Neue</vt:lpstr>
      <vt:lpstr>PingFang SC</vt:lpstr>
      <vt:lpstr>TimesNewRomanPSMT</vt:lpstr>
      <vt:lpstr>等线</vt:lpstr>
      <vt:lpstr>SimSun</vt:lpstr>
      <vt:lpstr>Arial</vt:lpstr>
      <vt:lpstr>Arial</vt:lpstr>
      <vt:lpstr>Calibri</vt:lpstr>
      <vt:lpstr>Calibri Light</vt:lpstr>
      <vt:lpstr>Wingdings</vt:lpstr>
      <vt:lpstr>回顾</vt:lpstr>
      <vt:lpstr>嵌入式实验讲解</vt:lpstr>
      <vt:lpstr>实验内容安排</vt:lpstr>
      <vt:lpstr>实验相关资料</vt:lpstr>
      <vt:lpstr>实验平台</vt:lpstr>
      <vt:lpstr>RK3399 处理器</vt:lpstr>
      <vt:lpstr>实验软件-Vmware workstation</vt:lpstr>
      <vt:lpstr> </vt:lpstr>
      <vt:lpstr>uboot</vt:lpstr>
      <vt:lpstr>Uboot</vt:lpstr>
      <vt:lpstr>Uboot-启动流程</vt:lpstr>
      <vt:lpstr>Eclipse IDE</vt:lpstr>
      <vt:lpstr>FS_JTAG仿真器</vt:lpstr>
      <vt:lpstr>ARM裸机实验样例</vt:lpstr>
      <vt:lpstr>实验1    控制3个LED灯的亮灭</vt:lpstr>
      <vt:lpstr>3个LED灯的电原理图</vt:lpstr>
      <vt:lpstr>3个LED灯的GPIO引脚</vt:lpstr>
      <vt:lpstr>怎么控制LED1灯亮？</vt:lpstr>
      <vt:lpstr>怎么控制LED2灯亮？</vt:lpstr>
      <vt:lpstr>怎么控制LED3灯亮？</vt:lpstr>
      <vt:lpstr>fs_assembly_led实验工程文件夹</vt:lpstr>
      <vt:lpstr>fs_assembly_led实验程序（1）</vt:lpstr>
      <vt:lpstr>PowerPoint 演示文稿</vt:lpstr>
      <vt:lpstr>fs_assembly_led实验程序（2）</vt:lpstr>
      <vt:lpstr>fs_assembly_led实验程序（3）</vt:lpstr>
      <vt:lpstr>fs_assembly_led实验程序（4）</vt:lpstr>
      <vt:lpstr>实验2    呼吸灯（LED1灯）</vt:lpstr>
      <vt:lpstr>呼吸灯（LED1灯）的电原理图</vt:lpstr>
      <vt:lpstr>怎么控制呼吸灯（LED1灯）？</vt:lpstr>
      <vt:lpstr>呼吸灯（LED1灯）实验工程文件夹</vt:lpstr>
      <vt:lpstr>fs_pwm实验程序（1）</vt:lpstr>
      <vt:lpstr>fs_pwm实验程序（2）</vt:lpstr>
      <vt:lpstr>fs_pwm实验程序（3）</vt:lpstr>
      <vt:lpstr>fs_pwm实验程序（4）</vt:lpstr>
      <vt:lpstr>fs_pwm实验程序（5）</vt:lpstr>
      <vt:lpstr>fs_pwm实验程序（6）</vt:lpstr>
      <vt:lpstr>fs_pwm实验程序（7）</vt:lpstr>
      <vt:lpstr>fs_pwm实验程序（8）</vt:lpstr>
      <vt:lpstr>fs_pwm实验程序（9）</vt:lpstr>
      <vt:lpstr>fs_pwm实验程序（10）</vt:lpstr>
      <vt:lpstr>fs_pwm实验程序（11）</vt:lpstr>
      <vt:lpstr>fs_pwm实验程序（12）</vt:lpstr>
      <vt:lpstr>fs_pwm实验程序（13）</vt:lpstr>
      <vt:lpstr>fs_pwm实验程序（14）</vt:lpstr>
      <vt:lpstr>运行fs_pwm实验程序（1）</vt:lpstr>
      <vt:lpstr>运行fs_pwm实验程序（2）</vt:lpstr>
      <vt:lpstr>运行fs_pwm实验程序（3）</vt:lpstr>
      <vt:lpstr>运行fs_pwm实验程序（4）</vt:lpstr>
      <vt:lpstr>运行fs_pwm实验程序（5）</vt:lpstr>
      <vt:lpstr>运行fs_pwm实验程序（6）</vt:lpstr>
      <vt:lpstr>运行fs_pwm实验程序（7）</vt:lpstr>
      <vt:lpstr>运行fs_pwm实验程序（8）</vt:lpstr>
      <vt:lpstr>运行fs_pwm实验程序（9）</vt:lpstr>
      <vt:lpstr>运行fs_pwm实验程序（10）</vt:lpstr>
      <vt:lpstr>实验3    蜂鸣器</vt:lpstr>
      <vt:lpstr>蜂鸣器的电原理图</vt:lpstr>
      <vt:lpstr>怎么控制蜂鸣器响/不响？</vt:lpstr>
      <vt:lpstr>fs_beep实验程序（1）</vt:lpstr>
      <vt:lpstr>fs_beep实验程序（2）</vt:lpstr>
      <vt:lpstr>fs_beep实验程序（3）</vt:lpstr>
      <vt:lpstr>运行fs_beep实验程序</vt:lpstr>
      <vt:lpstr>实验4    按键（轮询方式）</vt:lpstr>
      <vt:lpstr>2个按键的原理图</vt:lpstr>
      <vt:lpstr>2个按键的引脚</vt:lpstr>
      <vt:lpstr>2个按键的端口地址</vt:lpstr>
      <vt:lpstr>怎么读取按键值（判断按键是否按下）</vt:lpstr>
      <vt:lpstr>fs_loop_key实验程序</vt:lpstr>
      <vt:lpstr>PowerPoint 演示文稿</vt:lpstr>
      <vt:lpstr>运行fs_loop_key实验程序</vt:lpstr>
      <vt:lpstr>实验5    按键（中断方式）</vt:lpstr>
      <vt:lpstr>按键KEY1的原理图</vt:lpstr>
      <vt:lpstr>按键KEY1的引脚</vt:lpstr>
      <vt:lpstr>按键中断程序</vt:lpstr>
      <vt:lpstr>fs_irq_key实验程序（1）</vt:lpstr>
      <vt:lpstr>fs_irq_key实验程序（2）</vt:lpstr>
      <vt:lpstr>PowerPoint 演示文稿</vt:lpstr>
      <vt:lpstr>PowerPoint 演示文稿</vt:lpstr>
      <vt:lpstr>fs_irq_key实验程序（3）</vt:lpstr>
      <vt:lpstr>fs_irq_key实验程序（5）</vt:lpstr>
      <vt:lpstr>运行fs_irq_key实验程序</vt:lpstr>
      <vt:lpstr>实验6    串口（Debug_2）</vt:lpstr>
      <vt:lpstr>串口（Debug_2）的电原理图</vt:lpstr>
      <vt:lpstr>串口（Debug_2）的引脚</vt:lpstr>
      <vt:lpstr>怎样通过串口（Debug_2）发送数据</vt:lpstr>
      <vt:lpstr>fs_uart实验程序（1）</vt:lpstr>
      <vt:lpstr>fs_uart实验程序（2）</vt:lpstr>
      <vt:lpstr>fs_uart实验程序（3）</vt:lpstr>
      <vt:lpstr>PowerPoint 演示文稿</vt:lpstr>
      <vt:lpstr>PowerPoint 演示文稿</vt:lpstr>
      <vt:lpstr>PowerPoint 演示文稿</vt:lpstr>
      <vt:lpstr>PowerPoint 演示文稿</vt:lpstr>
      <vt:lpstr>PowerPoint 演示文稿</vt:lpstr>
      <vt:lpstr>fs_uart实验程序（4）</vt:lpstr>
      <vt:lpstr>fs_uart实验程序（5）</vt:lpstr>
      <vt:lpstr>fs_uart实验程序（6）</vt:lpstr>
      <vt:lpstr>fs_uart实验程序（7）</vt:lpstr>
      <vt:lpstr>运行fs_uart实验程序</vt:lpstr>
      <vt:lpstr>运行fs_uart实验程序</vt:lpstr>
      <vt:lpstr>实验7    A/D转换</vt:lpstr>
      <vt:lpstr>A/D转换的原理图</vt:lpstr>
      <vt:lpstr>A/D转换的引脚</vt:lpstr>
      <vt:lpstr>A/D转换的端口地址</vt:lpstr>
      <vt:lpstr>怎样获取A/D转换值（查询方式）</vt:lpstr>
      <vt:lpstr>fs_adc实验程序（1）</vt:lpstr>
      <vt:lpstr>fs_adc实验程序（2）</vt:lpstr>
      <vt:lpstr>fs_adc实验程序（3）</vt:lpstr>
      <vt:lpstr>运行fs_adc实验程序</vt:lpstr>
      <vt:lpstr>运行fs_adc实验程序</vt:lpstr>
      <vt:lpstr>实验8    I2C总线</vt:lpstr>
      <vt:lpstr>温度传感器与I2C总线的接线图</vt:lpstr>
      <vt:lpstr>I2C总线的引脚（复用）</vt:lpstr>
      <vt:lpstr>有关的端口地址</vt:lpstr>
      <vt:lpstr>怎样获取I2C总线上的数据</vt:lpstr>
      <vt:lpstr>I2C时序图</vt:lpstr>
      <vt:lpstr>fs_i2c实验工程文件夹</vt:lpstr>
      <vt:lpstr>fs_i2c实验程序（1）</vt:lpstr>
      <vt:lpstr>fs_i2c实验程序（2）</vt:lpstr>
      <vt:lpstr>fs_i2c实验程序（3）</vt:lpstr>
      <vt:lpstr>运行fs_i2c实验程序</vt:lpstr>
      <vt:lpstr>运行fs_i2c实验程序</vt:lpstr>
      <vt:lpstr>实验9    定时器</vt:lpstr>
      <vt:lpstr>定时器</vt:lpstr>
      <vt:lpstr>fs_timer实验程序</vt:lpstr>
      <vt:lpstr>运行fs_timer实验程序</vt:lpstr>
      <vt:lpstr>实验10    看门狗</vt:lpstr>
      <vt:lpstr>看门狗</vt:lpstr>
      <vt:lpstr>fs_wdt实验程序（1）</vt:lpstr>
      <vt:lpstr>fs_wdt实验程序（2）</vt:lpstr>
      <vt:lpstr>fs_wdt实验程序（3）</vt:lpstr>
      <vt:lpstr>运行fs_wdt实验程序</vt:lpstr>
      <vt:lpstr>运行fs_wdt实验程序</vt:lpstr>
      <vt:lpstr>要求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嵌入式实验讲解</dc:title>
  <dc:creator>Lenovo</dc:creator>
  <cp:lastModifiedBy>Lenovo</cp:lastModifiedBy>
  <cp:revision>120</cp:revision>
  <dcterms:created xsi:type="dcterms:W3CDTF">2024-09-05T00:00:56Z</dcterms:created>
  <dcterms:modified xsi:type="dcterms:W3CDTF">2025-09-22T03:27:07Z</dcterms:modified>
</cp:coreProperties>
</file>