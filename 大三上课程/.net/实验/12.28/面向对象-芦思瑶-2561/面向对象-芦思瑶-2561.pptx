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76" r:id="rId6"/>
    <p:sldId id="277" r:id="rId7"/>
    <p:sldId id="262" r:id="rId8"/>
    <p:sldId id="273" r:id="rId9"/>
    <p:sldId id="278" r:id="rId10"/>
    <p:sldId id="279" r:id="rId11"/>
    <p:sldId id="266" r:id="rId12"/>
    <p:sldId id="274" r:id="rId13"/>
    <p:sldId id="280" r:id="rId14"/>
    <p:sldId id="281" r:id="rId15"/>
    <p:sldId id="282" r:id="rId16"/>
    <p:sldId id="283" r:id="rId17"/>
    <p:sldId id="269" r:id="rId18"/>
    <p:sldId id="275" r:id="rId19"/>
  </p:sldIdLst>
  <p:sldSz cx="18288000" cy="10287000"/>
  <p:notesSz cx="6858000" cy="9144000"/>
  <p:embeddedFontLst>
    <p:embeddedFont>
      <p:font typeface="Arimo" panose="02010600030101010101" charset="0"/>
      <p:regular r:id="rId21"/>
    </p:embeddedFont>
    <p:embeddedFont>
      <p:font typeface="Arimo Bold" panose="02010600030101010101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2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28.12.2025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B6B8C-6F8B-6788-CBFF-982DF3CDE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DFDE4E-6AF8-99CD-F893-05F9092E41D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AECCE-78C4-A913-F2DE-EADB1D6F3BF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BC8DB54-55D8-248D-792B-BC463F2DCD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1D39062-E684-CB49-ACC4-70C3BAB0A0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2ED9C7-098E-5392-CB14-5A7CB2E6220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931AA0-9AA9-E32C-B6CF-B049B481FF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5669779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72C26-7926-BCFC-A8D8-6745CAA51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3AFEC66-FBD4-41BC-FD8E-41DAA84644D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6B9C52-2748-3D24-C6E0-6FC341184EF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D47E260-F5A8-37B4-8BE9-732A2F7B2D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5AE9621-B8B6-4068-0C7F-25199DE071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B2AB57-03CE-B42E-7515-D325650A0B0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ADE248-9310-B696-066A-C85D0D302B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1261923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1E91E-0D76-C932-6F31-D8C0299CC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5A52AF-6589-5CB7-9145-1B5CA059B9F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71AEBA-648E-5C2B-50F6-AE39F13ACB0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1DE86F8-8FBF-DF36-44BD-B466A37781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74998E7-7251-3B9C-5E8C-AD8218E54B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D20666-E33B-5299-1163-918184F0361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28D8FD-DE01-9F6D-C127-66A73CB48C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3688943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F20DA-14A6-4E52-AFCE-C7EE23ED9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AC86150-A9F7-D2E0-9FA0-E9B6F29BED1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8BEB9F-A445-8ACD-A6D1-2AEC83F2A58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A3295AB-E469-B761-D7CD-EA7DA486C5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E0DD846-50DB-ACC3-E0B4-B2ED15FA52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42026F-6CC4-2DFE-3D84-71BD92175CD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5390EB-9392-73AD-48D8-04B24019E3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7107225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B807F-B845-3F5D-F0A7-681F7B95C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CEE1323-93C2-BF9D-67FF-BE2C0C18411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77F09D-8567-F2DE-53F6-9D4064D9210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9274A529-EE5C-CE3A-3786-B69F55F823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5978A5C1-0710-8C61-4768-48E3B4CD2F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C9F638-B274-83DF-0DD7-6F2F3F03BA4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6872E8-5AD3-98F6-2B3F-953CF148E8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0359595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2E4A8-FF54-5BB7-0E96-702B95CCC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B0ED71E-65C8-5D63-8EF3-3296DE71B26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7F9AE8-7DA1-B58E-5EFF-8B1DDCD1C26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5A72BA8-C5A0-51AB-9805-AFC97EC0DF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6C682F2-3961-5FBF-3674-7AC01284C2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4F5B6E-778A-D1A2-A63E-762E982D5D8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93AEE8-EF2F-B9C7-BABC-CF31540BCF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2472793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B8A08-9A0B-B0F3-D426-F53FE7030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3E7C82-FDDF-0EB3-14EC-559B4219B14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C56828-A3BA-8195-6CB5-4B9BFC33F24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5EB2444-DB9F-367B-C724-0901C797A1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EA46361-58C5-3824-108D-ADA9A5A01F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969AFC-84FE-9B4E-F507-88175357A74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91AB3F-FD2E-6BF6-AB61-D9371CB75C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1661198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A8ACF-9027-9520-82EF-D73F8517E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24A6875-37A0-E6AA-2017-51312E71536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B1D24F-FBC6-7B13-A020-036088B9725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3FBCBF1-73D9-BC64-FE23-E61B800E32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1926CBC-651D-3B9C-F196-1B623B78B5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41AF1B-A376-25C9-C4CD-D2E5A548EEE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0C3BD2-8795-7518-BF63-96DB8E46D0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9620612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AE4F1-3539-3D38-D83C-170FB44A2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5C1E82B-BE2C-8687-238E-B74CD5E2C35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A9F1A4-43B1-39F3-FB0A-D360C741637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2515FA6-8516-0911-6411-84C637B84C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A624D8F-13F4-ECAE-2846-39968AFE72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8579E2-6DF0-BC81-B7A8-809A4091B28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17B2F7-64E6-E6C4-FA2A-76E1DBC372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6286325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489CC-1BBB-3835-5026-BB1294D8C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BBFB7F7-DC3A-847C-98BF-03A89DEE0E0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6A327D-96FC-2D0E-0B61-F2904535BDE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E119ED82-8D07-9F68-1793-CC2036D283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7795B32-B253-8B3B-F767-A64A03AD92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0FA315-19C4-D1B2-D22F-DDC251C7C8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B94233-DD6C-2195-895E-8B1E2ED2D6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5415205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724B9-7FA4-3714-F6FD-F6C480902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3E15E70-26C7-CF4B-157E-85C01B2448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3B47B8-C747-0FC7-CDB3-2A762B8AEC5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3836068-087A-A8CF-666E-9D3837901B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7A3606E-EE1B-2043-0A1F-C642ED2C65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47CA19-50CB-51CE-1B3B-B69552B0555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079E92-734E-D0D5-5095-4CBB181EB4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9556555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Freeform 3" descr="https://kimi-img.moonshot.cn/pub/slides/slides_tmpl/image/25-10-09-16:35:25-d3jn7j8s8jdo4os5dj40.jp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83" b="-102"/>
            </a:stretch>
          </a:blipFill>
        </p:spPr>
      </p:sp>
      <p:sp>
        <p:nvSpPr>
          <p:cNvPr id="4" name="Freeform 4" descr="https://kimi-img.moonshot.cn/pub/slides/slides_tmpl/image/25-10-09-16:35:24-d3jn7j0s8jdo4os5diug.jpg"/>
          <p:cNvSpPr/>
          <p:nvPr/>
        </p:nvSpPr>
        <p:spPr>
          <a:xfrm>
            <a:off x="944880" y="2561272"/>
            <a:ext cx="7444740" cy="499110"/>
          </a:xfrm>
          <a:custGeom>
            <a:avLst/>
            <a:gdLst/>
            <a:ahLst/>
            <a:cxnLst/>
            <a:rect l="l" t="t" r="r" b="b"/>
            <a:pathLst>
              <a:path w="7444740" h="499110">
                <a:moveTo>
                  <a:pt x="0" y="0"/>
                </a:moveTo>
                <a:lnTo>
                  <a:pt x="7444740" y="0"/>
                </a:lnTo>
                <a:lnTo>
                  <a:pt x="7444740" y="499110"/>
                </a:lnTo>
                <a:lnTo>
                  <a:pt x="0" y="49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92461" b="-192461"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7058180" y="825246"/>
            <a:ext cx="342538" cy="91926"/>
            <a:chOff x="0" y="0"/>
            <a:chExt cx="456717" cy="122568"/>
          </a:xfrm>
        </p:grpSpPr>
        <p:sp>
          <p:nvSpPr>
            <p:cNvPr id="8" name="Freeform 8"/>
            <p:cNvSpPr/>
            <p:nvPr/>
          </p:nvSpPr>
          <p:spPr>
            <a:xfrm>
              <a:off x="19050" y="19050"/>
              <a:ext cx="418592" cy="84455"/>
            </a:xfrm>
            <a:custGeom>
              <a:avLst/>
              <a:gdLst/>
              <a:ahLst/>
              <a:cxnLst/>
              <a:rect l="l" t="t" r="r" b="b"/>
              <a:pathLst>
                <a:path w="418592" h="84455">
                  <a:moveTo>
                    <a:pt x="0" y="0"/>
                  </a:moveTo>
                  <a:lnTo>
                    <a:pt x="418592" y="0"/>
                  </a:lnTo>
                  <a:lnTo>
                    <a:pt x="418592" y="84455"/>
                  </a:lnTo>
                  <a:lnTo>
                    <a:pt x="0" y="84455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456692" cy="122555"/>
            </a:xfrm>
            <a:custGeom>
              <a:avLst/>
              <a:gdLst/>
              <a:ahLst/>
              <a:cxnLst/>
              <a:rect l="l" t="t" r="r" b="b"/>
              <a:pathLst>
                <a:path w="456692" h="122555">
                  <a:moveTo>
                    <a:pt x="19050" y="0"/>
                  </a:moveTo>
                  <a:lnTo>
                    <a:pt x="437642" y="0"/>
                  </a:lnTo>
                  <a:cubicBezTo>
                    <a:pt x="448183" y="0"/>
                    <a:pt x="456692" y="8509"/>
                    <a:pt x="456692" y="19050"/>
                  </a:cubicBezTo>
                  <a:lnTo>
                    <a:pt x="456692" y="103505"/>
                  </a:lnTo>
                  <a:cubicBezTo>
                    <a:pt x="456692" y="114046"/>
                    <a:pt x="448183" y="122555"/>
                    <a:pt x="437642" y="122555"/>
                  </a:cubicBezTo>
                  <a:lnTo>
                    <a:pt x="19050" y="122555"/>
                  </a:lnTo>
                  <a:cubicBezTo>
                    <a:pt x="8509" y="122555"/>
                    <a:pt x="0" y="114046"/>
                    <a:pt x="0" y="103505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103505"/>
                  </a:lnTo>
                  <a:lnTo>
                    <a:pt x="19050" y="103505"/>
                  </a:lnTo>
                  <a:lnTo>
                    <a:pt x="19050" y="84455"/>
                  </a:lnTo>
                  <a:lnTo>
                    <a:pt x="437642" y="84455"/>
                  </a:lnTo>
                  <a:lnTo>
                    <a:pt x="437642" y="103505"/>
                  </a:lnTo>
                  <a:lnTo>
                    <a:pt x="418592" y="103505"/>
                  </a:lnTo>
                  <a:lnTo>
                    <a:pt x="418592" y="19050"/>
                  </a:lnTo>
                  <a:lnTo>
                    <a:pt x="437642" y="19050"/>
                  </a:lnTo>
                  <a:lnTo>
                    <a:pt x="437642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7058180" y="970712"/>
            <a:ext cx="342538" cy="91926"/>
            <a:chOff x="0" y="0"/>
            <a:chExt cx="456717" cy="122568"/>
          </a:xfrm>
        </p:grpSpPr>
        <p:sp>
          <p:nvSpPr>
            <p:cNvPr id="11" name="Freeform 11"/>
            <p:cNvSpPr/>
            <p:nvPr/>
          </p:nvSpPr>
          <p:spPr>
            <a:xfrm>
              <a:off x="19050" y="19050"/>
              <a:ext cx="418592" cy="84455"/>
            </a:xfrm>
            <a:custGeom>
              <a:avLst/>
              <a:gdLst/>
              <a:ahLst/>
              <a:cxnLst/>
              <a:rect l="l" t="t" r="r" b="b"/>
              <a:pathLst>
                <a:path w="418592" h="84455">
                  <a:moveTo>
                    <a:pt x="0" y="0"/>
                  </a:moveTo>
                  <a:lnTo>
                    <a:pt x="418592" y="0"/>
                  </a:lnTo>
                  <a:lnTo>
                    <a:pt x="418592" y="84455"/>
                  </a:lnTo>
                  <a:lnTo>
                    <a:pt x="0" y="84455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0" y="0"/>
              <a:ext cx="456692" cy="122555"/>
            </a:xfrm>
            <a:custGeom>
              <a:avLst/>
              <a:gdLst/>
              <a:ahLst/>
              <a:cxnLst/>
              <a:rect l="l" t="t" r="r" b="b"/>
              <a:pathLst>
                <a:path w="456692" h="122555">
                  <a:moveTo>
                    <a:pt x="19050" y="0"/>
                  </a:moveTo>
                  <a:lnTo>
                    <a:pt x="437642" y="0"/>
                  </a:lnTo>
                  <a:cubicBezTo>
                    <a:pt x="448183" y="0"/>
                    <a:pt x="456692" y="8509"/>
                    <a:pt x="456692" y="19050"/>
                  </a:cubicBezTo>
                  <a:lnTo>
                    <a:pt x="456692" y="103505"/>
                  </a:lnTo>
                  <a:cubicBezTo>
                    <a:pt x="456692" y="114046"/>
                    <a:pt x="448183" y="122555"/>
                    <a:pt x="437642" y="122555"/>
                  </a:cubicBezTo>
                  <a:lnTo>
                    <a:pt x="19050" y="122555"/>
                  </a:lnTo>
                  <a:cubicBezTo>
                    <a:pt x="8509" y="122555"/>
                    <a:pt x="0" y="114046"/>
                    <a:pt x="0" y="103505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103505"/>
                  </a:lnTo>
                  <a:lnTo>
                    <a:pt x="19050" y="103505"/>
                  </a:lnTo>
                  <a:lnTo>
                    <a:pt x="19050" y="84455"/>
                  </a:lnTo>
                  <a:lnTo>
                    <a:pt x="437642" y="84455"/>
                  </a:lnTo>
                  <a:lnTo>
                    <a:pt x="437642" y="103505"/>
                  </a:lnTo>
                  <a:lnTo>
                    <a:pt x="418592" y="103505"/>
                  </a:lnTo>
                  <a:lnTo>
                    <a:pt x="418592" y="19050"/>
                  </a:lnTo>
                  <a:lnTo>
                    <a:pt x="437642" y="19050"/>
                  </a:lnTo>
                  <a:lnTo>
                    <a:pt x="437642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17058180" y="1116168"/>
            <a:ext cx="342538" cy="91926"/>
            <a:chOff x="0" y="0"/>
            <a:chExt cx="456717" cy="122568"/>
          </a:xfrm>
        </p:grpSpPr>
        <p:sp>
          <p:nvSpPr>
            <p:cNvPr id="14" name="Freeform 14"/>
            <p:cNvSpPr/>
            <p:nvPr/>
          </p:nvSpPr>
          <p:spPr>
            <a:xfrm>
              <a:off x="19050" y="19050"/>
              <a:ext cx="418592" cy="84455"/>
            </a:xfrm>
            <a:custGeom>
              <a:avLst/>
              <a:gdLst/>
              <a:ahLst/>
              <a:cxnLst/>
              <a:rect l="l" t="t" r="r" b="b"/>
              <a:pathLst>
                <a:path w="418592" h="84455">
                  <a:moveTo>
                    <a:pt x="0" y="0"/>
                  </a:moveTo>
                  <a:lnTo>
                    <a:pt x="418592" y="0"/>
                  </a:lnTo>
                  <a:lnTo>
                    <a:pt x="418592" y="84455"/>
                  </a:lnTo>
                  <a:lnTo>
                    <a:pt x="0" y="84455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0" y="0"/>
              <a:ext cx="456692" cy="122555"/>
            </a:xfrm>
            <a:custGeom>
              <a:avLst/>
              <a:gdLst/>
              <a:ahLst/>
              <a:cxnLst/>
              <a:rect l="l" t="t" r="r" b="b"/>
              <a:pathLst>
                <a:path w="456692" h="122555">
                  <a:moveTo>
                    <a:pt x="19050" y="0"/>
                  </a:moveTo>
                  <a:lnTo>
                    <a:pt x="437642" y="0"/>
                  </a:lnTo>
                  <a:cubicBezTo>
                    <a:pt x="448183" y="0"/>
                    <a:pt x="456692" y="8509"/>
                    <a:pt x="456692" y="19050"/>
                  </a:cubicBezTo>
                  <a:lnTo>
                    <a:pt x="456692" y="103505"/>
                  </a:lnTo>
                  <a:cubicBezTo>
                    <a:pt x="456692" y="114046"/>
                    <a:pt x="448183" y="122555"/>
                    <a:pt x="437642" y="122555"/>
                  </a:cubicBezTo>
                  <a:lnTo>
                    <a:pt x="19050" y="122555"/>
                  </a:lnTo>
                  <a:cubicBezTo>
                    <a:pt x="8509" y="122555"/>
                    <a:pt x="0" y="114046"/>
                    <a:pt x="0" y="103505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103505"/>
                  </a:lnTo>
                  <a:lnTo>
                    <a:pt x="19050" y="103505"/>
                  </a:lnTo>
                  <a:lnTo>
                    <a:pt x="19050" y="84455"/>
                  </a:lnTo>
                  <a:lnTo>
                    <a:pt x="437642" y="84455"/>
                  </a:lnTo>
                  <a:lnTo>
                    <a:pt x="437642" y="103505"/>
                  </a:lnTo>
                  <a:lnTo>
                    <a:pt x="418592" y="103505"/>
                  </a:lnTo>
                  <a:lnTo>
                    <a:pt x="418592" y="19050"/>
                  </a:lnTo>
                  <a:lnTo>
                    <a:pt x="437642" y="19050"/>
                  </a:lnTo>
                  <a:lnTo>
                    <a:pt x="437642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3450317" y="9415462"/>
            <a:ext cx="8634412" cy="42862"/>
            <a:chOff x="0" y="0"/>
            <a:chExt cx="11512550" cy="57150"/>
          </a:xfrm>
        </p:grpSpPr>
        <p:sp>
          <p:nvSpPr>
            <p:cNvPr id="17" name="Freeform 17"/>
            <p:cNvSpPr/>
            <p:nvPr/>
          </p:nvSpPr>
          <p:spPr>
            <a:xfrm>
              <a:off x="9525" y="0"/>
              <a:ext cx="11493500" cy="57150"/>
            </a:xfrm>
            <a:custGeom>
              <a:avLst/>
              <a:gdLst/>
              <a:ahLst/>
              <a:cxnLst/>
              <a:rect l="l" t="t" r="r" b="b"/>
              <a:pathLst>
                <a:path w="11493500" h="57150">
                  <a:moveTo>
                    <a:pt x="0" y="38100"/>
                  </a:moveTo>
                  <a:lnTo>
                    <a:pt x="11493500" y="0"/>
                  </a:lnTo>
                  <a:lnTo>
                    <a:pt x="11493500" y="190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000000">
                <a:alpha val="4706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8" name="TextBox 18"/>
          <p:cNvSpPr txBox="1"/>
          <p:nvPr/>
        </p:nvSpPr>
        <p:spPr>
          <a:xfrm>
            <a:off x="925830" y="3163252"/>
            <a:ext cx="11573828" cy="1013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20"/>
              </a:lnSpc>
            </a:pPr>
            <a:r>
              <a:rPr lang="zh-CN" altLang="en-US" sz="660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面向对象作业</a:t>
            </a:r>
            <a:r>
              <a:rPr lang="en-US" sz="660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：</a:t>
            </a:r>
            <a:r>
              <a:rPr lang="zh-CN" altLang="en-US" sz="660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食堂饭卡系统</a:t>
            </a:r>
            <a:endParaRPr lang="en-US" sz="6600" b="1" dirty="0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19" name="Freeform 19" descr="https://kimi-img.moonshot.cn/pub/slides/slides_tmpl/image/25-10-09-16:35:24-d3jn7j0s8jdo4os5diug.jpg"/>
          <p:cNvSpPr/>
          <p:nvPr/>
        </p:nvSpPr>
        <p:spPr>
          <a:xfrm rot="5400000">
            <a:off x="15437168" y="8113395"/>
            <a:ext cx="3255645" cy="1093470"/>
          </a:xfrm>
          <a:custGeom>
            <a:avLst/>
            <a:gdLst/>
            <a:ahLst/>
            <a:cxnLst/>
            <a:rect l="l" t="t" r="r" b="b"/>
            <a:pathLst>
              <a:path w="3255645" h="1093470">
                <a:moveTo>
                  <a:pt x="0" y="0"/>
                </a:moveTo>
                <a:lnTo>
                  <a:pt x="3255644" y="0"/>
                </a:lnTo>
                <a:lnTo>
                  <a:pt x="3255644" y="1093470"/>
                </a:lnTo>
                <a:lnTo>
                  <a:pt x="0" y="10934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655" r="-1655"/>
            </a:stretch>
          </a:blipFill>
        </p:spPr>
      </p:sp>
      <p:sp>
        <p:nvSpPr>
          <p:cNvPr id="20" name="Freeform 20" descr="https://kimi-img.moonshot.cn/pub/slides/slides_tmpl/image/25-10-09-16:35:24-d3jn7j0s8jdo4os5div0.png"/>
          <p:cNvSpPr/>
          <p:nvPr/>
        </p:nvSpPr>
        <p:spPr>
          <a:xfrm flipV="1">
            <a:off x="1159192" y="801052"/>
            <a:ext cx="1143000" cy="114300"/>
          </a:xfrm>
          <a:custGeom>
            <a:avLst/>
            <a:gdLst/>
            <a:ahLst/>
            <a:cxnLst/>
            <a:rect l="l" t="t" r="r" b="b"/>
            <a:pathLst>
              <a:path w="1143000" h="114300">
                <a:moveTo>
                  <a:pt x="0" y="114300"/>
                </a:moveTo>
                <a:lnTo>
                  <a:pt x="1143000" y="114300"/>
                </a:lnTo>
                <a:lnTo>
                  <a:pt x="1143000" y="0"/>
                </a:ln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blipFill>
            <a:blip r:embed="rId6">
              <a:alphaModFix amt="40000"/>
            </a:blip>
            <a:stretch>
              <a:fillRect l="-5454" r="-5455"/>
            </a:stretch>
          </a:blipFill>
        </p:spPr>
      </p:sp>
      <p:sp>
        <p:nvSpPr>
          <p:cNvPr id="21" name="Freeform 21" descr="https://kimi-img.moonshot.cn/pub/slides/slides_tmpl/image/25-10-09-16:35:24-d3jn7j0s8jdo4os5div0.png"/>
          <p:cNvSpPr/>
          <p:nvPr/>
        </p:nvSpPr>
        <p:spPr>
          <a:xfrm flipV="1">
            <a:off x="1159192" y="997268"/>
            <a:ext cx="1143000" cy="114300"/>
          </a:xfrm>
          <a:custGeom>
            <a:avLst/>
            <a:gdLst/>
            <a:ahLst/>
            <a:cxnLst/>
            <a:rect l="l" t="t" r="r" b="b"/>
            <a:pathLst>
              <a:path w="1143000" h="114300">
                <a:moveTo>
                  <a:pt x="0" y="114300"/>
                </a:moveTo>
                <a:lnTo>
                  <a:pt x="1143000" y="114300"/>
                </a:lnTo>
                <a:lnTo>
                  <a:pt x="1143000" y="0"/>
                </a:ln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blipFill>
            <a:blip r:embed="rId6">
              <a:alphaModFix amt="40000"/>
            </a:blip>
            <a:stretch>
              <a:fillRect l="-5454" r="-5455"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620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567815" y="1865948"/>
            <a:ext cx="2112645" cy="1200150"/>
            <a:chOff x="0" y="0"/>
            <a:chExt cx="2816860" cy="1600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816860" cy="1600200"/>
            </a:xfrm>
            <a:custGeom>
              <a:avLst/>
              <a:gdLst/>
              <a:ahLst/>
              <a:cxnLst/>
              <a:rect l="l" t="t" r="r" b="b"/>
              <a:pathLst>
                <a:path w="2816860" h="1600200">
                  <a:moveTo>
                    <a:pt x="0" y="0"/>
                  </a:moveTo>
                  <a:lnTo>
                    <a:pt x="2816860" y="0"/>
                  </a:lnTo>
                  <a:lnTo>
                    <a:pt x="2816860" y="1600200"/>
                  </a:lnTo>
                  <a:lnTo>
                    <a:pt x="0" y="1600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228600"/>
              <a:ext cx="2816860" cy="1828800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9360"/>
                </a:lnSpc>
              </a:pPr>
              <a:r>
                <a:rPr lang="en-US" sz="60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目录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567815" y="2996565"/>
            <a:ext cx="3994785" cy="6634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0439E1"/>
                </a:solidFill>
                <a:latin typeface="Arimo Bold"/>
                <a:ea typeface="Arimo Bold"/>
                <a:cs typeface="Arimo Bold"/>
                <a:sym typeface="Arimo Bold"/>
              </a:rPr>
              <a:t>CONTENTS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678305" y="2973705"/>
            <a:ext cx="2516505" cy="19050"/>
            <a:chOff x="0" y="0"/>
            <a:chExt cx="3355340" cy="25400"/>
          </a:xfrm>
        </p:grpSpPr>
        <p:sp>
          <p:nvSpPr>
            <p:cNvPr id="8" name="Freeform 8"/>
            <p:cNvSpPr/>
            <p:nvPr/>
          </p:nvSpPr>
          <p:spPr>
            <a:xfrm>
              <a:off x="12700" y="0"/>
              <a:ext cx="3329940" cy="25400"/>
            </a:xfrm>
            <a:custGeom>
              <a:avLst/>
              <a:gdLst/>
              <a:ahLst/>
              <a:cxnLst/>
              <a:rect l="l" t="t" r="r" b="b"/>
              <a:pathLst>
                <a:path w="3329940" h="25400">
                  <a:moveTo>
                    <a:pt x="0" y="0"/>
                  </a:moveTo>
                  <a:lnTo>
                    <a:pt x="3329940" y="0"/>
                  </a:lnTo>
                  <a:lnTo>
                    <a:pt x="332994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17175337" y="8950071"/>
            <a:ext cx="342538" cy="91926"/>
            <a:chOff x="0" y="0"/>
            <a:chExt cx="456717" cy="122568"/>
          </a:xfrm>
        </p:grpSpPr>
        <p:sp>
          <p:nvSpPr>
            <p:cNvPr id="10" name="Freeform 10"/>
            <p:cNvSpPr/>
            <p:nvPr/>
          </p:nvSpPr>
          <p:spPr>
            <a:xfrm>
              <a:off x="19050" y="19050"/>
              <a:ext cx="418592" cy="84455"/>
            </a:xfrm>
            <a:custGeom>
              <a:avLst/>
              <a:gdLst/>
              <a:ahLst/>
              <a:cxnLst/>
              <a:rect l="l" t="t" r="r" b="b"/>
              <a:pathLst>
                <a:path w="418592" h="84455">
                  <a:moveTo>
                    <a:pt x="0" y="0"/>
                  </a:moveTo>
                  <a:lnTo>
                    <a:pt x="418592" y="0"/>
                  </a:lnTo>
                  <a:lnTo>
                    <a:pt x="418592" y="84455"/>
                  </a:lnTo>
                  <a:lnTo>
                    <a:pt x="0" y="84455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0" y="0"/>
              <a:ext cx="456692" cy="122555"/>
            </a:xfrm>
            <a:custGeom>
              <a:avLst/>
              <a:gdLst/>
              <a:ahLst/>
              <a:cxnLst/>
              <a:rect l="l" t="t" r="r" b="b"/>
              <a:pathLst>
                <a:path w="456692" h="122555">
                  <a:moveTo>
                    <a:pt x="19050" y="0"/>
                  </a:moveTo>
                  <a:lnTo>
                    <a:pt x="437642" y="0"/>
                  </a:lnTo>
                  <a:cubicBezTo>
                    <a:pt x="448183" y="0"/>
                    <a:pt x="456692" y="8509"/>
                    <a:pt x="456692" y="19050"/>
                  </a:cubicBezTo>
                  <a:lnTo>
                    <a:pt x="456692" y="103505"/>
                  </a:lnTo>
                  <a:cubicBezTo>
                    <a:pt x="456692" y="114046"/>
                    <a:pt x="448183" y="122555"/>
                    <a:pt x="437642" y="122555"/>
                  </a:cubicBezTo>
                  <a:lnTo>
                    <a:pt x="19050" y="122555"/>
                  </a:lnTo>
                  <a:cubicBezTo>
                    <a:pt x="8509" y="122555"/>
                    <a:pt x="0" y="114046"/>
                    <a:pt x="0" y="103505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103505"/>
                  </a:lnTo>
                  <a:lnTo>
                    <a:pt x="19050" y="103505"/>
                  </a:lnTo>
                  <a:lnTo>
                    <a:pt x="19050" y="84455"/>
                  </a:lnTo>
                  <a:lnTo>
                    <a:pt x="437642" y="84455"/>
                  </a:lnTo>
                  <a:lnTo>
                    <a:pt x="437642" y="103505"/>
                  </a:lnTo>
                  <a:lnTo>
                    <a:pt x="418592" y="103505"/>
                  </a:lnTo>
                  <a:lnTo>
                    <a:pt x="418592" y="19050"/>
                  </a:lnTo>
                  <a:lnTo>
                    <a:pt x="437642" y="19050"/>
                  </a:lnTo>
                  <a:lnTo>
                    <a:pt x="437642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17175337" y="9095537"/>
            <a:ext cx="342538" cy="91926"/>
            <a:chOff x="0" y="0"/>
            <a:chExt cx="456717" cy="122568"/>
          </a:xfrm>
        </p:grpSpPr>
        <p:sp>
          <p:nvSpPr>
            <p:cNvPr id="13" name="Freeform 13"/>
            <p:cNvSpPr/>
            <p:nvPr/>
          </p:nvSpPr>
          <p:spPr>
            <a:xfrm>
              <a:off x="19050" y="19050"/>
              <a:ext cx="418592" cy="84455"/>
            </a:xfrm>
            <a:custGeom>
              <a:avLst/>
              <a:gdLst/>
              <a:ahLst/>
              <a:cxnLst/>
              <a:rect l="l" t="t" r="r" b="b"/>
              <a:pathLst>
                <a:path w="418592" h="84455">
                  <a:moveTo>
                    <a:pt x="0" y="0"/>
                  </a:moveTo>
                  <a:lnTo>
                    <a:pt x="418592" y="0"/>
                  </a:lnTo>
                  <a:lnTo>
                    <a:pt x="418592" y="84455"/>
                  </a:lnTo>
                  <a:lnTo>
                    <a:pt x="0" y="84455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0" y="0"/>
              <a:ext cx="456692" cy="122555"/>
            </a:xfrm>
            <a:custGeom>
              <a:avLst/>
              <a:gdLst/>
              <a:ahLst/>
              <a:cxnLst/>
              <a:rect l="l" t="t" r="r" b="b"/>
              <a:pathLst>
                <a:path w="456692" h="122555">
                  <a:moveTo>
                    <a:pt x="19050" y="0"/>
                  </a:moveTo>
                  <a:lnTo>
                    <a:pt x="437642" y="0"/>
                  </a:lnTo>
                  <a:cubicBezTo>
                    <a:pt x="448183" y="0"/>
                    <a:pt x="456692" y="8509"/>
                    <a:pt x="456692" y="19050"/>
                  </a:cubicBezTo>
                  <a:lnTo>
                    <a:pt x="456692" y="103505"/>
                  </a:lnTo>
                  <a:cubicBezTo>
                    <a:pt x="456692" y="114046"/>
                    <a:pt x="448183" y="122555"/>
                    <a:pt x="437642" y="122555"/>
                  </a:cubicBezTo>
                  <a:lnTo>
                    <a:pt x="19050" y="122555"/>
                  </a:lnTo>
                  <a:cubicBezTo>
                    <a:pt x="8509" y="122555"/>
                    <a:pt x="0" y="114046"/>
                    <a:pt x="0" y="103505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103505"/>
                  </a:lnTo>
                  <a:lnTo>
                    <a:pt x="19050" y="103505"/>
                  </a:lnTo>
                  <a:lnTo>
                    <a:pt x="19050" y="84455"/>
                  </a:lnTo>
                  <a:lnTo>
                    <a:pt x="437642" y="84455"/>
                  </a:lnTo>
                  <a:lnTo>
                    <a:pt x="437642" y="103505"/>
                  </a:lnTo>
                  <a:lnTo>
                    <a:pt x="418592" y="103505"/>
                  </a:lnTo>
                  <a:lnTo>
                    <a:pt x="418592" y="19050"/>
                  </a:lnTo>
                  <a:lnTo>
                    <a:pt x="437642" y="19050"/>
                  </a:lnTo>
                  <a:lnTo>
                    <a:pt x="437642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17175337" y="9240993"/>
            <a:ext cx="342538" cy="91926"/>
            <a:chOff x="0" y="0"/>
            <a:chExt cx="456717" cy="122568"/>
          </a:xfrm>
        </p:grpSpPr>
        <p:sp>
          <p:nvSpPr>
            <p:cNvPr id="16" name="Freeform 16"/>
            <p:cNvSpPr/>
            <p:nvPr/>
          </p:nvSpPr>
          <p:spPr>
            <a:xfrm>
              <a:off x="19050" y="19050"/>
              <a:ext cx="418592" cy="84455"/>
            </a:xfrm>
            <a:custGeom>
              <a:avLst/>
              <a:gdLst/>
              <a:ahLst/>
              <a:cxnLst/>
              <a:rect l="l" t="t" r="r" b="b"/>
              <a:pathLst>
                <a:path w="418592" h="84455">
                  <a:moveTo>
                    <a:pt x="0" y="0"/>
                  </a:moveTo>
                  <a:lnTo>
                    <a:pt x="418592" y="0"/>
                  </a:lnTo>
                  <a:lnTo>
                    <a:pt x="418592" y="84455"/>
                  </a:lnTo>
                  <a:lnTo>
                    <a:pt x="0" y="84455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0" y="0"/>
              <a:ext cx="456692" cy="122555"/>
            </a:xfrm>
            <a:custGeom>
              <a:avLst/>
              <a:gdLst/>
              <a:ahLst/>
              <a:cxnLst/>
              <a:rect l="l" t="t" r="r" b="b"/>
              <a:pathLst>
                <a:path w="456692" h="122555">
                  <a:moveTo>
                    <a:pt x="19050" y="0"/>
                  </a:moveTo>
                  <a:lnTo>
                    <a:pt x="437642" y="0"/>
                  </a:lnTo>
                  <a:cubicBezTo>
                    <a:pt x="448183" y="0"/>
                    <a:pt x="456692" y="8509"/>
                    <a:pt x="456692" y="19050"/>
                  </a:cubicBezTo>
                  <a:lnTo>
                    <a:pt x="456692" y="103505"/>
                  </a:lnTo>
                  <a:cubicBezTo>
                    <a:pt x="456692" y="114046"/>
                    <a:pt x="448183" y="122555"/>
                    <a:pt x="437642" y="122555"/>
                  </a:cubicBezTo>
                  <a:lnTo>
                    <a:pt x="19050" y="122555"/>
                  </a:lnTo>
                  <a:cubicBezTo>
                    <a:pt x="8509" y="122555"/>
                    <a:pt x="0" y="114046"/>
                    <a:pt x="0" y="103505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103505"/>
                  </a:lnTo>
                  <a:lnTo>
                    <a:pt x="19050" y="103505"/>
                  </a:lnTo>
                  <a:lnTo>
                    <a:pt x="19050" y="84455"/>
                  </a:lnTo>
                  <a:lnTo>
                    <a:pt x="437642" y="84455"/>
                  </a:lnTo>
                  <a:lnTo>
                    <a:pt x="437642" y="103505"/>
                  </a:lnTo>
                  <a:lnTo>
                    <a:pt x="418592" y="103505"/>
                  </a:lnTo>
                  <a:lnTo>
                    <a:pt x="418592" y="19050"/>
                  </a:lnTo>
                  <a:lnTo>
                    <a:pt x="437642" y="19050"/>
                  </a:lnTo>
                  <a:lnTo>
                    <a:pt x="437642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8" name="Freeform 18" descr="https://kimi-img.moonshot.cn/pub/slides/slides_tmpl/image/25-10-09-16:35:24-d3jn7j0s8jdo4os5div0.png"/>
          <p:cNvSpPr/>
          <p:nvPr/>
        </p:nvSpPr>
        <p:spPr>
          <a:xfrm flipV="1">
            <a:off x="1277302" y="945832"/>
            <a:ext cx="1143000" cy="114300"/>
          </a:xfrm>
          <a:custGeom>
            <a:avLst/>
            <a:gdLst/>
            <a:ahLst/>
            <a:cxnLst/>
            <a:rect l="l" t="t" r="r" b="b"/>
            <a:pathLst>
              <a:path w="1143000" h="114300">
                <a:moveTo>
                  <a:pt x="0" y="114300"/>
                </a:moveTo>
                <a:lnTo>
                  <a:pt x="1143000" y="114300"/>
                </a:lnTo>
                <a:lnTo>
                  <a:pt x="1143000" y="0"/>
                </a:ln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blipFill>
            <a:blip r:embed="rId4">
              <a:alphaModFix amt="40000"/>
            </a:blip>
            <a:stretch>
              <a:fillRect l="-5454" r="-5455"/>
            </a:stretch>
          </a:blipFill>
        </p:spPr>
      </p:sp>
      <p:sp>
        <p:nvSpPr>
          <p:cNvPr id="19" name="Freeform 19" descr="https://kimi-img.moonshot.cn/pub/slides/slides_tmpl/image/25-10-09-16:35:24-d3jn7j0s8jdo4os5div0.png"/>
          <p:cNvSpPr/>
          <p:nvPr/>
        </p:nvSpPr>
        <p:spPr>
          <a:xfrm flipV="1">
            <a:off x="1277302" y="1142048"/>
            <a:ext cx="1143000" cy="114300"/>
          </a:xfrm>
          <a:custGeom>
            <a:avLst/>
            <a:gdLst/>
            <a:ahLst/>
            <a:cxnLst/>
            <a:rect l="l" t="t" r="r" b="b"/>
            <a:pathLst>
              <a:path w="1143000" h="114300">
                <a:moveTo>
                  <a:pt x="0" y="114300"/>
                </a:moveTo>
                <a:lnTo>
                  <a:pt x="1143000" y="114300"/>
                </a:lnTo>
                <a:lnTo>
                  <a:pt x="1143000" y="0"/>
                </a:ln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blipFill>
            <a:blip r:embed="rId4">
              <a:alphaModFix amt="40000"/>
            </a:blip>
            <a:stretch>
              <a:fillRect l="-5454" r="-5455"/>
            </a:stretch>
          </a:blipFill>
        </p:spPr>
      </p:sp>
      <p:sp>
        <p:nvSpPr>
          <p:cNvPr id="20" name="Freeform 20" descr="https://kimi-img.moonshot.cn/pub/slides/slides_tmpl/image/25-10-09-16:35:24-d3jn7j0s8jdo4os5diug.jpg"/>
          <p:cNvSpPr/>
          <p:nvPr/>
        </p:nvSpPr>
        <p:spPr>
          <a:xfrm rot="5400000">
            <a:off x="486728" y="8232457"/>
            <a:ext cx="3255645" cy="853440"/>
          </a:xfrm>
          <a:custGeom>
            <a:avLst/>
            <a:gdLst/>
            <a:ahLst/>
            <a:cxnLst/>
            <a:rect l="l" t="t" r="r" b="b"/>
            <a:pathLst>
              <a:path w="3255645" h="853440">
                <a:moveTo>
                  <a:pt x="0" y="0"/>
                </a:moveTo>
                <a:lnTo>
                  <a:pt x="3255644" y="0"/>
                </a:lnTo>
                <a:lnTo>
                  <a:pt x="3255644" y="853441"/>
                </a:lnTo>
                <a:lnTo>
                  <a:pt x="0" y="8534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2008" b="-12008"/>
            </a:stretch>
          </a:blipFill>
        </p:spPr>
      </p:sp>
      <p:grpSp>
        <p:nvGrpSpPr>
          <p:cNvPr id="21" name="Group 21"/>
          <p:cNvGrpSpPr/>
          <p:nvPr/>
        </p:nvGrpSpPr>
        <p:grpSpPr>
          <a:xfrm>
            <a:off x="14400257" y="1313536"/>
            <a:ext cx="3109912" cy="14288"/>
            <a:chOff x="0" y="0"/>
            <a:chExt cx="4146550" cy="19050"/>
          </a:xfrm>
        </p:grpSpPr>
        <p:sp>
          <p:nvSpPr>
            <p:cNvPr id="22" name="Freeform 22"/>
            <p:cNvSpPr/>
            <p:nvPr/>
          </p:nvSpPr>
          <p:spPr>
            <a:xfrm>
              <a:off x="9525" y="0"/>
              <a:ext cx="4127500" cy="19050"/>
            </a:xfrm>
            <a:custGeom>
              <a:avLst/>
              <a:gdLst/>
              <a:ahLst/>
              <a:cxnLst/>
              <a:rect l="l" t="t" r="r" b="b"/>
              <a:pathLst>
                <a:path w="4127500" h="19050">
                  <a:moveTo>
                    <a:pt x="0" y="0"/>
                  </a:moveTo>
                  <a:lnTo>
                    <a:pt x="4127500" y="0"/>
                  </a:lnTo>
                  <a:lnTo>
                    <a:pt x="41275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000000">
                <a:alpha val="4706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3" name="TextBox 23"/>
          <p:cNvSpPr txBox="1"/>
          <p:nvPr/>
        </p:nvSpPr>
        <p:spPr>
          <a:xfrm>
            <a:off x="6915121" y="1987650"/>
            <a:ext cx="1361123" cy="1231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dirty="0">
                <a:solidFill>
                  <a:srgbClr val="0439E1"/>
                </a:solidFill>
                <a:latin typeface="Arimo"/>
                <a:ea typeface="Arimo"/>
                <a:cs typeface="Arimo"/>
                <a:sym typeface="Arimo"/>
              </a:rPr>
              <a:t>01.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266509" y="2380298"/>
            <a:ext cx="9020175" cy="479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zh-CN" altLang="en-US" sz="3000" dirty="0">
                <a:solidFill>
                  <a:srgbClr val="595959"/>
                </a:solidFill>
                <a:latin typeface="Arimo"/>
                <a:ea typeface="Arimo"/>
                <a:cs typeface="Arimo"/>
                <a:sym typeface="Arimo"/>
              </a:rPr>
              <a:t>问题背景</a:t>
            </a:r>
            <a:endParaRPr lang="en-US" sz="3000" dirty="0">
              <a:solidFill>
                <a:srgbClr val="595959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6962451" y="3111488"/>
            <a:ext cx="1361123" cy="1231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dirty="0">
                <a:solidFill>
                  <a:srgbClr val="0439E1"/>
                </a:solidFill>
                <a:latin typeface="Arimo"/>
                <a:ea typeface="Arimo"/>
                <a:cs typeface="Arimo"/>
                <a:sym typeface="Arimo"/>
              </a:rPr>
              <a:t>02.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265556" y="3470238"/>
            <a:ext cx="9021128" cy="479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zh-CN" altLang="en-US" sz="3000" dirty="0">
                <a:solidFill>
                  <a:srgbClr val="595959"/>
                </a:solidFill>
                <a:latin typeface="Arimo"/>
                <a:ea typeface="Arimo"/>
                <a:cs typeface="Arimo"/>
                <a:sym typeface="Arimo"/>
              </a:rPr>
              <a:t>设计（封装、继承、多态）</a:t>
            </a:r>
            <a:endParaRPr lang="en-US" sz="3000" dirty="0">
              <a:solidFill>
                <a:srgbClr val="595959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6962451" y="4453645"/>
            <a:ext cx="1361123" cy="1231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dirty="0">
                <a:solidFill>
                  <a:srgbClr val="0439E1"/>
                </a:solidFill>
                <a:latin typeface="Arimo"/>
                <a:ea typeface="Arimo"/>
                <a:cs typeface="Arimo"/>
                <a:sym typeface="Arimo"/>
              </a:rPr>
              <a:t>03.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265556" y="4787698"/>
            <a:ext cx="9021128" cy="479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zh-CN" altLang="en-US" sz="3000" dirty="0">
                <a:solidFill>
                  <a:srgbClr val="595959"/>
                </a:solidFill>
                <a:latin typeface="Arimo"/>
                <a:ea typeface="Arimo"/>
                <a:cs typeface="Arimo"/>
                <a:sym typeface="Arimo"/>
              </a:rPr>
              <a:t>程序实现</a:t>
            </a:r>
            <a:endParaRPr lang="en-US" sz="3000" dirty="0">
              <a:solidFill>
                <a:srgbClr val="595959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6962451" y="4788217"/>
            <a:ext cx="1361123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endParaRPr lang="en-US" sz="6000" dirty="0">
              <a:solidFill>
                <a:srgbClr val="0439E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8324526" y="5052060"/>
            <a:ext cx="9022080" cy="479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endParaRPr lang="en-US" sz="3000" dirty="0">
              <a:solidFill>
                <a:srgbClr val="595959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6962386" y="5789294"/>
            <a:ext cx="1266594" cy="94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dirty="0">
                <a:solidFill>
                  <a:srgbClr val="0439E1"/>
                </a:solidFill>
                <a:latin typeface="Arimo"/>
                <a:ea typeface="Arimo"/>
                <a:cs typeface="Arimo"/>
                <a:sym typeface="Arimo"/>
              </a:rPr>
              <a:t>04.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229932" y="5999392"/>
            <a:ext cx="8392848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dirty="0" err="1">
                <a:solidFill>
                  <a:srgbClr val="595959"/>
                </a:solidFill>
                <a:latin typeface="Arimo"/>
                <a:ea typeface="Arimo"/>
                <a:cs typeface="Arimo"/>
                <a:sym typeface="Arimo"/>
              </a:rPr>
              <a:t>总结</a:t>
            </a:r>
            <a:endParaRPr lang="en-US" sz="3000" dirty="0">
              <a:solidFill>
                <a:srgbClr val="595959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Freeform 3" descr="https://kimi-img.moonshot.cn/pub/slides/slides_tmpl/image/25-10-09-16:35:26-d3jn7jgs8jdo4os5dj50.jpg"/>
          <p:cNvSpPr/>
          <p:nvPr/>
        </p:nvSpPr>
        <p:spPr>
          <a:xfrm>
            <a:off x="0" y="0"/>
            <a:ext cx="18287048" cy="10287000"/>
          </a:xfrm>
          <a:custGeom>
            <a:avLst/>
            <a:gdLst/>
            <a:ahLst/>
            <a:cxnLst/>
            <a:rect l="l" t="t" r="r" b="b"/>
            <a:pathLst>
              <a:path w="18287048" h="10287000">
                <a:moveTo>
                  <a:pt x="0" y="0"/>
                </a:moveTo>
                <a:lnTo>
                  <a:pt x="18287048" y="0"/>
                </a:lnTo>
                <a:lnTo>
                  <a:pt x="1828704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6000"/>
            </a:blip>
            <a:stretch>
              <a:fillRect t="-90" b="-89"/>
            </a:stretch>
          </a:blipFill>
        </p:spPr>
      </p:sp>
      <p:sp>
        <p:nvSpPr>
          <p:cNvPr id="4" name="Freeform 4" descr="https://kimi-img.moonshot.cn/pub/slides/slides_tmpl/image/25-10-09-16:35:24-d3jn7j0s8jdo4os5divg.jpg"/>
          <p:cNvSpPr/>
          <p:nvPr/>
        </p:nvSpPr>
        <p:spPr>
          <a:xfrm>
            <a:off x="4346258" y="5304472"/>
            <a:ext cx="10235565" cy="1104900"/>
          </a:xfrm>
          <a:custGeom>
            <a:avLst/>
            <a:gdLst/>
            <a:ahLst/>
            <a:cxnLst/>
            <a:rect l="l" t="t" r="r" b="b"/>
            <a:pathLst>
              <a:path w="10235565" h="1104900">
                <a:moveTo>
                  <a:pt x="0" y="0"/>
                </a:moveTo>
                <a:lnTo>
                  <a:pt x="10235564" y="0"/>
                </a:lnTo>
                <a:lnTo>
                  <a:pt x="10235564" y="1104900"/>
                </a:lnTo>
                <a:lnTo>
                  <a:pt x="0" y="11049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73325" b="-73324"/>
            </a:stretch>
          </a:blipFill>
        </p:spPr>
      </p:sp>
      <p:sp>
        <p:nvSpPr>
          <p:cNvPr id="5" name="Freeform 5" descr="https://kimi-img.moonshot.cn/pub/slides/slides_tmpl/image/25-10-09-16:35:24-d3jn7j0s8jdo4os5diug.jpg"/>
          <p:cNvSpPr/>
          <p:nvPr/>
        </p:nvSpPr>
        <p:spPr>
          <a:xfrm rot="-10800000">
            <a:off x="806768" y="8847772"/>
            <a:ext cx="2555558" cy="565785"/>
          </a:xfrm>
          <a:custGeom>
            <a:avLst/>
            <a:gdLst/>
            <a:ahLst/>
            <a:cxnLst/>
            <a:rect l="l" t="t" r="r" b="b"/>
            <a:pathLst>
              <a:path w="2555558" h="565785">
                <a:moveTo>
                  <a:pt x="0" y="0"/>
                </a:moveTo>
                <a:lnTo>
                  <a:pt x="2555557" y="0"/>
                </a:lnTo>
                <a:lnTo>
                  <a:pt x="2555557" y="565785"/>
                </a:lnTo>
                <a:lnTo>
                  <a:pt x="0" y="5657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23422" b="-23420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8249831" y="3428524"/>
            <a:ext cx="2428408" cy="2016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00"/>
              </a:lnSpc>
            </a:pPr>
            <a:r>
              <a:rPr lang="en-US" sz="12750">
                <a:solidFill>
                  <a:srgbClr val="0439E1"/>
                </a:solidFill>
                <a:latin typeface="Arimo"/>
                <a:ea typeface="Arimo"/>
                <a:cs typeface="Arimo"/>
                <a:sym typeface="Arimo"/>
              </a:rPr>
              <a:t>01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508659" y="5436870"/>
            <a:ext cx="9910762" cy="811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20"/>
              </a:lnSpc>
            </a:pPr>
            <a:r>
              <a:rPr lang="zh-CN" altLang="en-US" sz="5100" dirty="0">
                <a:solidFill>
                  <a:srgbClr val="0D0D0D"/>
                </a:solidFill>
                <a:latin typeface="Arimo"/>
                <a:ea typeface="Arimo"/>
                <a:cs typeface="Arimo"/>
                <a:sym typeface="Arimo"/>
              </a:rPr>
              <a:t>问题</a:t>
            </a:r>
            <a:r>
              <a:rPr lang="en-US" sz="5100" dirty="0" err="1">
                <a:solidFill>
                  <a:srgbClr val="0D0D0D"/>
                </a:solidFill>
                <a:latin typeface="Arimo"/>
                <a:ea typeface="Arimo"/>
                <a:cs typeface="Arimo"/>
                <a:sym typeface="Arimo"/>
              </a:rPr>
              <a:t>背景</a:t>
            </a:r>
            <a:endParaRPr lang="en-US" sz="5100" dirty="0">
              <a:solidFill>
                <a:srgbClr val="0D0D0D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3970679" y="9491701"/>
            <a:ext cx="3109912" cy="14288"/>
            <a:chOff x="0" y="0"/>
            <a:chExt cx="4146550" cy="19050"/>
          </a:xfrm>
        </p:grpSpPr>
        <p:sp>
          <p:nvSpPr>
            <p:cNvPr id="9" name="Freeform 9"/>
            <p:cNvSpPr/>
            <p:nvPr/>
          </p:nvSpPr>
          <p:spPr>
            <a:xfrm>
              <a:off x="9525" y="0"/>
              <a:ext cx="4127500" cy="19050"/>
            </a:xfrm>
            <a:custGeom>
              <a:avLst/>
              <a:gdLst/>
              <a:ahLst/>
              <a:cxnLst/>
              <a:rect l="l" t="t" r="r" b="b"/>
              <a:pathLst>
                <a:path w="4127500" h="19050">
                  <a:moveTo>
                    <a:pt x="0" y="0"/>
                  </a:moveTo>
                  <a:lnTo>
                    <a:pt x="4127500" y="0"/>
                  </a:lnTo>
                  <a:lnTo>
                    <a:pt x="41275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000000">
                <a:alpha val="4706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7175337" y="9045321"/>
            <a:ext cx="342538" cy="91926"/>
            <a:chOff x="0" y="0"/>
            <a:chExt cx="456717" cy="122568"/>
          </a:xfrm>
        </p:grpSpPr>
        <p:sp>
          <p:nvSpPr>
            <p:cNvPr id="11" name="Freeform 11"/>
            <p:cNvSpPr/>
            <p:nvPr/>
          </p:nvSpPr>
          <p:spPr>
            <a:xfrm>
              <a:off x="19050" y="19050"/>
              <a:ext cx="418592" cy="84455"/>
            </a:xfrm>
            <a:custGeom>
              <a:avLst/>
              <a:gdLst/>
              <a:ahLst/>
              <a:cxnLst/>
              <a:rect l="l" t="t" r="r" b="b"/>
              <a:pathLst>
                <a:path w="418592" h="84455">
                  <a:moveTo>
                    <a:pt x="0" y="0"/>
                  </a:moveTo>
                  <a:lnTo>
                    <a:pt x="418592" y="0"/>
                  </a:lnTo>
                  <a:lnTo>
                    <a:pt x="418592" y="84455"/>
                  </a:lnTo>
                  <a:lnTo>
                    <a:pt x="0" y="84455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0" y="0"/>
              <a:ext cx="456692" cy="122555"/>
            </a:xfrm>
            <a:custGeom>
              <a:avLst/>
              <a:gdLst/>
              <a:ahLst/>
              <a:cxnLst/>
              <a:rect l="l" t="t" r="r" b="b"/>
              <a:pathLst>
                <a:path w="456692" h="122555">
                  <a:moveTo>
                    <a:pt x="19050" y="0"/>
                  </a:moveTo>
                  <a:lnTo>
                    <a:pt x="437642" y="0"/>
                  </a:lnTo>
                  <a:cubicBezTo>
                    <a:pt x="448183" y="0"/>
                    <a:pt x="456692" y="8509"/>
                    <a:pt x="456692" y="19050"/>
                  </a:cubicBezTo>
                  <a:lnTo>
                    <a:pt x="456692" y="103505"/>
                  </a:lnTo>
                  <a:cubicBezTo>
                    <a:pt x="456692" y="114046"/>
                    <a:pt x="448183" y="122555"/>
                    <a:pt x="437642" y="122555"/>
                  </a:cubicBezTo>
                  <a:lnTo>
                    <a:pt x="19050" y="122555"/>
                  </a:lnTo>
                  <a:cubicBezTo>
                    <a:pt x="8509" y="122555"/>
                    <a:pt x="0" y="114046"/>
                    <a:pt x="0" y="103505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103505"/>
                  </a:lnTo>
                  <a:lnTo>
                    <a:pt x="19050" y="103505"/>
                  </a:lnTo>
                  <a:lnTo>
                    <a:pt x="19050" y="84455"/>
                  </a:lnTo>
                  <a:lnTo>
                    <a:pt x="437642" y="84455"/>
                  </a:lnTo>
                  <a:lnTo>
                    <a:pt x="437642" y="103505"/>
                  </a:lnTo>
                  <a:lnTo>
                    <a:pt x="418592" y="103505"/>
                  </a:lnTo>
                  <a:lnTo>
                    <a:pt x="418592" y="19050"/>
                  </a:lnTo>
                  <a:lnTo>
                    <a:pt x="437642" y="19050"/>
                  </a:lnTo>
                  <a:lnTo>
                    <a:pt x="437642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17175337" y="9190787"/>
            <a:ext cx="342538" cy="91926"/>
            <a:chOff x="0" y="0"/>
            <a:chExt cx="456717" cy="122568"/>
          </a:xfrm>
        </p:grpSpPr>
        <p:sp>
          <p:nvSpPr>
            <p:cNvPr id="14" name="Freeform 14"/>
            <p:cNvSpPr/>
            <p:nvPr/>
          </p:nvSpPr>
          <p:spPr>
            <a:xfrm>
              <a:off x="19050" y="19050"/>
              <a:ext cx="418592" cy="84455"/>
            </a:xfrm>
            <a:custGeom>
              <a:avLst/>
              <a:gdLst/>
              <a:ahLst/>
              <a:cxnLst/>
              <a:rect l="l" t="t" r="r" b="b"/>
              <a:pathLst>
                <a:path w="418592" h="84455">
                  <a:moveTo>
                    <a:pt x="0" y="0"/>
                  </a:moveTo>
                  <a:lnTo>
                    <a:pt x="418592" y="0"/>
                  </a:lnTo>
                  <a:lnTo>
                    <a:pt x="418592" y="84455"/>
                  </a:lnTo>
                  <a:lnTo>
                    <a:pt x="0" y="84455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0" y="0"/>
              <a:ext cx="456692" cy="122555"/>
            </a:xfrm>
            <a:custGeom>
              <a:avLst/>
              <a:gdLst/>
              <a:ahLst/>
              <a:cxnLst/>
              <a:rect l="l" t="t" r="r" b="b"/>
              <a:pathLst>
                <a:path w="456692" h="122555">
                  <a:moveTo>
                    <a:pt x="19050" y="0"/>
                  </a:moveTo>
                  <a:lnTo>
                    <a:pt x="437642" y="0"/>
                  </a:lnTo>
                  <a:cubicBezTo>
                    <a:pt x="448183" y="0"/>
                    <a:pt x="456692" y="8509"/>
                    <a:pt x="456692" y="19050"/>
                  </a:cubicBezTo>
                  <a:lnTo>
                    <a:pt x="456692" y="103505"/>
                  </a:lnTo>
                  <a:cubicBezTo>
                    <a:pt x="456692" y="114046"/>
                    <a:pt x="448183" y="122555"/>
                    <a:pt x="437642" y="122555"/>
                  </a:cubicBezTo>
                  <a:lnTo>
                    <a:pt x="19050" y="122555"/>
                  </a:lnTo>
                  <a:cubicBezTo>
                    <a:pt x="8509" y="122555"/>
                    <a:pt x="0" y="114046"/>
                    <a:pt x="0" y="103505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103505"/>
                  </a:lnTo>
                  <a:lnTo>
                    <a:pt x="19050" y="103505"/>
                  </a:lnTo>
                  <a:lnTo>
                    <a:pt x="19050" y="84455"/>
                  </a:lnTo>
                  <a:lnTo>
                    <a:pt x="437642" y="84455"/>
                  </a:lnTo>
                  <a:lnTo>
                    <a:pt x="437642" y="103505"/>
                  </a:lnTo>
                  <a:lnTo>
                    <a:pt x="418592" y="103505"/>
                  </a:lnTo>
                  <a:lnTo>
                    <a:pt x="418592" y="19050"/>
                  </a:lnTo>
                  <a:lnTo>
                    <a:pt x="437642" y="19050"/>
                  </a:lnTo>
                  <a:lnTo>
                    <a:pt x="437642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17175337" y="9336243"/>
            <a:ext cx="342538" cy="91926"/>
            <a:chOff x="0" y="0"/>
            <a:chExt cx="456717" cy="122568"/>
          </a:xfrm>
        </p:grpSpPr>
        <p:sp>
          <p:nvSpPr>
            <p:cNvPr id="17" name="Freeform 17"/>
            <p:cNvSpPr/>
            <p:nvPr/>
          </p:nvSpPr>
          <p:spPr>
            <a:xfrm>
              <a:off x="19050" y="19050"/>
              <a:ext cx="418592" cy="84455"/>
            </a:xfrm>
            <a:custGeom>
              <a:avLst/>
              <a:gdLst/>
              <a:ahLst/>
              <a:cxnLst/>
              <a:rect l="l" t="t" r="r" b="b"/>
              <a:pathLst>
                <a:path w="418592" h="84455">
                  <a:moveTo>
                    <a:pt x="0" y="0"/>
                  </a:moveTo>
                  <a:lnTo>
                    <a:pt x="418592" y="0"/>
                  </a:lnTo>
                  <a:lnTo>
                    <a:pt x="418592" y="84455"/>
                  </a:lnTo>
                  <a:lnTo>
                    <a:pt x="0" y="84455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0" y="0"/>
              <a:ext cx="456692" cy="122555"/>
            </a:xfrm>
            <a:custGeom>
              <a:avLst/>
              <a:gdLst/>
              <a:ahLst/>
              <a:cxnLst/>
              <a:rect l="l" t="t" r="r" b="b"/>
              <a:pathLst>
                <a:path w="456692" h="122555">
                  <a:moveTo>
                    <a:pt x="19050" y="0"/>
                  </a:moveTo>
                  <a:lnTo>
                    <a:pt x="437642" y="0"/>
                  </a:lnTo>
                  <a:cubicBezTo>
                    <a:pt x="448183" y="0"/>
                    <a:pt x="456692" y="8509"/>
                    <a:pt x="456692" y="19050"/>
                  </a:cubicBezTo>
                  <a:lnTo>
                    <a:pt x="456692" y="103505"/>
                  </a:lnTo>
                  <a:cubicBezTo>
                    <a:pt x="456692" y="114046"/>
                    <a:pt x="448183" y="122555"/>
                    <a:pt x="437642" y="122555"/>
                  </a:cubicBezTo>
                  <a:lnTo>
                    <a:pt x="19050" y="122555"/>
                  </a:lnTo>
                  <a:cubicBezTo>
                    <a:pt x="8509" y="122555"/>
                    <a:pt x="0" y="114046"/>
                    <a:pt x="0" y="103505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103505"/>
                  </a:lnTo>
                  <a:lnTo>
                    <a:pt x="19050" y="103505"/>
                  </a:lnTo>
                  <a:lnTo>
                    <a:pt x="19050" y="84455"/>
                  </a:lnTo>
                  <a:lnTo>
                    <a:pt x="437642" y="84455"/>
                  </a:lnTo>
                  <a:lnTo>
                    <a:pt x="437642" y="103505"/>
                  </a:lnTo>
                  <a:lnTo>
                    <a:pt x="418592" y="103505"/>
                  </a:lnTo>
                  <a:lnTo>
                    <a:pt x="418592" y="19050"/>
                  </a:lnTo>
                  <a:lnTo>
                    <a:pt x="437642" y="19050"/>
                  </a:lnTo>
                  <a:lnTo>
                    <a:pt x="437642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9" name="Freeform 19" descr="https://kimi-img.moonshot.cn/pub/slides/slides_tmpl/image/25-10-09-16:35:24-d3jn7j0s8jdo4os5div0.png"/>
          <p:cNvSpPr/>
          <p:nvPr/>
        </p:nvSpPr>
        <p:spPr>
          <a:xfrm flipV="1">
            <a:off x="1277302" y="945832"/>
            <a:ext cx="1143000" cy="114300"/>
          </a:xfrm>
          <a:custGeom>
            <a:avLst/>
            <a:gdLst/>
            <a:ahLst/>
            <a:cxnLst/>
            <a:rect l="l" t="t" r="r" b="b"/>
            <a:pathLst>
              <a:path w="1143000" h="114300">
                <a:moveTo>
                  <a:pt x="0" y="114300"/>
                </a:moveTo>
                <a:lnTo>
                  <a:pt x="1143000" y="114300"/>
                </a:lnTo>
                <a:lnTo>
                  <a:pt x="1143000" y="0"/>
                </a:ln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blipFill>
            <a:blip r:embed="rId7">
              <a:alphaModFix amt="40000"/>
            </a:blip>
            <a:stretch>
              <a:fillRect l="-5454" r="-5455"/>
            </a:stretch>
          </a:blipFill>
        </p:spPr>
      </p:sp>
      <p:sp>
        <p:nvSpPr>
          <p:cNvPr id="20" name="Freeform 20" descr="https://kimi-img.moonshot.cn/pub/slides/slides_tmpl/image/25-10-09-16:35:24-d3jn7j0s8jdo4os5div0.png"/>
          <p:cNvSpPr/>
          <p:nvPr/>
        </p:nvSpPr>
        <p:spPr>
          <a:xfrm flipV="1">
            <a:off x="1277302" y="1142048"/>
            <a:ext cx="1143000" cy="114300"/>
          </a:xfrm>
          <a:custGeom>
            <a:avLst/>
            <a:gdLst/>
            <a:ahLst/>
            <a:cxnLst/>
            <a:rect l="l" t="t" r="r" b="b"/>
            <a:pathLst>
              <a:path w="1143000" h="114300">
                <a:moveTo>
                  <a:pt x="0" y="114300"/>
                </a:moveTo>
                <a:lnTo>
                  <a:pt x="1143000" y="114300"/>
                </a:lnTo>
                <a:lnTo>
                  <a:pt x="1143000" y="0"/>
                </a:ln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blipFill>
            <a:blip r:embed="rId7">
              <a:alphaModFix amt="40000"/>
            </a:blip>
            <a:stretch>
              <a:fillRect l="-5454" r="-5455"/>
            </a:stretch>
          </a:blipFill>
        </p:spPr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https://kimi-img.moonshot.cn/pub/slides/slides_tmpl/image/25-10-09-16:35:25-d3jn7j8s8jdo4os5dj20.jpg"/>
          <p:cNvSpPr/>
          <p:nvPr/>
        </p:nvSpPr>
        <p:spPr>
          <a:xfrm>
            <a:off x="-36576" y="0"/>
            <a:ext cx="18288000" cy="10287952"/>
          </a:xfrm>
          <a:custGeom>
            <a:avLst/>
            <a:gdLst/>
            <a:ahLst/>
            <a:cxnLst/>
            <a:rect l="l" t="t" r="r" b="b"/>
            <a:pathLst>
              <a:path w="18288000" h="10287952">
                <a:moveTo>
                  <a:pt x="0" y="0"/>
                </a:moveTo>
                <a:lnTo>
                  <a:pt x="18288000" y="0"/>
                </a:lnTo>
                <a:lnTo>
                  <a:pt x="18288000" y="10287952"/>
                </a:lnTo>
                <a:lnTo>
                  <a:pt x="0" y="102879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" r="-4"/>
            </a:stretch>
          </a:blipFill>
        </p:spPr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788F57D9-D2B2-CE7F-1CB1-0C9AA5BFA08C}"/>
              </a:ext>
            </a:extLst>
          </p:cNvPr>
          <p:cNvSpPr txBox="1"/>
          <p:nvPr/>
        </p:nvSpPr>
        <p:spPr>
          <a:xfrm>
            <a:off x="1383792" y="3009900"/>
            <a:ext cx="128778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在校园食堂管理中，传统的现金支付方式存在诸多问题：</a:t>
            </a:r>
          </a:p>
          <a:p>
            <a:r>
              <a:rPr lang="en-US" altLang="zh-CN" sz="3600" dirty="0"/>
              <a:t>1.</a:t>
            </a:r>
            <a:r>
              <a:rPr lang="zh-CN" altLang="en-US" sz="3600" dirty="0"/>
              <a:t>效率低下：每次用餐都需要找零，排队时间长</a:t>
            </a:r>
          </a:p>
          <a:p>
            <a:r>
              <a:rPr lang="en-US" altLang="zh-CN" sz="3600" dirty="0"/>
              <a:t>2.</a:t>
            </a:r>
            <a:r>
              <a:rPr lang="zh-CN" altLang="en-US" sz="3600" dirty="0"/>
              <a:t>卫生隐患：现金流通频繁，容易传播细菌</a:t>
            </a:r>
          </a:p>
          <a:p>
            <a:r>
              <a:rPr lang="en-US" altLang="zh-CN" sz="3600" dirty="0"/>
              <a:t>3.</a:t>
            </a:r>
            <a:r>
              <a:rPr lang="zh-CN" altLang="en-US" sz="3600" dirty="0"/>
              <a:t>管理困难：无法统计消费数据，难以进行数据分析</a:t>
            </a:r>
          </a:p>
          <a:p>
            <a:r>
              <a:rPr lang="en-US" altLang="zh-CN" sz="3600" dirty="0"/>
              <a:t>4.</a:t>
            </a:r>
            <a:r>
              <a:rPr lang="zh-CN" altLang="en-US" sz="3600" dirty="0"/>
              <a:t>优惠管理复杂：不同身份（学生、教师、访客）享受不同折扣，人工计算容易出错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EBC6D783-1D9C-C171-E35B-63AE3E2AE1E9}"/>
              </a:ext>
            </a:extLst>
          </p:cNvPr>
          <p:cNvSpPr txBox="1"/>
          <p:nvPr/>
        </p:nvSpPr>
        <p:spPr>
          <a:xfrm>
            <a:off x="1371600" y="1104900"/>
            <a:ext cx="9144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600" dirty="0">
                <a:solidFill>
                  <a:srgbClr val="FF0000"/>
                </a:solidFill>
              </a:rPr>
              <a:t>问题背景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31DEF8-CB41-AD8C-0248-5E7790BCA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https://kimi-img.moonshot.cn/pub/slides/slides_tmpl/image/25-10-09-16:35:25-d3jn7j8s8jdo4os5dj20.jpg">
            <a:extLst>
              <a:ext uri="{FF2B5EF4-FFF2-40B4-BE49-F238E27FC236}">
                <a16:creationId xmlns:a16="http://schemas.microsoft.com/office/drawing/2014/main" id="{45EEB1E3-55D2-C4C5-AB42-E4A7692AD894}"/>
              </a:ext>
            </a:extLst>
          </p:cNvPr>
          <p:cNvSpPr/>
          <p:nvPr/>
        </p:nvSpPr>
        <p:spPr>
          <a:xfrm>
            <a:off x="-36576" y="0"/>
            <a:ext cx="18288000" cy="10287952"/>
          </a:xfrm>
          <a:custGeom>
            <a:avLst/>
            <a:gdLst/>
            <a:ahLst/>
            <a:cxnLst/>
            <a:rect l="l" t="t" r="r" b="b"/>
            <a:pathLst>
              <a:path w="18288000" h="10287952">
                <a:moveTo>
                  <a:pt x="0" y="0"/>
                </a:moveTo>
                <a:lnTo>
                  <a:pt x="18288000" y="0"/>
                </a:lnTo>
                <a:lnTo>
                  <a:pt x="18288000" y="10287952"/>
                </a:lnTo>
                <a:lnTo>
                  <a:pt x="0" y="102879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" r="-4"/>
            </a:stretch>
          </a:blipFill>
        </p:spPr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635A8598-5E8A-208A-1551-EFD3DCD464D8}"/>
              </a:ext>
            </a:extLst>
          </p:cNvPr>
          <p:cNvSpPr txBox="1"/>
          <p:nvPr/>
        </p:nvSpPr>
        <p:spPr>
          <a:xfrm>
            <a:off x="1359408" y="1664277"/>
            <a:ext cx="12877800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痛点</a:t>
            </a:r>
            <a:r>
              <a:rPr lang="en-US" altLang="zh-CN" sz="2800" dirty="0"/>
              <a:t>1</a:t>
            </a:r>
            <a:r>
              <a:rPr lang="zh-CN" altLang="en-US" sz="2800" dirty="0"/>
              <a:t>：缺乏统一的支付管理系统</a:t>
            </a:r>
          </a:p>
          <a:p>
            <a:r>
              <a:rPr lang="zh-CN" altLang="en-US" sz="2800" dirty="0"/>
              <a:t>学生、教师、访客使用不同的支付方式</a:t>
            </a:r>
          </a:p>
          <a:p>
            <a:r>
              <a:rPr lang="zh-CN" altLang="en-US" sz="2800" dirty="0"/>
              <a:t>无法统一管理和统计消费数据</a:t>
            </a:r>
          </a:p>
          <a:p>
            <a:r>
              <a:rPr lang="zh-CN" altLang="en-US" sz="2800" dirty="0"/>
              <a:t>难以实现优惠政策的自动化执行</a:t>
            </a:r>
          </a:p>
          <a:p>
            <a:endParaRPr lang="zh-CN" altLang="en-US" sz="2800" dirty="0"/>
          </a:p>
          <a:p>
            <a:r>
              <a:rPr lang="zh-CN" altLang="en-US" sz="2800" dirty="0"/>
              <a:t>痛点</a:t>
            </a:r>
            <a:r>
              <a:rPr lang="en-US" altLang="zh-CN" sz="2800" dirty="0"/>
              <a:t>2</a:t>
            </a:r>
            <a:r>
              <a:rPr lang="zh-CN" altLang="en-US" sz="2800" dirty="0"/>
              <a:t>：优惠规则执行困难</a:t>
            </a:r>
          </a:p>
          <a:p>
            <a:r>
              <a:rPr lang="zh-CN" altLang="en-US" sz="2800" dirty="0"/>
              <a:t>学生卡：需要享受</a:t>
            </a:r>
            <a:r>
              <a:rPr lang="en-US" altLang="zh-CN" sz="2800" dirty="0"/>
              <a:t>8</a:t>
            </a:r>
            <a:r>
              <a:rPr lang="zh-CN" altLang="en-US" sz="2800" dirty="0"/>
              <a:t>折优惠，但人工计算容易出错</a:t>
            </a:r>
          </a:p>
          <a:p>
            <a:r>
              <a:rPr lang="zh-CN" altLang="en-US" sz="2800" dirty="0"/>
              <a:t>教师卡：需要享受</a:t>
            </a:r>
            <a:r>
              <a:rPr lang="en-US" altLang="zh-CN" sz="2800" dirty="0"/>
              <a:t>9</a:t>
            </a:r>
            <a:r>
              <a:rPr lang="zh-CN" altLang="en-US" sz="2800" dirty="0"/>
              <a:t>折优惠，且消费达到一定额度后需要返还</a:t>
            </a:r>
          </a:p>
          <a:p>
            <a:r>
              <a:rPr lang="zh-CN" altLang="en-US" sz="2800" dirty="0"/>
              <a:t>临时卡：无折扣，但需要与有折扣的卡区分管理</a:t>
            </a:r>
          </a:p>
          <a:p>
            <a:r>
              <a:rPr lang="zh-CN" altLang="en-US" sz="2800" dirty="0"/>
              <a:t>月末返还需要人工统计和计算，工作量大且易出错</a:t>
            </a:r>
          </a:p>
          <a:p>
            <a:endParaRPr lang="zh-CN" altLang="en-US" sz="2800" dirty="0"/>
          </a:p>
          <a:p>
            <a:r>
              <a:rPr lang="zh-CN" altLang="en-US" sz="2800" dirty="0"/>
              <a:t>痛点</a:t>
            </a:r>
            <a:r>
              <a:rPr lang="en-US" altLang="zh-CN" sz="2800" dirty="0"/>
              <a:t>3</a:t>
            </a:r>
            <a:r>
              <a:rPr lang="zh-CN" altLang="en-US" sz="2800" dirty="0"/>
              <a:t>：数据统计和分析困难</a:t>
            </a:r>
          </a:p>
          <a:p>
            <a:r>
              <a:rPr lang="zh-CN" altLang="en-US" sz="2800" dirty="0"/>
              <a:t>无法自动统计每月的消费总额</a:t>
            </a:r>
          </a:p>
          <a:p>
            <a:r>
              <a:rPr lang="zh-CN" altLang="en-US" sz="2800" dirty="0"/>
              <a:t>无法自动计算月末返还金额</a:t>
            </a:r>
          </a:p>
          <a:p>
            <a:r>
              <a:rPr lang="zh-CN" altLang="en-US" sz="2800" dirty="0"/>
              <a:t>缺乏交易历史记录，难以追溯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D266C9D3-8D5D-B69C-111A-9E1CE741C119}"/>
              </a:ext>
            </a:extLst>
          </p:cNvPr>
          <p:cNvSpPr txBox="1"/>
          <p:nvPr/>
        </p:nvSpPr>
        <p:spPr>
          <a:xfrm>
            <a:off x="1353312" y="536469"/>
            <a:ext cx="9144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600" dirty="0">
                <a:solidFill>
                  <a:srgbClr val="FF0000"/>
                </a:solidFill>
              </a:rPr>
              <a:t>核心痛点</a:t>
            </a:r>
          </a:p>
        </p:txBody>
      </p:sp>
    </p:spTree>
    <p:extLst>
      <p:ext uri="{BB962C8B-B14F-4D97-AF65-F5344CB8AC3E}">
        <p14:creationId xmlns:p14="http://schemas.microsoft.com/office/powerpoint/2010/main" val="3326349651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DD6E1F-6784-8EAD-69CA-50D010606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https://kimi-img.moonshot.cn/pub/slides/slides_tmpl/image/25-10-09-16:35:25-d3jn7j8s8jdo4os5dj20.jpg">
            <a:extLst>
              <a:ext uri="{FF2B5EF4-FFF2-40B4-BE49-F238E27FC236}">
                <a16:creationId xmlns:a16="http://schemas.microsoft.com/office/drawing/2014/main" id="{097C4700-778B-C237-87DD-3FE7B22FD961}"/>
              </a:ext>
            </a:extLst>
          </p:cNvPr>
          <p:cNvSpPr/>
          <p:nvPr/>
        </p:nvSpPr>
        <p:spPr>
          <a:xfrm>
            <a:off x="-36576" y="0"/>
            <a:ext cx="18288000" cy="10287952"/>
          </a:xfrm>
          <a:custGeom>
            <a:avLst/>
            <a:gdLst/>
            <a:ahLst/>
            <a:cxnLst/>
            <a:rect l="l" t="t" r="r" b="b"/>
            <a:pathLst>
              <a:path w="18288000" h="10287952">
                <a:moveTo>
                  <a:pt x="0" y="0"/>
                </a:moveTo>
                <a:lnTo>
                  <a:pt x="18288000" y="0"/>
                </a:lnTo>
                <a:lnTo>
                  <a:pt x="18288000" y="10287952"/>
                </a:lnTo>
                <a:lnTo>
                  <a:pt x="0" y="102879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" r="-4"/>
            </a:stretch>
          </a:blipFill>
        </p:spPr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2FCE4051-692A-A3FC-B4B4-682A51BE0C7C}"/>
              </a:ext>
            </a:extLst>
          </p:cNvPr>
          <p:cNvSpPr txBox="1"/>
          <p:nvPr/>
        </p:nvSpPr>
        <p:spPr>
          <a:xfrm>
            <a:off x="1143000" y="3035230"/>
            <a:ext cx="12877800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/>
              <a:t>通过面向对象编程设计一个食堂饭卡管理系统，实现：</a:t>
            </a:r>
          </a:p>
          <a:p>
            <a:r>
              <a:rPr lang="zh-CN" altLang="en-US" sz="4000" dirty="0"/>
              <a:t>统一的饭卡基类，管理所有卡类型的共同功能</a:t>
            </a:r>
          </a:p>
          <a:p>
            <a:r>
              <a:rPr lang="zh-CN" altLang="en-US" sz="4000" dirty="0"/>
              <a:t>通过继承创建不同类型的饭卡（学生卡、教师卡、临时卡）</a:t>
            </a:r>
          </a:p>
          <a:p>
            <a:r>
              <a:rPr lang="zh-CN" altLang="en-US" sz="4000" dirty="0"/>
              <a:t>通过多态实现不同卡类型的差异化处理</a:t>
            </a:r>
          </a:p>
          <a:p>
            <a:r>
              <a:rPr lang="zh-CN" altLang="en-US" sz="4000" dirty="0"/>
              <a:t>自动计算折扣、统计消费、执行月末返还</a:t>
            </a:r>
          </a:p>
          <a:p>
            <a:endParaRPr lang="zh-CN" altLang="en-US" sz="2800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19243D76-84DB-0072-291F-97EA8A6E1787}"/>
              </a:ext>
            </a:extLst>
          </p:cNvPr>
          <p:cNvSpPr txBox="1"/>
          <p:nvPr/>
        </p:nvSpPr>
        <p:spPr>
          <a:xfrm>
            <a:off x="1353312" y="536469"/>
            <a:ext cx="9144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600" dirty="0">
                <a:solidFill>
                  <a:srgbClr val="FF0000"/>
                </a:solidFill>
              </a:rPr>
              <a:t>解决方案概述</a:t>
            </a:r>
          </a:p>
        </p:txBody>
      </p:sp>
    </p:spTree>
    <p:extLst>
      <p:ext uri="{BB962C8B-B14F-4D97-AF65-F5344CB8AC3E}">
        <p14:creationId xmlns:p14="http://schemas.microsoft.com/office/powerpoint/2010/main" val="3549093978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Freeform 3" descr="https://kimi-img.moonshot.cn/pub/slides/slides_tmpl/image/25-10-09-16:35:26-d3jn7jgs8jdo4os5dj50.jpg"/>
          <p:cNvSpPr/>
          <p:nvPr/>
        </p:nvSpPr>
        <p:spPr>
          <a:xfrm>
            <a:off x="0" y="0"/>
            <a:ext cx="18287048" cy="10287000"/>
          </a:xfrm>
          <a:custGeom>
            <a:avLst/>
            <a:gdLst/>
            <a:ahLst/>
            <a:cxnLst/>
            <a:rect l="l" t="t" r="r" b="b"/>
            <a:pathLst>
              <a:path w="18287048" h="10287000">
                <a:moveTo>
                  <a:pt x="0" y="0"/>
                </a:moveTo>
                <a:lnTo>
                  <a:pt x="18287048" y="0"/>
                </a:lnTo>
                <a:lnTo>
                  <a:pt x="1828704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6000"/>
            </a:blip>
            <a:stretch>
              <a:fillRect t="-90" b="-89"/>
            </a:stretch>
          </a:blipFill>
        </p:spPr>
      </p:sp>
      <p:sp>
        <p:nvSpPr>
          <p:cNvPr id="4" name="Freeform 4" descr="https://kimi-img.moonshot.cn/pub/slides/slides_tmpl/image/25-10-09-16:35:24-d3jn7j0s8jdo4os5divg.jpg"/>
          <p:cNvSpPr/>
          <p:nvPr/>
        </p:nvSpPr>
        <p:spPr>
          <a:xfrm>
            <a:off x="4346258" y="5304472"/>
            <a:ext cx="10235565" cy="1104900"/>
          </a:xfrm>
          <a:custGeom>
            <a:avLst/>
            <a:gdLst/>
            <a:ahLst/>
            <a:cxnLst/>
            <a:rect l="l" t="t" r="r" b="b"/>
            <a:pathLst>
              <a:path w="10235565" h="1104900">
                <a:moveTo>
                  <a:pt x="0" y="0"/>
                </a:moveTo>
                <a:lnTo>
                  <a:pt x="10235564" y="0"/>
                </a:lnTo>
                <a:lnTo>
                  <a:pt x="10235564" y="1104900"/>
                </a:lnTo>
                <a:lnTo>
                  <a:pt x="0" y="11049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73325" b="-73324"/>
            </a:stretch>
          </a:blipFill>
        </p:spPr>
      </p:sp>
      <p:sp>
        <p:nvSpPr>
          <p:cNvPr id="5" name="Freeform 5" descr="https://kimi-img.moonshot.cn/pub/slides/slides_tmpl/image/25-10-09-16:35:24-d3jn7j0s8jdo4os5diug.jpg"/>
          <p:cNvSpPr/>
          <p:nvPr/>
        </p:nvSpPr>
        <p:spPr>
          <a:xfrm rot="-10800000">
            <a:off x="806768" y="8847772"/>
            <a:ext cx="2555558" cy="565785"/>
          </a:xfrm>
          <a:custGeom>
            <a:avLst/>
            <a:gdLst/>
            <a:ahLst/>
            <a:cxnLst/>
            <a:rect l="l" t="t" r="r" b="b"/>
            <a:pathLst>
              <a:path w="2555558" h="565785">
                <a:moveTo>
                  <a:pt x="0" y="0"/>
                </a:moveTo>
                <a:lnTo>
                  <a:pt x="2555557" y="0"/>
                </a:lnTo>
                <a:lnTo>
                  <a:pt x="2555557" y="565785"/>
                </a:lnTo>
                <a:lnTo>
                  <a:pt x="0" y="5657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23422" b="-23420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8249831" y="3428524"/>
            <a:ext cx="2428408" cy="2016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00"/>
              </a:lnSpc>
            </a:pPr>
            <a:r>
              <a:rPr lang="en-US" sz="12750">
                <a:solidFill>
                  <a:srgbClr val="0439E1"/>
                </a:solidFill>
                <a:latin typeface="Arimo"/>
                <a:ea typeface="Arimo"/>
                <a:cs typeface="Arimo"/>
                <a:sym typeface="Arimo"/>
              </a:rPr>
              <a:t>02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508659" y="5436870"/>
            <a:ext cx="9910762" cy="782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20"/>
              </a:lnSpc>
            </a:pPr>
            <a:r>
              <a:rPr lang="zh-CN" altLang="en-US" sz="5100" dirty="0">
                <a:solidFill>
                  <a:srgbClr val="0D0D0D"/>
                </a:solidFill>
                <a:latin typeface="Arimo"/>
                <a:ea typeface="Arimo"/>
                <a:cs typeface="Arimo"/>
                <a:sym typeface="Arimo"/>
              </a:rPr>
              <a:t>设计（封装、继承、多态）</a:t>
            </a:r>
            <a:endParaRPr lang="en-US" sz="5100" dirty="0">
              <a:solidFill>
                <a:srgbClr val="0D0D0D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3970679" y="9491701"/>
            <a:ext cx="3109912" cy="14288"/>
            <a:chOff x="0" y="0"/>
            <a:chExt cx="4146550" cy="19050"/>
          </a:xfrm>
        </p:grpSpPr>
        <p:sp>
          <p:nvSpPr>
            <p:cNvPr id="9" name="Freeform 9"/>
            <p:cNvSpPr/>
            <p:nvPr/>
          </p:nvSpPr>
          <p:spPr>
            <a:xfrm>
              <a:off x="9525" y="0"/>
              <a:ext cx="4127500" cy="19050"/>
            </a:xfrm>
            <a:custGeom>
              <a:avLst/>
              <a:gdLst/>
              <a:ahLst/>
              <a:cxnLst/>
              <a:rect l="l" t="t" r="r" b="b"/>
              <a:pathLst>
                <a:path w="4127500" h="19050">
                  <a:moveTo>
                    <a:pt x="0" y="0"/>
                  </a:moveTo>
                  <a:lnTo>
                    <a:pt x="4127500" y="0"/>
                  </a:lnTo>
                  <a:lnTo>
                    <a:pt x="41275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000000">
                <a:alpha val="4706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7175337" y="9045321"/>
            <a:ext cx="342538" cy="91926"/>
            <a:chOff x="0" y="0"/>
            <a:chExt cx="456717" cy="122568"/>
          </a:xfrm>
        </p:grpSpPr>
        <p:sp>
          <p:nvSpPr>
            <p:cNvPr id="11" name="Freeform 11"/>
            <p:cNvSpPr/>
            <p:nvPr/>
          </p:nvSpPr>
          <p:spPr>
            <a:xfrm>
              <a:off x="19050" y="19050"/>
              <a:ext cx="418592" cy="84455"/>
            </a:xfrm>
            <a:custGeom>
              <a:avLst/>
              <a:gdLst/>
              <a:ahLst/>
              <a:cxnLst/>
              <a:rect l="l" t="t" r="r" b="b"/>
              <a:pathLst>
                <a:path w="418592" h="84455">
                  <a:moveTo>
                    <a:pt x="0" y="0"/>
                  </a:moveTo>
                  <a:lnTo>
                    <a:pt x="418592" y="0"/>
                  </a:lnTo>
                  <a:lnTo>
                    <a:pt x="418592" y="84455"/>
                  </a:lnTo>
                  <a:lnTo>
                    <a:pt x="0" y="84455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0" y="0"/>
              <a:ext cx="456692" cy="122555"/>
            </a:xfrm>
            <a:custGeom>
              <a:avLst/>
              <a:gdLst/>
              <a:ahLst/>
              <a:cxnLst/>
              <a:rect l="l" t="t" r="r" b="b"/>
              <a:pathLst>
                <a:path w="456692" h="122555">
                  <a:moveTo>
                    <a:pt x="19050" y="0"/>
                  </a:moveTo>
                  <a:lnTo>
                    <a:pt x="437642" y="0"/>
                  </a:lnTo>
                  <a:cubicBezTo>
                    <a:pt x="448183" y="0"/>
                    <a:pt x="456692" y="8509"/>
                    <a:pt x="456692" y="19050"/>
                  </a:cubicBezTo>
                  <a:lnTo>
                    <a:pt x="456692" y="103505"/>
                  </a:lnTo>
                  <a:cubicBezTo>
                    <a:pt x="456692" y="114046"/>
                    <a:pt x="448183" y="122555"/>
                    <a:pt x="437642" y="122555"/>
                  </a:cubicBezTo>
                  <a:lnTo>
                    <a:pt x="19050" y="122555"/>
                  </a:lnTo>
                  <a:cubicBezTo>
                    <a:pt x="8509" y="122555"/>
                    <a:pt x="0" y="114046"/>
                    <a:pt x="0" y="103505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103505"/>
                  </a:lnTo>
                  <a:lnTo>
                    <a:pt x="19050" y="103505"/>
                  </a:lnTo>
                  <a:lnTo>
                    <a:pt x="19050" y="84455"/>
                  </a:lnTo>
                  <a:lnTo>
                    <a:pt x="437642" y="84455"/>
                  </a:lnTo>
                  <a:lnTo>
                    <a:pt x="437642" y="103505"/>
                  </a:lnTo>
                  <a:lnTo>
                    <a:pt x="418592" y="103505"/>
                  </a:lnTo>
                  <a:lnTo>
                    <a:pt x="418592" y="19050"/>
                  </a:lnTo>
                  <a:lnTo>
                    <a:pt x="437642" y="19050"/>
                  </a:lnTo>
                  <a:lnTo>
                    <a:pt x="437642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17175337" y="9190787"/>
            <a:ext cx="342538" cy="91926"/>
            <a:chOff x="0" y="0"/>
            <a:chExt cx="456717" cy="122568"/>
          </a:xfrm>
        </p:grpSpPr>
        <p:sp>
          <p:nvSpPr>
            <p:cNvPr id="14" name="Freeform 14"/>
            <p:cNvSpPr/>
            <p:nvPr/>
          </p:nvSpPr>
          <p:spPr>
            <a:xfrm>
              <a:off x="19050" y="19050"/>
              <a:ext cx="418592" cy="84455"/>
            </a:xfrm>
            <a:custGeom>
              <a:avLst/>
              <a:gdLst/>
              <a:ahLst/>
              <a:cxnLst/>
              <a:rect l="l" t="t" r="r" b="b"/>
              <a:pathLst>
                <a:path w="418592" h="84455">
                  <a:moveTo>
                    <a:pt x="0" y="0"/>
                  </a:moveTo>
                  <a:lnTo>
                    <a:pt x="418592" y="0"/>
                  </a:lnTo>
                  <a:lnTo>
                    <a:pt x="418592" y="84455"/>
                  </a:lnTo>
                  <a:lnTo>
                    <a:pt x="0" y="84455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0" y="0"/>
              <a:ext cx="456692" cy="122555"/>
            </a:xfrm>
            <a:custGeom>
              <a:avLst/>
              <a:gdLst/>
              <a:ahLst/>
              <a:cxnLst/>
              <a:rect l="l" t="t" r="r" b="b"/>
              <a:pathLst>
                <a:path w="456692" h="122555">
                  <a:moveTo>
                    <a:pt x="19050" y="0"/>
                  </a:moveTo>
                  <a:lnTo>
                    <a:pt x="437642" y="0"/>
                  </a:lnTo>
                  <a:cubicBezTo>
                    <a:pt x="448183" y="0"/>
                    <a:pt x="456692" y="8509"/>
                    <a:pt x="456692" y="19050"/>
                  </a:cubicBezTo>
                  <a:lnTo>
                    <a:pt x="456692" y="103505"/>
                  </a:lnTo>
                  <a:cubicBezTo>
                    <a:pt x="456692" y="114046"/>
                    <a:pt x="448183" y="122555"/>
                    <a:pt x="437642" y="122555"/>
                  </a:cubicBezTo>
                  <a:lnTo>
                    <a:pt x="19050" y="122555"/>
                  </a:lnTo>
                  <a:cubicBezTo>
                    <a:pt x="8509" y="122555"/>
                    <a:pt x="0" y="114046"/>
                    <a:pt x="0" y="103505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103505"/>
                  </a:lnTo>
                  <a:lnTo>
                    <a:pt x="19050" y="103505"/>
                  </a:lnTo>
                  <a:lnTo>
                    <a:pt x="19050" y="84455"/>
                  </a:lnTo>
                  <a:lnTo>
                    <a:pt x="437642" y="84455"/>
                  </a:lnTo>
                  <a:lnTo>
                    <a:pt x="437642" y="103505"/>
                  </a:lnTo>
                  <a:lnTo>
                    <a:pt x="418592" y="103505"/>
                  </a:lnTo>
                  <a:lnTo>
                    <a:pt x="418592" y="19050"/>
                  </a:lnTo>
                  <a:lnTo>
                    <a:pt x="437642" y="19050"/>
                  </a:lnTo>
                  <a:lnTo>
                    <a:pt x="437642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17175337" y="9336243"/>
            <a:ext cx="342538" cy="91926"/>
            <a:chOff x="0" y="0"/>
            <a:chExt cx="456717" cy="122568"/>
          </a:xfrm>
        </p:grpSpPr>
        <p:sp>
          <p:nvSpPr>
            <p:cNvPr id="17" name="Freeform 17"/>
            <p:cNvSpPr/>
            <p:nvPr/>
          </p:nvSpPr>
          <p:spPr>
            <a:xfrm>
              <a:off x="19050" y="19050"/>
              <a:ext cx="418592" cy="84455"/>
            </a:xfrm>
            <a:custGeom>
              <a:avLst/>
              <a:gdLst/>
              <a:ahLst/>
              <a:cxnLst/>
              <a:rect l="l" t="t" r="r" b="b"/>
              <a:pathLst>
                <a:path w="418592" h="84455">
                  <a:moveTo>
                    <a:pt x="0" y="0"/>
                  </a:moveTo>
                  <a:lnTo>
                    <a:pt x="418592" y="0"/>
                  </a:lnTo>
                  <a:lnTo>
                    <a:pt x="418592" y="84455"/>
                  </a:lnTo>
                  <a:lnTo>
                    <a:pt x="0" y="84455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0" y="0"/>
              <a:ext cx="456692" cy="122555"/>
            </a:xfrm>
            <a:custGeom>
              <a:avLst/>
              <a:gdLst/>
              <a:ahLst/>
              <a:cxnLst/>
              <a:rect l="l" t="t" r="r" b="b"/>
              <a:pathLst>
                <a:path w="456692" h="122555">
                  <a:moveTo>
                    <a:pt x="19050" y="0"/>
                  </a:moveTo>
                  <a:lnTo>
                    <a:pt x="437642" y="0"/>
                  </a:lnTo>
                  <a:cubicBezTo>
                    <a:pt x="448183" y="0"/>
                    <a:pt x="456692" y="8509"/>
                    <a:pt x="456692" y="19050"/>
                  </a:cubicBezTo>
                  <a:lnTo>
                    <a:pt x="456692" y="103505"/>
                  </a:lnTo>
                  <a:cubicBezTo>
                    <a:pt x="456692" y="114046"/>
                    <a:pt x="448183" y="122555"/>
                    <a:pt x="437642" y="122555"/>
                  </a:cubicBezTo>
                  <a:lnTo>
                    <a:pt x="19050" y="122555"/>
                  </a:lnTo>
                  <a:cubicBezTo>
                    <a:pt x="8509" y="122555"/>
                    <a:pt x="0" y="114046"/>
                    <a:pt x="0" y="103505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103505"/>
                  </a:lnTo>
                  <a:lnTo>
                    <a:pt x="19050" y="103505"/>
                  </a:lnTo>
                  <a:lnTo>
                    <a:pt x="19050" y="84455"/>
                  </a:lnTo>
                  <a:lnTo>
                    <a:pt x="437642" y="84455"/>
                  </a:lnTo>
                  <a:lnTo>
                    <a:pt x="437642" y="103505"/>
                  </a:lnTo>
                  <a:lnTo>
                    <a:pt x="418592" y="103505"/>
                  </a:lnTo>
                  <a:lnTo>
                    <a:pt x="418592" y="19050"/>
                  </a:lnTo>
                  <a:lnTo>
                    <a:pt x="437642" y="19050"/>
                  </a:lnTo>
                  <a:lnTo>
                    <a:pt x="437642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9" name="Freeform 19" descr="https://kimi-img.moonshot.cn/pub/slides/slides_tmpl/image/25-10-09-16:35:24-d3jn7j0s8jdo4os5div0.png"/>
          <p:cNvSpPr/>
          <p:nvPr/>
        </p:nvSpPr>
        <p:spPr>
          <a:xfrm flipV="1">
            <a:off x="1277302" y="945832"/>
            <a:ext cx="1143000" cy="114300"/>
          </a:xfrm>
          <a:custGeom>
            <a:avLst/>
            <a:gdLst/>
            <a:ahLst/>
            <a:cxnLst/>
            <a:rect l="l" t="t" r="r" b="b"/>
            <a:pathLst>
              <a:path w="1143000" h="114300">
                <a:moveTo>
                  <a:pt x="0" y="114300"/>
                </a:moveTo>
                <a:lnTo>
                  <a:pt x="1143000" y="114300"/>
                </a:lnTo>
                <a:lnTo>
                  <a:pt x="1143000" y="0"/>
                </a:ln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blipFill>
            <a:blip r:embed="rId7">
              <a:alphaModFix amt="40000"/>
            </a:blip>
            <a:stretch>
              <a:fillRect l="-5454" r="-5455"/>
            </a:stretch>
          </a:blipFill>
        </p:spPr>
      </p:sp>
      <p:sp>
        <p:nvSpPr>
          <p:cNvPr id="20" name="Freeform 20" descr="https://kimi-img.moonshot.cn/pub/slides/slides_tmpl/image/25-10-09-16:35:24-d3jn7j0s8jdo4os5div0.png"/>
          <p:cNvSpPr/>
          <p:nvPr/>
        </p:nvSpPr>
        <p:spPr>
          <a:xfrm flipV="1">
            <a:off x="1277302" y="1142048"/>
            <a:ext cx="1143000" cy="114300"/>
          </a:xfrm>
          <a:custGeom>
            <a:avLst/>
            <a:gdLst/>
            <a:ahLst/>
            <a:cxnLst/>
            <a:rect l="l" t="t" r="r" b="b"/>
            <a:pathLst>
              <a:path w="1143000" h="114300">
                <a:moveTo>
                  <a:pt x="0" y="114300"/>
                </a:moveTo>
                <a:lnTo>
                  <a:pt x="1143000" y="114300"/>
                </a:lnTo>
                <a:lnTo>
                  <a:pt x="1143000" y="0"/>
                </a:ln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blipFill>
            <a:blip r:embed="rId7">
              <a:alphaModFix amt="40000"/>
            </a:blip>
            <a:stretch>
              <a:fillRect l="-5454" r="-5455"/>
            </a:stretch>
          </a:blipFill>
        </p:spPr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968FF4-4AB0-5058-C073-59190A9DA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https://kimi-img.moonshot.cn/pub/slides/slides_tmpl/image/25-10-09-16:35:25-d3jn7j8s8jdo4os5dj20.jpg">
            <a:extLst>
              <a:ext uri="{FF2B5EF4-FFF2-40B4-BE49-F238E27FC236}">
                <a16:creationId xmlns:a16="http://schemas.microsoft.com/office/drawing/2014/main" id="{B846A07E-035A-A6E3-4F89-26519EFB6AC6}"/>
              </a:ext>
            </a:extLst>
          </p:cNvPr>
          <p:cNvSpPr/>
          <p:nvPr/>
        </p:nvSpPr>
        <p:spPr>
          <a:xfrm>
            <a:off x="0" y="0"/>
            <a:ext cx="18288000" cy="10287952"/>
          </a:xfrm>
          <a:custGeom>
            <a:avLst/>
            <a:gdLst/>
            <a:ahLst/>
            <a:cxnLst/>
            <a:rect l="l" t="t" r="r" b="b"/>
            <a:pathLst>
              <a:path w="18288000" h="10287952">
                <a:moveTo>
                  <a:pt x="0" y="0"/>
                </a:moveTo>
                <a:lnTo>
                  <a:pt x="18288000" y="0"/>
                </a:lnTo>
                <a:lnTo>
                  <a:pt x="18288000" y="10287952"/>
                </a:lnTo>
                <a:lnTo>
                  <a:pt x="0" y="102879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" r="-4"/>
            </a:stretch>
          </a:blipFill>
        </p:spPr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8611030-50BF-169C-AD36-917CAF00282B}"/>
              </a:ext>
            </a:extLst>
          </p:cNvPr>
          <p:cNvSpPr txBox="1"/>
          <p:nvPr/>
        </p:nvSpPr>
        <p:spPr>
          <a:xfrm>
            <a:off x="533400" y="998642"/>
            <a:ext cx="7848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 err="1"/>
              <a:t>MealCard</a:t>
            </a:r>
            <a:r>
              <a:rPr lang="zh-CN" altLang="en-US" sz="3600" dirty="0"/>
              <a:t>基类的封装设计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F17A550-2A3B-E267-2DEE-489CD395826E}"/>
              </a:ext>
            </a:extLst>
          </p:cNvPr>
          <p:cNvSpPr txBox="1"/>
          <p:nvPr/>
        </p:nvSpPr>
        <p:spPr>
          <a:xfrm>
            <a:off x="457200" y="2324100"/>
            <a:ext cx="1150620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私有字段（数据隐藏）：</a:t>
            </a:r>
          </a:p>
          <a:p>
            <a:r>
              <a:rPr lang="en-US" altLang="zh-CN" sz="2400" dirty="0"/>
              <a:t>protected decimal _balance; </a:t>
            </a:r>
            <a:r>
              <a:rPr lang="zh-CN" altLang="en-US" sz="2400" dirty="0"/>
              <a:t>余额（受保护，子类可访问）</a:t>
            </a:r>
          </a:p>
          <a:p>
            <a:r>
              <a:rPr lang="en-US" altLang="zh-CN" sz="2400" dirty="0"/>
              <a:t>protected string _</a:t>
            </a:r>
            <a:r>
              <a:rPr lang="en-US" altLang="zh-CN" sz="2400" dirty="0" err="1"/>
              <a:t>cardNo</a:t>
            </a:r>
            <a:r>
              <a:rPr lang="en-US" altLang="zh-CN" sz="2400" dirty="0"/>
              <a:t>; </a:t>
            </a:r>
            <a:r>
              <a:rPr lang="zh-CN" altLang="en-US" sz="2400" dirty="0"/>
              <a:t>卡号</a:t>
            </a:r>
          </a:p>
          <a:p>
            <a:r>
              <a:rPr lang="en-US" altLang="zh-CN" sz="2400" dirty="0"/>
              <a:t>protected string _</a:t>
            </a:r>
            <a:r>
              <a:rPr lang="en-US" altLang="zh-CN" sz="2400" dirty="0" err="1"/>
              <a:t>userName</a:t>
            </a:r>
            <a:r>
              <a:rPr lang="en-US" altLang="zh-CN" sz="2400" dirty="0"/>
              <a:t>; </a:t>
            </a:r>
            <a:r>
              <a:rPr lang="zh-CN" altLang="en-US" sz="2400" dirty="0"/>
              <a:t>持卡人姓名</a:t>
            </a:r>
          </a:p>
          <a:p>
            <a:r>
              <a:rPr lang="en-US" altLang="zh-CN" sz="2400" dirty="0"/>
              <a:t>protected List&lt;Transaction&gt; _</a:t>
            </a:r>
            <a:r>
              <a:rPr lang="en-US" altLang="zh-CN" sz="2400" dirty="0" err="1"/>
              <a:t>allTransactions</a:t>
            </a:r>
            <a:r>
              <a:rPr lang="en-US" altLang="zh-CN" sz="2400" dirty="0"/>
              <a:t>; </a:t>
            </a:r>
            <a:r>
              <a:rPr lang="zh-CN" altLang="en-US" sz="2400" dirty="0"/>
              <a:t>交易记录列表</a:t>
            </a:r>
          </a:p>
          <a:p>
            <a:r>
              <a:rPr lang="en-US" altLang="zh-CN" sz="2400" dirty="0"/>
              <a:t>protected static int </a:t>
            </a:r>
            <a:r>
              <a:rPr lang="en-US" altLang="zh-CN" sz="2400" dirty="0" err="1"/>
              <a:t>s_CardNoSeed</a:t>
            </a:r>
            <a:r>
              <a:rPr lang="en-US" altLang="zh-CN" sz="2400" dirty="0"/>
              <a:t>; </a:t>
            </a:r>
            <a:r>
              <a:rPr lang="zh-CN" altLang="en-US" sz="2400" dirty="0"/>
              <a:t>静态卡号种子</a:t>
            </a:r>
          </a:p>
          <a:p>
            <a:endParaRPr lang="zh-CN" altLang="en-US" sz="2400" dirty="0"/>
          </a:p>
          <a:p>
            <a:r>
              <a:rPr lang="zh-CN" altLang="en-US" sz="2400" dirty="0"/>
              <a:t>公共属性（访问接口）：</a:t>
            </a:r>
          </a:p>
          <a:p>
            <a:r>
              <a:rPr lang="en-US" altLang="zh-CN" sz="2400" dirty="0"/>
              <a:t>public decimal Balance { get; protected set; } </a:t>
            </a:r>
            <a:r>
              <a:rPr lang="zh-CN" altLang="en-US" sz="2400" dirty="0"/>
              <a:t>余额（只读，子类可设置）</a:t>
            </a:r>
          </a:p>
          <a:p>
            <a:r>
              <a:rPr lang="en-US" altLang="zh-CN" sz="2400" dirty="0"/>
              <a:t>public string </a:t>
            </a:r>
            <a:r>
              <a:rPr lang="en-US" altLang="zh-CN" sz="2400" dirty="0" err="1"/>
              <a:t>CardNo</a:t>
            </a:r>
            <a:r>
              <a:rPr lang="en-US" altLang="zh-CN" sz="2400" dirty="0"/>
              <a:t> { get; } </a:t>
            </a:r>
            <a:r>
              <a:rPr lang="zh-CN" altLang="en-US" sz="2400" dirty="0"/>
              <a:t>卡号（只读）</a:t>
            </a:r>
          </a:p>
          <a:p>
            <a:r>
              <a:rPr lang="en-US" altLang="zh-CN" sz="2400" dirty="0"/>
              <a:t>public string </a:t>
            </a:r>
            <a:r>
              <a:rPr lang="en-US" altLang="zh-CN" sz="2400" dirty="0" err="1"/>
              <a:t>UserName</a:t>
            </a:r>
            <a:r>
              <a:rPr lang="en-US" altLang="zh-CN" sz="2400" dirty="0"/>
              <a:t> { get; } </a:t>
            </a:r>
            <a:r>
              <a:rPr lang="zh-CN" altLang="en-US" sz="2400" dirty="0"/>
              <a:t>持卡人姓名（只读）</a:t>
            </a:r>
          </a:p>
          <a:p>
            <a:endParaRPr lang="zh-CN" altLang="en-US" sz="2400" dirty="0"/>
          </a:p>
          <a:p>
            <a:r>
              <a:rPr lang="zh-CN" altLang="en-US" sz="2400" dirty="0"/>
              <a:t>公共方法（功能接口）：</a:t>
            </a:r>
          </a:p>
          <a:p>
            <a:r>
              <a:rPr lang="en-US" altLang="zh-CN" sz="2400" dirty="0"/>
              <a:t>Consume() </a:t>
            </a:r>
            <a:r>
              <a:rPr lang="zh-CN" altLang="en-US" sz="2400" dirty="0"/>
              <a:t>消费方法</a:t>
            </a:r>
          </a:p>
          <a:p>
            <a:r>
              <a:rPr lang="en-US" altLang="zh-CN" sz="2400" dirty="0"/>
              <a:t>Recharge() </a:t>
            </a:r>
            <a:r>
              <a:rPr lang="zh-CN" altLang="en-US" sz="2400" dirty="0"/>
              <a:t>充值方法</a:t>
            </a:r>
          </a:p>
          <a:p>
            <a:r>
              <a:rPr lang="en-US" altLang="zh-CN" sz="2400" dirty="0" err="1"/>
              <a:t>GetMonthExpenditure</a:t>
            </a:r>
            <a:r>
              <a:rPr lang="en-US" altLang="zh-CN" sz="2400" dirty="0"/>
              <a:t>() </a:t>
            </a:r>
            <a:r>
              <a:rPr lang="zh-CN" altLang="en-US" sz="2400" dirty="0"/>
              <a:t>获取月消费额</a:t>
            </a:r>
          </a:p>
          <a:p>
            <a:r>
              <a:rPr lang="en-US" altLang="zh-CN" sz="2400" dirty="0" err="1"/>
              <a:t>DisplayCardInfo</a:t>
            </a:r>
            <a:r>
              <a:rPr lang="en-US" altLang="zh-CN" sz="2400" dirty="0"/>
              <a:t>() </a:t>
            </a:r>
            <a:r>
              <a:rPr lang="zh-CN" altLang="en-US" sz="2400" dirty="0"/>
              <a:t>显示卡信息</a:t>
            </a:r>
          </a:p>
          <a:p>
            <a:r>
              <a:rPr lang="en-US" altLang="zh-CN" sz="2400" dirty="0" err="1"/>
              <a:t>GetAccountHistory</a:t>
            </a:r>
            <a:r>
              <a:rPr lang="en-US" altLang="zh-CN" sz="2400" dirty="0"/>
              <a:t>() </a:t>
            </a:r>
            <a:r>
              <a:rPr lang="zh-CN" altLang="en-US" sz="2400" dirty="0"/>
              <a:t>获取交易历史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B48D55B-78B2-7A60-04DC-B2C57B46B4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5401" y="2400300"/>
            <a:ext cx="6170397" cy="17526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CAE346D-B7AA-3B33-5E56-D49DE759A10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8400" y="4229100"/>
            <a:ext cx="4000706" cy="267348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45D7880A-18E9-1C88-6686-61FC18EB1E1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2868" y="7072867"/>
            <a:ext cx="6274122" cy="2863997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586C8638-772F-2773-C1AD-05E9EA58DC2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1400" y="7525558"/>
            <a:ext cx="6064562" cy="1866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752210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1E7A5D-9A58-0032-CEF2-B5835F287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https://kimi-img.moonshot.cn/pub/slides/slides_tmpl/image/25-10-09-16:35:25-d3jn7j8s8jdo4os5dj20.jpg">
            <a:extLst>
              <a:ext uri="{FF2B5EF4-FFF2-40B4-BE49-F238E27FC236}">
                <a16:creationId xmlns:a16="http://schemas.microsoft.com/office/drawing/2014/main" id="{3196744A-B957-C2B6-623D-445188D9B4D7}"/>
              </a:ext>
            </a:extLst>
          </p:cNvPr>
          <p:cNvSpPr/>
          <p:nvPr/>
        </p:nvSpPr>
        <p:spPr>
          <a:xfrm>
            <a:off x="0" y="0"/>
            <a:ext cx="18288000" cy="10287952"/>
          </a:xfrm>
          <a:custGeom>
            <a:avLst/>
            <a:gdLst/>
            <a:ahLst/>
            <a:cxnLst/>
            <a:rect l="l" t="t" r="r" b="b"/>
            <a:pathLst>
              <a:path w="18288000" h="10287952">
                <a:moveTo>
                  <a:pt x="0" y="0"/>
                </a:moveTo>
                <a:lnTo>
                  <a:pt x="18288000" y="0"/>
                </a:lnTo>
                <a:lnTo>
                  <a:pt x="18288000" y="10287952"/>
                </a:lnTo>
                <a:lnTo>
                  <a:pt x="0" y="102879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" r="-4"/>
            </a:stretch>
          </a:blipFill>
        </p:spPr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F4717A3-4695-2C76-5D55-7AE62A3EC9C6}"/>
              </a:ext>
            </a:extLst>
          </p:cNvPr>
          <p:cNvSpPr txBox="1"/>
          <p:nvPr/>
        </p:nvSpPr>
        <p:spPr>
          <a:xfrm>
            <a:off x="1600200" y="466111"/>
            <a:ext cx="7848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继承层次结构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0A73700-F783-2CBF-7270-930AC8AF66D3}"/>
              </a:ext>
            </a:extLst>
          </p:cNvPr>
          <p:cNvSpPr txBox="1"/>
          <p:nvPr/>
        </p:nvSpPr>
        <p:spPr>
          <a:xfrm>
            <a:off x="1600200" y="1147494"/>
            <a:ext cx="11506200" cy="8402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/>
              <a:t>MealCard</a:t>
            </a:r>
            <a:r>
              <a:rPr lang="zh-CN" altLang="en-US" sz="2000" dirty="0"/>
              <a:t>（饭卡基类）</a:t>
            </a:r>
          </a:p>
          <a:p>
            <a:r>
              <a:rPr lang="zh-CN" altLang="en-US" sz="2000" dirty="0"/>
              <a:t>    </a:t>
            </a:r>
            <a:r>
              <a:rPr lang="en-US" altLang="zh-CN" sz="2000" dirty="0"/>
              <a:t>|</a:t>
            </a:r>
          </a:p>
          <a:p>
            <a:r>
              <a:rPr lang="en-US" altLang="zh-CN" sz="2000" dirty="0"/>
              <a:t>    +-- </a:t>
            </a:r>
            <a:r>
              <a:rPr lang="en-US" altLang="zh-CN" sz="2000" dirty="0" err="1"/>
              <a:t>StudentMealCard</a:t>
            </a:r>
            <a:r>
              <a:rPr lang="zh-CN" altLang="en-US" sz="2000" dirty="0"/>
              <a:t>（学生卡）</a:t>
            </a:r>
          </a:p>
          <a:p>
            <a:r>
              <a:rPr lang="zh-CN" altLang="en-US" sz="2000" dirty="0"/>
              <a:t>    </a:t>
            </a:r>
            <a:r>
              <a:rPr lang="en-US" altLang="zh-CN" sz="2000" dirty="0"/>
              <a:t>+-- </a:t>
            </a:r>
            <a:r>
              <a:rPr lang="en-US" altLang="zh-CN" sz="2000" dirty="0" err="1"/>
              <a:t>TeacherMealCard</a:t>
            </a:r>
            <a:r>
              <a:rPr lang="zh-CN" altLang="en-US" sz="2000" dirty="0"/>
              <a:t>（教师卡）</a:t>
            </a:r>
          </a:p>
          <a:p>
            <a:r>
              <a:rPr lang="zh-CN" altLang="en-US" sz="2000" dirty="0"/>
              <a:t>    </a:t>
            </a:r>
            <a:r>
              <a:rPr lang="en-US" altLang="zh-CN" sz="2000" dirty="0"/>
              <a:t>+-- </a:t>
            </a:r>
            <a:r>
              <a:rPr lang="en-US" altLang="zh-CN" sz="2000" dirty="0" err="1"/>
              <a:t>TemporaryMealCard</a:t>
            </a:r>
            <a:r>
              <a:rPr lang="zh-CN" altLang="en-US" sz="2000" dirty="0"/>
              <a:t>（临时卡）</a:t>
            </a:r>
          </a:p>
          <a:p>
            <a:endParaRPr lang="zh-CN" altLang="en-US" sz="2000" dirty="0"/>
          </a:p>
          <a:p>
            <a:r>
              <a:rPr lang="zh-CN" altLang="en-US" sz="2000" dirty="0"/>
              <a:t>各类的继承关系</a:t>
            </a:r>
          </a:p>
          <a:p>
            <a:endParaRPr lang="zh-CN" altLang="en-US" sz="2000" dirty="0"/>
          </a:p>
          <a:p>
            <a:r>
              <a:rPr lang="en-US" altLang="zh-CN" sz="2000" dirty="0" err="1"/>
              <a:t>MealCard</a:t>
            </a:r>
            <a:r>
              <a:rPr lang="zh-CN" altLang="en-US" sz="2000" dirty="0"/>
              <a:t>（基类）：</a:t>
            </a:r>
          </a:p>
          <a:p>
            <a:r>
              <a:rPr lang="zh-CN" altLang="en-US" sz="2000" dirty="0"/>
              <a:t>定义所有饭卡的共同属性和方法</a:t>
            </a:r>
          </a:p>
          <a:p>
            <a:r>
              <a:rPr lang="zh-CN" altLang="en-US" sz="2000" dirty="0"/>
              <a:t>提供基础的消费、充值、查询功能</a:t>
            </a:r>
          </a:p>
          <a:p>
            <a:r>
              <a:rPr lang="zh-CN" altLang="en-US" sz="2000" dirty="0"/>
              <a:t>定义虚方法供子类重写</a:t>
            </a:r>
          </a:p>
          <a:p>
            <a:endParaRPr lang="zh-CN" altLang="en-US" sz="2000" dirty="0"/>
          </a:p>
          <a:p>
            <a:r>
              <a:rPr lang="en-US" altLang="zh-CN" sz="2000" dirty="0" err="1"/>
              <a:t>StudentMealCard</a:t>
            </a:r>
            <a:r>
              <a:rPr lang="zh-CN" altLang="en-US" sz="2000" dirty="0"/>
              <a:t>（学生卡）：</a:t>
            </a:r>
          </a:p>
          <a:p>
            <a:r>
              <a:rPr lang="zh-CN" altLang="en-US" sz="2000" dirty="0"/>
              <a:t>继承自</a:t>
            </a:r>
            <a:r>
              <a:rPr lang="en-US" altLang="zh-CN" sz="2000" dirty="0" err="1"/>
              <a:t>MealCard</a:t>
            </a:r>
            <a:endParaRPr lang="en-US" altLang="zh-CN" sz="2000" dirty="0"/>
          </a:p>
          <a:p>
            <a:r>
              <a:rPr lang="zh-CN" altLang="en-US" sz="2000" dirty="0"/>
              <a:t>重写</a:t>
            </a:r>
            <a:r>
              <a:rPr lang="en-US" altLang="zh-CN" sz="2000" dirty="0" err="1"/>
              <a:t>CalculateActualAmount</a:t>
            </a:r>
            <a:r>
              <a:rPr lang="en-US" altLang="zh-CN" sz="2000" dirty="0"/>
              <a:t>()</a:t>
            </a:r>
            <a:r>
              <a:rPr lang="zh-CN" altLang="en-US" sz="2000" dirty="0"/>
              <a:t>实现</a:t>
            </a:r>
            <a:r>
              <a:rPr lang="en-US" altLang="zh-CN" sz="2000" dirty="0"/>
              <a:t>8</a:t>
            </a:r>
            <a:r>
              <a:rPr lang="zh-CN" altLang="en-US" sz="2000" dirty="0"/>
              <a:t>折优惠</a:t>
            </a:r>
          </a:p>
          <a:p>
            <a:r>
              <a:rPr lang="zh-CN" altLang="en-US" sz="2000" dirty="0"/>
              <a:t>重写</a:t>
            </a:r>
            <a:r>
              <a:rPr lang="en-US" altLang="zh-CN" sz="2000" dirty="0" err="1"/>
              <a:t>PerformMonthEndTransactions</a:t>
            </a:r>
            <a:r>
              <a:rPr lang="en-US" altLang="zh-CN" sz="2000" dirty="0"/>
              <a:t>()</a:t>
            </a:r>
            <a:r>
              <a:rPr lang="zh-CN" altLang="en-US" sz="2000" dirty="0"/>
              <a:t>实现月末返还</a:t>
            </a:r>
            <a:r>
              <a:rPr lang="en-US" altLang="zh-CN" sz="2000" dirty="0"/>
              <a:t>5%</a:t>
            </a:r>
          </a:p>
          <a:p>
            <a:endParaRPr lang="en-US" altLang="zh-CN" sz="2000" dirty="0"/>
          </a:p>
          <a:p>
            <a:r>
              <a:rPr lang="en-US" altLang="zh-CN" sz="2000" dirty="0" err="1"/>
              <a:t>TeacherMealCard</a:t>
            </a:r>
            <a:r>
              <a:rPr lang="zh-CN" altLang="en-US" sz="2000" dirty="0"/>
              <a:t>（教师卡）：</a:t>
            </a:r>
          </a:p>
          <a:p>
            <a:r>
              <a:rPr lang="zh-CN" altLang="en-US" sz="2000" dirty="0"/>
              <a:t>继承自</a:t>
            </a:r>
            <a:r>
              <a:rPr lang="en-US" altLang="zh-CN" sz="2000" dirty="0" err="1"/>
              <a:t>MealCard</a:t>
            </a:r>
            <a:endParaRPr lang="en-US" altLang="zh-CN" sz="2000" dirty="0"/>
          </a:p>
          <a:p>
            <a:r>
              <a:rPr lang="zh-CN" altLang="en-US" sz="2000" dirty="0"/>
              <a:t>重写</a:t>
            </a:r>
            <a:r>
              <a:rPr lang="en-US" altLang="zh-CN" sz="2000" dirty="0" err="1"/>
              <a:t>CalculateActualAmount</a:t>
            </a:r>
            <a:r>
              <a:rPr lang="en-US" altLang="zh-CN" sz="2000" dirty="0"/>
              <a:t>()</a:t>
            </a:r>
            <a:r>
              <a:rPr lang="zh-CN" altLang="en-US" sz="2000" dirty="0"/>
              <a:t>实现</a:t>
            </a:r>
            <a:r>
              <a:rPr lang="en-US" altLang="zh-CN" sz="2000" dirty="0"/>
              <a:t>9</a:t>
            </a:r>
            <a:r>
              <a:rPr lang="zh-CN" altLang="en-US" sz="2000" dirty="0"/>
              <a:t>折优惠</a:t>
            </a:r>
          </a:p>
          <a:p>
            <a:r>
              <a:rPr lang="zh-CN" altLang="en-US" sz="2000" dirty="0"/>
              <a:t>重写</a:t>
            </a:r>
            <a:r>
              <a:rPr lang="en-US" altLang="zh-CN" sz="2000" dirty="0" err="1"/>
              <a:t>PerformMonthEndTransactions</a:t>
            </a:r>
            <a:r>
              <a:rPr lang="en-US" altLang="zh-CN" sz="2000" dirty="0"/>
              <a:t>()</a:t>
            </a:r>
            <a:r>
              <a:rPr lang="zh-CN" altLang="en-US" sz="2000" dirty="0"/>
              <a:t>实现月末返还</a:t>
            </a:r>
            <a:r>
              <a:rPr lang="en-US" altLang="zh-CN" sz="2000" dirty="0"/>
              <a:t>10%</a:t>
            </a:r>
          </a:p>
          <a:p>
            <a:endParaRPr lang="en-US" altLang="zh-CN" sz="2000" dirty="0"/>
          </a:p>
          <a:p>
            <a:r>
              <a:rPr lang="en-US" altLang="zh-CN" sz="2000" dirty="0" err="1"/>
              <a:t>TemporaryMealCard</a:t>
            </a:r>
            <a:r>
              <a:rPr lang="zh-CN" altLang="en-US" sz="2000" dirty="0"/>
              <a:t>（临时卡）：</a:t>
            </a:r>
          </a:p>
          <a:p>
            <a:r>
              <a:rPr lang="zh-CN" altLang="en-US" sz="2000" dirty="0"/>
              <a:t>继承自</a:t>
            </a:r>
            <a:r>
              <a:rPr lang="en-US" altLang="zh-CN" sz="2000" dirty="0" err="1"/>
              <a:t>MealCard</a:t>
            </a:r>
            <a:endParaRPr lang="en-US" altLang="zh-CN" sz="2000" dirty="0"/>
          </a:p>
          <a:p>
            <a:r>
              <a:rPr lang="zh-CN" altLang="en-US" sz="2000" dirty="0"/>
              <a:t>不重写</a:t>
            </a:r>
            <a:r>
              <a:rPr lang="en-US" altLang="zh-CN" sz="2000" dirty="0" err="1"/>
              <a:t>CalculateActualAmount</a:t>
            </a:r>
            <a:r>
              <a:rPr lang="en-US" altLang="zh-CN" sz="2000" dirty="0"/>
              <a:t>()</a:t>
            </a:r>
            <a:r>
              <a:rPr lang="zh-CN" altLang="en-US" sz="2000" dirty="0"/>
              <a:t>（无折扣）</a:t>
            </a:r>
          </a:p>
          <a:p>
            <a:r>
              <a:rPr lang="zh-CN" altLang="en-US" sz="2000" dirty="0"/>
              <a:t>重写</a:t>
            </a:r>
            <a:r>
              <a:rPr lang="en-US" altLang="zh-CN" sz="2000" dirty="0" err="1"/>
              <a:t>PerformMonthEndTransactions</a:t>
            </a:r>
            <a:r>
              <a:rPr lang="en-US" altLang="zh-CN" sz="2000" dirty="0"/>
              <a:t>()</a:t>
            </a:r>
            <a:r>
              <a:rPr lang="zh-CN" altLang="en-US" sz="2000" dirty="0"/>
              <a:t>（无返还）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859890F-FF10-5DF6-DFAE-B41D187C6F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0800" y="5448300"/>
            <a:ext cx="4915153" cy="97795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D2397F5-5063-DB00-DD54-D2B0B661AFE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0800" y="6724306"/>
            <a:ext cx="4864350" cy="126371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8811D8F-857D-23CE-087F-1923EEBFC24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6896" y="8567599"/>
            <a:ext cx="4064209" cy="387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678252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ECD8C6-2E9F-17BB-E7D8-E04A6778B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https://kimi-img.moonshot.cn/pub/slides/slides_tmpl/image/25-10-09-16:35:25-d3jn7j8s8jdo4os5dj20.jpg">
            <a:extLst>
              <a:ext uri="{FF2B5EF4-FFF2-40B4-BE49-F238E27FC236}">
                <a16:creationId xmlns:a16="http://schemas.microsoft.com/office/drawing/2014/main" id="{C5267D21-FF00-A922-8487-F6644AAAFE22}"/>
              </a:ext>
            </a:extLst>
          </p:cNvPr>
          <p:cNvSpPr/>
          <p:nvPr/>
        </p:nvSpPr>
        <p:spPr>
          <a:xfrm>
            <a:off x="0" y="0"/>
            <a:ext cx="18288000" cy="10287952"/>
          </a:xfrm>
          <a:custGeom>
            <a:avLst/>
            <a:gdLst/>
            <a:ahLst/>
            <a:cxnLst/>
            <a:rect l="l" t="t" r="r" b="b"/>
            <a:pathLst>
              <a:path w="18288000" h="10287952">
                <a:moveTo>
                  <a:pt x="0" y="0"/>
                </a:moveTo>
                <a:lnTo>
                  <a:pt x="18288000" y="0"/>
                </a:lnTo>
                <a:lnTo>
                  <a:pt x="18288000" y="10287952"/>
                </a:lnTo>
                <a:lnTo>
                  <a:pt x="0" y="102879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" r="-4"/>
            </a:stretch>
          </a:blipFill>
        </p:spPr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75D1103-19B0-7F42-32E8-FA6EEC9EB06B}"/>
              </a:ext>
            </a:extLst>
          </p:cNvPr>
          <p:cNvSpPr txBox="1"/>
          <p:nvPr/>
        </p:nvSpPr>
        <p:spPr>
          <a:xfrm>
            <a:off x="1600200" y="466111"/>
            <a:ext cx="7848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多态的实现方式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67B81A7-1EBB-53B5-EC85-14EAFFF13D9F}"/>
              </a:ext>
            </a:extLst>
          </p:cNvPr>
          <p:cNvSpPr txBox="1"/>
          <p:nvPr/>
        </p:nvSpPr>
        <p:spPr>
          <a:xfrm>
            <a:off x="1600200" y="1147494"/>
            <a:ext cx="6172200" cy="8571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1. </a:t>
            </a:r>
            <a:r>
              <a:rPr lang="zh-CN" altLang="en-US" sz="2000" dirty="0"/>
              <a:t>虚方法（</a:t>
            </a:r>
            <a:r>
              <a:rPr lang="en-US" altLang="zh-CN" sz="2000" dirty="0"/>
              <a:t>Virtual Method</a:t>
            </a:r>
            <a:r>
              <a:rPr lang="zh-CN" altLang="en-US" sz="2000" dirty="0"/>
              <a:t>）</a:t>
            </a:r>
          </a:p>
          <a:p>
            <a:r>
              <a:rPr lang="zh-CN" altLang="en-US" sz="2000" dirty="0"/>
              <a:t>在基类中定义虚方法：</a:t>
            </a:r>
          </a:p>
          <a:p>
            <a:r>
              <a:rPr lang="en-US" altLang="zh-CN" sz="2000" dirty="0"/>
              <a:t>public virtual void </a:t>
            </a:r>
            <a:r>
              <a:rPr lang="en-US" altLang="zh-CN" sz="2000" dirty="0" err="1"/>
              <a:t>PerformMonthEndTransactions</a:t>
            </a:r>
            <a:r>
              <a:rPr lang="en-US" altLang="zh-CN" sz="2000" dirty="0"/>
              <a:t>()</a:t>
            </a:r>
          </a:p>
          <a:p>
            <a:r>
              <a:rPr lang="en-US" altLang="zh-CN" sz="2000" dirty="0"/>
              <a:t>{</a:t>
            </a:r>
          </a:p>
          <a:p>
            <a:r>
              <a:rPr lang="en-US" altLang="zh-CN" sz="2000" dirty="0"/>
              <a:t>    // </a:t>
            </a:r>
            <a:r>
              <a:rPr lang="zh-CN" altLang="en-US" sz="2000" dirty="0"/>
              <a:t>基类默认不做任何处理</a:t>
            </a:r>
          </a:p>
          <a:p>
            <a:r>
              <a:rPr lang="en-US" altLang="zh-CN" sz="2000" dirty="0"/>
              <a:t>}</a:t>
            </a:r>
          </a:p>
          <a:p>
            <a:endParaRPr lang="en-US" altLang="zh-CN" sz="2000" dirty="0"/>
          </a:p>
          <a:p>
            <a:r>
              <a:rPr lang="en-US" altLang="zh-CN" sz="2000" dirty="0"/>
              <a:t>protected virtual decimal </a:t>
            </a:r>
            <a:r>
              <a:rPr lang="en-US" altLang="zh-CN" sz="2000" dirty="0" err="1"/>
              <a:t>CalculateActualAmount</a:t>
            </a:r>
            <a:r>
              <a:rPr lang="en-US" altLang="zh-CN" sz="2000" dirty="0"/>
              <a:t>(decimal </a:t>
            </a:r>
            <a:r>
              <a:rPr lang="en-US" altLang="zh-CN" sz="2000" dirty="0" err="1"/>
              <a:t>originalAmount</a:t>
            </a:r>
            <a:r>
              <a:rPr lang="en-US" altLang="zh-CN" sz="2000" dirty="0"/>
              <a:t>)</a:t>
            </a:r>
          </a:p>
          <a:p>
            <a:r>
              <a:rPr lang="en-US" altLang="zh-CN" sz="2000" dirty="0"/>
              <a:t>{</a:t>
            </a:r>
          </a:p>
          <a:p>
            <a:r>
              <a:rPr lang="en-US" altLang="zh-CN" sz="2000" dirty="0"/>
              <a:t>    return </a:t>
            </a:r>
            <a:r>
              <a:rPr lang="en-US" altLang="zh-CN" sz="2000" dirty="0" err="1"/>
              <a:t>originalAmount</a:t>
            </a:r>
            <a:r>
              <a:rPr lang="en-US" altLang="zh-CN" sz="2000" dirty="0"/>
              <a:t>;  // </a:t>
            </a:r>
            <a:r>
              <a:rPr lang="zh-CN" altLang="en-US" sz="2000" dirty="0"/>
              <a:t>基类默认无折扣</a:t>
            </a:r>
          </a:p>
          <a:p>
            <a:r>
              <a:rPr lang="en-US" altLang="zh-CN" sz="2000" dirty="0"/>
              <a:t>}</a:t>
            </a:r>
          </a:p>
          <a:p>
            <a:endParaRPr lang="en-US" altLang="zh-CN" sz="2000" dirty="0"/>
          </a:p>
          <a:p>
            <a:r>
              <a:rPr lang="en-US" altLang="zh-CN" sz="2000" dirty="0"/>
              <a:t>2. </a:t>
            </a:r>
            <a:r>
              <a:rPr lang="zh-CN" altLang="en-US" sz="2000" dirty="0"/>
              <a:t>方法重写（</a:t>
            </a:r>
            <a:r>
              <a:rPr lang="en-US" altLang="zh-CN" sz="2000" dirty="0"/>
              <a:t>Override</a:t>
            </a:r>
            <a:r>
              <a:rPr lang="zh-CN" altLang="en-US" sz="2000" dirty="0"/>
              <a:t>）</a:t>
            </a:r>
          </a:p>
          <a:p>
            <a:endParaRPr lang="zh-CN" altLang="en-US" sz="2000" dirty="0"/>
          </a:p>
          <a:p>
            <a:r>
              <a:rPr lang="zh-CN" altLang="en-US" sz="2000" dirty="0"/>
              <a:t>在子类中使用</a:t>
            </a:r>
            <a:r>
              <a:rPr lang="en-US" altLang="zh-CN" sz="2000" dirty="0"/>
              <a:t>override</a:t>
            </a:r>
            <a:r>
              <a:rPr lang="zh-CN" altLang="en-US" sz="2000" dirty="0"/>
              <a:t>关键字重写：</a:t>
            </a:r>
          </a:p>
          <a:p>
            <a:r>
              <a:rPr lang="en-US" altLang="zh-CN" sz="2000" dirty="0"/>
              <a:t>// </a:t>
            </a:r>
            <a:r>
              <a:rPr lang="en-US" altLang="zh-CN" sz="2000" dirty="0" err="1"/>
              <a:t>StudentMealCard</a:t>
            </a:r>
            <a:r>
              <a:rPr lang="zh-CN" altLang="en-US" sz="2000" dirty="0"/>
              <a:t>中</a:t>
            </a:r>
          </a:p>
          <a:p>
            <a:r>
              <a:rPr lang="en-US" altLang="zh-CN" sz="2000" dirty="0"/>
              <a:t>public override void </a:t>
            </a:r>
            <a:r>
              <a:rPr lang="en-US" altLang="zh-CN" sz="2000" dirty="0" err="1"/>
              <a:t>PerformMonthEndTransactions</a:t>
            </a:r>
            <a:r>
              <a:rPr lang="en-US" altLang="zh-CN" sz="2000" dirty="0"/>
              <a:t>()</a:t>
            </a:r>
          </a:p>
          <a:p>
            <a:r>
              <a:rPr lang="en-US" altLang="zh-CN" sz="2000" dirty="0"/>
              <a:t>{</a:t>
            </a:r>
          </a:p>
          <a:p>
            <a:r>
              <a:rPr lang="en-US" altLang="zh-CN" sz="2000" dirty="0"/>
              <a:t>    // </a:t>
            </a:r>
            <a:r>
              <a:rPr lang="zh-CN" altLang="en-US" sz="2000" dirty="0"/>
              <a:t>学生卡的特殊处理：消费超过</a:t>
            </a:r>
            <a:r>
              <a:rPr lang="en-US" altLang="zh-CN" sz="2000" dirty="0"/>
              <a:t>500</a:t>
            </a:r>
            <a:r>
              <a:rPr lang="zh-CN" altLang="en-US" sz="2000" dirty="0"/>
              <a:t>元返还</a:t>
            </a:r>
            <a:r>
              <a:rPr lang="en-US" altLang="zh-CN" sz="2000" dirty="0"/>
              <a:t>5%</a:t>
            </a:r>
          </a:p>
          <a:p>
            <a:r>
              <a:rPr lang="en-US" altLang="zh-CN" sz="2000" dirty="0"/>
              <a:t>}</a:t>
            </a:r>
          </a:p>
          <a:p>
            <a:endParaRPr lang="en-US" altLang="zh-CN" sz="2000" dirty="0"/>
          </a:p>
          <a:p>
            <a:r>
              <a:rPr lang="en-US" altLang="zh-CN" sz="2000" dirty="0"/>
              <a:t>protected override decimal </a:t>
            </a:r>
            <a:r>
              <a:rPr lang="en-US" altLang="zh-CN" sz="2000" dirty="0" err="1"/>
              <a:t>CalculateActualAmount</a:t>
            </a:r>
            <a:r>
              <a:rPr lang="en-US" altLang="zh-CN" sz="2000" dirty="0"/>
              <a:t>(decimal </a:t>
            </a:r>
            <a:r>
              <a:rPr lang="en-US" altLang="zh-CN" sz="2000" dirty="0" err="1"/>
              <a:t>originalAmount</a:t>
            </a:r>
            <a:r>
              <a:rPr lang="en-US" altLang="zh-CN" sz="2000" dirty="0"/>
              <a:t>)</a:t>
            </a:r>
          </a:p>
          <a:p>
            <a:r>
              <a:rPr lang="en-US" altLang="zh-CN" sz="2000" dirty="0"/>
              <a:t>{</a:t>
            </a:r>
          </a:p>
          <a:p>
            <a:r>
              <a:rPr lang="en-US" altLang="zh-CN" sz="2000" dirty="0"/>
              <a:t>    return </a:t>
            </a:r>
            <a:r>
              <a:rPr lang="en-US" altLang="zh-CN" sz="2000" dirty="0" err="1"/>
              <a:t>originalAmount</a:t>
            </a:r>
            <a:r>
              <a:rPr lang="en-US" altLang="zh-CN" sz="2000" dirty="0"/>
              <a:t> * 0.8m;  // 8</a:t>
            </a:r>
            <a:r>
              <a:rPr lang="zh-CN" altLang="en-US" sz="2000" dirty="0"/>
              <a:t>折</a:t>
            </a:r>
          </a:p>
          <a:p>
            <a:r>
              <a:rPr lang="en-US" altLang="zh-CN" sz="2000" dirty="0"/>
              <a:t>}</a:t>
            </a:r>
          </a:p>
          <a:p>
            <a:endParaRPr lang="en-US" altLang="zh-CN" sz="11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9A9C041-3B08-B6B2-4702-481820BA4FB7}"/>
              </a:ext>
            </a:extLst>
          </p:cNvPr>
          <p:cNvSpPr txBox="1"/>
          <p:nvPr/>
        </p:nvSpPr>
        <p:spPr>
          <a:xfrm>
            <a:off x="9448800" y="1181100"/>
            <a:ext cx="67818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3. </a:t>
            </a:r>
            <a:r>
              <a:rPr lang="zh-CN" altLang="en-US" dirty="0"/>
              <a:t>多态调用示例</a:t>
            </a:r>
          </a:p>
          <a:p>
            <a:endParaRPr lang="zh-CN" altLang="en-US" dirty="0"/>
          </a:p>
          <a:p>
            <a:r>
              <a:rPr lang="en-US" altLang="zh-CN" dirty="0" err="1"/>
              <a:t>MealCard</a:t>
            </a:r>
            <a:r>
              <a:rPr lang="en-US" altLang="zh-CN" dirty="0"/>
              <a:t>[] cards = new </a:t>
            </a:r>
            <a:r>
              <a:rPr lang="en-US" altLang="zh-CN" dirty="0" err="1"/>
              <a:t>MealCard</a:t>
            </a:r>
            <a:r>
              <a:rPr lang="en-US" altLang="zh-CN" dirty="0"/>
              <a:t>[]</a:t>
            </a:r>
          </a:p>
          <a:p>
            <a:r>
              <a:rPr lang="en-US" altLang="zh-CN" dirty="0"/>
              <a:t>{</a:t>
            </a:r>
          </a:p>
          <a:p>
            <a:r>
              <a:rPr lang="en-US" altLang="zh-CN" dirty="0"/>
              <a:t>    new </a:t>
            </a:r>
            <a:r>
              <a:rPr lang="en-US" altLang="zh-CN" dirty="0" err="1"/>
              <a:t>StudentMealCard</a:t>
            </a:r>
            <a:r>
              <a:rPr lang="en-US" altLang="zh-CN" dirty="0"/>
              <a:t>("</a:t>
            </a:r>
            <a:r>
              <a:rPr lang="zh-CN" altLang="en-US" dirty="0"/>
              <a:t>张三</a:t>
            </a:r>
            <a:r>
              <a:rPr lang="en-US" altLang="zh-CN" dirty="0"/>
              <a:t>", 1000),</a:t>
            </a:r>
          </a:p>
          <a:p>
            <a:r>
              <a:rPr lang="en-US" altLang="zh-CN" dirty="0"/>
              <a:t>    new </a:t>
            </a:r>
            <a:r>
              <a:rPr lang="en-US" altLang="zh-CN" dirty="0" err="1"/>
              <a:t>TeacherMealCard</a:t>
            </a:r>
            <a:r>
              <a:rPr lang="en-US" altLang="zh-CN" dirty="0"/>
              <a:t>("</a:t>
            </a:r>
            <a:r>
              <a:rPr lang="zh-CN" altLang="en-US" dirty="0"/>
              <a:t>李老师</a:t>
            </a:r>
            <a:r>
              <a:rPr lang="en-US" altLang="zh-CN" dirty="0"/>
              <a:t>", 1000),</a:t>
            </a:r>
          </a:p>
          <a:p>
            <a:r>
              <a:rPr lang="en-US" altLang="zh-CN" dirty="0"/>
              <a:t>    new </a:t>
            </a:r>
            <a:r>
              <a:rPr lang="en-US" altLang="zh-CN" dirty="0" err="1"/>
              <a:t>TemporaryMealCard</a:t>
            </a:r>
            <a:r>
              <a:rPr lang="en-US" altLang="zh-CN" dirty="0"/>
              <a:t>("</a:t>
            </a:r>
            <a:r>
              <a:rPr lang="zh-CN" altLang="en-US" dirty="0"/>
              <a:t>访客</a:t>
            </a:r>
            <a:r>
              <a:rPr lang="en-US" altLang="zh-CN" dirty="0"/>
              <a:t>", 500)</a:t>
            </a:r>
          </a:p>
          <a:p>
            <a:r>
              <a:rPr lang="en-US" altLang="zh-CN" dirty="0"/>
              <a:t>};</a:t>
            </a:r>
          </a:p>
          <a:p>
            <a:endParaRPr lang="en-US" altLang="zh-CN" dirty="0"/>
          </a:p>
          <a:p>
            <a:r>
              <a:rPr lang="en-US" altLang="zh-CN" dirty="0"/>
              <a:t>// </a:t>
            </a:r>
            <a:r>
              <a:rPr lang="zh-CN" altLang="en-US" dirty="0"/>
              <a:t>多态调用：同一个方法，不同子类执行不同逻辑</a:t>
            </a:r>
          </a:p>
          <a:p>
            <a:r>
              <a:rPr lang="en-US" altLang="zh-CN" dirty="0"/>
              <a:t>foreach (var card in cards)</a:t>
            </a:r>
          </a:p>
          <a:p>
            <a:r>
              <a:rPr lang="en-US" altLang="zh-CN" dirty="0"/>
              <a:t>{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card.Consume</a:t>
            </a:r>
            <a:r>
              <a:rPr lang="en-US" altLang="zh-CN" dirty="0"/>
              <a:t>(100, </a:t>
            </a:r>
            <a:r>
              <a:rPr lang="en-US" altLang="zh-CN" dirty="0" err="1"/>
              <a:t>DateTime.Now</a:t>
            </a:r>
            <a:r>
              <a:rPr lang="en-US" altLang="zh-CN" dirty="0"/>
              <a:t>, "</a:t>
            </a:r>
            <a:r>
              <a:rPr lang="zh-CN" altLang="en-US" dirty="0"/>
              <a:t>午餐</a:t>
            </a:r>
            <a:r>
              <a:rPr lang="en-US" altLang="zh-CN" dirty="0"/>
              <a:t>");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card.PerformMonthEndTransactions</a:t>
            </a:r>
            <a:r>
              <a:rPr lang="en-US" altLang="zh-CN" dirty="0"/>
              <a:t>();  // </a:t>
            </a:r>
            <a:r>
              <a:rPr lang="zh-CN" altLang="en-US" dirty="0"/>
              <a:t>每个子类执行自己的逻辑</a:t>
            </a:r>
          </a:p>
          <a:p>
            <a:r>
              <a:rPr lang="en-US" altLang="zh-CN" dirty="0"/>
              <a:t>}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44CD16F-BAB4-118F-FE96-15B14D3C8D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600" y="5981700"/>
            <a:ext cx="5454930" cy="76203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780E2A8-3B38-6B1A-B179-5CB2C13130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4792" y="7107170"/>
            <a:ext cx="5454930" cy="76203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C8F86FBE-8D1F-FB7A-672A-FE5C9A0B43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600" y="8232640"/>
            <a:ext cx="5512083" cy="787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500120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Freeform 3" descr="https://kimi-img.moonshot.cn/pub/slides/slides_tmpl/image/25-10-09-16:35:26-d3jn7jgs8jdo4os5dj50.jpg"/>
          <p:cNvSpPr/>
          <p:nvPr/>
        </p:nvSpPr>
        <p:spPr>
          <a:xfrm>
            <a:off x="0" y="0"/>
            <a:ext cx="18287048" cy="10287000"/>
          </a:xfrm>
          <a:custGeom>
            <a:avLst/>
            <a:gdLst/>
            <a:ahLst/>
            <a:cxnLst/>
            <a:rect l="l" t="t" r="r" b="b"/>
            <a:pathLst>
              <a:path w="18287048" h="10287000">
                <a:moveTo>
                  <a:pt x="0" y="0"/>
                </a:moveTo>
                <a:lnTo>
                  <a:pt x="18287048" y="0"/>
                </a:lnTo>
                <a:lnTo>
                  <a:pt x="1828704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6000"/>
            </a:blip>
            <a:stretch>
              <a:fillRect t="-90" b="-89"/>
            </a:stretch>
          </a:blipFill>
        </p:spPr>
      </p:sp>
      <p:sp>
        <p:nvSpPr>
          <p:cNvPr id="4" name="Freeform 4" descr="https://kimi-img.moonshot.cn/pub/slides/slides_tmpl/image/25-10-09-16:35:24-d3jn7j0s8jdo4os5divg.jpg"/>
          <p:cNvSpPr/>
          <p:nvPr/>
        </p:nvSpPr>
        <p:spPr>
          <a:xfrm>
            <a:off x="4346258" y="5304472"/>
            <a:ext cx="10235565" cy="1104900"/>
          </a:xfrm>
          <a:custGeom>
            <a:avLst/>
            <a:gdLst/>
            <a:ahLst/>
            <a:cxnLst/>
            <a:rect l="l" t="t" r="r" b="b"/>
            <a:pathLst>
              <a:path w="10235565" h="1104900">
                <a:moveTo>
                  <a:pt x="0" y="0"/>
                </a:moveTo>
                <a:lnTo>
                  <a:pt x="10235564" y="0"/>
                </a:lnTo>
                <a:lnTo>
                  <a:pt x="10235564" y="1104900"/>
                </a:lnTo>
                <a:lnTo>
                  <a:pt x="0" y="11049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73325" b="-73324"/>
            </a:stretch>
          </a:blipFill>
        </p:spPr>
      </p:sp>
      <p:sp>
        <p:nvSpPr>
          <p:cNvPr id="5" name="Freeform 5" descr="https://kimi-img.moonshot.cn/pub/slides/slides_tmpl/image/25-10-09-16:35:24-d3jn7j0s8jdo4os5diug.jpg"/>
          <p:cNvSpPr/>
          <p:nvPr/>
        </p:nvSpPr>
        <p:spPr>
          <a:xfrm rot="-10800000">
            <a:off x="806768" y="8847772"/>
            <a:ext cx="2555558" cy="565785"/>
          </a:xfrm>
          <a:custGeom>
            <a:avLst/>
            <a:gdLst/>
            <a:ahLst/>
            <a:cxnLst/>
            <a:rect l="l" t="t" r="r" b="b"/>
            <a:pathLst>
              <a:path w="2555558" h="565785">
                <a:moveTo>
                  <a:pt x="0" y="0"/>
                </a:moveTo>
                <a:lnTo>
                  <a:pt x="2555557" y="0"/>
                </a:lnTo>
                <a:lnTo>
                  <a:pt x="2555557" y="565785"/>
                </a:lnTo>
                <a:lnTo>
                  <a:pt x="0" y="5657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23422" b="-23420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8249831" y="3428524"/>
            <a:ext cx="2428408" cy="2008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00"/>
              </a:lnSpc>
            </a:pPr>
            <a:r>
              <a:rPr lang="en-US" sz="12750">
                <a:solidFill>
                  <a:srgbClr val="0439E1"/>
                </a:solidFill>
                <a:latin typeface="Arimo"/>
                <a:ea typeface="Arimo"/>
                <a:cs typeface="Arimo"/>
                <a:sym typeface="Arimo"/>
              </a:rPr>
              <a:t>03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508659" y="5436870"/>
            <a:ext cx="9910762" cy="811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20"/>
              </a:lnSpc>
            </a:pPr>
            <a:r>
              <a:rPr lang="zh-CN" altLang="en-US" sz="5100" dirty="0">
                <a:solidFill>
                  <a:srgbClr val="0D0D0D"/>
                </a:solidFill>
                <a:latin typeface="Arimo"/>
                <a:ea typeface="Arimo"/>
                <a:cs typeface="Arimo"/>
                <a:sym typeface="Arimo"/>
              </a:rPr>
              <a:t>程序实现</a:t>
            </a:r>
            <a:endParaRPr lang="en-US" sz="5100" dirty="0">
              <a:solidFill>
                <a:srgbClr val="0D0D0D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3970679" y="9491701"/>
            <a:ext cx="3109912" cy="14288"/>
            <a:chOff x="0" y="0"/>
            <a:chExt cx="4146550" cy="19050"/>
          </a:xfrm>
        </p:grpSpPr>
        <p:sp>
          <p:nvSpPr>
            <p:cNvPr id="9" name="Freeform 9"/>
            <p:cNvSpPr/>
            <p:nvPr/>
          </p:nvSpPr>
          <p:spPr>
            <a:xfrm>
              <a:off x="9525" y="0"/>
              <a:ext cx="4127500" cy="19050"/>
            </a:xfrm>
            <a:custGeom>
              <a:avLst/>
              <a:gdLst/>
              <a:ahLst/>
              <a:cxnLst/>
              <a:rect l="l" t="t" r="r" b="b"/>
              <a:pathLst>
                <a:path w="4127500" h="19050">
                  <a:moveTo>
                    <a:pt x="0" y="0"/>
                  </a:moveTo>
                  <a:lnTo>
                    <a:pt x="4127500" y="0"/>
                  </a:lnTo>
                  <a:lnTo>
                    <a:pt x="41275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000000">
                <a:alpha val="4706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7175337" y="9045321"/>
            <a:ext cx="342538" cy="91926"/>
            <a:chOff x="0" y="0"/>
            <a:chExt cx="456717" cy="122568"/>
          </a:xfrm>
        </p:grpSpPr>
        <p:sp>
          <p:nvSpPr>
            <p:cNvPr id="11" name="Freeform 11"/>
            <p:cNvSpPr/>
            <p:nvPr/>
          </p:nvSpPr>
          <p:spPr>
            <a:xfrm>
              <a:off x="19050" y="19050"/>
              <a:ext cx="418592" cy="84455"/>
            </a:xfrm>
            <a:custGeom>
              <a:avLst/>
              <a:gdLst/>
              <a:ahLst/>
              <a:cxnLst/>
              <a:rect l="l" t="t" r="r" b="b"/>
              <a:pathLst>
                <a:path w="418592" h="84455">
                  <a:moveTo>
                    <a:pt x="0" y="0"/>
                  </a:moveTo>
                  <a:lnTo>
                    <a:pt x="418592" y="0"/>
                  </a:lnTo>
                  <a:lnTo>
                    <a:pt x="418592" y="84455"/>
                  </a:lnTo>
                  <a:lnTo>
                    <a:pt x="0" y="84455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0" y="0"/>
              <a:ext cx="456692" cy="122555"/>
            </a:xfrm>
            <a:custGeom>
              <a:avLst/>
              <a:gdLst/>
              <a:ahLst/>
              <a:cxnLst/>
              <a:rect l="l" t="t" r="r" b="b"/>
              <a:pathLst>
                <a:path w="456692" h="122555">
                  <a:moveTo>
                    <a:pt x="19050" y="0"/>
                  </a:moveTo>
                  <a:lnTo>
                    <a:pt x="437642" y="0"/>
                  </a:lnTo>
                  <a:cubicBezTo>
                    <a:pt x="448183" y="0"/>
                    <a:pt x="456692" y="8509"/>
                    <a:pt x="456692" y="19050"/>
                  </a:cubicBezTo>
                  <a:lnTo>
                    <a:pt x="456692" y="103505"/>
                  </a:lnTo>
                  <a:cubicBezTo>
                    <a:pt x="456692" y="114046"/>
                    <a:pt x="448183" y="122555"/>
                    <a:pt x="437642" y="122555"/>
                  </a:cubicBezTo>
                  <a:lnTo>
                    <a:pt x="19050" y="122555"/>
                  </a:lnTo>
                  <a:cubicBezTo>
                    <a:pt x="8509" y="122555"/>
                    <a:pt x="0" y="114046"/>
                    <a:pt x="0" y="103505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103505"/>
                  </a:lnTo>
                  <a:lnTo>
                    <a:pt x="19050" y="103505"/>
                  </a:lnTo>
                  <a:lnTo>
                    <a:pt x="19050" y="84455"/>
                  </a:lnTo>
                  <a:lnTo>
                    <a:pt x="437642" y="84455"/>
                  </a:lnTo>
                  <a:lnTo>
                    <a:pt x="437642" y="103505"/>
                  </a:lnTo>
                  <a:lnTo>
                    <a:pt x="418592" y="103505"/>
                  </a:lnTo>
                  <a:lnTo>
                    <a:pt x="418592" y="19050"/>
                  </a:lnTo>
                  <a:lnTo>
                    <a:pt x="437642" y="19050"/>
                  </a:lnTo>
                  <a:lnTo>
                    <a:pt x="437642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17175337" y="9190787"/>
            <a:ext cx="342538" cy="91926"/>
            <a:chOff x="0" y="0"/>
            <a:chExt cx="456717" cy="122568"/>
          </a:xfrm>
        </p:grpSpPr>
        <p:sp>
          <p:nvSpPr>
            <p:cNvPr id="14" name="Freeform 14"/>
            <p:cNvSpPr/>
            <p:nvPr/>
          </p:nvSpPr>
          <p:spPr>
            <a:xfrm>
              <a:off x="19050" y="19050"/>
              <a:ext cx="418592" cy="84455"/>
            </a:xfrm>
            <a:custGeom>
              <a:avLst/>
              <a:gdLst/>
              <a:ahLst/>
              <a:cxnLst/>
              <a:rect l="l" t="t" r="r" b="b"/>
              <a:pathLst>
                <a:path w="418592" h="84455">
                  <a:moveTo>
                    <a:pt x="0" y="0"/>
                  </a:moveTo>
                  <a:lnTo>
                    <a:pt x="418592" y="0"/>
                  </a:lnTo>
                  <a:lnTo>
                    <a:pt x="418592" y="84455"/>
                  </a:lnTo>
                  <a:lnTo>
                    <a:pt x="0" y="84455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0" y="0"/>
              <a:ext cx="456692" cy="122555"/>
            </a:xfrm>
            <a:custGeom>
              <a:avLst/>
              <a:gdLst/>
              <a:ahLst/>
              <a:cxnLst/>
              <a:rect l="l" t="t" r="r" b="b"/>
              <a:pathLst>
                <a:path w="456692" h="122555">
                  <a:moveTo>
                    <a:pt x="19050" y="0"/>
                  </a:moveTo>
                  <a:lnTo>
                    <a:pt x="437642" y="0"/>
                  </a:lnTo>
                  <a:cubicBezTo>
                    <a:pt x="448183" y="0"/>
                    <a:pt x="456692" y="8509"/>
                    <a:pt x="456692" y="19050"/>
                  </a:cubicBezTo>
                  <a:lnTo>
                    <a:pt x="456692" y="103505"/>
                  </a:lnTo>
                  <a:cubicBezTo>
                    <a:pt x="456692" y="114046"/>
                    <a:pt x="448183" y="122555"/>
                    <a:pt x="437642" y="122555"/>
                  </a:cubicBezTo>
                  <a:lnTo>
                    <a:pt x="19050" y="122555"/>
                  </a:lnTo>
                  <a:cubicBezTo>
                    <a:pt x="8509" y="122555"/>
                    <a:pt x="0" y="114046"/>
                    <a:pt x="0" y="103505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103505"/>
                  </a:lnTo>
                  <a:lnTo>
                    <a:pt x="19050" y="103505"/>
                  </a:lnTo>
                  <a:lnTo>
                    <a:pt x="19050" y="84455"/>
                  </a:lnTo>
                  <a:lnTo>
                    <a:pt x="437642" y="84455"/>
                  </a:lnTo>
                  <a:lnTo>
                    <a:pt x="437642" y="103505"/>
                  </a:lnTo>
                  <a:lnTo>
                    <a:pt x="418592" y="103505"/>
                  </a:lnTo>
                  <a:lnTo>
                    <a:pt x="418592" y="19050"/>
                  </a:lnTo>
                  <a:lnTo>
                    <a:pt x="437642" y="19050"/>
                  </a:lnTo>
                  <a:lnTo>
                    <a:pt x="437642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17175337" y="9336243"/>
            <a:ext cx="342538" cy="91926"/>
            <a:chOff x="0" y="0"/>
            <a:chExt cx="456717" cy="122568"/>
          </a:xfrm>
        </p:grpSpPr>
        <p:sp>
          <p:nvSpPr>
            <p:cNvPr id="17" name="Freeform 17"/>
            <p:cNvSpPr/>
            <p:nvPr/>
          </p:nvSpPr>
          <p:spPr>
            <a:xfrm>
              <a:off x="19050" y="19050"/>
              <a:ext cx="418592" cy="84455"/>
            </a:xfrm>
            <a:custGeom>
              <a:avLst/>
              <a:gdLst/>
              <a:ahLst/>
              <a:cxnLst/>
              <a:rect l="l" t="t" r="r" b="b"/>
              <a:pathLst>
                <a:path w="418592" h="84455">
                  <a:moveTo>
                    <a:pt x="0" y="0"/>
                  </a:moveTo>
                  <a:lnTo>
                    <a:pt x="418592" y="0"/>
                  </a:lnTo>
                  <a:lnTo>
                    <a:pt x="418592" y="84455"/>
                  </a:lnTo>
                  <a:lnTo>
                    <a:pt x="0" y="84455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0" y="0"/>
              <a:ext cx="456692" cy="122555"/>
            </a:xfrm>
            <a:custGeom>
              <a:avLst/>
              <a:gdLst/>
              <a:ahLst/>
              <a:cxnLst/>
              <a:rect l="l" t="t" r="r" b="b"/>
              <a:pathLst>
                <a:path w="456692" h="122555">
                  <a:moveTo>
                    <a:pt x="19050" y="0"/>
                  </a:moveTo>
                  <a:lnTo>
                    <a:pt x="437642" y="0"/>
                  </a:lnTo>
                  <a:cubicBezTo>
                    <a:pt x="448183" y="0"/>
                    <a:pt x="456692" y="8509"/>
                    <a:pt x="456692" y="19050"/>
                  </a:cubicBezTo>
                  <a:lnTo>
                    <a:pt x="456692" y="103505"/>
                  </a:lnTo>
                  <a:cubicBezTo>
                    <a:pt x="456692" y="114046"/>
                    <a:pt x="448183" y="122555"/>
                    <a:pt x="437642" y="122555"/>
                  </a:cubicBezTo>
                  <a:lnTo>
                    <a:pt x="19050" y="122555"/>
                  </a:lnTo>
                  <a:cubicBezTo>
                    <a:pt x="8509" y="122555"/>
                    <a:pt x="0" y="114046"/>
                    <a:pt x="0" y="103505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103505"/>
                  </a:lnTo>
                  <a:lnTo>
                    <a:pt x="19050" y="103505"/>
                  </a:lnTo>
                  <a:lnTo>
                    <a:pt x="19050" y="84455"/>
                  </a:lnTo>
                  <a:lnTo>
                    <a:pt x="437642" y="84455"/>
                  </a:lnTo>
                  <a:lnTo>
                    <a:pt x="437642" y="103505"/>
                  </a:lnTo>
                  <a:lnTo>
                    <a:pt x="418592" y="103505"/>
                  </a:lnTo>
                  <a:lnTo>
                    <a:pt x="418592" y="19050"/>
                  </a:lnTo>
                  <a:lnTo>
                    <a:pt x="437642" y="19050"/>
                  </a:lnTo>
                  <a:lnTo>
                    <a:pt x="437642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9" name="Freeform 19" descr="https://kimi-img.moonshot.cn/pub/slides/slides_tmpl/image/25-10-09-16:35:24-d3jn7j0s8jdo4os5div0.png"/>
          <p:cNvSpPr/>
          <p:nvPr/>
        </p:nvSpPr>
        <p:spPr>
          <a:xfrm flipV="1">
            <a:off x="1277302" y="945832"/>
            <a:ext cx="1143000" cy="114300"/>
          </a:xfrm>
          <a:custGeom>
            <a:avLst/>
            <a:gdLst/>
            <a:ahLst/>
            <a:cxnLst/>
            <a:rect l="l" t="t" r="r" b="b"/>
            <a:pathLst>
              <a:path w="1143000" h="114300">
                <a:moveTo>
                  <a:pt x="0" y="114300"/>
                </a:moveTo>
                <a:lnTo>
                  <a:pt x="1143000" y="114300"/>
                </a:lnTo>
                <a:lnTo>
                  <a:pt x="1143000" y="0"/>
                </a:ln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blipFill>
            <a:blip r:embed="rId7">
              <a:alphaModFix amt="40000"/>
            </a:blip>
            <a:stretch>
              <a:fillRect l="-5454" r="-5455"/>
            </a:stretch>
          </a:blipFill>
        </p:spPr>
      </p:sp>
      <p:sp>
        <p:nvSpPr>
          <p:cNvPr id="20" name="Freeform 20" descr="https://kimi-img.moonshot.cn/pub/slides/slides_tmpl/image/25-10-09-16:35:24-d3jn7j0s8jdo4os5div0.png"/>
          <p:cNvSpPr/>
          <p:nvPr/>
        </p:nvSpPr>
        <p:spPr>
          <a:xfrm flipV="1">
            <a:off x="1277302" y="1142048"/>
            <a:ext cx="1143000" cy="114300"/>
          </a:xfrm>
          <a:custGeom>
            <a:avLst/>
            <a:gdLst/>
            <a:ahLst/>
            <a:cxnLst/>
            <a:rect l="l" t="t" r="r" b="b"/>
            <a:pathLst>
              <a:path w="1143000" h="114300">
                <a:moveTo>
                  <a:pt x="0" y="114300"/>
                </a:moveTo>
                <a:lnTo>
                  <a:pt x="1143000" y="114300"/>
                </a:lnTo>
                <a:lnTo>
                  <a:pt x="1143000" y="0"/>
                </a:ln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blipFill>
            <a:blip r:embed="rId7">
              <a:alphaModFix amt="40000"/>
            </a:blip>
            <a:stretch>
              <a:fillRect l="-5454" r="-5455"/>
            </a:stretch>
          </a:blipFill>
        </p:spPr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4FB965-E93D-D622-A6E6-E42C68E56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https://kimi-img.moonshot.cn/pub/slides/slides_tmpl/image/25-10-09-16:35:25-d3jn7j8s8jdo4os5dj20.jpg">
            <a:extLst>
              <a:ext uri="{FF2B5EF4-FFF2-40B4-BE49-F238E27FC236}">
                <a16:creationId xmlns:a16="http://schemas.microsoft.com/office/drawing/2014/main" id="{4F128363-0FCB-C065-338F-D48B25B11473}"/>
              </a:ext>
            </a:extLst>
          </p:cNvPr>
          <p:cNvSpPr/>
          <p:nvPr/>
        </p:nvSpPr>
        <p:spPr>
          <a:xfrm>
            <a:off x="0" y="0"/>
            <a:ext cx="18288000" cy="10287952"/>
          </a:xfrm>
          <a:custGeom>
            <a:avLst/>
            <a:gdLst/>
            <a:ahLst/>
            <a:cxnLst/>
            <a:rect l="l" t="t" r="r" b="b"/>
            <a:pathLst>
              <a:path w="18288000" h="10287952">
                <a:moveTo>
                  <a:pt x="0" y="0"/>
                </a:moveTo>
                <a:lnTo>
                  <a:pt x="18288000" y="0"/>
                </a:lnTo>
                <a:lnTo>
                  <a:pt x="18288000" y="10287952"/>
                </a:lnTo>
                <a:lnTo>
                  <a:pt x="0" y="102879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" r="-4"/>
            </a:stretch>
          </a:blipFill>
        </p:spPr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A6924F7-AC91-C2E0-095E-10EA255C8542}"/>
              </a:ext>
            </a:extLst>
          </p:cNvPr>
          <p:cNvSpPr txBox="1"/>
          <p:nvPr/>
        </p:nvSpPr>
        <p:spPr>
          <a:xfrm>
            <a:off x="1371600" y="495300"/>
            <a:ext cx="10972800" cy="9140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项目结构</a:t>
            </a:r>
          </a:p>
          <a:p>
            <a:endParaRPr lang="zh-CN" altLang="en-US" sz="2800" dirty="0"/>
          </a:p>
          <a:p>
            <a:r>
              <a:rPr lang="en-US" altLang="zh-CN" sz="2800" dirty="0" err="1"/>
              <a:t>MealCardSystem</a:t>
            </a:r>
            <a:r>
              <a:rPr lang="en-US" altLang="zh-CN" sz="2800" dirty="0"/>
              <a:t>/</a:t>
            </a:r>
          </a:p>
          <a:p>
            <a:r>
              <a:rPr lang="en-US" altLang="zh-CN" sz="2800" dirty="0" err="1"/>
              <a:t>Transaction.cs</a:t>
            </a:r>
            <a:r>
              <a:rPr lang="en-US" altLang="zh-CN" sz="2800" dirty="0"/>
              <a:t>              </a:t>
            </a:r>
            <a:r>
              <a:rPr lang="zh-CN" altLang="en-US" sz="2800" dirty="0"/>
              <a:t>交易记录类</a:t>
            </a:r>
          </a:p>
          <a:p>
            <a:r>
              <a:rPr lang="en-US" altLang="zh-CN" sz="2800" dirty="0" err="1"/>
              <a:t>MealCard.cs</a:t>
            </a:r>
            <a:r>
              <a:rPr lang="en-US" altLang="zh-CN" sz="2800" dirty="0"/>
              <a:t>                 </a:t>
            </a:r>
            <a:r>
              <a:rPr lang="zh-CN" altLang="en-US" sz="2800" dirty="0"/>
              <a:t>饭卡基类</a:t>
            </a:r>
          </a:p>
          <a:p>
            <a:r>
              <a:rPr lang="en-US" altLang="zh-CN" sz="2800" dirty="0" err="1"/>
              <a:t>StudentMealCard.cs</a:t>
            </a:r>
            <a:r>
              <a:rPr lang="en-US" altLang="zh-CN" sz="2800" dirty="0"/>
              <a:t>          </a:t>
            </a:r>
            <a:r>
              <a:rPr lang="zh-CN" altLang="en-US" sz="2800" dirty="0"/>
              <a:t>学生饭卡类</a:t>
            </a:r>
          </a:p>
          <a:p>
            <a:r>
              <a:rPr lang="en-US" altLang="zh-CN" sz="2800" dirty="0" err="1"/>
              <a:t>TeacherMealCard.cs</a:t>
            </a:r>
            <a:r>
              <a:rPr lang="en-US" altLang="zh-CN" sz="2800" dirty="0"/>
              <a:t>          </a:t>
            </a:r>
            <a:r>
              <a:rPr lang="zh-CN" altLang="en-US" sz="2800" dirty="0"/>
              <a:t>教师饭卡类</a:t>
            </a:r>
          </a:p>
          <a:p>
            <a:r>
              <a:rPr lang="en-US" altLang="zh-CN" sz="2800" dirty="0" err="1"/>
              <a:t>TemporaryMealCard.cs</a:t>
            </a:r>
            <a:r>
              <a:rPr lang="en-US" altLang="zh-CN" sz="2800" dirty="0"/>
              <a:t>        </a:t>
            </a:r>
            <a:r>
              <a:rPr lang="zh-CN" altLang="en-US" sz="2800" dirty="0"/>
              <a:t>临时饭卡类</a:t>
            </a:r>
          </a:p>
          <a:p>
            <a:r>
              <a:rPr lang="en-US" altLang="zh-CN" sz="2800" dirty="0" err="1"/>
              <a:t>Program.cs</a:t>
            </a:r>
            <a:r>
              <a:rPr lang="en-US" altLang="zh-CN" sz="2800" dirty="0"/>
              <a:t>                  </a:t>
            </a:r>
            <a:r>
              <a:rPr lang="zh-CN" altLang="en-US" sz="2800" dirty="0"/>
              <a:t>主程序（测试代码）</a:t>
            </a:r>
          </a:p>
          <a:p>
            <a:r>
              <a:rPr lang="en-US" altLang="zh-CN" sz="2800" dirty="0" err="1"/>
              <a:t>VoucherSystem.csproj</a:t>
            </a:r>
            <a:r>
              <a:rPr lang="en-US" altLang="zh-CN" sz="2800" dirty="0"/>
              <a:t>        </a:t>
            </a:r>
            <a:r>
              <a:rPr lang="zh-CN" altLang="en-US" sz="2800" dirty="0"/>
              <a:t>项目文件</a:t>
            </a:r>
          </a:p>
          <a:p>
            <a:endParaRPr lang="zh-CN" altLang="en-US" sz="2800" dirty="0"/>
          </a:p>
          <a:p>
            <a:r>
              <a:rPr lang="zh-CN" altLang="en-US" sz="2800" dirty="0"/>
              <a:t>核心类实现</a:t>
            </a:r>
          </a:p>
          <a:p>
            <a:endParaRPr lang="zh-CN" altLang="en-US" sz="2800" dirty="0"/>
          </a:p>
          <a:p>
            <a:r>
              <a:rPr lang="en-US" altLang="zh-CN" sz="2800" dirty="0"/>
              <a:t>Transaction</a:t>
            </a:r>
            <a:r>
              <a:rPr lang="zh-CN" altLang="en-US" sz="2800" dirty="0"/>
              <a:t>类（交易记录）</a:t>
            </a:r>
          </a:p>
          <a:p>
            <a:endParaRPr lang="zh-CN" altLang="en-US" sz="2800" dirty="0"/>
          </a:p>
          <a:p>
            <a:r>
              <a:rPr lang="zh-CN" altLang="en-US" sz="2800" dirty="0"/>
              <a:t>功能：记录每笔交易的详细信息</a:t>
            </a:r>
          </a:p>
          <a:p>
            <a:endParaRPr lang="zh-CN" altLang="en-US" sz="2800" dirty="0"/>
          </a:p>
          <a:p>
            <a:r>
              <a:rPr lang="zh-CN" altLang="en-US" sz="2800" dirty="0"/>
              <a:t>关键属性：</a:t>
            </a:r>
          </a:p>
          <a:p>
            <a:r>
              <a:rPr lang="en-US" altLang="zh-CN" sz="2800" dirty="0" err="1"/>
              <a:t>DateTime</a:t>
            </a:r>
            <a:r>
              <a:rPr lang="en-US" altLang="zh-CN" sz="2800" dirty="0"/>
              <a:t> Date        </a:t>
            </a:r>
            <a:r>
              <a:rPr lang="zh-CN" altLang="en-US" sz="2800" dirty="0"/>
              <a:t>交易日期</a:t>
            </a:r>
          </a:p>
          <a:p>
            <a:r>
              <a:rPr lang="en-US" altLang="zh-CN" sz="2800" dirty="0"/>
              <a:t>decimal Amount       </a:t>
            </a:r>
            <a:r>
              <a:rPr lang="zh-CN" altLang="en-US" sz="2800" dirty="0"/>
              <a:t>交易金额（正数为充值，负数为消费）</a:t>
            </a:r>
          </a:p>
          <a:p>
            <a:r>
              <a:rPr lang="en-US" altLang="zh-CN" sz="2800" dirty="0"/>
              <a:t>string Description   </a:t>
            </a:r>
            <a:r>
              <a:rPr lang="zh-CN" altLang="en-US" sz="2800" dirty="0"/>
              <a:t>交易描述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EB9E9AA-569F-B489-282D-0BACB284AD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8800" y="2247900"/>
            <a:ext cx="6864703" cy="4711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019346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8474D1-38EC-00AB-C7B9-F9745F2E7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https://kimi-img.moonshot.cn/pub/slides/slides_tmpl/image/25-10-09-16:35:25-d3jn7j8s8jdo4os5dj20.jpg">
            <a:extLst>
              <a:ext uri="{FF2B5EF4-FFF2-40B4-BE49-F238E27FC236}">
                <a16:creationId xmlns:a16="http://schemas.microsoft.com/office/drawing/2014/main" id="{89751813-C9EA-0A41-7B6D-6A81BB649D95}"/>
              </a:ext>
            </a:extLst>
          </p:cNvPr>
          <p:cNvSpPr/>
          <p:nvPr/>
        </p:nvSpPr>
        <p:spPr>
          <a:xfrm>
            <a:off x="0" y="-8572"/>
            <a:ext cx="18288000" cy="10287952"/>
          </a:xfrm>
          <a:custGeom>
            <a:avLst/>
            <a:gdLst/>
            <a:ahLst/>
            <a:cxnLst/>
            <a:rect l="l" t="t" r="r" b="b"/>
            <a:pathLst>
              <a:path w="18288000" h="10287952">
                <a:moveTo>
                  <a:pt x="0" y="0"/>
                </a:moveTo>
                <a:lnTo>
                  <a:pt x="18288000" y="0"/>
                </a:lnTo>
                <a:lnTo>
                  <a:pt x="18288000" y="10287952"/>
                </a:lnTo>
                <a:lnTo>
                  <a:pt x="0" y="102879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" r="-4"/>
            </a:stretch>
          </a:blipFill>
        </p:spPr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95483E3-15A3-EFD5-393F-9E1809FBE900}"/>
              </a:ext>
            </a:extLst>
          </p:cNvPr>
          <p:cNvSpPr txBox="1"/>
          <p:nvPr/>
        </p:nvSpPr>
        <p:spPr>
          <a:xfrm>
            <a:off x="762000" y="495300"/>
            <a:ext cx="10972800" cy="8710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/>
              <a:t>MealCard</a:t>
            </a:r>
            <a:r>
              <a:rPr lang="zh-CN" altLang="en-US" sz="2000" dirty="0"/>
              <a:t>类（饭卡基类）</a:t>
            </a:r>
          </a:p>
          <a:p>
            <a:endParaRPr lang="zh-CN" altLang="en-US" sz="2000" dirty="0"/>
          </a:p>
          <a:p>
            <a:r>
              <a:rPr lang="zh-CN" altLang="en-US" sz="2000" dirty="0"/>
              <a:t>功能：定义所有饭卡的共同属性和方法</a:t>
            </a:r>
          </a:p>
          <a:p>
            <a:r>
              <a:rPr lang="zh-CN" altLang="en-US" sz="2000" dirty="0"/>
              <a:t>关键实现：</a:t>
            </a:r>
          </a:p>
          <a:p>
            <a:r>
              <a:rPr lang="en-US" altLang="zh-CN" sz="2000" dirty="0"/>
              <a:t>1. </a:t>
            </a:r>
            <a:r>
              <a:rPr lang="zh-CN" altLang="en-US" sz="2000" dirty="0"/>
              <a:t>封装的数据：</a:t>
            </a:r>
            <a:endParaRPr lang="en-US" altLang="zh-CN" sz="2000" dirty="0"/>
          </a:p>
          <a:p>
            <a:r>
              <a:rPr lang="en-US" altLang="zh-CN" sz="2000" dirty="0"/>
              <a:t>protected decimal _balance; </a:t>
            </a:r>
            <a:r>
              <a:rPr lang="zh-CN" altLang="en-US" sz="2000" dirty="0"/>
              <a:t>余额</a:t>
            </a:r>
          </a:p>
          <a:p>
            <a:r>
              <a:rPr lang="en-US" altLang="zh-CN" sz="2000" dirty="0"/>
              <a:t>protected string _</a:t>
            </a:r>
            <a:r>
              <a:rPr lang="en-US" altLang="zh-CN" sz="2000" dirty="0" err="1"/>
              <a:t>cardNo</a:t>
            </a:r>
            <a:r>
              <a:rPr lang="en-US" altLang="zh-CN" sz="2000" dirty="0"/>
              <a:t>; </a:t>
            </a:r>
            <a:r>
              <a:rPr lang="zh-CN" altLang="en-US" sz="2000" dirty="0"/>
              <a:t>卡号</a:t>
            </a:r>
          </a:p>
          <a:p>
            <a:r>
              <a:rPr lang="en-US" altLang="zh-CN" sz="2000" dirty="0"/>
              <a:t>protected string _</a:t>
            </a:r>
            <a:r>
              <a:rPr lang="en-US" altLang="zh-CN" sz="2000" dirty="0" err="1"/>
              <a:t>userName</a:t>
            </a:r>
            <a:r>
              <a:rPr lang="en-US" altLang="zh-CN" sz="2000" dirty="0"/>
              <a:t>; </a:t>
            </a:r>
            <a:r>
              <a:rPr lang="zh-CN" altLang="en-US" sz="2000" dirty="0"/>
              <a:t>持卡人</a:t>
            </a:r>
          </a:p>
          <a:p>
            <a:r>
              <a:rPr lang="en-US" altLang="zh-CN" sz="2000" dirty="0"/>
              <a:t>protected List&lt;Transaction&gt; _</a:t>
            </a:r>
            <a:r>
              <a:rPr lang="en-US" altLang="zh-CN" sz="2000" dirty="0" err="1"/>
              <a:t>allTransactions</a:t>
            </a:r>
            <a:r>
              <a:rPr lang="en-US" altLang="zh-CN" sz="2000" dirty="0"/>
              <a:t>; </a:t>
            </a:r>
            <a:r>
              <a:rPr lang="zh-CN" altLang="en-US" sz="2000" dirty="0"/>
              <a:t>交易记录</a:t>
            </a:r>
          </a:p>
          <a:p>
            <a:endParaRPr lang="zh-CN" altLang="en-US" sz="2000" dirty="0"/>
          </a:p>
          <a:p>
            <a:r>
              <a:rPr lang="en-US" altLang="zh-CN" sz="2000" dirty="0"/>
              <a:t>2. </a:t>
            </a:r>
            <a:r>
              <a:rPr lang="zh-CN" altLang="en-US" sz="2000" dirty="0"/>
              <a:t>消费方法（支持多态）：</a:t>
            </a:r>
          </a:p>
          <a:p>
            <a:r>
              <a:rPr lang="en-US" altLang="zh-CN" sz="2000" dirty="0"/>
              <a:t>public virtual void Consume(decimal amount, </a:t>
            </a:r>
            <a:r>
              <a:rPr lang="en-US" altLang="zh-CN" sz="2000" dirty="0" err="1"/>
              <a:t>DateTime</a:t>
            </a:r>
            <a:r>
              <a:rPr lang="en-US" altLang="zh-CN" sz="2000" dirty="0"/>
              <a:t> date, string description)</a:t>
            </a:r>
          </a:p>
          <a:p>
            <a:r>
              <a:rPr lang="en-US" altLang="zh-CN" sz="2000" dirty="0"/>
              <a:t>{</a:t>
            </a:r>
          </a:p>
          <a:p>
            <a:r>
              <a:rPr lang="en-US" altLang="zh-CN" sz="2000" dirty="0"/>
              <a:t>    decimal </a:t>
            </a:r>
            <a:r>
              <a:rPr lang="en-US" altLang="zh-CN" sz="2000" dirty="0" err="1"/>
              <a:t>actualAmount</a:t>
            </a:r>
            <a:r>
              <a:rPr lang="en-US" altLang="zh-CN" sz="2000" dirty="0"/>
              <a:t> = </a:t>
            </a:r>
            <a:r>
              <a:rPr lang="en-US" altLang="zh-CN" sz="2000" dirty="0" err="1"/>
              <a:t>CalculateActualAmount</a:t>
            </a:r>
            <a:r>
              <a:rPr lang="en-US" altLang="zh-CN" sz="2000" dirty="0"/>
              <a:t>(amount);  // </a:t>
            </a:r>
            <a:r>
              <a:rPr lang="zh-CN" altLang="en-US" sz="2000" dirty="0"/>
              <a:t>调用虚方法计算实际金额</a:t>
            </a:r>
          </a:p>
          <a:p>
            <a:r>
              <a:rPr lang="zh-CN" altLang="en-US" sz="2000" dirty="0"/>
              <a:t>    </a:t>
            </a:r>
            <a:r>
              <a:rPr lang="en-US" altLang="zh-CN" sz="2000" dirty="0"/>
              <a:t>_balance -= </a:t>
            </a:r>
            <a:r>
              <a:rPr lang="en-US" altLang="zh-CN" sz="2000" dirty="0" err="1"/>
              <a:t>actualAmount</a:t>
            </a:r>
            <a:r>
              <a:rPr lang="en-US" altLang="zh-CN" sz="2000" dirty="0"/>
              <a:t>;</a:t>
            </a:r>
          </a:p>
          <a:p>
            <a:r>
              <a:rPr lang="en-US" altLang="zh-CN" sz="2000" dirty="0"/>
              <a:t>    _</a:t>
            </a:r>
            <a:r>
              <a:rPr lang="en-US" altLang="zh-CN" sz="2000" dirty="0" err="1"/>
              <a:t>allTransactions.Add</a:t>
            </a:r>
            <a:r>
              <a:rPr lang="en-US" altLang="zh-CN" sz="2000" dirty="0"/>
              <a:t>(new Transaction(-</a:t>
            </a:r>
            <a:r>
              <a:rPr lang="en-US" altLang="zh-CN" sz="2000" dirty="0" err="1"/>
              <a:t>actualAmount</a:t>
            </a:r>
            <a:r>
              <a:rPr lang="en-US" altLang="zh-CN" sz="2000" dirty="0"/>
              <a:t>, date, description));</a:t>
            </a:r>
          </a:p>
          <a:p>
            <a:r>
              <a:rPr lang="en-US" altLang="zh-CN" sz="2000" dirty="0"/>
              <a:t>}</a:t>
            </a:r>
          </a:p>
          <a:p>
            <a:endParaRPr lang="en-US" altLang="zh-CN" sz="2000" dirty="0"/>
          </a:p>
          <a:p>
            <a:r>
              <a:rPr lang="en-US" altLang="zh-CN" sz="2000" dirty="0"/>
              <a:t>3. </a:t>
            </a:r>
            <a:r>
              <a:rPr lang="zh-CN" altLang="en-US" sz="2000" dirty="0"/>
              <a:t>虚方法（供子类重写）：</a:t>
            </a:r>
          </a:p>
          <a:p>
            <a:r>
              <a:rPr lang="en-US" altLang="zh-CN" sz="2000" dirty="0"/>
              <a:t>protected virtual decimal </a:t>
            </a:r>
            <a:r>
              <a:rPr lang="en-US" altLang="zh-CN" sz="2000" dirty="0" err="1"/>
              <a:t>CalculateActualAmount</a:t>
            </a:r>
            <a:r>
              <a:rPr lang="en-US" altLang="zh-CN" sz="2000" dirty="0"/>
              <a:t>(decimal </a:t>
            </a:r>
            <a:r>
              <a:rPr lang="en-US" altLang="zh-CN" sz="2000" dirty="0" err="1"/>
              <a:t>originalAmount</a:t>
            </a:r>
            <a:r>
              <a:rPr lang="en-US" altLang="zh-CN" sz="2000" dirty="0"/>
              <a:t>)</a:t>
            </a:r>
          </a:p>
          <a:p>
            <a:r>
              <a:rPr lang="en-US" altLang="zh-CN" sz="2000" dirty="0"/>
              <a:t>{</a:t>
            </a:r>
          </a:p>
          <a:p>
            <a:r>
              <a:rPr lang="en-US" altLang="zh-CN" sz="2000" dirty="0"/>
              <a:t>    return </a:t>
            </a:r>
            <a:r>
              <a:rPr lang="en-US" altLang="zh-CN" sz="2000" dirty="0" err="1"/>
              <a:t>originalAmount</a:t>
            </a:r>
            <a:r>
              <a:rPr lang="en-US" altLang="zh-CN" sz="2000" dirty="0"/>
              <a:t>;  // </a:t>
            </a:r>
            <a:r>
              <a:rPr lang="zh-CN" altLang="en-US" sz="2000" dirty="0"/>
              <a:t>基类默认无折扣</a:t>
            </a:r>
          </a:p>
          <a:p>
            <a:r>
              <a:rPr lang="en-US" altLang="zh-CN" sz="2000" dirty="0"/>
              <a:t>}</a:t>
            </a:r>
          </a:p>
          <a:p>
            <a:endParaRPr lang="en-US" altLang="zh-CN" sz="2000" dirty="0"/>
          </a:p>
          <a:p>
            <a:r>
              <a:rPr lang="en-US" altLang="zh-CN" sz="2000" dirty="0"/>
              <a:t>public virtual void </a:t>
            </a:r>
            <a:r>
              <a:rPr lang="en-US" altLang="zh-CN" sz="2000" dirty="0" err="1"/>
              <a:t>PerformMonthEndTransactions</a:t>
            </a:r>
            <a:r>
              <a:rPr lang="en-US" altLang="zh-CN" sz="2000" dirty="0"/>
              <a:t>()</a:t>
            </a:r>
          </a:p>
          <a:p>
            <a:r>
              <a:rPr lang="en-US" altLang="zh-CN" sz="2000" dirty="0"/>
              <a:t>{</a:t>
            </a:r>
          </a:p>
          <a:p>
            <a:r>
              <a:rPr lang="en-US" altLang="zh-CN" sz="2000" dirty="0"/>
              <a:t>    // </a:t>
            </a:r>
            <a:r>
              <a:rPr lang="zh-CN" altLang="en-US" sz="2000" dirty="0"/>
              <a:t>基类默认不做任何处理</a:t>
            </a:r>
          </a:p>
          <a:p>
            <a:r>
              <a:rPr lang="en-US" altLang="zh-CN" sz="2000" dirty="0"/>
              <a:t>}</a:t>
            </a:r>
            <a:endParaRPr lang="zh-CN" altLang="en-US" sz="20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F7D61D8-4612-99B1-4739-9960DE134B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723900"/>
            <a:ext cx="6494585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603755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578AB5-A246-FA96-04B1-90BB71BD3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https://kimi-img.moonshot.cn/pub/slides/slides_tmpl/image/25-10-09-16:35:25-d3jn7j8s8jdo4os5dj20.jpg">
            <a:extLst>
              <a:ext uri="{FF2B5EF4-FFF2-40B4-BE49-F238E27FC236}">
                <a16:creationId xmlns:a16="http://schemas.microsoft.com/office/drawing/2014/main" id="{3C1B2D65-065E-6036-2DE7-B4919183224E}"/>
              </a:ext>
            </a:extLst>
          </p:cNvPr>
          <p:cNvSpPr/>
          <p:nvPr/>
        </p:nvSpPr>
        <p:spPr>
          <a:xfrm>
            <a:off x="0" y="0"/>
            <a:ext cx="18288000" cy="10287952"/>
          </a:xfrm>
          <a:custGeom>
            <a:avLst/>
            <a:gdLst/>
            <a:ahLst/>
            <a:cxnLst/>
            <a:rect l="l" t="t" r="r" b="b"/>
            <a:pathLst>
              <a:path w="18288000" h="10287952">
                <a:moveTo>
                  <a:pt x="0" y="0"/>
                </a:moveTo>
                <a:lnTo>
                  <a:pt x="18288000" y="0"/>
                </a:lnTo>
                <a:lnTo>
                  <a:pt x="18288000" y="10287952"/>
                </a:lnTo>
                <a:lnTo>
                  <a:pt x="0" y="102879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" r="-4"/>
            </a:stretch>
          </a:blipFill>
        </p:spPr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39CE33A-0BF0-6DF0-9501-B445BC5987D4}"/>
              </a:ext>
            </a:extLst>
          </p:cNvPr>
          <p:cNvSpPr txBox="1"/>
          <p:nvPr/>
        </p:nvSpPr>
        <p:spPr>
          <a:xfrm>
            <a:off x="609600" y="444377"/>
            <a:ext cx="10972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/>
              <a:t>StudentMealCard</a:t>
            </a:r>
            <a:r>
              <a:rPr lang="zh-CN" altLang="en-US" sz="2400" dirty="0"/>
              <a:t>类（学生卡）</a:t>
            </a:r>
          </a:p>
          <a:p>
            <a:r>
              <a:rPr lang="zh-CN" altLang="en-US" sz="2400" dirty="0"/>
              <a:t>功能：实现学生卡的</a:t>
            </a:r>
            <a:r>
              <a:rPr lang="en-US" altLang="zh-CN" sz="2400" dirty="0"/>
              <a:t>8</a:t>
            </a:r>
            <a:r>
              <a:rPr lang="zh-CN" altLang="en-US" sz="2400" dirty="0"/>
              <a:t>折优惠和月末返还</a:t>
            </a:r>
          </a:p>
          <a:p>
            <a:r>
              <a:rPr lang="zh-CN" altLang="en-US" sz="2400" dirty="0"/>
              <a:t>关键实现：</a:t>
            </a:r>
          </a:p>
          <a:p>
            <a:r>
              <a:rPr lang="zh-CN" altLang="en-US" sz="2400" dirty="0"/>
              <a:t>折扣率：</a:t>
            </a:r>
            <a:r>
              <a:rPr lang="en-US" altLang="zh-CN" sz="2400" dirty="0"/>
              <a:t>0.8</a:t>
            </a:r>
            <a:r>
              <a:rPr lang="zh-CN" altLang="en-US" sz="2400" dirty="0"/>
              <a:t>（</a:t>
            </a:r>
            <a:r>
              <a:rPr lang="en-US" altLang="zh-CN" sz="2400" dirty="0"/>
              <a:t>8</a:t>
            </a:r>
            <a:r>
              <a:rPr lang="zh-CN" altLang="en-US" sz="2400" dirty="0"/>
              <a:t>折）</a:t>
            </a:r>
          </a:p>
          <a:p>
            <a:r>
              <a:rPr lang="zh-CN" altLang="en-US" sz="2400" dirty="0"/>
              <a:t>重写</a:t>
            </a:r>
            <a:r>
              <a:rPr lang="en-US" altLang="zh-CN" sz="2400" dirty="0" err="1"/>
              <a:t>CalculateActualAmount</a:t>
            </a:r>
            <a:r>
              <a:rPr lang="en-US" altLang="zh-CN" sz="2400" dirty="0"/>
              <a:t>()</a:t>
            </a:r>
            <a:r>
              <a:rPr lang="zh-CN" altLang="en-US" sz="2400" dirty="0"/>
              <a:t>方法：返回 </a:t>
            </a:r>
            <a:r>
              <a:rPr lang="en-US" altLang="zh-CN" sz="2400" dirty="0" err="1"/>
              <a:t>originalAmount</a:t>
            </a:r>
            <a:r>
              <a:rPr lang="en-US" altLang="zh-CN" sz="2400" dirty="0"/>
              <a:t> * 0.8</a:t>
            </a:r>
          </a:p>
          <a:p>
            <a:r>
              <a:rPr lang="zh-CN" altLang="en-US" sz="2400" dirty="0"/>
              <a:t>重写</a:t>
            </a:r>
            <a:r>
              <a:rPr lang="en-US" altLang="zh-CN" sz="2400" dirty="0" err="1"/>
              <a:t>PerformMonthEndTransactions</a:t>
            </a:r>
            <a:r>
              <a:rPr lang="en-US" altLang="zh-CN" sz="2400" dirty="0"/>
              <a:t>()</a:t>
            </a:r>
            <a:r>
              <a:rPr lang="zh-CN" altLang="en-US" sz="2400" dirty="0"/>
              <a:t>方法：当月消费超过</a:t>
            </a:r>
            <a:r>
              <a:rPr lang="en-US" altLang="zh-CN" sz="2400" dirty="0"/>
              <a:t>500</a:t>
            </a:r>
            <a:r>
              <a:rPr lang="zh-CN" altLang="en-US" sz="2400" dirty="0"/>
              <a:t>元，返还消费额的</a:t>
            </a:r>
            <a:r>
              <a:rPr lang="en-US" altLang="zh-CN" sz="2400" dirty="0"/>
              <a:t>5%</a:t>
            </a:r>
            <a:endParaRPr lang="zh-CN" altLang="en-US" sz="24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D0A89A5-6BE3-81FE-E3F5-CB0A1271B451}"/>
              </a:ext>
            </a:extLst>
          </p:cNvPr>
          <p:cNvSpPr txBox="1"/>
          <p:nvPr/>
        </p:nvSpPr>
        <p:spPr>
          <a:xfrm>
            <a:off x="533400" y="3288672"/>
            <a:ext cx="79248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/>
              <a:t>TeacherMealCard</a:t>
            </a:r>
            <a:r>
              <a:rPr lang="zh-CN" altLang="en-US" sz="2400" dirty="0"/>
              <a:t>类（教师卡）</a:t>
            </a:r>
          </a:p>
          <a:p>
            <a:r>
              <a:rPr lang="zh-CN" altLang="en-US" sz="2400" dirty="0"/>
              <a:t>功能：实现教师卡的</a:t>
            </a:r>
            <a:r>
              <a:rPr lang="en-US" altLang="zh-CN" sz="2400" dirty="0"/>
              <a:t>9</a:t>
            </a:r>
            <a:r>
              <a:rPr lang="zh-CN" altLang="en-US" sz="2400" dirty="0"/>
              <a:t>折优惠和月末返还</a:t>
            </a:r>
          </a:p>
          <a:p>
            <a:r>
              <a:rPr lang="zh-CN" altLang="en-US" sz="2400" dirty="0"/>
              <a:t>关键实现：</a:t>
            </a:r>
          </a:p>
          <a:p>
            <a:r>
              <a:rPr lang="zh-CN" altLang="en-US" sz="2400" dirty="0"/>
              <a:t>折扣率：</a:t>
            </a:r>
            <a:r>
              <a:rPr lang="en-US" altLang="zh-CN" sz="2400" dirty="0"/>
              <a:t>0.9</a:t>
            </a:r>
            <a:r>
              <a:rPr lang="zh-CN" altLang="en-US" sz="2400" dirty="0"/>
              <a:t>（</a:t>
            </a:r>
            <a:r>
              <a:rPr lang="en-US" altLang="zh-CN" sz="2400" dirty="0"/>
              <a:t>9</a:t>
            </a:r>
            <a:r>
              <a:rPr lang="zh-CN" altLang="en-US" sz="2400" dirty="0"/>
              <a:t>折）</a:t>
            </a:r>
          </a:p>
          <a:p>
            <a:r>
              <a:rPr lang="zh-CN" altLang="en-US" sz="2400" dirty="0"/>
              <a:t>重写</a:t>
            </a:r>
            <a:r>
              <a:rPr lang="en-US" altLang="zh-CN" sz="2400" dirty="0" err="1"/>
              <a:t>CalculateActualAmount</a:t>
            </a:r>
            <a:r>
              <a:rPr lang="en-US" altLang="zh-CN" sz="2400" dirty="0"/>
              <a:t>()</a:t>
            </a:r>
            <a:r>
              <a:rPr lang="zh-CN" altLang="en-US" sz="2400" dirty="0"/>
              <a:t>方法：返回 </a:t>
            </a:r>
            <a:r>
              <a:rPr lang="en-US" altLang="zh-CN" sz="2400" dirty="0" err="1"/>
              <a:t>originalAmount</a:t>
            </a:r>
            <a:r>
              <a:rPr lang="en-US" altLang="zh-CN" sz="2400" dirty="0"/>
              <a:t> * 0.9</a:t>
            </a:r>
          </a:p>
          <a:p>
            <a:r>
              <a:rPr lang="zh-CN" altLang="en-US" sz="2400" dirty="0"/>
              <a:t>重写</a:t>
            </a:r>
            <a:r>
              <a:rPr lang="en-US" altLang="zh-CN" sz="2400" dirty="0" err="1"/>
              <a:t>PerformMonthEndTransactions</a:t>
            </a:r>
            <a:r>
              <a:rPr lang="en-US" altLang="zh-CN" sz="2400" dirty="0"/>
              <a:t>()</a:t>
            </a:r>
            <a:r>
              <a:rPr lang="zh-CN" altLang="en-US" sz="2400" dirty="0"/>
              <a:t>方法：当月消费超过</a:t>
            </a:r>
            <a:r>
              <a:rPr lang="en-US" altLang="zh-CN" sz="2400" dirty="0"/>
              <a:t>800</a:t>
            </a:r>
            <a:r>
              <a:rPr lang="zh-CN" altLang="en-US" sz="2400" dirty="0"/>
              <a:t>元，返还消费额的</a:t>
            </a:r>
            <a:r>
              <a:rPr lang="en-US" altLang="zh-CN" sz="2400" dirty="0"/>
              <a:t>10%</a:t>
            </a:r>
            <a:endParaRPr lang="zh-CN" altLang="en-US" sz="24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43518C5-CDB4-90DF-4BED-193833D4FC1F}"/>
              </a:ext>
            </a:extLst>
          </p:cNvPr>
          <p:cNvSpPr txBox="1"/>
          <p:nvPr/>
        </p:nvSpPr>
        <p:spPr>
          <a:xfrm>
            <a:off x="533400" y="6515100"/>
            <a:ext cx="60960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/>
              <a:t>TemporaryMealCard</a:t>
            </a:r>
            <a:r>
              <a:rPr lang="zh-CN" altLang="en-US" sz="2400" dirty="0"/>
              <a:t>类（临时卡）</a:t>
            </a:r>
          </a:p>
          <a:p>
            <a:endParaRPr lang="zh-CN" altLang="en-US" sz="2400" dirty="0"/>
          </a:p>
          <a:p>
            <a:r>
              <a:rPr lang="zh-CN" altLang="en-US" sz="2400" dirty="0"/>
              <a:t>功能：实现临时卡的无折扣功能</a:t>
            </a:r>
          </a:p>
          <a:p>
            <a:endParaRPr lang="zh-CN" altLang="en-US" sz="2400" dirty="0"/>
          </a:p>
          <a:p>
            <a:r>
              <a:rPr lang="zh-CN" altLang="en-US" sz="2400" dirty="0"/>
              <a:t>关键实现：</a:t>
            </a:r>
          </a:p>
          <a:p>
            <a:r>
              <a:rPr lang="zh-CN" altLang="en-US" sz="2400" dirty="0"/>
              <a:t>不重写</a:t>
            </a:r>
            <a:r>
              <a:rPr lang="en-US" altLang="zh-CN" sz="2400" dirty="0" err="1"/>
              <a:t>CalculateActualAmount</a:t>
            </a:r>
            <a:r>
              <a:rPr lang="en-US" altLang="zh-CN" sz="2400" dirty="0"/>
              <a:t>()</a:t>
            </a:r>
            <a:r>
              <a:rPr lang="zh-CN" altLang="en-US" sz="2400" dirty="0"/>
              <a:t>，使用基类实现（无折扣）</a:t>
            </a:r>
          </a:p>
          <a:p>
            <a:r>
              <a:rPr lang="zh-CN" altLang="en-US" sz="2400" dirty="0"/>
              <a:t>重写</a:t>
            </a:r>
            <a:r>
              <a:rPr lang="en-US" altLang="zh-CN" sz="2400" dirty="0" err="1"/>
              <a:t>PerformMonthEndTransactions</a:t>
            </a:r>
            <a:r>
              <a:rPr lang="en-US" altLang="zh-CN" sz="2400" dirty="0"/>
              <a:t>()</a:t>
            </a:r>
            <a:r>
              <a:rPr lang="zh-CN" altLang="en-US" sz="2400" dirty="0"/>
              <a:t>，不做任何处理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CDD3AE7-77D4-DC67-BB65-1F15630509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87200" y="114300"/>
            <a:ext cx="5867400" cy="535014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253AF7A-D0A7-FCB0-A7CD-2A5A306084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002" y="2859413"/>
            <a:ext cx="4692396" cy="467488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3DE4B30E-BF53-21DC-C890-D7822E3C54E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2400" y="5199311"/>
            <a:ext cx="6210619" cy="4883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912152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526108-51C3-1AAE-B38B-0E338B110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https://kimi-img.moonshot.cn/pub/slides/slides_tmpl/image/25-10-09-16:35:25-d3jn7j8s8jdo4os5dj20.jpg">
            <a:extLst>
              <a:ext uri="{FF2B5EF4-FFF2-40B4-BE49-F238E27FC236}">
                <a16:creationId xmlns:a16="http://schemas.microsoft.com/office/drawing/2014/main" id="{8A0495A0-09CC-C860-2A9F-050D8066EDB0}"/>
              </a:ext>
            </a:extLst>
          </p:cNvPr>
          <p:cNvSpPr/>
          <p:nvPr/>
        </p:nvSpPr>
        <p:spPr>
          <a:xfrm>
            <a:off x="0" y="0"/>
            <a:ext cx="18288000" cy="10287952"/>
          </a:xfrm>
          <a:custGeom>
            <a:avLst/>
            <a:gdLst/>
            <a:ahLst/>
            <a:cxnLst/>
            <a:rect l="l" t="t" r="r" b="b"/>
            <a:pathLst>
              <a:path w="18288000" h="10287952">
                <a:moveTo>
                  <a:pt x="0" y="0"/>
                </a:moveTo>
                <a:lnTo>
                  <a:pt x="18288000" y="0"/>
                </a:lnTo>
                <a:lnTo>
                  <a:pt x="18288000" y="10287952"/>
                </a:lnTo>
                <a:lnTo>
                  <a:pt x="0" y="102879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" r="-4"/>
            </a:stretch>
          </a:blipFill>
        </p:spPr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FD8357D-CFF8-8790-3815-CDA7D84FD548}"/>
              </a:ext>
            </a:extLst>
          </p:cNvPr>
          <p:cNvSpPr txBox="1"/>
          <p:nvPr/>
        </p:nvSpPr>
        <p:spPr>
          <a:xfrm>
            <a:off x="457200" y="723900"/>
            <a:ext cx="10972800" cy="8279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多态性演示</a:t>
            </a:r>
          </a:p>
          <a:p>
            <a:endParaRPr lang="zh-CN" altLang="en-US" sz="2800" dirty="0"/>
          </a:p>
          <a:p>
            <a:r>
              <a:rPr lang="en-US" altLang="zh-CN" sz="2800" dirty="0" err="1"/>
              <a:t>Program.cs</a:t>
            </a:r>
            <a:r>
              <a:rPr lang="zh-CN" altLang="en-US" sz="2800" dirty="0"/>
              <a:t>中的多态演示：</a:t>
            </a:r>
          </a:p>
          <a:p>
            <a:endParaRPr lang="zh-CN" altLang="en-US" sz="2800" dirty="0"/>
          </a:p>
          <a:p>
            <a:r>
              <a:rPr lang="zh-CN" altLang="en-US" sz="2800" dirty="0"/>
              <a:t>使用基类数组存储不同子类对象</a:t>
            </a:r>
          </a:p>
          <a:p>
            <a:r>
              <a:rPr lang="en-US" altLang="zh-CN" sz="2800" dirty="0" err="1"/>
              <a:t>MealCard</a:t>
            </a:r>
            <a:r>
              <a:rPr lang="en-US" altLang="zh-CN" sz="2800" dirty="0"/>
              <a:t>[] cards = new </a:t>
            </a:r>
            <a:r>
              <a:rPr lang="en-US" altLang="zh-CN" sz="2800" dirty="0" err="1"/>
              <a:t>MealCard</a:t>
            </a:r>
            <a:r>
              <a:rPr lang="en-US" altLang="zh-CN" sz="2800" dirty="0"/>
              <a:t>[]</a:t>
            </a:r>
          </a:p>
          <a:p>
            <a:r>
              <a:rPr lang="en-US" altLang="zh-CN" sz="2800" dirty="0"/>
              <a:t>{</a:t>
            </a:r>
          </a:p>
          <a:p>
            <a:r>
              <a:rPr lang="en-US" altLang="zh-CN" sz="2800" dirty="0"/>
              <a:t>    new </a:t>
            </a:r>
            <a:r>
              <a:rPr lang="en-US" altLang="zh-CN" sz="2800" dirty="0" err="1"/>
              <a:t>StudentMealCard</a:t>
            </a:r>
            <a:r>
              <a:rPr lang="en-US" altLang="zh-CN" sz="2800" dirty="0"/>
              <a:t>("</a:t>
            </a:r>
            <a:r>
              <a:rPr lang="zh-CN" altLang="en-US" sz="2800" dirty="0"/>
              <a:t>学生</a:t>
            </a:r>
            <a:r>
              <a:rPr lang="en-US" altLang="zh-CN" sz="2800" dirty="0"/>
              <a:t>1", 500),</a:t>
            </a:r>
          </a:p>
          <a:p>
            <a:r>
              <a:rPr lang="en-US" altLang="zh-CN" sz="2800" dirty="0"/>
              <a:t>    new </a:t>
            </a:r>
            <a:r>
              <a:rPr lang="en-US" altLang="zh-CN" sz="2800" dirty="0" err="1"/>
              <a:t>TeacherMealCard</a:t>
            </a:r>
            <a:r>
              <a:rPr lang="en-US" altLang="zh-CN" sz="2800" dirty="0"/>
              <a:t>("</a:t>
            </a:r>
            <a:r>
              <a:rPr lang="zh-CN" altLang="en-US" sz="2800" dirty="0"/>
              <a:t>教师</a:t>
            </a:r>
            <a:r>
              <a:rPr lang="en-US" altLang="zh-CN" sz="2800" dirty="0"/>
              <a:t>1", 500),</a:t>
            </a:r>
          </a:p>
          <a:p>
            <a:r>
              <a:rPr lang="en-US" altLang="zh-CN" sz="2800" dirty="0"/>
              <a:t>    new </a:t>
            </a:r>
            <a:r>
              <a:rPr lang="en-US" altLang="zh-CN" sz="2800" dirty="0" err="1"/>
              <a:t>TemporaryMealCard</a:t>
            </a:r>
            <a:r>
              <a:rPr lang="en-US" altLang="zh-CN" sz="2800" dirty="0"/>
              <a:t>("</a:t>
            </a:r>
            <a:r>
              <a:rPr lang="zh-CN" altLang="en-US" sz="2800" dirty="0"/>
              <a:t>访客</a:t>
            </a:r>
            <a:r>
              <a:rPr lang="en-US" altLang="zh-CN" sz="2800" dirty="0"/>
              <a:t>1", 500)</a:t>
            </a:r>
          </a:p>
          <a:p>
            <a:r>
              <a:rPr lang="en-US" altLang="zh-CN" sz="2800" dirty="0"/>
              <a:t>};</a:t>
            </a:r>
          </a:p>
          <a:p>
            <a:endParaRPr lang="en-US" altLang="zh-CN" sz="2800" dirty="0"/>
          </a:p>
          <a:p>
            <a:r>
              <a:rPr lang="zh-CN" altLang="en-US" sz="2800" dirty="0"/>
              <a:t>多态调用：同一个方法，不同子类执行不同逻辑</a:t>
            </a:r>
          </a:p>
          <a:p>
            <a:r>
              <a:rPr lang="en-US" altLang="zh-CN" sz="2800" dirty="0"/>
              <a:t>foreach (var card in cards)</a:t>
            </a:r>
          </a:p>
          <a:p>
            <a:r>
              <a:rPr lang="en-US" altLang="zh-CN" sz="2800" dirty="0"/>
              <a:t>{</a:t>
            </a:r>
          </a:p>
          <a:p>
            <a:r>
              <a:rPr lang="en-US" altLang="zh-CN" sz="2800" dirty="0"/>
              <a:t>    </a:t>
            </a:r>
            <a:r>
              <a:rPr lang="en-US" altLang="zh-CN" sz="2800" dirty="0" err="1"/>
              <a:t>card.Consume</a:t>
            </a:r>
            <a:r>
              <a:rPr lang="en-US" altLang="zh-CN" sz="2800" dirty="0"/>
              <a:t>(100, </a:t>
            </a:r>
            <a:r>
              <a:rPr lang="en-US" altLang="zh-CN" sz="2800" dirty="0" err="1"/>
              <a:t>DateTime.Now</a:t>
            </a:r>
            <a:r>
              <a:rPr lang="en-US" altLang="zh-CN" sz="2800" dirty="0"/>
              <a:t>, "</a:t>
            </a:r>
            <a:r>
              <a:rPr lang="zh-CN" altLang="en-US" sz="2800" dirty="0"/>
              <a:t>测试消费</a:t>
            </a:r>
            <a:r>
              <a:rPr lang="en-US" altLang="zh-CN" sz="2800" dirty="0"/>
              <a:t>");</a:t>
            </a:r>
          </a:p>
          <a:p>
            <a:r>
              <a:rPr lang="en-US" altLang="zh-CN" sz="2800" dirty="0"/>
              <a:t>    </a:t>
            </a:r>
            <a:r>
              <a:rPr lang="en-US" altLang="zh-CN" sz="2800" dirty="0" err="1"/>
              <a:t>card.PerformMonthEndTransactions</a:t>
            </a:r>
            <a:r>
              <a:rPr lang="en-US" altLang="zh-CN" sz="2800" dirty="0"/>
              <a:t>();  // </a:t>
            </a:r>
            <a:r>
              <a:rPr lang="zh-CN" altLang="en-US" sz="2800" dirty="0"/>
              <a:t>每个子类执行自己的逻辑</a:t>
            </a:r>
          </a:p>
          <a:p>
            <a:r>
              <a:rPr lang="zh-CN" altLang="en-US" sz="2800" dirty="0"/>
              <a:t>    </a:t>
            </a:r>
            <a:r>
              <a:rPr lang="en-US" altLang="zh-CN" sz="2800" dirty="0" err="1"/>
              <a:t>Console.WriteLine</a:t>
            </a:r>
            <a:r>
              <a:rPr lang="en-US" altLang="zh-CN" sz="2800" dirty="0"/>
              <a:t>(</a:t>
            </a:r>
            <a:r>
              <a:rPr lang="en-US" altLang="zh-CN" sz="2800" dirty="0" err="1"/>
              <a:t>card.UserName</a:t>
            </a:r>
            <a:r>
              <a:rPr lang="en-US" altLang="zh-CN" sz="2800" dirty="0"/>
              <a:t> + " </a:t>
            </a:r>
            <a:r>
              <a:rPr lang="zh-CN" altLang="en-US" sz="2800" dirty="0"/>
              <a:t>余额</a:t>
            </a:r>
            <a:r>
              <a:rPr lang="en-US" altLang="zh-CN" sz="2800" dirty="0"/>
              <a:t>: " + </a:t>
            </a:r>
            <a:r>
              <a:rPr lang="en-US" altLang="zh-CN" sz="2800" dirty="0" err="1"/>
              <a:t>card.Balance</a:t>
            </a:r>
            <a:r>
              <a:rPr lang="en-US" altLang="zh-CN" sz="2800" dirty="0"/>
              <a:t>);</a:t>
            </a:r>
          </a:p>
          <a:p>
            <a:r>
              <a:rPr lang="en-US" altLang="zh-CN" sz="2800" dirty="0"/>
              <a:t>}</a:t>
            </a:r>
            <a:endParaRPr lang="zh-CN" altLang="en-US" sz="28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6184D95-6586-8788-08EA-C7FDCD9941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3852" y="2019300"/>
            <a:ext cx="6712295" cy="228611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99F48D2-58CD-9371-6A46-E6CA20DA49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600" y="4868067"/>
            <a:ext cx="4064209" cy="38737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4729E9BA-C861-47EB-9997-82935221709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5960" y="5598317"/>
            <a:ext cx="5454930" cy="762039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49A257E5-7CD3-8304-2481-50157E2CB2D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0568" y="6764119"/>
            <a:ext cx="4115011" cy="730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959939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B6DC54-28F3-1E0F-CB60-6C4D2990B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https://kimi-img.moonshot.cn/pub/slides/slides_tmpl/image/25-10-09-16:35:25-d3jn7j8s8jdo4os5dj20.jpg">
            <a:extLst>
              <a:ext uri="{FF2B5EF4-FFF2-40B4-BE49-F238E27FC236}">
                <a16:creationId xmlns:a16="http://schemas.microsoft.com/office/drawing/2014/main" id="{2BA1ED89-8BC3-4B3C-EEBA-317D86DF6CD9}"/>
              </a:ext>
            </a:extLst>
          </p:cNvPr>
          <p:cNvSpPr/>
          <p:nvPr/>
        </p:nvSpPr>
        <p:spPr>
          <a:xfrm>
            <a:off x="0" y="0"/>
            <a:ext cx="18288000" cy="10287952"/>
          </a:xfrm>
          <a:custGeom>
            <a:avLst/>
            <a:gdLst/>
            <a:ahLst/>
            <a:cxnLst/>
            <a:rect l="l" t="t" r="r" b="b"/>
            <a:pathLst>
              <a:path w="18288000" h="10287952">
                <a:moveTo>
                  <a:pt x="0" y="0"/>
                </a:moveTo>
                <a:lnTo>
                  <a:pt x="18288000" y="0"/>
                </a:lnTo>
                <a:lnTo>
                  <a:pt x="18288000" y="10287952"/>
                </a:lnTo>
                <a:lnTo>
                  <a:pt x="0" y="102879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" r="-4"/>
            </a:stretch>
          </a:blipFill>
        </p:spPr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E1C02C8-47DD-D326-42B0-F50407249546}"/>
              </a:ext>
            </a:extLst>
          </p:cNvPr>
          <p:cNvSpPr txBox="1"/>
          <p:nvPr/>
        </p:nvSpPr>
        <p:spPr>
          <a:xfrm>
            <a:off x="990600" y="1409700"/>
            <a:ext cx="63246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测试结果</a:t>
            </a:r>
          </a:p>
          <a:p>
            <a:endParaRPr lang="zh-CN" altLang="en-US" sz="3200" dirty="0"/>
          </a:p>
          <a:p>
            <a:r>
              <a:rPr lang="zh-CN" altLang="en-US" sz="3200" dirty="0"/>
              <a:t>程序运行后会输出：</a:t>
            </a:r>
          </a:p>
          <a:p>
            <a:r>
              <a:rPr lang="en-US" altLang="zh-CN" sz="3200" dirty="0"/>
              <a:t>1. </a:t>
            </a:r>
            <a:r>
              <a:rPr lang="zh-CN" altLang="en-US" sz="3200" dirty="0"/>
              <a:t>学生卡测试：展示</a:t>
            </a:r>
            <a:r>
              <a:rPr lang="en-US" altLang="zh-CN" sz="3200" dirty="0"/>
              <a:t>8</a:t>
            </a:r>
            <a:r>
              <a:rPr lang="zh-CN" altLang="en-US" sz="3200" dirty="0"/>
              <a:t>折优惠和月末返还功能</a:t>
            </a:r>
          </a:p>
          <a:p>
            <a:r>
              <a:rPr lang="en-US" altLang="zh-CN" sz="3200" dirty="0"/>
              <a:t>2. </a:t>
            </a:r>
            <a:r>
              <a:rPr lang="zh-CN" altLang="en-US" sz="3200" dirty="0"/>
              <a:t>教师卡测试：展示</a:t>
            </a:r>
            <a:r>
              <a:rPr lang="en-US" altLang="zh-CN" sz="3200" dirty="0"/>
              <a:t>9</a:t>
            </a:r>
            <a:r>
              <a:rPr lang="zh-CN" altLang="en-US" sz="3200" dirty="0"/>
              <a:t>折优惠和月末返还功能</a:t>
            </a:r>
          </a:p>
          <a:p>
            <a:r>
              <a:rPr lang="en-US" altLang="zh-CN" sz="3200" dirty="0"/>
              <a:t>3. </a:t>
            </a:r>
            <a:r>
              <a:rPr lang="zh-CN" altLang="en-US" sz="3200" dirty="0"/>
              <a:t>临时卡测试：展示无折扣功能</a:t>
            </a:r>
          </a:p>
          <a:p>
            <a:r>
              <a:rPr lang="en-US" altLang="zh-CN" sz="3200" dirty="0"/>
              <a:t>4. </a:t>
            </a:r>
            <a:r>
              <a:rPr lang="zh-CN" altLang="en-US" sz="3200" dirty="0"/>
              <a:t>多态性演示：展示通过基类引用调用不同子类方法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6BF3AE5-E469-6F4A-5CB1-F91EF1F951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2752" y="419100"/>
            <a:ext cx="4915153" cy="506756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BF9797F-A0C3-1508-F1D1-4859314CF82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11200" y="273042"/>
            <a:ext cx="4254719" cy="535967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78BB4ED-C101-1987-1364-8E76B006D53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2752" y="5160264"/>
            <a:ext cx="4521432" cy="480719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C26ADB9-8AD0-B2B2-AA85-6C8B37CCAFD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17479" y="5632717"/>
            <a:ext cx="4686541" cy="2121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474739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Freeform 3" descr="https://kimi-img.moonshot.cn/pub/slides/slides_tmpl/image/25-10-09-16:35:26-d3jn7jgs8jdo4os5dj50.jpg"/>
          <p:cNvSpPr/>
          <p:nvPr/>
        </p:nvSpPr>
        <p:spPr>
          <a:xfrm>
            <a:off x="0" y="0"/>
            <a:ext cx="18287048" cy="10287000"/>
          </a:xfrm>
          <a:custGeom>
            <a:avLst/>
            <a:gdLst/>
            <a:ahLst/>
            <a:cxnLst/>
            <a:rect l="l" t="t" r="r" b="b"/>
            <a:pathLst>
              <a:path w="18287048" h="10287000">
                <a:moveTo>
                  <a:pt x="0" y="0"/>
                </a:moveTo>
                <a:lnTo>
                  <a:pt x="18287048" y="0"/>
                </a:lnTo>
                <a:lnTo>
                  <a:pt x="1828704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6000"/>
            </a:blip>
            <a:stretch>
              <a:fillRect t="-90" b="-89"/>
            </a:stretch>
          </a:blipFill>
        </p:spPr>
      </p:sp>
      <p:sp>
        <p:nvSpPr>
          <p:cNvPr id="4" name="Freeform 4" descr="https://kimi-img.moonshot.cn/pub/slides/slides_tmpl/image/25-10-09-16:35:24-d3jn7j0s8jdo4os5divg.jpg"/>
          <p:cNvSpPr/>
          <p:nvPr/>
        </p:nvSpPr>
        <p:spPr>
          <a:xfrm>
            <a:off x="4346258" y="5304472"/>
            <a:ext cx="10235565" cy="1104900"/>
          </a:xfrm>
          <a:custGeom>
            <a:avLst/>
            <a:gdLst/>
            <a:ahLst/>
            <a:cxnLst/>
            <a:rect l="l" t="t" r="r" b="b"/>
            <a:pathLst>
              <a:path w="10235565" h="1104900">
                <a:moveTo>
                  <a:pt x="0" y="0"/>
                </a:moveTo>
                <a:lnTo>
                  <a:pt x="10235564" y="0"/>
                </a:lnTo>
                <a:lnTo>
                  <a:pt x="10235564" y="1104900"/>
                </a:lnTo>
                <a:lnTo>
                  <a:pt x="0" y="11049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73325" b="-73324"/>
            </a:stretch>
          </a:blipFill>
        </p:spPr>
      </p:sp>
      <p:sp>
        <p:nvSpPr>
          <p:cNvPr id="5" name="Freeform 5" descr="https://kimi-img.moonshot.cn/pub/slides/slides_tmpl/image/25-10-09-16:35:24-d3jn7j0s8jdo4os5diug.jpg"/>
          <p:cNvSpPr/>
          <p:nvPr/>
        </p:nvSpPr>
        <p:spPr>
          <a:xfrm rot="-10800000">
            <a:off x="806768" y="8847772"/>
            <a:ext cx="2555558" cy="565785"/>
          </a:xfrm>
          <a:custGeom>
            <a:avLst/>
            <a:gdLst/>
            <a:ahLst/>
            <a:cxnLst/>
            <a:rect l="l" t="t" r="r" b="b"/>
            <a:pathLst>
              <a:path w="2555558" h="565785">
                <a:moveTo>
                  <a:pt x="0" y="0"/>
                </a:moveTo>
                <a:lnTo>
                  <a:pt x="2555557" y="0"/>
                </a:lnTo>
                <a:lnTo>
                  <a:pt x="2555557" y="565785"/>
                </a:lnTo>
                <a:lnTo>
                  <a:pt x="0" y="5657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23422" b="-23420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8249831" y="3428524"/>
            <a:ext cx="2428408" cy="2016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00"/>
              </a:lnSpc>
            </a:pPr>
            <a:r>
              <a:rPr lang="en-US" sz="12750">
                <a:solidFill>
                  <a:srgbClr val="0439E1"/>
                </a:solidFill>
                <a:latin typeface="Arimo"/>
                <a:ea typeface="Arimo"/>
                <a:cs typeface="Arimo"/>
                <a:sym typeface="Arimo"/>
              </a:rPr>
              <a:t>04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508659" y="5436870"/>
            <a:ext cx="9910762" cy="811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20"/>
              </a:lnSpc>
            </a:pPr>
            <a:r>
              <a:rPr lang="zh-CN" altLang="en-US" sz="5100" dirty="0">
                <a:solidFill>
                  <a:srgbClr val="0D0D0D"/>
                </a:solidFill>
                <a:latin typeface="Arimo"/>
                <a:ea typeface="Arimo"/>
                <a:cs typeface="Arimo"/>
                <a:sym typeface="Arimo"/>
              </a:rPr>
              <a:t>总结</a:t>
            </a:r>
            <a:endParaRPr lang="en-US" sz="5100" dirty="0">
              <a:solidFill>
                <a:srgbClr val="0D0D0D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3970679" y="9491701"/>
            <a:ext cx="3109912" cy="14288"/>
            <a:chOff x="0" y="0"/>
            <a:chExt cx="4146550" cy="19050"/>
          </a:xfrm>
        </p:grpSpPr>
        <p:sp>
          <p:nvSpPr>
            <p:cNvPr id="9" name="Freeform 9"/>
            <p:cNvSpPr/>
            <p:nvPr/>
          </p:nvSpPr>
          <p:spPr>
            <a:xfrm>
              <a:off x="9525" y="0"/>
              <a:ext cx="4127500" cy="19050"/>
            </a:xfrm>
            <a:custGeom>
              <a:avLst/>
              <a:gdLst/>
              <a:ahLst/>
              <a:cxnLst/>
              <a:rect l="l" t="t" r="r" b="b"/>
              <a:pathLst>
                <a:path w="4127500" h="19050">
                  <a:moveTo>
                    <a:pt x="0" y="0"/>
                  </a:moveTo>
                  <a:lnTo>
                    <a:pt x="4127500" y="0"/>
                  </a:lnTo>
                  <a:lnTo>
                    <a:pt x="41275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000000">
                <a:alpha val="4706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7175337" y="9045321"/>
            <a:ext cx="342538" cy="91926"/>
            <a:chOff x="0" y="0"/>
            <a:chExt cx="456717" cy="122568"/>
          </a:xfrm>
        </p:grpSpPr>
        <p:sp>
          <p:nvSpPr>
            <p:cNvPr id="11" name="Freeform 11"/>
            <p:cNvSpPr/>
            <p:nvPr/>
          </p:nvSpPr>
          <p:spPr>
            <a:xfrm>
              <a:off x="19050" y="19050"/>
              <a:ext cx="418592" cy="84455"/>
            </a:xfrm>
            <a:custGeom>
              <a:avLst/>
              <a:gdLst/>
              <a:ahLst/>
              <a:cxnLst/>
              <a:rect l="l" t="t" r="r" b="b"/>
              <a:pathLst>
                <a:path w="418592" h="84455">
                  <a:moveTo>
                    <a:pt x="0" y="0"/>
                  </a:moveTo>
                  <a:lnTo>
                    <a:pt x="418592" y="0"/>
                  </a:lnTo>
                  <a:lnTo>
                    <a:pt x="418592" y="84455"/>
                  </a:lnTo>
                  <a:lnTo>
                    <a:pt x="0" y="84455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0" y="0"/>
              <a:ext cx="456692" cy="122555"/>
            </a:xfrm>
            <a:custGeom>
              <a:avLst/>
              <a:gdLst/>
              <a:ahLst/>
              <a:cxnLst/>
              <a:rect l="l" t="t" r="r" b="b"/>
              <a:pathLst>
                <a:path w="456692" h="122555">
                  <a:moveTo>
                    <a:pt x="19050" y="0"/>
                  </a:moveTo>
                  <a:lnTo>
                    <a:pt x="437642" y="0"/>
                  </a:lnTo>
                  <a:cubicBezTo>
                    <a:pt x="448183" y="0"/>
                    <a:pt x="456692" y="8509"/>
                    <a:pt x="456692" y="19050"/>
                  </a:cubicBezTo>
                  <a:lnTo>
                    <a:pt x="456692" y="103505"/>
                  </a:lnTo>
                  <a:cubicBezTo>
                    <a:pt x="456692" y="114046"/>
                    <a:pt x="448183" y="122555"/>
                    <a:pt x="437642" y="122555"/>
                  </a:cubicBezTo>
                  <a:lnTo>
                    <a:pt x="19050" y="122555"/>
                  </a:lnTo>
                  <a:cubicBezTo>
                    <a:pt x="8509" y="122555"/>
                    <a:pt x="0" y="114046"/>
                    <a:pt x="0" y="103505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103505"/>
                  </a:lnTo>
                  <a:lnTo>
                    <a:pt x="19050" y="103505"/>
                  </a:lnTo>
                  <a:lnTo>
                    <a:pt x="19050" y="84455"/>
                  </a:lnTo>
                  <a:lnTo>
                    <a:pt x="437642" y="84455"/>
                  </a:lnTo>
                  <a:lnTo>
                    <a:pt x="437642" y="103505"/>
                  </a:lnTo>
                  <a:lnTo>
                    <a:pt x="418592" y="103505"/>
                  </a:lnTo>
                  <a:lnTo>
                    <a:pt x="418592" y="19050"/>
                  </a:lnTo>
                  <a:lnTo>
                    <a:pt x="437642" y="19050"/>
                  </a:lnTo>
                  <a:lnTo>
                    <a:pt x="437642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17175337" y="9190787"/>
            <a:ext cx="342538" cy="91926"/>
            <a:chOff x="0" y="0"/>
            <a:chExt cx="456717" cy="122568"/>
          </a:xfrm>
        </p:grpSpPr>
        <p:sp>
          <p:nvSpPr>
            <p:cNvPr id="14" name="Freeform 14"/>
            <p:cNvSpPr/>
            <p:nvPr/>
          </p:nvSpPr>
          <p:spPr>
            <a:xfrm>
              <a:off x="19050" y="19050"/>
              <a:ext cx="418592" cy="84455"/>
            </a:xfrm>
            <a:custGeom>
              <a:avLst/>
              <a:gdLst/>
              <a:ahLst/>
              <a:cxnLst/>
              <a:rect l="l" t="t" r="r" b="b"/>
              <a:pathLst>
                <a:path w="418592" h="84455">
                  <a:moveTo>
                    <a:pt x="0" y="0"/>
                  </a:moveTo>
                  <a:lnTo>
                    <a:pt x="418592" y="0"/>
                  </a:lnTo>
                  <a:lnTo>
                    <a:pt x="418592" y="84455"/>
                  </a:lnTo>
                  <a:lnTo>
                    <a:pt x="0" y="84455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0" y="0"/>
              <a:ext cx="456692" cy="122555"/>
            </a:xfrm>
            <a:custGeom>
              <a:avLst/>
              <a:gdLst/>
              <a:ahLst/>
              <a:cxnLst/>
              <a:rect l="l" t="t" r="r" b="b"/>
              <a:pathLst>
                <a:path w="456692" h="122555">
                  <a:moveTo>
                    <a:pt x="19050" y="0"/>
                  </a:moveTo>
                  <a:lnTo>
                    <a:pt x="437642" y="0"/>
                  </a:lnTo>
                  <a:cubicBezTo>
                    <a:pt x="448183" y="0"/>
                    <a:pt x="456692" y="8509"/>
                    <a:pt x="456692" y="19050"/>
                  </a:cubicBezTo>
                  <a:lnTo>
                    <a:pt x="456692" y="103505"/>
                  </a:lnTo>
                  <a:cubicBezTo>
                    <a:pt x="456692" y="114046"/>
                    <a:pt x="448183" y="122555"/>
                    <a:pt x="437642" y="122555"/>
                  </a:cubicBezTo>
                  <a:lnTo>
                    <a:pt x="19050" y="122555"/>
                  </a:lnTo>
                  <a:cubicBezTo>
                    <a:pt x="8509" y="122555"/>
                    <a:pt x="0" y="114046"/>
                    <a:pt x="0" y="103505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103505"/>
                  </a:lnTo>
                  <a:lnTo>
                    <a:pt x="19050" y="103505"/>
                  </a:lnTo>
                  <a:lnTo>
                    <a:pt x="19050" y="84455"/>
                  </a:lnTo>
                  <a:lnTo>
                    <a:pt x="437642" y="84455"/>
                  </a:lnTo>
                  <a:lnTo>
                    <a:pt x="437642" y="103505"/>
                  </a:lnTo>
                  <a:lnTo>
                    <a:pt x="418592" y="103505"/>
                  </a:lnTo>
                  <a:lnTo>
                    <a:pt x="418592" y="19050"/>
                  </a:lnTo>
                  <a:lnTo>
                    <a:pt x="437642" y="19050"/>
                  </a:lnTo>
                  <a:lnTo>
                    <a:pt x="437642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17175337" y="9336243"/>
            <a:ext cx="342538" cy="91926"/>
            <a:chOff x="0" y="0"/>
            <a:chExt cx="456717" cy="122568"/>
          </a:xfrm>
        </p:grpSpPr>
        <p:sp>
          <p:nvSpPr>
            <p:cNvPr id="17" name="Freeform 17"/>
            <p:cNvSpPr/>
            <p:nvPr/>
          </p:nvSpPr>
          <p:spPr>
            <a:xfrm>
              <a:off x="19050" y="19050"/>
              <a:ext cx="418592" cy="84455"/>
            </a:xfrm>
            <a:custGeom>
              <a:avLst/>
              <a:gdLst/>
              <a:ahLst/>
              <a:cxnLst/>
              <a:rect l="l" t="t" r="r" b="b"/>
              <a:pathLst>
                <a:path w="418592" h="84455">
                  <a:moveTo>
                    <a:pt x="0" y="0"/>
                  </a:moveTo>
                  <a:lnTo>
                    <a:pt x="418592" y="0"/>
                  </a:lnTo>
                  <a:lnTo>
                    <a:pt x="418592" y="84455"/>
                  </a:lnTo>
                  <a:lnTo>
                    <a:pt x="0" y="84455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0" y="0"/>
              <a:ext cx="456692" cy="122555"/>
            </a:xfrm>
            <a:custGeom>
              <a:avLst/>
              <a:gdLst/>
              <a:ahLst/>
              <a:cxnLst/>
              <a:rect l="l" t="t" r="r" b="b"/>
              <a:pathLst>
                <a:path w="456692" h="122555">
                  <a:moveTo>
                    <a:pt x="19050" y="0"/>
                  </a:moveTo>
                  <a:lnTo>
                    <a:pt x="437642" y="0"/>
                  </a:lnTo>
                  <a:cubicBezTo>
                    <a:pt x="448183" y="0"/>
                    <a:pt x="456692" y="8509"/>
                    <a:pt x="456692" y="19050"/>
                  </a:cubicBezTo>
                  <a:lnTo>
                    <a:pt x="456692" y="103505"/>
                  </a:lnTo>
                  <a:cubicBezTo>
                    <a:pt x="456692" y="114046"/>
                    <a:pt x="448183" y="122555"/>
                    <a:pt x="437642" y="122555"/>
                  </a:cubicBezTo>
                  <a:lnTo>
                    <a:pt x="19050" y="122555"/>
                  </a:lnTo>
                  <a:cubicBezTo>
                    <a:pt x="8509" y="122555"/>
                    <a:pt x="0" y="114046"/>
                    <a:pt x="0" y="103505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103505"/>
                  </a:lnTo>
                  <a:lnTo>
                    <a:pt x="19050" y="103505"/>
                  </a:lnTo>
                  <a:lnTo>
                    <a:pt x="19050" y="84455"/>
                  </a:lnTo>
                  <a:lnTo>
                    <a:pt x="437642" y="84455"/>
                  </a:lnTo>
                  <a:lnTo>
                    <a:pt x="437642" y="103505"/>
                  </a:lnTo>
                  <a:lnTo>
                    <a:pt x="418592" y="103505"/>
                  </a:lnTo>
                  <a:lnTo>
                    <a:pt x="418592" y="19050"/>
                  </a:lnTo>
                  <a:lnTo>
                    <a:pt x="437642" y="19050"/>
                  </a:lnTo>
                  <a:lnTo>
                    <a:pt x="437642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9" name="Freeform 19" descr="https://kimi-img.moonshot.cn/pub/slides/slides_tmpl/image/25-10-09-16:35:24-d3jn7j0s8jdo4os5div0.png"/>
          <p:cNvSpPr/>
          <p:nvPr/>
        </p:nvSpPr>
        <p:spPr>
          <a:xfrm flipV="1">
            <a:off x="1277302" y="945832"/>
            <a:ext cx="1143000" cy="114300"/>
          </a:xfrm>
          <a:custGeom>
            <a:avLst/>
            <a:gdLst/>
            <a:ahLst/>
            <a:cxnLst/>
            <a:rect l="l" t="t" r="r" b="b"/>
            <a:pathLst>
              <a:path w="1143000" h="114300">
                <a:moveTo>
                  <a:pt x="0" y="114300"/>
                </a:moveTo>
                <a:lnTo>
                  <a:pt x="1143000" y="114300"/>
                </a:lnTo>
                <a:lnTo>
                  <a:pt x="1143000" y="0"/>
                </a:ln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blipFill>
            <a:blip r:embed="rId7">
              <a:alphaModFix amt="40000"/>
            </a:blip>
            <a:stretch>
              <a:fillRect l="-5454" r="-5455"/>
            </a:stretch>
          </a:blipFill>
        </p:spPr>
      </p:sp>
      <p:sp>
        <p:nvSpPr>
          <p:cNvPr id="20" name="Freeform 20" descr="https://kimi-img.moonshot.cn/pub/slides/slides_tmpl/image/25-10-09-16:35:24-d3jn7j0s8jdo4os5div0.png"/>
          <p:cNvSpPr/>
          <p:nvPr/>
        </p:nvSpPr>
        <p:spPr>
          <a:xfrm flipV="1">
            <a:off x="1277302" y="1142048"/>
            <a:ext cx="1143000" cy="114300"/>
          </a:xfrm>
          <a:custGeom>
            <a:avLst/>
            <a:gdLst/>
            <a:ahLst/>
            <a:cxnLst/>
            <a:rect l="l" t="t" r="r" b="b"/>
            <a:pathLst>
              <a:path w="1143000" h="114300">
                <a:moveTo>
                  <a:pt x="0" y="114300"/>
                </a:moveTo>
                <a:lnTo>
                  <a:pt x="1143000" y="114300"/>
                </a:lnTo>
                <a:lnTo>
                  <a:pt x="1143000" y="0"/>
                </a:ln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blipFill>
            <a:blip r:embed="rId7">
              <a:alphaModFix amt="40000"/>
            </a:blip>
            <a:stretch>
              <a:fillRect l="-5454" r="-5455"/>
            </a:stretch>
          </a:blipFill>
        </p:spPr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14AA59-5BF3-591E-322F-39561994A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https://kimi-img.moonshot.cn/pub/slides/slides_tmpl/image/25-10-09-16:35:25-d3jn7j8s8jdo4os5dj20.jpg">
            <a:extLst>
              <a:ext uri="{FF2B5EF4-FFF2-40B4-BE49-F238E27FC236}">
                <a16:creationId xmlns:a16="http://schemas.microsoft.com/office/drawing/2014/main" id="{82E45FF1-CAF2-2FA1-1DFF-889D0E39B7CB}"/>
              </a:ext>
            </a:extLst>
          </p:cNvPr>
          <p:cNvSpPr/>
          <p:nvPr/>
        </p:nvSpPr>
        <p:spPr>
          <a:xfrm>
            <a:off x="0" y="0"/>
            <a:ext cx="18288000" cy="10287952"/>
          </a:xfrm>
          <a:custGeom>
            <a:avLst/>
            <a:gdLst/>
            <a:ahLst/>
            <a:cxnLst/>
            <a:rect l="l" t="t" r="r" b="b"/>
            <a:pathLst>
              <a:path w="18288000" h="10287952">
                <a:moveTo>
                  <a:pt x="0" y="0"/>
                </a:moveTo>
                <a:lnTo>
                  <a:pt x="18288000" y="0"/>
                </a:lnTo>
                <a:lnTo>
                  <a:pt x="18288000" y="10287952"/>
                </a:lnTo>
                <a:lnTo>
                  <a:pt x="0" y="102879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" r="-4"/>
            </a:stretch>
          </a:blipFill>
        </p:spPr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9F6E5BC-87B8-E74F-97CE-C72AB6E1657C}"/>
              </a:ext>
            </a:extLst>
          </p:cNvPr>
          <p:cNvSpPr txBox="1"/>
          <p:nvPr/>
        </p:nvSpPr>
        <p:spPr>
          <a:xfrm>
            <a:off x="2057400" y="2273558"/>
            <a:ext cx="13030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封装：保护数据安全，提供清晰接口</a:t>
            </a:r>
          </a:p>
          <a:p>
            <a:r>
              <a:rPr lang="zh-CN" altLang="en-US" sz="3600" dirty="0"/>
              <a:t>继承：实现代码复用，统一管理</a:t>
            </a:r>
          </a:p>
          <a:p>
            <a:r>
              <a:rPr lang="zh-CN" altLang="en-US" sz="3600" dirty="0"/>
              <a:t>多态：实现差异化处理，易于扩展</a:t>
            </a:r>
          </a:p>
          <a:p>
            <a:r>
              <a:rPr lang="zh-CN" altLang="en-US" sz="3600" dirty="0"/>
              <a:t>成功解决了食堂饭卡管理中的痛点</a:t>
            </a:r>
          </a:p>
        </p:txBody>
      </p:sp>
    </p:spTree>
    <p:extLst>
      <p:ext uri="{BB962C8B-B14F-4D97-AF65-F5344CB8AC3E}">
        <p14:creationId xmlns:p14="http://schemas.microsoft.com/office/powerpoint/2010/main" val="500742441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1493</Words>
  <Application>Microsoft Office PowerPoint</Application>
  <PresentationFormat>自定义</PresentationFormat>
  <Paragraphs>287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3" baseType="lpstr">
      <vt:lpstr>Arimo Bold</vt:lpstr>
      <vt:lpstr>Calibri</vt:lpstr>
      <vt:lpstr>Arial</vt:lpstr>
      <vt:lpstr>Arimo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Qwen3技术报告：统一思考与非思考的大模型.pptx</dc:title>
  <cp:lastModifiedBy>Ulmus Lls</cp:lastModifiedBy>
  <cp:revision>3</cp:revision>
  <dcterms:created xsi:type="dcterms:W3CDTF">2006-08-16T00:00:00Z</dcterms:created>
  <dcterms:modified xsi:type="dcterms:W3CDTF">2025-12-28T14:15:29Z</dcterms:modified>
  <dc:identifier>DAG8QWQNeMc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{"Label":"1","ContentProducer":"001191110105MA01AN806X00000","ProduceID":"DAG8QWQNeMc","ReservedCode1":"","ContentPropagator":"001191110105MA01AN806X00000","PropagateID":"DAG8QWQNeMc","ReservedCode2":""}</vt:lpwstr>
  </property>
</Properties>
</file>