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1" r:id="rId2"/>
    <p:sldId id="265" r:id="rId3"/>
    <p:sldId id="285" r:id="rId4"/>
    <p:sldId id="264" r:id="rId5"/>
    <p:sldId id="288" r:id="rId6"/>
    <p:sldId id="282" r:id="rId7"/>
    <p:sldId id="283" r:id="rId8"/>
    <p:sldId id="287" r:id="rId9"/>
    <p:sldId id="286" r:id="rId10"/>
    <p:sldId id="290" r:id="rId11"/>
    <p:sldId id="291" r:id="rId12"/>
    <p:sldId id="293" r:id="rId13"/>
    <p:sldId id="292" r:id="rId14"/>
    <p:sldId id="29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743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ED31E-EEA6-4CF2-9C9E-C49322E6B67A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62925-29A3-4958-85D7-4A22FA5B99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34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47E4-7852-37E2-23FA-61D88960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DC0595-6912-5611-9D2A-A2B8EDA12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8A7DEA-ECDE-6252-14C1-842AD2EA8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测试工具：</a:t>
            </a:r>
            <a:r>
              <a:rPr lang="en-US" altLang="zh-CN" dirty="0"/>
              <a:t>Apache JMeter 5.6.3</a:t>
            </a:r>
            <a:r>
              <a:rPr lang="zh-CN" altLang="en-US" dirty="0"/>
              <a:t>，使用到了 </a:t>
            </a:r>
            <a:r>
              <a:rPr lang="en-US" altLang="zh-CN" dirty="0"/>
              <a:t>HTTP </a:t>
            </a:r>
            <a:r>
              <a:rPr lang="zh-CN" altLang="en-US" dirty="0"/>
              <a:t>请求、</a:t>
            </a:r>
            <a:r>
              <a:rPr lang="en-US" altLang="zh-CN" dirty="0"/>
              <a:t>JSON </a:t>
            </a:r>
            <a:r>
              <a:rPr lang="zh-CN" altLang="en-US" dirty="0"/>
              <a:t>断言、正则提取器、头信息管理器和查看结果树等具体工具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EC995F-F05A-B1E2-14A4-EFE03CFB8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136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F8E8-0E62-C2FF-67D4-55A8039C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D9CDF9-BCEF-017D-DD89-F2474CB2F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73CE71-8B0D-3E40-9272-D7B65C16F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左边这张图是 </a:t>
            </a:r>
            <a:r>
              <a:rPr lang="en-US" altLang="zh-CN" dirty="0"/>
              <a:t>JMeter </a:t>
            </a:r>
            <a:r>
              <a:rPr lang="zh-CN" altLang="en-US" dirty="0"/>
              <a:t>测试脚本的整体结构。</a:t>
            </a:r>
          </a:p>
          <a:p>
            <a:r>
              <a:rPr lang="zh-CN" altLang="en-US" dirty="0"/>
              <a:t>脚本采用统一配置管理：用户定义变量存环境参数，</a:t>
            </a:r>
            <a:r>
              <a:rPr lang="en-US" altLang="zh-CN" dirty="0"/>
              <a:t>HTTP </a:t>
            </a:r>
            <a:r>
              <a:rPr lang="zh-CN" altLang="en-US" dirty="0"/>
              <a:t>请求默认值统一地址端口，全局头信息管理器管理认证令牌，监听器用于查看结果树及断言结果。</a:t>
            </a:r>
            <a:endParaRPr lang="en-US" altLang="zh-CN" dirty="0"/>
          </a:p>
          <a:p>
            <a:r>
              <a:rPr lang="zh-CN" altLang="en-US" dirty="0"/>
              <a:t>下面分三个功能模块共 </a:t>
            </a:r>
            <a:r>
              <a:rPr lang="en-US" altLang="zh-CN" dirty="0"/>
              <a:t>20 </a:t>
            </a:r>
            <a:r>
              <a:rPr lang="zh-CN" altLang="en-US" dirty="0"/>
              <a:t>条用例，每个请求都挂载 </a:t>
            </a:r>
            <a:r>
              <a:rPr lang="en-US" altLang="zh-CN" dirty="0"/>
              <a:t>JSON </a:t>
            </a:r>
            <a:r>
              <a:rPr lang="zh-CN" altLang="en-US" dirty="0"/>
              <a:t>断言校验 </a:t>
            </a:r>
            <a:r>
              <a:rPr lang="en-US" altLang="zh-CN" dirty="0"/>
              <a:t>code </a:t>
            </a:r>
            <a:r>
              <a:rPr lang="zh-CN" altLang="en-US" dirty="0"/>
              <a:t>字段（</a:t>
            </a:r>
            <a:r>
              <a:rPr lang="en-US" altLang="zh-CN" dirty="0"/>
              <a:t>1 </a:t>
            </a:r>
            <a:r>
              <a:rPr lang="zh-CN" altLang="en-US" dirty="0"/>
              <a:t>成功 </a:t>
            </a:r>
            <a:r>
              <a:rPr lang="en-US" altLang="zh-CN" dirty="0"/>
              <a:t>/ 0 </a:t>
            </a:r>
            <a:r>
              <a:rPr lang="zh-CN" altLang="en-US" dirty="0"/>
              <a:t>失败）。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612223-F898-E0B8-07E7-F33893627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082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159DF-7228-916B-A7BE-24993C802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3E8BB1-2ADA-9A5F-1F27-950A33B16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D13F33-D01E-DF95-EBF0-07AB606CF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员工登录功能这一块设计了 </a:t>
            </a:r>
            <a:r>
              <a:rPr lang="en-US" altLang="zh-CN" dirty="0"/>
              <a:t>7 </a:t>
            </a:r>
            <a:r>
              <a:rPr lang="zh-CN" altLang="en-US" dirty="0"/>
              <a:t>条用例，覆盖正确登录、密码错误、账号不存在、空值输入和账号禁用等场景。所有用例全部通过，功能正常。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31513-70B6-A64B-9EC9-129A62303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219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BFF8E-1ADA-660D-B34E-1A8501E2C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503989-303E-44C4-4A04-EA2C29687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9544EF-B304-2E9E-9F94-6871D5A2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新增菜品功能设计了 </a:t>
            </a:r>
            <a:r>
              <a:rPr lang="en-US" altLang="zh-CN" dirty="0"/>
              <a:t>8 </a:t>
            </a:r>
            <a:r>
              <a:rPr lang="zh-CN" altLang="en-US" dirty="0"/>
              <a:t>条用例，覆盖正确新增、菜品名称为空、价格为</a:t>
            </a:r>
            <a:r>
              <a:rPr lang="en-US" altLang="zh-CN" dirty="0"/>
              <a:t>0</a:t>
            </a:r>
            <a:r>
              <a:rPr lang="zh-CN" altLang="en-US" dirty="0"/>
              <a:t>、为负数、为超大值，以及分类</a:t>
            </a:r>
            <a:r>
              <a:rPr lang="en-US" altLang="zh-CN" dirty="0"/>
              <a:t>id</a:t>
            </a:r>
            <a:r>
              <a:rPr lang="zh-CN" altLang="en-US" dirty="0"/>
              <a:t>和状态设置为非法值的情况。</a:t>
            </a:r>
            <a:endParaRPr lang="en-US" altLang="zh-CN" dirty="0"/>
          </a:p>
          <a:p>
            <a:r>
              <a:rPr lang="zh-CN" altLang="en-US" dirty="0"/>
              <a:t>发现两个系统缺陷：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允许菜品名称为空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允许价格为负数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D1FE73-7D8B-DB1C-83C4-28F6B02AA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94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8B19-8318-9D47-826A-A3EA6A20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C7074B-5C2C-ACD0-B347-A20A10F76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2D1CBD-B462-398C-50E2-F623F5925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对于这两个缺陷，修复方法是在 </a:t>
            </a:r>
            <a:r>
              <a:rPr lang="en-US" altLang="zh-CN" dirty="0"/>
              <a:t>Controller </a:t>
            </a:r>
            <a:r>
              <a:rPr lang="zh-CN" altLang="en-US" dirty="0"/>
              <a:t>加 </a:t>
            </a:r>
            <a:r>
              <a:rPr lang="en-US" altLang="zh-CN" dirty="0"/>
              <a:t>@Valid </a:t>
            </a:r>
            <a:r>
              <a:rPr lang="zh-CN" altLang="en-US" dirty="0"/>
              <a:t>注解，在 </a:t>
            </a:r>
            <a:r>
              <a:rPr lang="en-US" altLang="zh-CN" dirty="0" err="1"/>
              <a:t>DishDTO</a:t>
            </a:r>
            <a:r>
              <a:rPr lang="en-US" altLang="zh-CN" dirty="0"/>
              <a:t> </a:t>
            </a:r>
            <a:r>
              <a:rPr lang="zh-CN" altLang="en-US" dirty="0"/>
              <a:t>中添加 </a:t>
            </a:r>
            <a:r>
              <a:rPr lang="en-US" altLang="zh-CN" dirty="0"/>
              <a:t>@NotBlank </a:t>
            </a:r>
            <a:r>
              <a:rPr lang="zh-CN" altLang="en-US" dirty="0"/>
              <a:t>和 </a:t>
            </a:r>
            <a:r>
              <a:rPr lang="en-US" altLang="zh-CN" dirty="0"/>
              <a:t>@DecimalMin </a:t>
            </a:r>
            <a:r>
              <a:rPr lang="zh-CN" altLang="en-US" dirty="0"/>
              <a:t>校验注解。可以看到修复后回归测试通过。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2750A-97C5-80D4-E647-878E5D5919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573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98F7-ED52-6B0E-49E8-32B9BA2B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BB60AF-1BBB-CAB4-F0AB-244A86975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B16EC9-F9FD-E270-13E0-92042EEB1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用户端查询功能设计 </a:t>
            </a:r>
            <a:r>
              <a:rPr lang="en-US" altLang="zh-CN" dirty="0"/>
              <a:t>5 </a:t>
            </a:r>
            <a:r>
              <a:rPr lang="zh-CN" altLang="en-US" dirty="0"/>
              <a:t>条用例，发现 </a:t>
            </a:r>
            <a:r>
              <a:rPr lang="en-US" altLang="zh-CN" dirty="0"/>
              <a:t>3 </a:t>
            </a:r>
            <a:r>
              <a:rPr lang="zh-CN" altLang="en-US" dirty="0"/>
              <a:t>个防御性编程缺失问题：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不存在的分类 </a:t>
            </a:r>
            <a:r>
              <a:rPr lang="en-US" altLang="zh-CN" dirty="0"/>
              <a:t>ID </a:t>
            </a:r>
            <a:r>
              <a:rPr lang="zh-CN" altLang="en-US" dirty="0"/>
              <a:t>返回成功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负数分类 </a:t>
            </a:r>
            <a:r>
              <a:rPr lang="en-US" altLang="zh-CN" dirty="0"/>
              <a:t>ID </a:t>
            </a:r>
            <a:r>
              <a:rPr lang="zh-CN" altLang="en-US" dirty="0"/>
              <a:t>返回成功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极大值分类 </a:t>
            </a:r>
            <a:r>
              <a:rPr lang="en-US" altLang="zh-CN" dirty="0"/>
              <a:t>ID </a:t>
            </a:r>
            <a:r>
              <a:rPr lang="zh-CN" altLang="en-US" dirty="0"/>
              <a:t>返回成功</a:t>
            </a:r>
          </a:p>
          <a:p>
            <a:r>
              <a:rPr lang="zh-CN" altLang="en-US" dirty="0"/>
              <a:t>这张是修复后的代码逻辑。我们在查询结果为空时返回 </a:t>
            </a:r>
            <a:r>
              <a:rPr lang="en-US" altLang="zh-CN" dirty="0"/>
              <a:t>"</a:t>
            </a:r>
            <a:r>
              <a:rPr lang="zh-CN" altLang="en-US" dirty="0"/>
              <a:t>分类不存在</a:t>
            </a:r>
            <a:r>
              <a:rPr lang="en-US" altLang="zh-CN" dirty="0"/>
              <a:t>" </a:t>
            </a:r>
            <a:r>
              <a:rPr lang="zh-CN" altLang="en-US" dirty="0"/>
              <a:t>错误。修复后回归测试通过。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F981A-FE5A-C36D-D55F-D36CC27033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249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8F1A-60A1-8C67-2E9B-974AD104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3F079E-E61A-62FA-0170-5437F7AC3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B25D22-E215-150D-78FA-6A6706559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修复方法是在查询结果为空时返回 </a:t>
            </a:r>
            <a:r>
              <a:rPr lang="en-US" altLang="zh-CN" dirty="0"/>
              <a:t>“</a:t>
            </a:r>
            <a:r>
              <a:rPr lang="zh-CN" altLang="en-US" dirty="0"/>
              <a:t>分类不存在</a:t>
            </a:r>
            <a:r>
              <a:rPr lang="en-US" altLang="zh-CN" dirty="0"/>
              <a:t>” </a:t>
            </a:r>
            <a:r>
              <a:rPr lang="zh-CN" altLang="en-US" dirty="0"/>
              <a:t>错误。修复后问题后，回归测试通过，并能正确返回错误信息。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119BC7-959D-BD82-400E-BB0E38A978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024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3410-90B2-028F-F035-CBE71ADF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9EE1E8-5C49-60AD-3D97-3B64E1A9B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626DB8-8D0C-20E5-8CA7-383528D69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业务流程测试覆盖菜品完整生命周期：登录→新增→查询→删除→验证。左图是测试流程图，清晰展示了两条测试路径的执行步骤。</a:t>
            </a:r>
            <a:endParaRPr lang="en-US" altLang="zh-CN" dirty="0"/>
          </a:p>
          <a:p>
            <a:r>
              <a:rPr lang="zh-CN" altLang="en-US" dirty="0"/>
              <a:t>这一部分设计了两条用例：</a:t>
            </a:r>
          </a:p>
          <a:p>
            <a:r>
              <a:rPr lang="en-US" altLang="zh-CN" dirty="0"/>
              <a:t>- BP-01</a:t>
            </a:r>
            <a:r>
              <a:rPr lang="zh-CN" altLang="en-US" dirty="0"/>
              <a:t>：正向完整流程</a:t>
            </a:r>
          </a:p>
          <a:p>
            <a:pPr marL="0" indent="0">
              <a:buFontTx/>
              <a:buNone/>
            </a:pPr>
            <a:r>
              <a:rPr lang="en-US" altLang="zh-CN" dirty="0"/>
              <a:t>- BP-02</a:t>
            </a:r>
            <a:r>
              <a:rPr lang="zh-CN" altLang="en-US" dirty="0"/>
              <a:t>：新增重名菜品异常流程</a:t>
            </a:r>
            <a:endParaRPr lang="en-US" altLang="zh-CN" dirty="0"/>
          </a:p>
          <a:p>
            <a:pPr marL="0" indent="0">
              <a:buFontTx/>
              <a:buNone/>
            </a:pPr>
            <a:r>
              <a:rPr lang="zh-CN" altLang="en-US" dirty="0"/>
              <a:t>通过表格可以看到接口间的数据传递过程：正向流程中，步骤</a:t>
            </a:r>
            <a:r>
              <a:rPr lang="en-US" altLang="zh-CN" dirty="0"/>
              <a:t>1</a:t>
            </a:r>
            <a:r>
              <a:rPr lang="zh-CN" altLang="en-US" dirty="0"/>
              <a:t>员工登录向后面的步骤通过信息头传递了</a:t>
            </a:r>
            <a:r>
              <a:rPr lang="en-US" altLang="zh-CN" dirty="0"/>
              <a:t>token</a:t>
            </a:r>
            <a:r>
              <a:rPr lang="zh-CN" altLang="en-US" dirty="0"/>
              <a:t>，步骤</a:t>
            </a:r>
            <a:r>
              <a:rPr lang="en-US" altLang="zh-CN" dirty="0"/>
              <a:t>3</a:t>
            </a:r>
            <a:r>
              <a:rPr lang="zh-CN" altLang="en-US" dirty="0"/>
              <a:t>按名称查询正则提取出了菜品</a:t>
            </a:r>
            <a:r>
              <a:rPr lang="en-US" altLang="zh-CN" dirty="0"/>
              <a:t>id</a:t>
            </a:r>
            <a:r>
              <a:rPr lang="zh-CN" altLang="en-US" dirty="0"/>
              <a:t>并传递，步骤</a:t>
            </a:r>
            <a:r>
              <a:rPr lang="en-US" altLang="zh-CN" dirty="0"/>
              <a:t>4</a:t>
            </a:r>
            <a:r>
              <a:rPr lang="zh-CN" altLang="en-US" dirty="0"/>
              <a:t>则使用传递而来的</a:t>
            </a:r>
            <a:r>
              <a:rPr lang="en-US" altLang="zh-CN" dirty="0"/>
              <a:t>id</a:t>
            </a:r>
            <a:r>
              <a:rPr lang="zh-CN" altLang="en-US" dirty="0"/>
              <a:t>进行删除。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DBD868-7F43-8592-DBBE-20054178C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404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A17D9-EDFD-091B-D07D-2497000D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F76D69-E0E4-446D-44D7-8232F3B9E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0A36C-8800-870D-F5EB-06E4ACDED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这两张是业务流程测试的具体</a:t>
            </a:r>
            <a:r>
              <a:rPr lang="en-US" altLang="zh-CN" dirty="0"/>
              <a:t>JMeter </a:t>
            </a:r>
            <a:r>
              <a:rPr lang="zh-CN" altLang="en-US" dirty="0"/>
              <a:t>脚本结构。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左边是 </a:t>
            </a:r>
            <a:r>
              <a:rPr lang="en-US" altLang="zh-CN" dirty="0"/>
              <a:t>BP-01 </a:t>
            </a:r>
            <a:r>
              <a:rPr lang="zh-CN" altLang="en-US" dirty="0"/>
              <a:t>正向流程，</a:t>
            </a:r>
            <a:r>
              <a:rPr lang="en-US" altLang="zh-CN" dirty="0"/>
              <a:t>5 </a:t>
            </a:r>
            <a:r>
              <a:rPr lang="zh-CN" altLang="en-US" dirty="0"/>
              <a:t>个请求串联，通过正则提取器传递菜品 </a:t>
            </a:r>
            <a:r>
              <a:rPr lang="en-US" altLang="zh-CN" dirty="0"/>
              <a:t>ID</a:t>
            </a:r>
          </a:p>
          <a:p>
            <a:pPr marL="171450" indent="-171450">
              <a:buFontTx/>
              <a:buChar char="-"/>
            </a:pPr>
            <a:r>
              <a:rPr lang="zh-CN" altLang="en-US" dirty="0"/>
              <a:t>右边是 </a:t>
            </a:r>
            <a:r>
              <a:rPr lang="en-US" altLang="zh-CN" dirty="0"/>
              <a:t>BP-02 </a:t>
            </a:r>
            <a:r>
              <a:rPr lang="zh-CN" altLang="en-US" dirty="0"/>
              <a:t>异常流程，</a:t>
            </a:r>
            <a:r>
              <a:rPr lang="en-US" altLang="zh-CN" dirty="0"/>
              <a:t>2 </a:t>
            </a:r>
            <a:r>
              <a:rPr lang="zh-CN" altLang="en-US" dirty="0"/>
              <a:t>个请求测试重名拦截</a:t>
            </a:r>
            <a:endParaRPr lang="en-US" altLang="zh-CN" dirty="0"/>
          </a:p>
          <a:p>
            <a:pPr marL="0" indent="0">
              <a:buFontTx/>
              <a:buNone/>
            </a:pPr>
            <a:r>
              <a:rPr lang="zh-CN" altLang="en-US" dirty="0"/>
              <a:t>这里将两个流程分别创建在不同的线程组中，避免执行时冲突。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7E9477-9B00-2C93-585E-04F0E5335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600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D0D3-AE9B-B34F-31DF-5541E4E4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7F1EB3-603F-F852-2B9F-CBFFD2F63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1D586A-DF95-F5FB-4626-0DBD831BA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执行测试脚本后，可以看到两条业务流程用例全部通过：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BP-01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：菜品成功创建、查询、删除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BP-02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：重名菜品被正确拦截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说明系统核心业务流程顺畅，数据传递可靠。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3E2F07-A117-E4D4-0FD7-9EE13B4AE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824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41A98-55C8-4D65-E8FA-48AEC1C8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30377E-E4B8-FBEC-4745-4567C78F5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3BCE2A-C153-3190-C9CF-59D3019D7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测试统计：本次测试共执行 </a:t>
            </a:r>
            <a:r>
              <a:rPr lang="en-US" altLang="zh-CN" dirty="0"/>
              <a:t>22 </a:t>
            </a:r>
            <a:r>
              <a:rPr lang="zh-CN" altLang="en-US" dirty="0"/>
              <a:t>条</a:t>
            </a:r>
            <a:r>
              <a:rPr lang="zh-CN" altLang="en-US"/>
              <a:t>用例，并且所有出现的缺陷</a:t>
            </a:r>
            <a:r>
              <a:rPr lang="zh-CN" altLang="en-US" dirty="0"/>
              <a:t>均已修复，最终通过率 </a:t>
            </a:r>
            <a:r>
              <a:rPr lang="en-US" altLang="zh-CN" dirty="0"/>
              <a:t>100%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可以说该系统的核心功能够满足日常使用需求，架构清晰，接口规范。但存在管理端参数校验不严、用户端防御性编程不足的问题，需进一步加强才能达到商用标准。</a:t>
            </a:r>
          </a:p>
          <a:p>
            <a:r>
              <a:rPr lang="zh-CN" altLang="en-US" dirty="0"/>
              <a:t>以上就是功能测试的汇报，谢谢大家！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1EB1CC-F7D9-D211-D956-5CC992F7D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000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7EFE4-2A12-2B52-E7E1-6392F1D2B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31D4DB-3CC4-99A9-7182-C7CF69918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1C4DD2-180B-502D-E05B-2E4FDBD49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A68337-14C2-31F1-B97F-B3006579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4B94A-EBA4-38CC-D647-5F512DD8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85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96E81-D069-C3C6-6CDF-714CE4BD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3DE149-54EA-B28E-F2E9-33D08E38C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033BD-EFE6-ABB5-6DE3-81E6B920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04D4BA-4798-A380-08E8-7E63B6CF8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9047D3-DC8F-4DD7-F2C5-65CE5F41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05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7CDE7-3D80-FDFE-0A36-AF6148AD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5BB5D1-6B61-D4FF-2C85-E457A34C8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0AACB-43AF-06E6-35D7-437969B3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1697B0-D5D6-E0FC-B87A-231B03DD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93B434-598F-83DE-7566-A66E8DB5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17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0E152-4124-2A26-9F19-BDF1E0A6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E19F52-EBE2-DA1D-23AA-09BE8534C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2728CC-239E-7349-51CB-5E790CA7D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679E75-97D9-5267-78B5-126553CC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854E11-1BF3-1E2A-8EF9-637652F1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DD7717-03A6-9924-13FB-2A82815F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86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CBAF6-858A-8E35-163E-1E2764C4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BA4C79-B768-6E58-0336-C19A98155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3DC6BD-44BA-E962-3761-A29B5D9BA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6E039C-3FC0-4C01-D8D3-44F4E49F4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8983F-8952-9358-539E-67A6364F3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1B3C7C-FA56-3587-FDC3-F355FC4D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A25682-3FFE-747A-6BDB-A926CD74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943A4F-A93F-A185-A53C-C6BADDC81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72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D1678-72E6-0BEB-8043-781BAD9F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81FB01-FDDC-8445-A251-F8518E577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7BDC58-D335-00FF-8F88-0BAD7DEE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0707B6-55D4-886E-D9C9-3FCC89BE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02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DB45B4-B65E-8C84-793C-96CD6E74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E6FF4A-493F-3138-56EB-EF5A76CB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DBD5EB-96ED-E848-2D30-536242BE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95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F22CE-3986-0933-91D3-49811B60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BA1B9-EA2F-0D14-635F-A4948AF65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6BF14D-392E-B75E-198D-D1697B2FB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7CD194-3076-E5FD-2EA5-3A6B1A9D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C1ADA5-56B0-5070-BB53-89D95372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B4F536-4262-8411-2B62-75C992A4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26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5E3F7-4246-D23E-7DB0-4CE57FE7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A034C1-3600-2CC5-C3F0-7CE9DE171E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0A9E41-CDD9-AECB-0A52-EA8C3AD94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424CDD-5D09-163C-D37E-2A251B52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7B729E-BFD1-D755-4292-7A232BFE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7CE16C-458B-621F-9187-8FA91E6AB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68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141CA-42B7-27B4-0DD2-33F16174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C86C60-C102-06F3-D604-0E5D56AE9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00B56-3C22-AF79-7F9A-9D7A9AFB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FE9EA-CE20-1006-B488-3B4C8168F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0AB1DB-946E-0059-6769-944CB644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36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DCD871-EA03-2877-E30E-6FA46BCAF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765B2E-3129-8089-29D0-2C5588E5F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66F1A-60E0-EFA9-16FC-1CEE33F2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184460-890E-C819-E211-C6E2EBAE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73C62-5F22-1342-EEF7-C6B0E837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04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C0B17B-BE4B-B3B5-8C70-7EF84C6D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06529C-5286-AD5F-BD10-F2A4340E8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BCAE39-B7A6-4789-F44D-7BBE8F1EC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DFA0D-E37D-461A-8EF8-A17A7C00FEF0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FD98FF-0A8C-2040-3762-835F0F010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787E1A-0AE0-501E-A8A9-A0054E798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3F9F8-49AB-4796-B2B6-6CF2A4568C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45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V="1">
            <a:off x="-1099284" y="1444859"/>
            <a:ext cx="6166850" cy="3968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535886" y="-1743"/>
            <a:ext cx="2656115" cy="22028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 flipV="1">
            <a:off x="3899720" y="2151953"/>
            <a:ext cx="1015660" cy="653564"/>
          </a:xfrm>
          <a:prstGeom prst="triangl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3578217" y="4767072"/>
            <a:ext cx="1156115" cy="958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840859" y="1970902"/>
            <a:ext cx="2210862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PART 03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0859" y="3038719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功能测试</a:t>
            </a:r>
          </a:p>
        </p:txBody>
      </p:sp>
      <p:sp>
        <p:nvSpPr>
          <p:cNvPr id="40" name="任意多边形 39"/>
          <p:cNvSpPr/>
          <p:nvPr/>
        </p:nvSpPr>
        <p:spPr>
          <a:xfrm>
            <a:off x="10445469" y="5500915"/>
            <a:ext cx="1746531" cy="1357086"/>
          </a:xfrm>
          <a:custGeom>
            <a:avLst/>
            <a:gdLst>
              <a:gd name="connsiteX0" fmla="*/ 1319464 w 1319464"/>
              <a:gd name="connsiteY0" fmla="*/ 0 h 1025247"/>
              <a:gd name="connsiteX1" fmla="*/ 1319464 w 1319464"/>
              <a:gd name="connsiteY1" fmla="*/ 1025247 h 1025247"/>
              <a:gd name="connsiteX2" fmla="*/ 0 w 1319464"/>
              <a:gd name="connsiteY2" fmla="*/ 1025247 h 102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9727812" y="6378594"/>
            <a:ext cx="578056" cy="4794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6" grpId="0"/>
      <p:bldP spid="37" grpId="0"/>
      <p:bldP spid="4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2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功能测试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67E9C22E-0007-22EB-3061-C56D0C57FAFB}"/>
              </a:ext>
            </a:extLst>
          </p:cNvPr>
          <p:cNvSpPr txBox="1"/>
          <p:nvPr/>
        </p:nvSpPr>
        <p:spPr>
          <a:xfrm>
            <a:off x="1745424" y="3084295"/>
            <a:ext cx="8510884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       选取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管理端的员工登录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功能和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新增菜品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功能、用户端的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查询菜品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功能，采用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等价类划分、边界值分析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等方法设计测试用例，使用</a:t>
            </a:r>
            <a:r>
              <a:rPr lang="en-US" altLang="zh-CN" sz="1600" dirty="0" err="1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Jmeter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进行测试。</a:t>
            </a:r>
          </a:p>
        </p:txBody>
      </p:sp>
      <p:sp>
        <p:nvSpPr>
          <p:cNvPr id="3" name="TextBox 33">
            <a:extLst>
              <a:ext uri="{FF2B5EF4-FFF2-40B4-BE49-F238E27FC236}">
                <a16:creationId xmlns:a16="http://schemas.microsoft.com/office/drawing/2014/main" id="{0228E884-E78E-763B-2EA4-FCEBD1B51309}"/>
              </a:ext>
            </a:extLst>
          </p:cNvPr>
          <p:cNvSpPr txBox="1"/>
          <p:nvPr/>
        </p:nvSpPr>
        <p:spPr>
          <a:xfrm>
            <a:off x="1741231" y="2544657"/>
            <a:ext cx="2692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一、功能模块测试</a:t>
            </a:r>
          </a:p>
        </p:txBody>
      </p:sp>
      <p:sp>
        <p:nvSpPr>
          <p:cNvPr id="4" name="TextBox 30">
            <a:extLst>
              <a:ext uri="{FF2B5EF4-FFF2-40B4-BE49-F238E27FC236}">
                <a16:creationId xmlns:a16="http://schemas.microsoft.com/office/drawing/2014/main" id="{20C63620-A076-7340-EAC7-35C52A3B6E74}"/>
              </a:ext>
            </a:extLst>
          </p:cNvPr>
          <p:cNvSpPr txBox="1"/>
          <p:nvPr/>
        </p:nvSpPr>
        <p:spPr>
          <a:xfrm>
            <a:off x="1796120" y="4819622"/>
            <a:ext cx="8510883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       使用</a:t>
            </a:r>
            <a:r>
              <a:rPr lang="en-US" altLang="zh-CN" sz="1600" dirty="0" err="1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Jmeter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将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多个接口串联调用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，模拟管理端菜品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从创建到销毁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的完整流程。</a:t>
            </a:r>
          </a:p>
        </p:txBody>
      </p:sp>
      <p:sp>
        <p:nvSpPr>
          <p:cNvPr id="5" name="TextBox 33">
            <a:extLst>
              <a:ext uri="{FF2B5EF4-FFF2-40B4-BE49-F238E27FC236}">
                <a16:creationId xmlns:a16="http://schemas.microsoft.com/office/drawing/2014/main" id="{E39018A8-3773-FBBA-DFF9-85AC033B913C}"/>
              </a:ext>
            </a:extLst>
          </p:cNvPr>
          <p:cNvSpPr txBox="1"/>
          <p:nvPr/>
        </p:nvSpPr>
        <p:spPr>
          <a:xfrm>
            <a:off x="1741231" y="4283449"/>
            <a:ext cx="2822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二、业务流程测试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8D1394-4E5C-E599-CB80-74FF00D4F786}"/>
              </a:ext>
            </a:extLst>
          </p:cNvPr>
          <p:cNvSpPr txBox="1"/>
          <p:nvPr/>
        </p:nvSpPr>
        <p:spPr>
          <a:xfrm>
            <a:off x="392143" y="1620187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Agency FB" panose="020B0503020202020204" pitchFamily="34" charset="0"/>
                <a:ea typeface="微软雅黑" panose="020B0503020204020204" charset="-122"/>
              </a:rPr>
              <a:t>测试内容如下：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36DB-9A92-A6FA-9466-DB4E197B1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13A8C29-BC9A-F2CD-5AB2-F9C7EE33E5F4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B3BC603-F688-8112-D8B5-CD6DB5242534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0D5EFBA-BB55-7D51-8129-EC42A26721BE}"/>
              </a:ext>
            </a:extLst>
          </p:cNvPr>
          <p:cNvSpPr txBox="1"/>
          <p:nvPr/>
        </p:nvSpPr>
        <p:spPr>
          <a:xfrm>
            <a:off x="5182932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功能测试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43FEBB9-BD9E-330D-71C3-A0C5615C86D5}"/>
              </a:ext>
            </a:extLst>
          </p:cNvPr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B7DAB85-F596-75D9-BDEC-3C7BB170C2F0}"/>
              </a:ext>
            </a:extLst>
          </p:cNvPr>
          <p:cNvGrpSpPr/>
          <p:nvPr/>
        </p:nvGrpSpPr>
        <p:grpSpPr>
          <a:xfrm>
            <a:off x="-769772" y="2345549"/>
            <a:ext cx="6962839" cy="1070325"/>
            <a:chOff x="281452" y="2164510"/>
            <a:chExt cx="3120194" cy="3398693"/>
          </a:xfrm>
        </p:grpSpPr>
        <p:sp>
          <p:nvSpPr>
            <p:cNvPr id="105" name="ïṧḷïḓê-矩形: 圆角 2">
              <a:extLst>
                <a:ext uri="{FF2B5EF4-FFF2-40B4-BE49-F238E27FC236}">
                  <a16:creationId xmlns:a16="http://schemas.microsoft.com/office/drawing/2014/main" id="{77263CEA-E7CD-1133-B9B4-D2754924B9BC}"/>
                </a:ext>
              </a:extLst>
            </p:cNvPr>
            <p:cNvSpPr/>
            <p:nvPr/>
          </p:nvSpPr>
          <p:spPr>
            <a:xfrm>
              <a:off x="1004890" y="2164510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A5F26957-410F-E539-79BC-E3645F39ED33}"/>
                </a:ext>
              </a:extLst>
            </p:cNvPr>
            <p:cNvGrpSpPr/>
            <p:nvPr/>
          </p:nvGrpSpPr>
          <p:grpSpPr>
            <a:xfrm>
              <a:off x="281452" y="2525161"/>
              <a:ext cx="2986623" cy="2354728"/>
              <a:chOff x="1797643" y="1201415"/>
              <a:chExt cx="2986623" cy="2354728"/>
            </a:xfrm>
          </p:grpSpPr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399D3700-E046-BD3A-930B-977131F28CEB}"/>
                  </a:ext>
                </a:extLst>
              </p:cNvPr>
              <p:cNvSpPr/>
              <p:nvPr/>
            </p:nvSpPr>
            <p:spPr>
              <a:xfrm>
                <a:off x="2699878" y="2494949"/>
                <a:ext cx="2084388" cy="106119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1400" b="1" dirty="0"/>
                  <a:t>• Windows 11</a:t>
                </a:r>
                <a:endParaRPr lang="zh-CN" altLang="en-US" sz="1400" b="1" dirty="0"/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4CE092C6-AE6B-7AA0-533D-177F7D098954}"/>
                  </a:ext>
                </a:extLst>
              </p:cNvPr>
              <p:cNvSpPr/>
              <p:nvPr/>
            </p:nvSpPr>
            <p:spPr>
              <a:xfrm>
                <a:off x="1797643" y="1201415"/>
                <a:ext cx="2084387" cy="139042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/>
                  <a:t>操作系统</a:t>
                </a:r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E37866B6-8EB3-5395-90D6-0D74056DF6A6}"/>
              </a:ext>
            </a:extLst>
          </p:cNvPr>
          <p:cNvGrpSpPr/>
          <p:nvPr/>
        </p:nvGrpSpPr>
        <p:grpSpPr>
          <a:xfrm>
            <a:off x="844609" y="3766313"/>
            <a:ext cx="5348458" cy="2673816"/>
            <a:chOff x="6214252" y="2075502"/>
            <a:chExt cx="2396756" cy="3398693"/>
          </a:xfrm>
        </p:grpSpPr>
        <p:sp>
          <p:nvSpPr>
            <p:cNvPr id="119" name="ïṧḷïḓê-矩形: 圆角 13">
              <a:extLst>
                <a:ext uri="{FF2B5EF4-FFF2-40B4-BE49-F238E27FC236}">
                  <a16:creationId xmlns:a16="http://schemas.microsoft.com/office/drawing/2014/main" id="{BD11A106-B4BD-14F9-AEF0-D0C50EE8FDB5}"/>
                </a:ext>
              </a:extLst>
            </p:cNvPr>
            <p:cNvSpPr/>
            <p:nvPr/>
          </p:nvSpPr>
          <p:spPr>
            <a:xfrm>
              <a:off x="6214252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B0EE25EA-4C9A-FA6C-8AE8-9FD57F93D50F}"/>
                </a:ext>
              </a:extLst>
            </p:cNvPr>
            <p:cNvGrpSpPr/>
            <p:nvPr/>
          </p:nvGrpSpPr>
          <p:grpSpPr>
            <a:xfrm>
              <a:off x="6273407" y="2280139"/>
              <a:ext cx="2181417" cy="2644754"/>
              <a:chOff x="2580238" y="956393"/>
              <a:chExt cx="2181417" cy="2644754"/>
            </a:xfrm>
          </p:grpSpPr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D92F2EEF-AD3F-AA14-E2F0-C7D2D7109F15}"/>
                  </a:ext>
                </a:extLst>
              </p:cNvPr>
              <p:cNvSpPr/>
              <p:nvPr/>
            </p:nvSpPr>
            <p:spPr>
              <a:xfrm>
                <a:off x="2677267" y="1533247"/>
                <a:ext cx="2084388" cy="206790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1400" b="1" dirty="0"/>
                  <a:t>  • JDK 1.8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1400" b="1" dirty="0"/>
                  <a:t>  • MySQL 8.0</a:t>
                </a:r>
                <a:r>
                  <a:rPr lang="zh-CN" altLang="en-US" sz="1400" b="1" dirty="0"/>
                  <a:t>（数据库：</a:t>
                </a:r>
                <a:r>
                  <a:rPr lang="en-US" altLang="zh-CN" sz="1400" b="1" dirty="0" err="1"/>
                  <a:t>sky_take_out</a:t>
                </a:r>
                <a:r>
                  <a:rPr lang="zh-CN" altLang="en-US" sz="1400" b="1" dirty="0"/>
                  <a:t>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/>
                  <a:t>  </a:t>
                </a:r>
                <a:r>
                  <a:rPr lang="en-US" altLang="zh-CN" sz="1400" b="1" dirty="0"/>
                  <a:t>• Redis</a:t>
                </a:r>
                <a:r>
                  <a:rPr lang="zh-CN" altLang="en-US" sz="1400" b="1" dirty="0"/>
                  <a:t>（缓存服务）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/>
                  <a:t>  </a:t>
                </a:r>
                <a:r>
                  <a:rPr lang="en-US" altLang="zh-CN" sz="1400" b="1" dirty="0"/>
                  <a:t>• Nginx</a:t>
                </a:r>
                <a:r>
                  <a:rPr lang="zh-CN" altLang="en-US" sz="1400" b="1" dirty="0"/>
                  <a:t>（前端部署）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/>
                  <a:t>  </a:t>
                </a:r>
                <a:r>
                  <a:rPr lang="en-US" altLang="zh-CN" sz="1400" b="1" dirty="0"/>
                  <a:t>• Spring Boot 2.x</a:t>
                </a:r>
                <a:r>
                  <a:rPr lang="zh-CN" altLang="en-US" sz="1400" b="1" dirty="0"/>
                  <a:t>（后端框架）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/>
                  <a:t>  </a:t>
                </a:r>
                <a:r>
                  <a:rPr lang="en-US" altLang="zh-CN" sz="1400" b="1" dirty="0"/>
                  <a:t>• </a:t>
                </a:r>
                <a:r>
                  <a:rPr lang="en-US" altLang="zh-CN" sz="1400" b="1" dirty="0" err="1"/>
                  <a:t>MyBatis</a:t>
                </a:r>
                <a:r>
                  <a:rPr lang="zh-CN" altLang="en-US" sz="1400" b="1" dirty="0"/>
                  <a:t>（持久层框架）</a:t>
                </a:r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6FC4D894-9F84-6BF5-BB21-52B110B40DA6}"/>
                  </a:ext>
                </a:extLst>
              </p:cNvPr>
              <p:cNvSpPr/>
              <p:nvPr/>
            </p:nvSpPr>
            <p:spPr>
              <a:xfrm>
                <a:off x="2580238" y="956393"/>
                <a:ext cx="2084387" cy="1390428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000" b="1" dirty="0"/>
                  <a:t>软件环境</a:t>
                </a:r>
                <a:endParaRPr lang="zh-CN" altLang="en-US" sz="1600" b="1" dirty="0"/>
              </a:p>
            </p:txBody>
          </p:sp>
        </p:grpSp>
      </p:grpSp>
      <p:sp>
        <p:nvSpPr>
          <p:cNvPr id="146" name="文本框 145">
            <a:extLst>
              <a:ext uri="{FF2B5EF4-FFF2-40B4-BE49-F238E27FC236}">
                <a16:creationId xmlns:a16="http://schemas.microsoft.com/office/drawing/2014/main" id="{EED51B0E-225B-5746-891B-EC7696CC9E85}"/>
              </a:ext>
            </a:extLst>
          </p:cNvPr>
          <p:cNvSpPr txBox="1"/>
          <p:nvPr/>
        </p:nvSpPr>
        <p:spPr>
          <a:xfrm>
            <a:off x="534570" y="146441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测试环境：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E58547-A21D-FC82-D000-7DF43D139F2A}"/>
              </a:ext>
            </a:extLst>
          </p:cNvPr>
          <p:cNvGrpSpPr/>
          <p:nvPr/>
        </p:nvGrpSpPr>
        <p:grpSpPr>
          <a:xfrm>
            <a:off x="6817710" y="2317838"/>
            <a:ext cx="4529680" cy="3845544"/>
            <a:chOff x="6214252" y="2075502"/>
            <a:chExt cx="2396756" cy="3398693"/>
          </a:xfrm>
        </p:grpSpPr>
        <p:sp>
          <p:nvSpPr>
            <p:cNvPr id="3" name="ïṧḷïḓê-矩形: 圆角 13">
              <a:extLst>
                <a:ext uri="{FF2B5EF4-FFF2-40B4-BE49-F238E27FC236}">
                  <a16:creationId xmlns:a16="http://schemas.microsoft.com/office/drawing/2014/main" id="{224EA56F-0EA7-67B3-9B1C-66FC69036095}"/>
                </a:ext>
              </a:extLst>
            </p:cNvPr>
            <p:cNvSpPr/>
            <p:nvPr/>
          </p:nvSpPr>
          <p:spPr>
            <a:xfrm>
              <a:off x="6214252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3215C60-422B-A8AC-346F-A4FE1FC336A3}"/>
                </a:ext>
              </a:extLst>
            </p:cNvPr>
            <p:cNvGrpSpPr/>
            <p:nvPr/>
          </p:nvGrpSpPr>
          <p:grpSpPr>
            <a:xfrm>
              <a:off x="6315506" y="2323726"/>
              <a:ext cx="2139318" cy="2440689"/>
              <a:chOff x="2622337" y="999980"/>
              <a:chExt cx="2139318" cy="244068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91D1042-8B52-F347-B62D-3D4E17087FCD}"/>
                  </a:ext>
                </a:extLst>
              </p:cNvPr>
              <p:cNvSpPr/>
              <p:nvPr/>
            </p:nvSpPr>
            <p:spPr>
              <a:xfrm>
                <a:off x="2677267" y="1592793"/>
                <a:ext cx="2084388" cy="1847876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b="1" dirty="0"/>
                  <a:t>Apache JMeter 5.6.3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1400" b="1" dirty="0"/>
                  <a:t>    - HTTP Sampler</a:t>
                </a:r>
                <a:r>
                  <a:rPr lang="zh-CN" altLang="en-US" sz="1400" b="1" dirty="0"/>
                  <a:t>（请求发送）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b="1" dirty="0"/>
                  <a:t>    </a:t>
                </a:r>
                <a:r>
                  <a:rPr lang="en-US" altLang="zh-CN" sz="1400" b="1" dirty="0"/>
                  <a:t>- JSON Path Assertion</a:t>
                </a:r>
                <a:r>
                  <a:rPr lang="zh-CN" altLang="en-US" sz="1400" b="1" dirty="0"/>
                  <a:t>（响应断言）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b="1" dirty="0"/>
                  <a:t>    </a:t>
                </a:r>
                <a:r>
                  <a:rPr lang="en-US" altLang="zh-CN" sz="1400" b="1" dirty="0"/>
                  <a:t>- Regular Expression Extractor</a:t>
                </a:r>
                <a:r>
                  <a:rPr lang="zh-CN" altLang="en-US" sz="1400" b="1" dirty="0"/>
                  <a:t>（数据提取）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b="1" dirty="0"/>
                  <a:t>    </a:t>
                </a:r>
                <a:r>
                  <a:rPr lang="en-US" altLang="zh-CN" sz="1400" b="1" dirty="0"/>
                  <a:t>- HTTP Header Manager</a:t>
                </a:r>
                <a:r>
                  <a:rPr lang="zh-CN" altLang="en-US" sz="1400" b="1" dirty="0"/>
                  <a:t>（认证管理）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b="1" dirty="0"/>
                  <a:t>    </a:t>
                </a:r>
                <a:r>
                  <a:rPr lang="en-US" altLang="zh-CN" sz="1400" b="1" dirty="0"/>
                  <a:t>- </a:t>
                </a:r>
                <a:r>
                  <a:rPr lang="zh-CN" altLang="en-US" sz="1400" b="1" dirty="0"/>
                  <a:t>监听器：查看结果树</a:t>
                </a: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CB533E-CCBA-C8EA-16C0-44FBE726F244}"/>
                  </a:ext>
                </a:extLst>
              </p:cNvPr>
              <p:cNvSpPr/>
              <p:nvPr/>
            </p:nvSpPr>
            <p:spPr>
              <a:xfrm>
                <a:off x="2622337" y="999980"/>
                <a:ext cx="2084387" cy="44802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/>
                  <a:t>测试工具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634664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2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功能测试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457590" y="2218117"/>
            <a:ext cx="2057009" cy="2421765"/>
            <a:chOff x="1004890" y="2075502"/>
            <a:chExt cx="2396756" cy="3398693"/>
          </a:xfrm>
        </p:grpSpPr>
        <p:sp>
          <p:nvSpPr>
            <p:cNvPr id="105" name="ïṧḷïḓê-矩形: 圆角 2"/>
            <p:cNvSpPr/>
            <p:nvPr/>
          </p:nvSpPr>
          <p:spPr>
            <a:xfrm>
              <a:off x="1004890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1150683" y="3320102"/>
              <a:ext cx="2094778" cy="1519951"/>
              <a:chOff x="2666874" y="1996356"/>
              <a:chExt cx="2094778" cy="1519951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2666874" y="2549949"/>
                <a:ext cx="2084388" cy="966358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根据等价类划分和边界值分析等方法设计测试用例</a:t>
                </a:r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2677265" y="1996356"/>
                <a:ext cx="2084387" cy="362343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b="1" dirty="0"/>
                  <a:t>设计测试用例</a:t>
                </a:r>
              </a:p>
            </p:txBody>
          </p:sp>
        </p:grpSp>
      </p:grpSp>
      <p:grpSp>
        <p:nvGrpSpPr>
          <p:cNvPr id="111" name="组合 110"/>
          <p:cNvGrpSpPr/>
          <p:nvPr/>
        </p:nvGrpSpPr>
        <p:grpSpPr>
          <a:xfrm>
            <a:off x="2728263" y="2378036"/>
            <a:ext cx="2057010" cy="2421765"/>
            <a:chOff x="3609571" y="2075502"/>
            <a:chExt cx="2396756" cy="3398693"/>
          </a:xfrm>
        </p:grpSpPr>
        <p:sp>
          <p:nvSpPr>
            <p:cNvPr id="112" name="ïṧḷïḓê-矩形: 圆角 12"/>
            <p:cNvSpPr/>
            <p:nvPr/>
          </p:nvSpPr>
          <p:spPr>
            <a:xfrm>
              <a:off x="3609571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3765754" y="3320102"/>
              <a:ext cx="2096554" cy="1207736"/>
              <a:chOff x="2677265" y="1996356"/>
              <a:chExt cx="2096554" cy="1207736"/>
            </a:xfrm>
          </p:grpSpPr>
          <p:sp>
            <p:nvSpPr>
              <p:cNvPr id="116" name="矩形 115"/>
              <p:cNvSpPr/>
              <p:nvPr/>
            </p:nvSpPr>
            <p:spPr>
              <a:xfrm>
                <a:off x="2689431" y="2547220"/>
                <a:ext cx="2084388" cy="656872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包括</a:t>
                </a:r>
                <a:r>
                  <a:rPr lang="zh-CN" altLang="en-US" sz="11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参数化、断言、变量传递</a:t>
                </a: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677265" y="1996356"/>
                <a:ext cx="2084387" cy="49896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1600" b="1" dirty="0" err="1"/>
                  <a:t>Jmeter</a:t>
                </a:r>
                <a:r>
                  <a:rPr lang="zh-CN" altLang="en-US" sz="1600" b="1" dirty="0"/>
                  <a:t>脚本设计</a:t>
                </a:r>
              </a:p>
            </p:txBody>
          </p:sp>
        </p:grpSp>
      </p:grpSp>
      <p:grpSp>
        <p:nvGrpSpPr>
          <p:cNvPr id="118" name="组合 117"/>
          <p:cNvGrpSpPr/>
          <p:nvPr/>
        </p:nvGrpSpPr>
        <p:grpSpPr>
          <a:xfrm>
            <a:off x="7213222" y="2748787"/>
            <a:ext cx="2051157" cy="2421766"/>
            <a:chOff x="6214252" y="2075502"/>
            <a:chExt cx="2396756" cy="3398693"/>
          </a:xfrm>
        </p:grpSpPr>
        <p:sp>
          <p:nvSpPr>
            <p:cNvPr id="119" name="ïṧḷïḓê-矩形: 圆角 13"/>
            <p:cNvSpPr/>
            <p:nvPr/>
          </p:nvSpPr>
          <p:spPr>
            <a:xfrm>
              <a:off x="6214252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7031630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38"/>
            <p:cNvSpPr/>
            <p:nvPr/>
          </p:nvSpPr>
          <p:spPr>
            <a:xfrm>
              <a:off x="7242767" y="2528195"/>
              <a:ext cx="339726" cy="339213"/>
            </a:xfrm>
            <a:custGeom>
              <a:avLst/>
              <a:gdLst>
                <a:gd name="connsiteX0" fmla="*/ 303775 w 607639"/>
                <a:gd name="connsiteY0" fmla="*/ 525007 h 606722"/>
                <a:gd name="connsiteX1" fmla="*/ 315710 w 607639"/>
                <a:gd name="connsiteY1" fmla="*/ 536902 h 606722"/>
                <a:gd name="connsiteX2" fmla="*/ 315710 w 607639"/>
                <a:gd name="connsiteY2" fmla="*/ 552347 h 606722"/>
                <a:gd name="connsiteX3" fmla="*/ 303775 w 607639"/>
                <a:gd name="connsiteY3" fmla="*/ 564241 h 606722"/>
                <a:gd name="connsiteX4" fmla="*/ 291929 w 607639"/>
                <a:gd name="connsiteY4" fmla="*/ 552347 h 606722"/>
                <a:gd name="connsiteX5" fmla="*/ 291929 w 607639"/>
                <a:gd name="connsiteY5" fmla="*/ 536902 h 606722"/>
                <a:gd name="connsiteX6" fmla="*/ 303775 w 607639"/>
                <a:gd name="connsiteY6" fmla="*/ 525007 h 606722"/>
                <a:gd name="connsiteX7" fmla="*/ 429885 w 607639"/>
                <a:gd name="connsiteY7" fmla="*/ 509483 h 606722"/>
                <a:gd name="connsiteX8" fmla="*/ 441811 w 607639"/>
                <a:gd name="connsiteY8" fmla="*/ 521409 h 606722"/>
                <a:gd name="connsiteX9" fmla="*/ 429885 w 607639"/>
                <a:gd name="connsiteY9" fmla="*/ 533335 h 606722"/>
                <a:gd name="connsiteX10" fmla="*/ 417959 w 607639"/>
                <a:gd name="connsiteY10" fmla="*/ 521409 h 606722"/>
                <a:gd name="connsiteX11" fmla="*/ 429885 w 607639"/>
                <a:gd name="connsiteY11" fmla="*/ 509483 h 606722"/>
                <a:gd name="connsiteX12" fmla="*/ 177720 w 607639"/>
                <a:gd name="connsiteY12" fmla="*/ 509483 h 606722"/>
                <a:gd name="connsiteX13" fmla="*/ 189611 w 607639"/>
                <a:gd name="connsiteY13" fmla="*/ 521409 h 606722"/>
                <a:gd name="connsiteX14" fmla="*/ 177720 w 607639"/>
                <a:gd name="connsiteY14" fmla="*/ 533335 h 606722"/>
                <a:gd name="connsiteX15" fmla="*/ 165829 w 607639"/>
                <a:gd name="connsiteY15" fmla="*/ 521409 h 606722"/>
                <a:gd name="connsiteX16" fmla="*/ 177720 w 607639"/>
                <a:gd name="connsiteY16" fmla="*/ 509483 h 606722"/>
                <a:gd name="connsiteX17" fmla="*/ 522185 w 607639"/>
                <a:gd name="connsiteY17" fmla="*/ 417324 h 606722"/>
                <a:gd name="connsiteX18" fmla="*/ 534111 w 607639"/>
                <a:gd name="connsiteY18" fmla="*/ 429250 h 606722"/>
                <a:gd name="connsiteX19" fmla="*/ 522185 w 607639"/>
                <a:gd name="connsiteY19" fmla="*/ 441176 h 606722"/>
                <a:gd name="connsiteX20" fmla="*/ 510259 w 607639"/>
                <a:gd name="connsiteY20" fmla="*/ 429250 h 606722"/>
                <a:gd name="connsiteX21" fmla="*/ 522185 w 607639"/>
                <a:gd name="connsiteY21" fmla="*/ 417324 h 606722"/>
                <a:gd name="connsiteX22" fmla="*/ 85420 w 607639"/>
                <a:gd name="connsiteY22" fmla="*/ 417324 h 606722"/>
                <a:gd name="connsiteX23" fmla="*/ 97311 w 607639"/>
                <a:gd name="connsiteY23" fmla="*/ 429250 h 606722"/>
                <a:gd name="connsiteX24" fmla="*/ 85420 w 607639"/>
                <a:gd name="connsiteY24" fmla="*/ 441176 h 606722"/>
                <a:gd name="connsiteX25" fmla="*/ 73529 w 607639"/>
                <a:gd name="connsiteY25" fmla="*/ 429250 h 606722"/>
                <a:gd name="connsiteX26" fmla="*/ 85420 w 607639"/>
                <a:gd name="connsiteY26" fmla="*/ 417324 h 606722"/>
                <a:gd name="connsiteX27" fmla="*/ 537643 w 607639"/>
                <a:gd name="connsiteY27" fmla="*/ 291506 h 606722"/>
                <a:gd name="connsiteX28" fmla="*/ 555628 w 607639"/>
                <a:gd name="connsiteY28" fmla="*/ 291506 h 606722"/>
                <a:gd name="connsiteX29" fmla="*/ 567558 w 607639"/>
                <a:gd name="connsiteY29" fmla="*/ 303316 h 606722"/>
                <a:gd name="connsiteX30" fmla="*/ 555628 w 607639"/>
                <a:gd name="connsiteY30" fmla="*/ 315216 h 606722"/>
                <a:gd name="connsiteX31" fmla="*/ 537643 w 607639"/>
                <a:gd name="connsiteY31" fmla="*/ 315216 h 606722"/>
                <a:gd name="connsiteX32" fmla="*/ 525713 w 607639"/>
                <a:gd name="connsiteY32" fmla="*/ 303316 h 606722"/>
                <a:gd name="connsiteX33" fmla="*/ 537643 w 607639"/>
                <a:gd name="connsiteY33" fmla="*/ 291506 h 606722"/>
                <a:gd name="connsiteX34" fmla="*/ 51991 w 607639"/>
                <a:gd name="connsiteY34" fmla="*/ 291506 h 606722"/>
                <a:gd name="connsiteX35" fmla="*/ 69946 w 607639"/>
                <a:gd name="connsiteY35" fmla="*/ 291506 h 606722"/>
                <a:gd name="connsiteX36" fmla="*/ 81856 w 607639"/>
                <a:gd name="connsiteY36" fmla="*/ 303316 h 606722"/>
                <a:gd name="connsiteX37" fmla="*/ 69946 w 607639"/>
                <a:gd name="connsiteY37" fmla="*/ 315216 h 606722"/>
                <a:gd name="connsiteX38" fmla="*/ 51991 w 607639"/>
                <a:gd name="connsiteY38" fmla="*/ 315216 h 606722"/>
                <a:gd name="connsiteX39" fmla="*/ 40081 w 607639"/>
                <a:gd name="connsiteY39" fmla="*/ 303316 h 606722"/>
                <a:gd name="connsiteX40" fmla="*/ 51991 w 607639"/>
                <a:gd name="connsiteY40" fmla="*/ 291506 h 606722"/>
                <a:gd name="connsiteX41" fmla="*/ 412608 w 607639"/>
                <a:gd name="connsiteY41" fmla="*/ 222096 h 606722"/>
                <a:gd name="connsiteX42" fmla="*/ 345491 w 607639"/>
                <a:gd name="connsiteY42" fmla="*/ 334245 h 606722"/>
                <a:gd name="connsiteX43" fmla="*/ 412608 w 607639"/>
                <a:gd name="connsiteY43" fmla="*/ 334245 h 606722"/>
                <a:gd name="connsiteX44" fmla="*/ 427651 w 607639"/>
                <a:gd name="connsiteY44" fmla="*/ 167533 h 606722"/>
                <a:gd name="connsiteX45" fmla="*/ 436375 w 607639"/>
                <a:gd name="connsiteY45" fmla="*/ 178996 h 606722"/>
                <a:gd name="connsiteX46" fmla="*/ 436375 w 607639"/>
                <a:gd name="connsiteY46" fmla="*/ 334245 h 606722"/>
                <a:gd name="connsiteX47" fmla="*/ 469399 w 607639"/>
                <a:gd name="connsiteY47" fmla="*/ 334245 h 606722"/>
                <a:gd name="connsiteX48" fmla="*/ 481327 w 607639"/>
                <a:gd name="connsiteY48" fmla="*/ 346153 h 606722"/>
                <a:gd name="connsiteX49" fmla="*/ 469399 w 607639"/>
                <a:gd name="connsiteY49" fmla="*/ 357973 h 606722"/>
                <a:gd name="connsiteX50" fmla="*/ 436375 w 607639"/>
                <a:gd name="connsiteY50" fmla="*/ 357973 h 606722"/>
                <a:gd name="connsiteX51" fmla="*/ 436375 w 607639"/>
                <a:gd name="connsiteY51" fmla="*/ 427733 h 606722"/>
                <a:gd name="connsiteX52" fmla="*/ 424536 w 607639"/>
                <a:gd name="connsiteY52" fmla="*/ 439552 h 606722"/>
                <a:gd name="connsiteX53" fmla="*/ 412608 w 607639"/>
                <a:gd name="connsiteY53" fmla="*/ 427733 h 606722"/>
                <a:gd name="connsiteX54" fmla="*/ 412608 w 607639"/>
                <a:gd name="connsiteY54" fmla="*/ 357973 h 606722"/>
                <a:gd name="connsiteX55" fmla="*/ 324573 w 607639"/>
                <a:gd name="connsiteY55" fmla="*/ 357973 h 606722"/>
                <a:gd name="connsiteX56" fmla="*/ 314158 w 607639"/>
                <a:gd name="connsiteY56" fmla="*/ 352019 h 606722"/>
                <a:gd name="connsiteX57" fmla="*/ 314336 w 607639"/>
                <a:gd name="connsiteY57" fmla="*/ 340022 h 606722"/>
                <a:gd name="connsiteX58" fmla="*/ 414299 w 607639"/>
                <a:gd name="connsiteY58" fmla="*/ 172953 h 606722"/>
                <a:gd name="connsiteX59" fmla="*/ 427651 w 607639"/>
                <a:gd name="connsiteY59" fmla="*/ 167533 h 606722"/>
                <a:gd name="connsiteX60" fmla="*/ 216270 w 607639"/>
                <a:gd name="connsiteY60" fmla="*/ 167099 h 606722"/>
                <a:gd name="connsiteX61" fmla="*/ 290518 w 607639"/>
                <a:gd name="connsiteY61" fmla="*/ 241210 h 606722"/>
                <a:gd name="connsiteX62" fmla="*/ 242978 w 607639"/>
                <a:gd name="connsiteY62" fmla="*/ 355754 h 606722"/>
                <a:gd name="connsiteX63" fmla="*/ 182707 w 607639"/>
                <a:gd name="connsiteY63" fmla="*/ 415825 h 606722"/>
                <a:gd name="connsiteX64" fmla="*/ 278588 w 607639"/>
                <a:gd name="connsiteY64" fmla="*/ 415825 h 606722"/>
                <a:gd name="connsiteX65" fmla="*/ 290518 w 607639"/>
                <a:gd name="connsiteY65" fmla="*/ 427734 h 606722"/>
                <a:gd name="connsiteX66" fmla="*/ 278588 w 607639"/>
                <a:gd name="connsiteY66" fmla="*/ 439552 h 606722"/>
                <a:gd name="connsiteX67" fmla="*/ 154040 w 607639"/>
                <a:gd name="connsiteY67" fmla="*/ 439552 h 606722"/>
                <a:gd name="connsiteX68" fmla="*/ 143001 w 607639"/>
                <a:gd name="connsiteY68" fmla="*/ 432265 h 606722"/>
                <a:gd name="connsiteX69" fmla="*/ 145582 w 607639"/>
                <a:gd name="connsiteY69" fmla="*/ 419292 h 606722"/>
                <a:gd name="connsiteX70" fmla="*/ 226152 w 607639"/>
                <a:gd name="connsiteY70" fmla="*/ 338959 h 606722"/>
                <a:gd name="connsiteX71" fmla="*/ 266659 w 607639"/>
                <a:gd name="connsiteY71" fmla="*/ 241210 h 606722"/>
                <a:gd name="connsiteX72" fmla="*/ 216270 w 607639"/>
                <a:gd name="connsiteY72" fmla="*/ 190914 h 606722"/>
                <a:gd name="connsiteX73" fmla="*/ 165880 w 607639"/>
                <a:gd name="connsiteY73" fmla="*/ 241210 h 606722"/>
                <a:gd name="connsiteX74" fmla="*/ 154040 w 607639"/>
                <a:gd name="connsiteY74" fmla="*/ 253029 h 606722"/>
                <a:gd name="connsiteX75" fmla="*/ 142110 w 607639"/>
                <a:gd name="connsiteY75" fmla="*/ 241210 h 606722"/>
                <a:gd name="connsiteX76" fmla="*/ 216270 w 607639"/>
                <a:gd name="connsiteY76" fmla="*/ 167099 h 606722"/>
                <a:gd name="connsiteX77" fmla="*/ 522185 w 607639"/>
                <a:gd name="connsiteY77" fmla="*/ 165547 h 606722"/>
                <a:gd name="connsiteX78" fmla="*/ 534111 w 607639"/>
                <a:gd name="connsiteY78" fmla="*/ 177438 h 606722"/>
                <a:gd name="connsiteX79" fmla="*/ 522185 w 607639"/>
                <a:gd name="connsiteY79" fmla="*/ 189329 h 606722"/>
                <a:gd name="connsiteX80" fmla="*/ 510259 w 607639"/>
                <a:gd name="connsiteY80" fmla="*/ 177438 h 606722"/>
                <a:gd name="connsiteX81" fmla="*/ 522185 w 607639"/>
                <a:gd name="connsiteY81" fmla="*/ 165547 h 606722"/>
                <a:gd name="connsiteX82" fmla="*/ 85420 w 607639"/>
                <a:gd name="connsiteY82" fmla="*/ 165547 h 606722"/>
                <a:gd name="connsiteX83" fmla="*/ 97311 w 607639"/>
                <a:gd name="connsiteY83" fmla="*/ 177438 h 606722"/>
                <a:gd name="connsiteX84" fmla="*/ 85420 w 607639"/>
                <a:gd name="connsiteY84" fmla="*/ 189329 h 606722"/>
                <a:gd name="connsiteX85" fmla="*/ 73529 w 607639"/>
                <a:gd name="connsiteY85" fmla="*/ 177438 h 606722"/>
                <a:gd name="connsiteX86" fmla="*/ 85420 w 607639"/>
                <a:gd name="connsiteY86" fmla="*/ 165547 h 606722"/>
                <a:gd name="connsiteX87" fmla="*/ 429885 w 607639"/>
                <a:gd name="connsiteY87" fmla="*/ 73388 h 606722"/>
                <a:gd name="connsiteX88" fmla="*/ 441811 w 607639"/>
                <a:gd name="connsiteY88" fmla="*/ 85279 h 606722"/>
                <a:gd name="connsiteX89" fmla="*/ 429885 w 607639"/>
                <a:gd name="connsiteY89" fmla="*/ 97170 h 606722"/>
                <a:gd name="connsiteX90" fmla="*/ 417959 w 607639"/>
                <a:gd name="connsiteY90" fmla="*/ 85279 h 606722"/>
                <a:gd name="connsiteX91" fmla="*/ 429885 w 607639"/>
                <a:gd name="connsiteY91" fmla="*/ 73388 h 606722"/>
                <a:gd name="connsiteX92" fmla="*/ 177720 w 607639"/>
                <a:gd name="connsiteY92" fmla="*/ 73388 h 606722"/>
                <a:gd name="connsiteX93" fmla="*/ 189611 w 607639"/>
                <a:gd name="connsiteY93" fmla="*/ 85279 h 606722"/>
                <a:gd name="connsiteX94" fmla="*/ 177720 w 607639"/>
                <a:gd name="connsiteY94" fmla="*/ 97170 h 606722"/>
                <a:gd name="connsiteX95" fmla="*/ 165829 w 607639"/>
                <a:gd name="connsiteY95" fmla="*/ 85279 h 606722"/>
                <a:gd name="connsiteX96" fmla="*/ 177720 w 607639"/>
                <a:gd name="connsiteY96" fmla="*/ 73388 h 606722"/>
                <a:gd name="connsiteX97" fmla="*/ 303775 w 607639"/>
                <a:gd name="connsiteY97" fmla="*/ 42480 h 606722"/>
                <a:gd name="connsiteX98" fmla="*/ 315710 w 607639"/>
                <a:gd name="connsiteY98" fmla="*/ 54396 h 606722"/>
                <a:gd name="connsiteX99" fmla="*/ 315710 w 607639"/>
                <a:gd name="connsiteY99" fmla="*/ 69869 h 606722"/>
                <a:gd name="connsiteX100" fmla="*/ 303775 w 607639"/>
                <a:gd name="connsiteY100" fmla="*/ 81785 h 606722"/>
                <a:gd name="connsiteX101" fmla="*/ 291929 w 607639"/>
                <a:gd name="connsiteY101" fmla="*/ 69869 h 606722"/>
                <a:gd name="connsiteX102" fmla="*/ 291929 w 607639"/>
                <a:gd name="connsiteY102" fmla="*/ 54396 h 606722"/>
                <a:gd name="connsiteX103" fmla="*/ 303775 w 607639"/>
                <a:gd name="connsiteY103" fmla="*/ 42480 h 606722"/>
                <a:gd name="connsiteX104" fmla="*/ 303775 w 607639"/>
                <a:gd name="connsiteY104" fmla="*/ 0 h 606722"/>
                <a:gd name="connsiteX105" fmla="*/ 537058 w 607639"/>
                <a:gd name="connsiteY105" fmla="*/ 108956 h 606722"/>
                <a:gd name="connsiteX106" fmla="*/ 537058 w 607639"/>
                <a:gd name="connsiteY106" fmla="*/ 93048 h 606722"/>
                <a:gd name="connsiteX107" fmla="*/ 548895 w 607639"/>
                <a:gd name="connsiteY107" fmla="*/ 81139 h 606722"/>
                <a:gd name="connsiteX108" fmla="*/ 560822 w 607639"/>
                <a:gd name="connsiteY108" fmla="*/ 93048 h 606722"/>
                <a:gd name="connsiteX109" fmla="*/ 560822 w 607639"/>
                <a:gd name="connsiteY109" fmla="*/ 138994 h 606722"/>
                <a:gd name="connsiteX110" fmla="*/ 548895 w 607639"/>
                <a:gd name="connsiteY110" fmla="*/ 150903 h 606722"/>
                <a:gd name="connsiteX111" fmla="*/ 502880 w 607639"/>
                <a:gd name="connsiteY111" fmla="*/ 150903 h 606722"/>
                <a:gd name="connsiteX112" fmla="*/ 490953 w 607639"/>
                <a:gd name="connsiteY112" fmla="*/ 138994 h 606722"/>
                <a:gd name="connsiteX113" fmla="*/ 502880 w 607639"/>
                <a:gd name="connsiteY113" fmla="*/ 127174 h 606722"/>
                <a:gd name="connsiteX114" fmla="*/ 521126 w 607639"/>
                <a:gd name="connsiteY114" fmla="*/ 127174 h 606722"/>
                <a:gd name="connsiteX115" fmla="*/ 303775 w 607639"/>
                <a:gd name="connsiteY115" fmla="*/ 23728 h 606722"/>
                <a:gd name="connsiteX116" fmla="*/ 23764 w 607639"/>
                <a:gd name="connsiteY116" fmla="*/ 303316 h 606722"/>
                <a:gd name="connsiteX117" fmla="*/ 303775 w 607639"/>
                <a:gd name="connsiteY117" fmla="*/ 582905 h 606722"/>
                <a:gd name="connsiteX118" fmla="*/ 583786 w 607639"/>
                <a:gd name="connsiteY118" fmla="*/ 303316 h 606722"/>
                <a:gd name="connsiteX119" fmla="*/ 573906 w 607639"/>
                <a:gd name="connsiteY119" fmla="*/ 229376 h 606722"/>
                <a:gd name="connsiteX120" fmla="*/ 582273 w 607639"/>
                <a:gd name="connsiteY120" fmla="*/ 214801 h 606722"/>
                <a:gd name="connsiteX121" fmla="*/ 596869 w 607639"/>
                <a:gd name="connsiteY121" fmla="*/ 223066 h 606722"/>
                <a:gd name="connsiteX122" fmla="*/ 607639 w 607639"/>
                <a:gd name="connsiteY122" fmla="*/ 303316 h 606722"/>
                <a:gd name="connsiteX123" fmla="*/ 303775 w 607639"/>
                <a:gd name="connsiteY123" fmla="*/ 606722 h 606722"/>
                <a:gd name="connsiteX124" fmla="*/ 0 w 607639"/>
                <a:gd name="connsiteY124" fmla="*/ 303316 h 606722"/>
                <a:gd name="connsiteX125" fmla="*/ 303775 w 607639"/>
                <a:gd name="connsiteY125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07639" h="606722">
                  <a:moveTo>
                    <a:pt x="303775" y="525007"/>
                  </a:moveTo>
                  <a:cubicBezTo>
                    <a:pt x="310366" y="525007"/>
                    <a:pt x="315710" y="530333"/>
                    <a:pt x="315710" y="536902"/>
                  </a:cubicBezTo>
                  <a:lnTo>
                    <a:pt x="315710" y="552347"/>
                  </a:lnTo>
                  <a:cubicBezTo>
                    <a:pt x="315710" y="558915"/>
                    <a:pt x="310366" y="564241"/>
                    <a:pt x="303775" y="564241"/>
                  </a:cubicBezTo>
                  <a:cubicBezTo>
                    <a:pt x="297184" y="564241"/>
                    <a:pt x="291929" y="558915"/>
                    <a:pt x="291929" y="552347"/>
                  </a:cubicBezTo>
                  <a:lnTo>
                    <a:pt x="291929" y="536902"/>
                  </a:lnTo>
                  <a:cubicBezTo>
                    <a:pt x="291929" y="530333"/>
                    <a:pt x="297184" y="525007"/>
                    <a:pt x="303775" y="525007"/>
                  </a:cubicBezTo>
                  <a:close/>
                  <a:moveTo>
                    <a:pt x="429885" y="509483"/>
                  </a:moveTo>
                  <a:cubicBezTo>
                    <a:pt x="436472" y="509483"/>
                    <a:pt x="441811" y="514822"/>
                    <a:pt x="441811" y="521409"/>
                  </a:cubicBezTo>
                  <a:cubicBezTo>
                    <a:pt x="441811" y="527996"/>
                    <a:pt x="436472" y="533335"/>
                    <a:pt x="429885" y="533335"/>
                  </a:cubicBezTo>
                  <a:cubicBezTo>
                    <a:pt x="423298" y="533335"/>
                    <a:pt x="417959" y="527996"/>
                    <a:pt x="417959" y="521409"/>
                  </a:cubicBezTo>
                  <a:cubicBezTo>
                    <a:pt x="417959" y="514822"/>
                    <a:pt x="423298" y="509483"/>
                    <a:pt x="429885" y="509483"/>
                  </a:cubicBezTo>
                  <a:close/>
                  <a:moveTo>
                    <a:pt x="177720" y="509483"/>
                  </a:moveTo>
                  <a:cubicBezTo>
                    <a:pt x="184287" y="509483"/>
                    <a:pt x="189611" y="514822"/>
                    <a:pt x="189611" y="521409"/>
                  </a:cubicBezTo>
                  <a:cubicBezTo>
                    <a:pt x="189611" y="527996"/>
                    <a:pt x="184287" y="533335"/>
                    <a:pt x="177720" y="533335"/>
                  </a:cubicBezTo>
                  <a:cubicBezTo>
                    <a:pt x="171153" y="533335"/>
                    <a:pt x="165829" y="527996"/>
                    <a:pt x="165829" y="521409"/>
                  </a:cubicBezTo>
                  <a:cubicBezTo>
                    <a:pt x="165829" y="514822"/>
                    <a:pt x="171153" y="509483"/>
                    <a:pt x="177720" y="509483"/>
                  </a:cubicBezTo>
                  <a:close/>
                  <a:moveTo>
                    <a:pt x="522185" y="417324"/>
                  </a:moveTo>
                  <a:cubicBezTo>
                    <a:pt x="528772" y="417324"/>
                    <a:pt x="534111" y="422663"/>
                    <a:pt x="534111" y="429250"/>
                  </a:cubicBezTo>
                  <a:cubicBezTo>
                    <a:pt x="534111" y="435837"/>
                    <a:pt x="528772" y="441176"/>
                    <a:pt x="522185" y="441176"/>
                  </a:cubicBezTo>
                  <a:cubicBezTo>
                    <a:pt x="515598" y="441176"/>
                    <a:pt x="510259" y="435837"/>
                    <a:pt x="510259" y="429250"/>
                  </a:cubicBezTo>
                  <a:cubicBezTo>
                    <a:pt x="510259" y="422663"/>
                    <a:pt x="515598" y="417324"/>
                    <a:pt x="522185" y="417324"/>
                  </a:cubicBezTo>
                  <a:close/>
                  <a:moveTo>
                    <a:pt x="85420" y="417324"/>
                  </a:moveTo>
                  <a:cubicBezTo>
                    <a:pt x="91987" y="417324"/>
                    <a:pt x="97311" y="422663"/>
                    <a:pt x="97311" y="429250"/>
                  </a:cubicBezTo>
                  <a:cubicBezTo>
                    <a:pt x="97311" y="435837"/>
                    <a:pt x="91987" y="441176"/>
                    <a:pt x="85420" y="441176"/>
                  </a:cubicBezTo>
                  <a:cubicBezTo>
                    <a:pt x="78853" y="441176"/>
                    <a:pt x="73529" y="435837"/>
                    <a:pt x="73529" y="429250"/>
                  </a:cubicBezTo>
                  <a:cubicBezTo>
                    <a:pt x="73529" y="422663"/>
                    <a:pt x="78853" y="417324"/>
                    <a:pt x="85420" y="417324"/>
                  </a:cubicBezTo>
                  <a:close/>
                  <a:moveTo>
                    <a:pt x="537643" y="291506"/>
                  </a:moveTo>
                  <a:lnTo>
                    <a:pt x="555628" y="291506"/>
                  </a:lnTo>
                  <a:cubicBezTo>
                    <a:pt x="562216" y="291506"/>
                    <a:pt x="567558" y="296745"/>
                    <a:pt x="567558" y="303316"/>
                  </a:cubicBezTo>
                  <a:cubicBezTo>
                    <a:pt x="567558" y="309888"/>
                    <a:pt x="562216" y="315216"/>
                    <a:pt x="555628" y="315216"/>
                  </a:cubicBezTo>
                  <a:lnTo>
                    <a:pt x="537643" y="315216"/>
                  </a:lnTo>
                  <a:cubicBezTo>
                    <a:pt x="531055" y="315216"/>
                    <a:pt x="525713" y="309888"/>
                    <a:pt x="525713" y="303316"/>
                  </a:cubicBezTo>
                  <a:cubicBezTo>
                    <a:pt x="525713" y="296745"/>
                    <a:pt x="531055" y="291506"/>
                    <a:pt x="537643" y="291506"/>
                  </a:cubicBezTo>
                  <a:close/>
                  <a:moveTo>
                    <a:pt x="51991" y="291506"/>
                  </a:moveTo>
                  <a:lnTo>
                    <a:pt x="69946" y="291506"/>
                  </a:lnTo>
                  <a:cubicBezTo>
                    <a:pt x="76523" y="291506"/>
                    <a:pt x="81856" y="296745"/>
                    <a:pt x="81856" y="303316"/>
                  </a:cubicBezTo>
                  <a:cubicBezTo>
                    <a:pt x="81856" y="309888"/>
                    <a:pt x="76523" y="315216"/>
                    <a:pt x="69946" y="315216"/>
                  </a:cubicBezTo>
                  <a:lnTo>
                    <a:pt x="51991" y="315216"/>
                  </a:lnTo>
                  <a:cubicBezTo>
                    <a:pt x="45414" y="315216"/>
                    <a:pt x="40081" y="309888"/>
                    <a:pt x="40081" y="303316"/>
                  </a:cubicBezTo>
                  <a:cubicBezTo>
                    <a:pt x="40081" y="296745"/>
                    <a:pt x="45414" y="291506"/>
                    <a:pt x="51991" y="291506"/>
                  </a:cubicBezTo>
                  <a:close/>
                  <a:moveTo>
                    <a:pt x="412608" y="222096"/>
                  </a:moveTo>
                  <a:lnTo>
                    <a:pt x="345491" y="334245"/>
                  </a:lnTo>
                  <a:lnTo>
                    <a:pt x="412608" y="334245"/>
                  </a:lnTo>
                  <a:close/>
                  <a:moveTo>
                    <a:pt x="427651" y="167533"/>
                  </a:moveTo>
                  <a:cubicBezTo>
                    <a:pt x="432814" y="168954"/>
                    <a:pt x="436375" y="173664"/>
                    <a:pt x="436375" y="178996"/>
                  </a:cubicBezTo>
                  <a:lnTo>
                    <a:pt x="436375" y="334245"/>
                  </a:lnTo>
                  <a:lnTo>
                    <a:pt x="469399" y="334245"/>
                  </a:lnTo>
                  <a:cubicBezTo>
                    <a:pt x="475986" y="334245"/>
                    <a:pt x="481327" y="339577"/>
                    <a:pt x="481327" y="346153"/>
                  </a:cubicBezTo>
                  <a:cubicBezTo>
                    <a:pt x="481327" y="352641"/>
                    <a:pt x="475986" y="357973"/>
                    <a:pt x="469399" y="357973"/>
                  </a:cubicBezTo>
                  <a:lnTo>
                    <a:pt x="436375" y="357973"/>
                  </a:lnTo>
                  <a:lnTo>
                    <a:pt x="436375" y="427733"/>
                  </a:lnTo>
                  <a:cubicBezTo>
                    <a:pt x="436375" y="434220"/>
                    <a:pt x="431123" y="439552"/>
                    <a:pt x="424536" y="439552"/>
                  </a:cubicBezTo>
                  <a:cubicBezTo>
                    <a:pt x="417949" y="439552"/>
                    <a:pt x="412608" y="434220"/>
                    <a:pt x="412608" y="427733"/>
                  </a:cubicBezTo>
                  <a:lnTo>
                    <a:pt x="412608" y="357973"/>
                  </a:lnTo>
                  <a:lnTo>
                    <a:pt x="324573" y="357973"/>
                  </a:lnTo>
                  <a:cubicBezTo>
                    <a:pt x="320300" y="357973"/>
                    <a:pt x="316295" y="355662"/>
                    <a:pt x="314158" y="352019"/>
                  </a:cubicBezTo>
                  <a:cubicBezTo>
                    <a:pt x="312111" y="348286"/>
                    <a:pt x="312111" y="343665"/>
                    <a:pt x="314336" y="340022"/>
                  </a:cubicBezTo>
                  <a:lnTo>
                    <a:pt x="414299" y="172953"/>
                  </a:lnTo>
                  <a:cubicBezTo>
                    <a:pt x="417059" y="168332"/>
                    <a:pt x="422489" y="166111"/>
                    <a:pt x="427651" y="167533"/>
                  </a:cubicBezTo>
                  <a:close/>
                  <a:moveTo>
                    <a:pt x="216270" y="167099"/>
                  </a:moveTo>
                  <a:cubicBezTo>
                    <a:pt x="257222" y="167099"/>
                    <a:pt x="290518" y="200333"/>
                    <a:pt x="290518" y="241210"/>
                  </a:cubicBezTo>
                  <a:cubicBezTo>
                    <a:pt x="290518" y="284486"/>
                    <a:pt x="273603" y="325097"/>
                    <a:pt x="242978" y="355754"/>
                  </a:cubicBezTo>
                  <a:lnTo>
                    <a:pt x="182707" y="415825"/>
                  </a:lnTo>
                  <a:lnTo>
                    <a:pt x="278588" y="415825"/>
                  </a:lnTo>
                  <a:cubicBezTo>
                    <a:pt x="285176" y="415825"/>
                    <a:pt x="290518" y="421158"/>
                    <a:pt x="290518" y="427734"/>
                  </a:cubicBezTo>
                  <a:cubicBezTo>
                    <a:pt x="290518" y="434220"/>
                    <a:pt x="285176" y="439552"/>
                    <a:pt x="278588" y="439552"/>
                  </a:cubicBezTo>
                  <a:lnTo>
                    <a:pt x="154040" y="439552"/>
                  </a:lnTo>
                  <a:cubicBezTo>
                    <a:pt x="149232" y="439552"/>
                    <a:pt x="144870" y="436709"/>
                    <a:pt x="143001" y="432265"/>
                  </a:cubicBezTo>
                  <a:cubicBezTo>
                    <a:pt x="141131" y="427822"/>
                    <a:pt x="142199" y="422668"/>
                    <a:pt x="145582" y="419292"/>
                  </a:cubicBezTo>
                  <a:lnTo>
                    <a:pt x="226152" y="338959"/>
                  </a:lnTo>
                  <a:cubicBezTo>
                    <a:pt x="252236" y="312834"/>
                    <a:pt x="266659" y="278088"/>
                    <a:pt x="266659" y="241210"/>
                  </a:cubicBezTo>
                  <a:cubicBezTo>
                    <a:pt x="266659" y="213485"/>
                    <a:pt x="244046" y="190914"/>
                    <a:pt x="216270" y="190914"/>
                  </a:cubicBezTo>
                  <a:cubicBezTo>
                    <a:pt x="188493" y="190914"/>
                    <a:pt x="165880" y="213485"/>
                    <a:pt x="165880" y="241210"/>
                  </a:cubicBezTo>
                  <a:cubicBezTo>
                    <a:pt x="165880" y="247786"/>
                    <a:pt x="160539" y="253029"/>
                    <a:pt x="154040" y="253029"/>
                  </a:cubicBezTo>
                  <a:cubicBezTo>
                    <a:pt x="147452" y="253029"/>
                    <a:pt x="142110" y="247786"/>
                    <a:pt x="142110" y="241210"/>
                  </a:cubicBezTo>
                  <a:cubicBezTo>
                    <a:pt x="142110" y="200333"/>
                    <a:pt x="175406" y="167099"/>
                    <a:pt x="216270" y="167099"/>
                  </a:cubicBezTo>
                  <a:close/>
                  <a:moveTo>
                    <a:pt x="522185" y="165547"/>
                  </a:moveTo>
                  <a:cubicBezTo>
                    <a:pt x="528772" y="165547"/>
                    <a:pt x="534111" y="170871"/>
                    <a:pt x="534111" y="177438"/>
                  </a:cubicBezTo>
                  <a:cubicBezTo>
                    <a:pt x="534111" y="184005"/>
                    <a:pt x="528772" y="189329"/>
                    <a:pt x="522185" y="189329"/>
                  </a:cubicBezTo>
                  <a:cubicBezTo>
                    <a:pt x="515598" y="189329"/>
                    <a:pt x="510259" y="184005"/>
                    <a:pt x="510259" y="177438"/>
                  </a:cubicBezTo>
                  <a:cubicBezTo>
                    <a:pt x="510259" y="170871"/>
                    <a:pt x="515598" y="165547"/>
                    <a:pt x="522185" y="165547"/>
                  </a:cubicBezTo>
                  <a:close/>
                  <a:moveTo>
                    <a:pt x="85420" y="165547"/>
                  </a:moveTo>
                  <a:cubicBezTo>
                    <a:pt x="91987" y="165547"/>
                    <a:pt x="97311" y="170871"/>
                    <a:pt x="97311" y="177438"/>
                  </a:cubicBezTo>
                  <a:cubicBezTo>
                    <a:pt x="97311" y="184005"/>
                    <a:pt x="91987" y="189329"/>
                    <a:pt x="85420" y="189329"/>
                  </a:cubicBezTo>
                  <a:cubicBezTo>
                    <a:pt x="78853" y="189329"/>
                    <a:pt x="73529" y="184005"/>
                    <a:pt x="73529" y="177438"/>
                  </a:cubicBezTo>
                  <a:cubicBezTo>
                    <a:pt x="73529" y="170871"/>
                    <a:pt x="78853" y="165547"/>
                    <a:pt x="85420" y="165547"/>
                  </a:cubicBezTo>
                  <a:close/>
                  <a:moveTo>
                    <a:pt x="429885" y="73388"/>
                  </a:moveTo>
                  <a:cubicBezTo>
                    <a:pt x="436472" y="73388"/>
                    <a:pt x="441811" y="78712"/>
                    <a:pt x="441811" y="85279"/>
                  </a:cubicBezTo>
                  <a:cubicBezTo>
                    <a:pt x="441811" y="91846"/>
                    <a:pt x="436472" y="97170"/>
                    <a:pt x="429885" y="97170"/>
                  </a:cubicBezTo>
                  <a:cubicBezTo>
                    <a:pt x="423298" y="97170"/>
                    <a:pt x="417959" y="91846"/>
                    <a:pt x="417959" y="85279"/>
                  </a:cubicBezTo>
                  <a:cubicBezTo>
                    <a:pt x="417959" y="78712"/>
                    <a:pt x="423298" y="73388"/>
                    <a:pt x="429885" y="73388"/>
                  </a:cubicBezTo>
                  <a:close/>
                  <a:moveTo>
                    <a:pt x="177720" y="73388"/>
                  </a:moveTo>
                  <a:cubicBezTo>
                    <a:pt x="184287" y="73388"/>
                    <a:pt x="189611" y="78712"/>
                    <a:pt x="189611" y="85279"/>
                  </a:cubicBezTo>
                  <a:cubicBezTo>
                    <a:pt x="189611" y="91846"/>
                    <a:pt x="184287" y="97170"/>
                    <a:pt x="177720" y="97170"/>
                  </a:cubicBezTo>
                  <a:cubicBezTo>
                    <a:pt x="171153" y="97170"/>
                    <a:pt x="165829" y="91846"/>
                    <a:pt x="165829" y="85279"/>
                  </a:cubicBezTo>
                  <a:cubicBezTo>
                    <a:pt x="165829" y="78712"/>
                    <a:pt x="171153" y="73388"/>
                    <a:pt x="177720" y="73388"/>
                  </a:cubicBezTo>
                  <a:close/>
                  <a:moveTo>
                    <a:pt x="303775" y="42480"/>
                  </a:moveTo>
                  <a:cubicBezTo>
                    <a:pt x="310366" y="42480"/>
                    <a:pt x="315710" y="47815"/>
                    <a:pt x="315710" y="54396"/>
                  </a:cubicBezTo>
                  <a:lnTo>
                    <a:pt x="315710" y="69869"/>
                  </a:lnTo>
                  <a:cubicBezTo>
                    <a:pt x="315710" y="76449"/>
                    <a:pt x="310366" y="81785"/>
                    <a:pt x="303775" y="81785"/>
                  </a:cubicBezTo>
                  <a:cubicBezTo>
                    <a:pt x="297184" y="81785"/>
                    <a:pt x="291929" y="76449"/>
                    <a:pt x="291929" y="69869"/>
                  </a:cubicBezTo>
                  <a:lnTo>
                    <a:pt x="291929" y="54396"/>
                  </a:lnTo>
                  <a:cubicBezTo>
                    <a:pt x="291929" y="47815"/>
                    <a:pt x="297184" y="42480"/>
                    <a:pt x="303775" y="42480"/>
                  </a:cubicBezTo>
                  <a:close/>
                  <a:moveTo>
                    <a:pt x="303775" y="0"/>
                  </a:moveTo>
                  <a:cubicBezTo>
                    <a:pt x="394204" y="0"/>
                    <a:pt x="479560" y="40347"/>
                    <a:pt x="537058" y="108956"/>
                  </a:cubicBezTo>
                  <a:lnTo>
                    <a:pt x="537058" y="93048"/>
                  </a:lnTo>
                  <a:cubicBezTo>
                    <a:pt x="537058" y="86471"/>
                    <a:pt x="542309" y="81139"/>
                    <a:pt x="548895" y="81139"/>
                  </a:cubicBezTo>
                  <a:cubicBezTo>
                    <a:pt x="555482" y="81139"/>
                    <a:pt x="560822" y="86471"/>
                    <a:pt x="560822" y="93048"/>
                  </a:cubicBezTo>
                  <a:lnTo>
                    <a:pt x="560822" y="138994"/>
                  </a:lnTo>
                  <a:cubicBezTo>
                    <a:pt x="560822" y="145570"/>
                    <a:pt x="555482" y="150903"/>
                    <a:pt x="548895" y="150903"/>
                  </a:cubicBezTo>
                  <a:lnTo>
                    <a:pt x="502880" y="150903"/>
                  </a:lnTo>
                  <a:cubicBezTo>
                    <a:pt x="496293" y="150903"/>
                    <a:pt x="490953" y="145570"/>
                    <a:pt x="490953" y="138994"/>
                  </a:cubicBezTo>
                  <a:cubicBezTo>
                    <a:pt x="490953" y="132417"/>
                    <a:pt x="496293" y="127174"/>
                    <a:pt x="502880" y="127174"/>
                  </a:cubicBezTo>
                  <a:lnTo>
                    <a:pt x="521126" y="127174"/>
                  </a:lnTo>
                  <a:cubicBezTo>
                    <a:pt x="468168" y="62032"/>
                    <a:pt x="388419" y="23728"/>
                    <a:pt x="303775" y="23728"/>
                  </a:cubicBezTo>
                  <a:cubicBezTo>
                    <a:pt x="149440" y="23728"/>
                    <a:pt x="23764" y="149214"/>
                    <a:pt x="23764" y="303316"/>
                  </a:cubicBezTo>
                  <a:cubicBezTo>
                    <a:pt x="23764" y="457508"/>
                    <a:pt x="149440" y="582905"/>
                    <a:pt x="303775" y="582905"/>
                  </a:cubicBezTo>
                  <a:cubicBezTo>
                    <a:pt x="458199" y="582905"/>
                    <a:pt x="583786" y="457508"/>
                    <a:pt x="583786" y="303316"/>
                  </a:cubicBezTo>
                  <a:cubicBezTo>
                    <a:pt x="583786" y="278255"/>
                    <a:pt x="580492" y="253371"/>
                    <a:pt x="573906" y="229376"/>
                  </a:cubicBezTo>
                  <a:cubicBezTo>
                    <a:pt x="572126" y="223066"/>
                    <a:pt x="575864" y="216489"/>
                    <a:pt x="582273" y="214801"/>
                  </a:cubicBezTo>
                  <a:cubicBezTo>
                    <a:pt x="588592" y="213023"/>
                    <a:pt x="595089" y="216756"/>
                    <a:pt x="596869" y="223066"/>
                  </a:cubicBezTo>
                  <a:cubicBezTo>
                    <a:pt x="603990" y="249194"/>
                    <a:pt x="607639" y="276122"/>
                    <a:pt x="607639" y="303316"/>
                  </a:cubicBezTo>
                  <a:cubicBezTo>
                    <a:pt x="607639" y="470572"/>
                    <a:pt x="471283" y="606722"/>
                    <a:pt x="303775" y="606722"/>
                  </a:cubicBezTo>
                  <a:cubicBezTo>
                    <a:pt x="136267" y="606722"/>
                    <a:pt x="0" y="470572"/>
                    <a:pt x="0" y="303316"/>
                  </a:cubicBezTo>
                  <a:cubicBezTo>
                    <a:pt x="0" y="136061"/>
                    <a:pt x="136267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2" name="组合 121"/>
            <p:cNvGrpSpPr/>
            <p:nvPr/>
          </p:nvGrpSpPr>
          <p:grpSpPr>
            <a:xfrm>
              <a:off x="6370433" y="3320102"/>
              <a:ext cx="2084388" cy="1764848"/>
              <a:chOff x="2677264" y="1996356"/>
              <a:chExt cx="2084388" cy="1764848"/>
            </a:xfrm>
          </p:grpSpPr>
          <p:sp>
            <p:nvSpPr>
              <p:cNvPr id="123" name="矩形 122"/>
              <p:cNvSpPr/>
              <p:nvPr/>
            </p:nvSpPr>
            <p:spPr>
              <a:xfrm>
                <a:off x="2677264" y="2509769"/>
                <a:ext cx="2084388" cy="1251435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用一个简单的控制器（或一个线程组）按顺序放置 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5 </a:t>
                </a: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个 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HTTP </a:t>
                </a: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请求，并通过变量传递 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token</a:t>
                </a:r>
                <a:endPara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2677265" y="1996356"/>
                <a:ext cx="2084387" cy="47590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b="1" dirty="0"/>
                  <a:t>业务流程测试</a:t>
                </a:r>
              </a:p>
            </p:txBody>
          </p:sp>
        </p:grpSp>
      </p:grpSp>
      <p:sp>
        <p:nvSpPr>
          <p:cNvPr id="146" name="文本框 145"/>
          <p:cNvSpPr txBox="1"/>
          <p:nvPr/>
        </p:nvSpPr>
        <p:spPr>
          <a:xfrm>
            <a:off x="711634" y="1516227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测试过程：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3E764E1-BBEF-8392-6CBF-EEBA6691C0A0}"/>
              </a:ext>
            </a:extLst>
          </p:cNvPr>
          <p:cNvGrpSpPr/>
          <p:nvPr/>
        </p:nvGrpSpPr>
        <p:grpSpPr>
          <a:xfrm>
            <a:off x="4970743" y="2549976"/>
            <a:ext cx="2057009" cy="2421765"/>
            <a:chOff x="1004890" y="2075502"/>
            <a:chExt cx="2396756" cy="3398693"/>
          </a:xfrm>
        </p:grpSpPr>
        <p:sp>
          <p:nvSpPr>
            <p:cNvPr id="14" name="ïṧḷïḓê-矩形: 圆角 2">
              <a:extLst>
                <a:ext uri="{FF2B5EF4-FFF2-40B4-BE49-F238E27FC236}">
                  <a16:creationId xmlns:a16="http://schemas.microsoft.com/office/drawing/2014/main" id="{BA46FC63-0AC9-B08D-283E-9D0C2DAE64D2}"/>
                </a:ext>
              </a:extLst>
            </p:cNvPr>
            <p:cNvSpPr/>
            <p:nvPr/>
          </p:nvSpPr>
          <p:spPr>
            <a:xfrm>
              <a:off x="1004890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1BDECC0-51CF-ED72-B9D0-6309C51D2E17}"/>
                </a:ext>
              </a:extLst>
            </p:cNvPr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31">
              <a:extLst>
                <a:ext uri="{FF2B5EF4-FFF2-40B4-BE49-F238E27FC236}">
                  <a16:creationId xmlns:a16="http://schemas.microsoft.com/office/drawing/2014/main" id="{9463B3EA-7A7F-AABF-5F7A-0E290F9C67A1}"/>
                </a:ext>
              </a:extLst>
            </p:cNvPr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BE401B2F-7DFA-BEC2-B6DF-89B37FE6FD00}"/>
                </a:ext>
              </a:extLst>
            </p:cNvPr>
            <p:cNvGrpSpPr/>
            <p:nvPr/>
          </p:nvGrpSpPr>
          <p:grpSpPr>
            <a:xfrm>
              <a:off x="1150683" y="3320102"/>
              <a:ext cx="2094778" cy="1234877"/>
              <a:chOff x="2666874" y="1996356"/>
              <a:chExt cx="2094778" cy="1234877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D6620BE-F527-3B47-60C1-C107854D2401}"/>
                  </a:ext>
                </a:extLst>
              </p:cNvPr>
              <p:cNvSpPr/>
              <p:nvPr/>
            </p:nvSpPr>
            <p:spPr>
              <a:xfrm>
                <a:off x="2666874" y="2549949"/>
                <a:ext cx="2084388" cy="68128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对系统中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3</a:t>
                </a: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个较为核心的业务功能进行测试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F25ACC8-3543-6597-D1A0-D8C246D53B08}"/>
                  </a:ext>
                </a:extLst>
              </p:cNvPr>
              <p:cNvSpPr/>
              <p:nvPr/>
            </p:nvSpPr>
            <p:spPr>
              <a:xfrm>
                <a:off x="2677265" y="1996356"/>
                <a:ext cx="2084387" cy="51750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b="1" dirty="0"/>
                  <a:t>功能模块测试</a:t>
                </a: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11ACE84-6844-FF03-D7B9-98706B353FEB}"/>
              </a:ext>
            </a:extLst>
          </p:cNvPr>
          <p:cNvGrpSpPr/>
          <p:nvPr/>
        </p:nvGrpSpPr>
        <p:grpSpPr>
          <a:xfrm>
            <a:off x="9445071" y="2993400"/>
            <a:ext cx="2057010" cy="2421765"/>
            <a:chOff x="3609571" y="2075502"/>
            <a:chExt cx="2396756" cy="3398693"/>
          </a:xfrm>
        </p:grpSpPr>
        <p:sp>
          <p:nvSpPr>
            <p:cNvPr id="21" name="ïṧḷïḓê-矩形: 圆角 12">
              <a:extLst>
                <a:ext uri="{FF2B5EF4-FFF2-40B4-BE49-F238E27FC236}">
                  <a16:creationId xmlns:a16="http://schemas.microsoft.com/office/drawing/2014/main" id="{C50819ED-BECB-63A3-410A-CD38B70F0200}"/>
                </a:ext>
              </a:extLst>
            </p:cNvPr>
            <p:cNvSpPr/>
            <p:nvPr/>
          </p:nvSpPr>
          <p:spPr>
            <a:xfrm>
              <a:off x="3609571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4F3271B-F7FC-8EAE-80B7-A438CBEB6B34}"/>
                </a:ext>
              </a:extLst>
            </p:cNvPr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35">
              <a:extLst>
                <a:ext uri="{FF2B5EF4-FFF2-40B4-BE49-F238E27FC236}">
                  <a16:creationId xmlns:a16="http://schemas.microsoft.com/office/drawing/2014/main" id="{F62C9A0F-F53A-CCCC-1CC8-014AE0935D1B}"/>
                </a:ext>
              </a:extLst>
            </p:cNvPr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BC96775-99BF-5282-6C34-D0FFD68808B2}"/>
                </a:ext>
              </a:extLst>
            </p:cNvPr>
            <p:cNvGrpSpPr/>
            <p:nvPr/>
          </p:nvGrpSpPr>
          <p:grpSpPr>
            <a:xfrm>
              <a:off x="3765754" y="3320102"/>
              <a:ext cx="2096554" cy="1232148"/>
              <a:chOff x="2677265" y="1996356"/>
              <a:chExt cx="2096554" cy="1232148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0B2F6EE-2123-4ABA-FA13-236C6937F2AC}"/>
                  </a:ext>
                </a:extLst>
              </p:cNvPr>
              <p:cNvSpPr/>
              <p:nvPr/>
            </p:nvSpPr>
            <p:spPr>
              <a:xfrm>
                <a:off x="2689430" y="2547221"/>
                <a:ext cx="2084389" cy="681283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对测试执行结果进行统计和分析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56E3EFB-F700-D948-5A92-CCCC7679ED28}"/>
                  </a:ext>
                </a:extLst>
              </p:cNvPr>
              <p:cNvSpPr/>
              <p:nvPr/>
            </p:nvSpPr>
            <p:spPr>
              <a:xfrm>
                <a:off x="2677265" y="1996356"/>
                <a:ext cx="2084387" cy="51750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b="1" dirty="0"/>
                  <a:t>测试结果分析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7B9F-01A3-1DDB-6D56-1FA5E2722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F0ED757-1E55-75EF-1289-CA007B9149E9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49DFA20-ABE4-6900-900E-E39346B5075B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8894432-52D4-CCC9-40EB-9A625EF1503F}"/>
              </a:ext>
            </a:extLst>
          </p:cNvPr>
          <p:cNvSpPr txBox="1"/>
          <p:nvPr/>
        </p:nvSpPr>
        <p:spPr>
          <a:xfrm>
            <a:off x="4184266" y="345292"/>
            <a:ext cx="382348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err="1"/>
              <a:t>Jmeter</a:t>
            </a:r>
            <a:r>
              <a:rPr lang="zh-CN" altLang="en-US" sz="3200" dirty="0">
                <a:latin typeface="Agency FB" panose="020B0503020202020204" pitchFamily="34" charset="0"/>
              </a:rPr>
              <a:t>测试脚本设计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2AECC9-405E-6315-B766-72CF1FB3D89A}"/>
              </a:ext>
            </a:extLst>
          </p:cNvPr>
          <p:cNvSpPr txBox="1"/>
          <p:nvPr/>
        </p:nvSpPr>
        <p:spPr>
          <a:xfrm>
            <a:off x="3113647" y="855244"/>
            <a:ext cx="8771495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功能模块测试采用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JMeter 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单线程组顺序执行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 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条用例</a:t>
            </a:r>
            <a:endParaRPr lang="en-US" altLang="zh-CN" sz="16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用户定义变量、</a:t>
            </a:r>
            <a:r>
              <a:rPr lang="en-US" altLang="zh-CN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HTTP 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请求默认值及全局 </a:t>
            </a:r>
            <a:r>
              <a:rPr lang="en-US" altLang="zh-CN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HTTP 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信息头管理器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实现环境参数、请求地址和认证令牌（管理端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token + 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用户端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authentication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）等配置的统一管理，避免重复配置</a:t>
            </a:r>
            <a:endParaRPr lang="en-US" altLang="zh-CN" sz="16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每个请求均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挂载 </a:t>
            </a:r>
            <a:r>
              <a:rPr lang="en-US" altLang="zh-CN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JSON 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断言自动校验响应 </a:t>
            </a:r>
            <a:r>
              <a:rPr lang="en-US" altLang="zh-CN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$.code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字段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，有效等价类断言值为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（预期成功），无效等价类断言值为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（预期失败）。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0A90D9-E037-B0F1-08C9-2193B5776A1A}"/>
              </a:ext>
            </a:extLst>
          </p:cNvPr>
          <p:cNvSpPr txBox="1"/>
          <p:nvPr/>
        </p:nvSpPr>
        <p:spPr>
          <a:xfrm>
            <a:off x="3198767" y="2632371"/>
            <a:ext cx="8273419" cy="4117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整体架构：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苍穹外卖</a:t>
            </a:r>
            <a:r>
              <a:rPr lang="en-US" altLang="zh-CN" sz="1600" b="1" dirty="0"/>
              <a:t>-</a:t>
            </a:r>
            <a:r>
              <a:rPr lang="zh-CN" altLang="en-US" sz="1600" b="1" dirty="0"/>
              <a:t>功能测试计划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用户定义的变量                 ← 环境参数（</a:t>
            </a:r>
            <a:r>
              <a:rPr lang="en-US" altLang="zh-CN" sz="1600" b="1" dirty="0" err="1"/>
              <a:t>baseUrl</a:t>
            </a:r>
            <a:r>
              <a:rPr lang="en-US" altLang="zh-CN" sz="1600" b="1" dirty="0"/>
              <a:t>, port, </a:t>
            </a:r>
            <a:r>
              <a:rPr lang="zh-CN" altLang="en-US" sz="1600" b="1" dirty="0"/>
              <a:t>账号和密码）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</a:t>
            </a:r>
            <a:r>
              <a:rPr lang="en-US" altLang="zh-CN" sz="1600" b="1" dirty="0"/>
              <a:t>HTTP</a:t>
            </a:r>
            <a:r>
              <a:rPr lang="zh-CN" altLang="en-US" sz="1600" b="1" dirty="0"/>
              <a:t>请求默认值                 ← 统一协议、服务器、端口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</a:t>
            </a:r>
            <a:r>
              <a:rPr lang="en-US" altLang="zh-CN" sz="1600" b="1" dirty="0"/>
              <a:t>HTTP</a:t>
            </a:r>
            <a:r>
              <a:rPr lang="zh-CN" altLang="en-US" sz="1600" b="1" dirty="0"/>
              <a:t>信息头管理器（全局）        ← </a:t>
            </a:r>
            <a:r>
              <a:rPr lang="en-US" altLang="zh-CN" sz="1600" b="1" dirty="0"/>
              <a:t>Content-Type + </a:t>
            </a:r>
            <a:r>
              <a:rPr lang="zh-CN" altLang="en-US" sz="1600" b="1" dirty="0"/>
              <a:t>管理端</a:t>
            </a:r>
            <a:r>
              <a:rPr lang="en-US" altLang="zh-CN" sz="1600" b="1" dirty="0"/>
              <a:t>Token + </a:t>
            </a:r>
            <a:r>
              <a:rPr lang="zh-CN" altLang="en-US" sz="1600" b="1" dirty="0"/>
              <a:t>用户端</a:t>
            </a:r>
            <a:r>
              <a:rPr lang="en-US" altLang="zh-CN" sz="1600" b="1" dirty="0"/>
              <a:t>Token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/>
              <a:t>├── </a:t>
            </a:r>
            <a:r>
              <a:rPr lang="zh-CN" altLang="en-US" sz="1600" b="1" dirty="0"/>
              <a:t>监听器                         ← 查看结果树、断言结果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功能一：管理端员工登录（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条 </a:t>
            </a:r>
            <a:r>
              <a:rPr lang="en-US" altLang="zh-CN" sz="1600" b="1" dirty="0"/>
              <a:t>POST</a:t>
            </a:r>
            <a:r>
              <a:rPr lang="zh-CN" altLang="en-US" sz="1600" b="1" dirty="0"/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功能二：管理端新增菜品（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条 </a:t>
            </a:r>
            <a:r>
              <a:rPr lang="en-US" altLang="zh-CN" sz="1600" b="1" dirty="0"/>
              <a:t>POST</a:t>
            </a:r>
            <a:r>
              <a:rPr lang="zh-CN" altLang="en-US" sz="1600" b="1" dirty="0"/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└── 功能三：客户端菜品查询（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条 </a:t>
            </a:r>
            <a:r>
              <a:rPr lang="en-US" altLang="zh-CN" sz="1600" b="1" dirty="0"/>
              <a:t>GET</a:t>
            </a:r>
            <a:r>
              <a:rPr lang="zh-CN" altLang="en-US" sz="1600" b="1" dirty="0"/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778727C-23CC-1767-D06D-6FE93979A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46" y="760464"/>
            <a:ext cx="2742077" cy="57386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14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105CA-CE80-B476-1DAE-C392604E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55519F1-279D-F495-A379-28A38AE4E7C4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B66454A-B06A-0D85-A34E-1DD2DBFA7C63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8B72091-22F3-0005-56AE-2AE1B9A7846A}"/>
              </a:ext>
            </a:extLst>
          </p:cNvPr>
          <p:cNvSpPr txBox="1"/>
          <p:nvPr/>
        </p:nvSpPr>
        <p:spPr>
          <a:xfrm>
            <a:off x="4770159" y="345292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DF00074-0382-50EA-FB9C-C669C327DB9C}"/>
              </a:ext>
            </a:extLst>
          </p:cNvPr>
          <p:cNvSpPr txBox="1"/>
          <p:nvPr/>
        </p:nvSpPr>
        <p:spPr>
          <a:xfrm>
            <a:off x="468740" y="955566"/>
            <a:ext cx="101206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管理员登录功能    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56FD785-8820-58D2-E650-FA7B3ABE0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783137"/>
              </p:ext>
            </p:extLst>
          </p:nvPr>
        </p:nvGraphicFramePr>
        <p:xfrm>
          <a:off x="298279" y="1883020"/>
          <a:ext cx="11595441" cy="4339980"/>
        </p:xfrm>
        <a:graphic>
          <a:graphicData uri="http://schemas.openxmlformats.org/drawingml/2006/table">
            <a:tbl>
              <a:tblPr/>
              <a:tblGrid>
                <a:gridCol w="544020">
                  <a:extLst>
                    <a:ext uri="{9D8B030D-6E8A-4147-A177-3AD203B41FA5}">
                      <a16:colId xmlns:a16="http://schemas.microsoft.com/office/drawing/2014/main" val="2660051762"/>
                    </a:ext>
                  </a:extLst>
                </a:gridCol>
                <a:gridCol w="1579704">
                  <a:extLst>
                    <a:ext uri="{9D8B030D-6E8A-4147-A177-3AD203B41FA5}">
                      <a16:colId xmlns:a16="http://schemas.microsoft.com/office/drawing/2014/main" val="4150558382"/>
                    </a:ext>
                  </a:extLst>
                </a:gridCol>
                <a:gridCol w="877286">
                  <a:extLst>
                    <a:ext uri="{9D8B030D-6E8A-4147-A177-3AD203B41FA5}">
                      <a16:colId xmlns:a16="http://schemas.microsoft.com/office/drawing/2014/main" val="2228685955"/>
                    </a:ext>
                  </a:extLst>
                </a:gridCol>
                <a:gridCol w="1970177">
                  <a:extLst>
                    <a:ext uri="{9D8B030D-6E8A-4147-A177-3AD203B41FA5}">
                      <a16:colId xmlns:a16="http://schemas.microsoft.com/office/drawing/2014/main" val="2338049496"/>
                    </a:ext>
                  </a:extLst>
                </a:gridCol>
                <a:gridCol w="1107760">
                  <a:extLst>
                    <a:ext uri="{9D8B030D-6E8A-4147-A177-3AD203B41FA5}">
                      <a16:colId xmlns:a16="http://schemas.microsoft.com/office/drawing/2014/main" val="1728067083"/>
                    </a:ext>
                  </a:extLst>
                </a:gridCol>
                <a:gridCol w="2758247">
                  <a:extLst>
                    <a:ext uri="{9D8B030D-6E8A-4147-A177-3AD203B41FA5}">
                      <a16:colId xmlns:a16="http://schemas.microsoft.com/office/drawing/2014/main" val="441719574"/>
                    </a:ext>
                  </a:extLst>
                </a:gridCol>
                <a:gridCol w="2758247">
                  <a:extLst>
                    <a:ext uri="{9D8B030D-6E8A-4147-A177-3AD203B41FA5}">
                      <a16:colId xmlns:a16="http://schemas.microsoft.com/office/drawing/2014/main" val="3295428034"/>
                    </a:ext>
                  </a:extLst>
                </a:gridCol>
              </a:tblGrid>
              <a:tr h="3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用例</a:t>
                      </a:r>
                      <a:r>
                        <a:rPr lang="en-US" sz="1600" b="1" dirty="0">
                          <a:effectLst/>
                        </a:rPr>
                        <a:t>ID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测试场景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测试方法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username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password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预期结果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实际结果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92818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01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正确用户名</a:t>
                      </a:r>
                      <a:r>
                        <a:rPr lang="en-US" altLang="zh-CN" sz="1600">
                          <a:effectLst/>
                        </a:rPr>
                        <a:t>+</a:t>
                      </a:r>
                      <a:r>
                        <a:rPr lang="zh-CN" altLang="en-US" sz="1600">
                          <a:effectLst/>
                        </a:rPr>
                        <a:t>密码登录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有效等价类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</a:rPr>
                        <a:t>admin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123456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sz="1600" dirty="0">
                          <a:effectLst/>
                        </a:rPr>
                        <a:t>token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altLang="zh-CN" sz="1600" dirty="0">
                          <a:effectLst/>
                        </a:rPr>
                        <a:t>token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075211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02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无效等价类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</a:rPr>
                        <a:t>admin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</a:rPr>
                        <a:t>wrong123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8220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03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用户名不存在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  <a:latin typeface="Courier New" panose="02070309020205020404" pitchFamily="49" charset="0"/>
                        </a:rPr>
                        <a:t>notexist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effectLst/>
                          <a:latin typeface="Courier New" panose="02070309020205020404" pitchFamily="49" charset="0"/>
                        </a:rPr>
                        <a:t>123456</a:t>
                      </a:r>
                      <a:endParaRPr lang="zh-CN" altLang="en-US" sz="160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code=0，</a:t>
                      </a:r>
                      <a:r>
                        <a:rPr lang="zh-CN" altLang="en-US" sz="1600" dirty="0">
                          <a:effectLst/>
                        </a:rPr>
                        <a:t>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code=0，</a:t>
                      </a:r>
                      <a:r>
                        <a:rPr lang="zh-CN" altLang="en-US" sz="1600" dirty="0">
                          <a:effectLst/>
                        </a:rPr>
                        <a:t>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06380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04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用户名为空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""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123456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17951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05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密码为空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</a:rPr>
                        <a:t>admin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""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301080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06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用户名和密码均为空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""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""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48065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07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账号已被禁用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错误推测法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 err="1">
                          <a:effectLst/>
                        </a:rPr>
                        <a:t>Zhangsan</a:t>
                      </a:r>
                      <a:r>
                        <a:rPr lang="zh-CN" altLang="en-US" sz="1600" dirty="0">
                          <a:effectLst/>
                        </a:rPr>
                        <a:t>（已被禁用的员工账号）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123456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，提示账号被锁定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，提示账号被锁定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823213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DA35FCB-9194-8B58-AFFF-97622C96C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65" y="187570"/>
            <a:ext cx="2238375" cy="1695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122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6924-B7E9-D891-3A7E-30E6B62C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7ED750B-B33A-D101-D443-06455A12B524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0A54CE6-C089-47CE-165A-D0A9C99A3491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EDF0CCE-06C2-8310-B99A-A836E39712E2}"/>
              </a:ext>
            </a:extLst>
          </p:cNvPr>
          <p:cNvSpPr txBox="1"/>
          <p:nvPr/>
        </p:nvSpPr>
        <p:spPr>
          <a:xfrm>
            <a:off x="4770159" y="345292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1C0B544-FDA4-E6E4-3594-825D473FC580}"/>
              </a:ext>
            </a:extLst>
          </p:cNvPr>
          <p:cNvSpPr txBox="1"/>
          <p:nvPr/>
        </p:nvSpPr>
        <p:spPr>
          <a:xfrm>
            <a:off x="550608" y="1081366"/>
            <a:ext cx="6349816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新增菜品功能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E976C53-A362-CB7B-6D6F-2CC11E073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46506"/>
              </p:ext>
            </p:extLst>
          </p:nvPr>
        </p:nvGraphicFramePr>
        <p:xfrm>
          <a:off x="373627" y="1933497"/>
          <a:ext cx="11444746" cy="4781935"/>
        </p:xfrm>
        <a:graphic>
          <a:graphicData uri="http://schemas.openxmlformats.org/drawingml/2006/table">
            <a:tbl>
              <a:tblPr/>
              <a:tblGrid>
                <a:gridCol w="766362">
                  <a:extLst>
                    <a:ext uri="{9D8B030D-6E8A-4147-A177-3AD203B41FA5}">
                      <a16:colId xmlns:a16="http://schemas.microsoft.com/office/drawing/2014/main" val="2765127229"/>
                    </a:ext>
                  </a:extLst>
                </a:gridCol>
                <a:gridCol w="1901649">
                  <a:extLst>
                    <a:ext uri="{9D8B030D-6E8A-4147-A177-3AD203B41FA5}">
                      <a16:colId xmlns:a16="http://schemas.microsoft.com/office/drawing/2014/main" val="873368800"/>
                    </a:ext>
                  </a:extLst>
                </a:gridCol>
                <a:gridCol w="1108026">
                  <a:extLst>
                    <a:ext uri="{9D8B030D-6E8A-4147-A177-3AD203B41FA5}">
                      <a16:colId xmlns:a16="http://schemas.microsoft.com/office/drawing/2014/main" val="1263523358"/>
                    </a:ext>
                  </a:extLst>
                </a:gridCol>
                <a:gridCol w="2964457">
                  <a:extLst>
                    <a:ext uri="{9D8B030D-6E8A-4147-A177-3AD203B41FA5}">
                      <a16:colId xmlns:a16="http://schemas.microsoft.com/office/drawing/2014/main" val="2705613377"/>
                    </a:ext>
                  </a:extLst>
                </a:gridCol>
                <a:gridCol w="2352126">
                  <a:extLst>
                    <a:ext uri="{9D8B030D-6E8A-4147-A177-3AD203B41FA5}">
                      <a16:colId xmlns:a16="http://schemas.microsoft.com/office/drawing/2014/main" val="2787040195"/>
                    </a:ext>
                  </a:extLst>
                </a:gridCol>
                <a:gridCol w="2352126">
                  <a:extLst>
                    <a:ext uri="{9D8B030D-6E8A-4147-A177-3AD203B41FA5}">
                      <a16:colId xmlns:a16="http://schemas.microsoft.com/office/drawing/2014/main" val="1261038920"/>
                    </a:ext>
                  </a:extLst>
                </a:gridCol>
              </a:tblGrid>
              <a:tr h="26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用例</a:t>
                      </a:r>
                      <a:r>
                        <a:rPr lang="en-US" sz="1600" b="1" dirty="0">
                          <a:effectLst/>
                        </a:rPr>
                        <a:t>ID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测试场景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测试方法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测试数据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预期结果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实际结果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107425"/>
                  </a:ext>
                </a:extLst>
              </a:tr>
              <a:tr h="93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08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完整数据新增菜品（含口味）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有效等价类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name="</a:t>
                      </a:r>
                      <a:r>
                        <a:rPr lang="zh-CN" altLang="en-US" sz="1600" dirty="0">
                          <a:effectLst/>
                        </a:rPr>
                        <a:t>宫保鸡丁</a:t>
                      </a:r>
                      <a:r>
                        <a:rPr lang="en-US" altLang="zh-CN" sz="1600" dirty="0">
                          <a:effectLst/>
                        </a:rPr>
                        <a:t>", </a:t>
                      </a: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=1（</a:t>
                      </a:r>
                      <a:r>
                        <a:rPr lang="zh-CN" altLang="en-US" sz="1600" dirty="0">
                          <a:effectLst/>
                        </a:rPr>
                        <a:t>已存在的分类）</a:t>
                      </a:r>
                      <a:r>
                        <a:rPr lang="en-US" altLang="zh-CN" sz="16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price=28.00, status=1, flavors</a:t>
                      </a:r>
                      <a:r>
                        <a:rPr lang="zh-CN" altLang="en-US" sz="1600" dirty="0">
                          <a:effectLst/>
                        </a:rPr>
                        <a:t>含</a:t>
                      </a:r>
                      <a:r>
                        <a:rPr lang="en-US" altLang="zh-CN" sz="1600" dirty="0">
                          <a:effectLst/>
                        </a:rPr>
                        <a:t>2</a:t>
                      </a:r>
                      <a:r>
                        <a:rPr lang="zh-CN" altLang="en-US" sz="1600" dirty="0">
                          <a:effectLst/>
                        </a:rPr>
                        <a:t>条口味数据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775124"/>
                  </a:ext>
                </a:extLst>
              </a:tr>
              <a:tr h="784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09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不带口味的新增菜品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name="</a:t>
                      </a:r>
                      <a:r>
                        <a:rPr lang="zh-CN" altLang="en-US" sz="1600">
                          <a:effectLst/>
                        </a:rPr>
                        <a:t>白米饭</a:t>
                      </a:r>
                      <a:r>
                        <a:rPr lang="en-US" altLang="zh-CN" sz="1600">
                          <a:effectLst/>
                        </a:rPr>
                        <a:t>", </a:t>
                      </a:r>
                      <a:r>
                        <a:rPr lang="en-US" sz="1600">
                          <a:effectLst/>
                        </a:rPr>
                        <a:t>categoryId=1, price=2.00, status=1, flavors=[]（</a:t>
                      </a:r>
                      <a:r>
                        <a:rPr lang="zh-CN" altLang="en-US" sz="1600">
                          <a:effectLst/>
                        </a:rPr>
                        <a:t>空数组）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233805"/>
                  </a:ext>
                </a:extLst>
              </a:tr>
              <a:tr h="26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菜品名称为空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无效等价类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name=""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775447"/>
                  </a:ext>
                </a:extLst>
              </a:tr>
              <a:tr h="693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价格为 </a:t>
                      </a:r>
                      <a:r>
                        <a:rPr lang="en-US" altLang="zh-CN" sz="1600" dirty="0">
                          <a:effectLst/>
                        </a:rPr>
                        <a:t>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边界值分析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price=0.00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code=1 </a:t>
                      </a:r>
                      <a:r>
                        <a:rPr lang="zh-CN" altLang="en-US" sz="1600" dirty="0">
                          <a:effectLst/>
                        </a:rPr>
                        <a:t>（允许免费菜品）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664565"/>
                  </a:ext>
                </a:extLst>
              </a:tr>
              <a:tr h="26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12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价格为负数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无效等价类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price=-10.00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915767"/>
                  </a:ext>
                </a:extLst>
              </a:tr>
              <a:tr h="637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13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价格超大值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边界值分析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price=99999999.99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533966"/>
                  </a:ext>
                </a:extLst>
              </a:tr>
              <a:tr h="490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14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分类</a:t>
                      </a:r>
                      <a:r>
                        <a:rPr lang="en-US" sz="1600" dirty="0">
                          <a:effectLst/>
                        </a:rPr>
                        <a:t>ID</a:t>
                      </a:r>
                      <a:r>
                        <a:rPr lang="zh-CN" altLang="en-US" sz="1600" dirty="0">
                          <a:effectLst/>
                        </a:rPr>
                        <a:t>不存在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无效等价类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=99999（</a:t>
                      </a:r>
                      <a:r>
                        <a:rPr lang="zh-CN" altLang="en-US" sz="1600" dirty="0">
                          <a:effectLst/>
                        </a:rPr>
                        <a:t>数据库中不存在的分类</a:t>
                      </a:r>
                      <a:r>
                        <a:rPr lang="en-US" sz="1600" dirty="0">
                          <a:effectLst/>
                        </a:rPr>
                        <a:t>ID）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code=0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366608"/>
                  </a:ext>
                </a:extLst>
              </a:tr>
              <a:tr h="343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15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status</a:t>
                      </a:r>
                      <a:r>
                        <a:rPr lang="zh-CN" altLang="en-US" sz="1600" dirty="0">
                          <a:effectLst/>
                        </a:rPr>
                        <a:t>设置为非法值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无效等价类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status=9（</a:t>
                      </a:r>
                      <a:r>
                        <a:rPr lang="zh-CN" altLang="en-US" sz="1600">
                          <a:effectLst/>
                        </a:rPr>
                        <a:t>仅允许 </a:t>
                      </a:r>
                      <a:r>
                        <a:rPr lang="en-US" altLang="zh-CN" sz="1600">
                          <a:effectLst/>
                        </a:rPr>
                        <a:t>0 </a:t>
                      </a:r>
                      <a:r>
                        <a:rPr lang="zh-CN" altLang="en-US" sz="1600">
                          <a:effectLst/>
                        </a:rPr>
                        <a:t>和 </a:t>
                      </a:r>
                      <a:r>
                        <a:rPr lang="en-US" altLang="zh-CN" sz="1600">
                          <a:effectLst/>
                        </a:rPr>
                        <a:t>1</a:t>
                      </a:r>
                      <a:r>
                        <a:rPr lang="zh-CN" altLang="en-US" sz="1600">
                          <a:effectLst/>
                        </a:rPr>
                        <a:t>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code=0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033461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986DC5F-9EA6-712B-6713-797DF7411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943" y="22082"/>
            <a:ext cx="2533650" cy="14097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B25C223-325B-ADD2-CE74-9B75A7769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942" y="1431781"/>
            <a:ext cx="2115953" cy="4616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274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06A3B-F9F4-003F-830B-8D59867B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11DFFCE-A323-61BF-3F97-4514B1175B95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3B41008-6AB7-379B-A8D5-116F79F381E7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07E4534-E88C-D519-AED3-87A7D3C2CF09}"/>
              </a:ext>
            </a:extLst>
          </p:cNvPr>
          <p:cNvSpPr txBox="1"/>
          <p:nvPr/>
        </p:nvSpPr>
        <p:spPr>
          <a:xfrm>
            <a:off x="4770159" y="345292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940BEB2-AA3A-AF73-F661-A6637184D5E9}"/>
              </a:ext>
            </a:extLst>
          </p:cNvPr>
          <p:cNvSpPr txBox="1"/>
          <p:nvPr/>
        </p:nvSpPr>
        <p:spPr>
          <a:xfrm>
            <a:off x="511279" y="860862"/>
            <a:ext cx="6349816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新增菜品功能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1FDA01-5506-A5DC-7160-83D687262E6A}"/>
              </a:ext>
            </a:extLst>
          </p:cNvPr>
          <p:cNvSpPr txBox="1"/>
          <p:nvPr/>
        </p:nvSpPr>
        <p:spPr>
          <a:xfrm>
            <a:off x="1252150" y="4665678"/>
            <a:ext cx="4414684" cy="116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2060"/>
                </a:solidFill>
              </a:rPr>
              <a:t>发现系统缺陷：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2060"/>
                </a:solidFill>
              </a:rPr>
              <a:t>未校验菜品名称为空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2060"/>
                </a:solidFill>
              </a:rPr>
              <a:t>未校验价格合法性</a:t>
            </a:r>
            <a:endParaRPr lang="en-US" altLang="zh-CN" sz="1600" b="1" dirty="0">
              <a:solidFill>
                <a:srgbClr val="00206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3B03A-16B7-B159-3B37-15738AB53BDB}"/>
              </a:ext>
            </a:extLst>
          </p:cNvPr>
          <p:cNvSpPr txBox="1"/>
          <p:nvPr/>
        </p:nvSpPr>
        <p:spPr>
          <a:xfrm>
            <a:off x="4634444" y="1204852"/>
            <a:ext cx="8750709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修复方案：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</a:t>
            </a:r>
            <a:r>
              <a:rPr lang="en-US" altLang="zh-CN" dirty="0"/>
              <a:t>1. Controller </a:t>
            </a:r>
            <a:r>
              <a:rPr lang="zh-CN" altLang="en-US" dirty="0"/>
              <a:t>加 </a:t>
            </a:r>
            <a:r>
              <a:rPr lang="en-US" altLang="zh-CN" dirty="0"/>
              <a:t>@Valid</a:t>
            </a:r>
            <a:r>
              <a:rPr lang="zh-CN" altLang="en-US" dirty="0"/>
              <a:t>：让 </a:t>
            </a:r>
            <a:r>
              <a:rPr lang="en-US" altLang="zh-CN" dirty="0"/>
              <a:t>Spring </a:t>
            </a:r>
            <a:r>
              <a:rPr lang="zh-CN" altLang="en-US" dirty="0"/>
              <a:t>自动校验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2. </a:t>
            </a:r>
            <a:r>
              <a:rPr lang="en-US" altLang="zh-CN" dirty="0" err="1"/>
              <a:t>DishDTO</a:t>
            </a:r>
            <a:r>
              <a:rPr lang="en-US" altLang="zh-CN" dirty="0"/>
              <a:t> </a:t>
            </a:r>
            <a:r>
              <a:rPr lang="zh-CN" altLang="en-US" dirty="0"/>
              <a:t>加校验注解：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C3DA9C-9A29-5664-FFC0-10158A5CD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667" y="1838097"/>
            <a:ext cx="3431481" cy="19092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4B30964-19B7-BCB3-B696-176F05AC6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67" y="3747342"/>
            <a:ext cx="2865767" cy="62525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1C205B9-39F2-AF14-EA1B-7F1ADB5815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0765" y="2098277"/>
            <a:ext cx="4995261" cy="4871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C03C19-9BFC-831F-2B33-E5EF672241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615" y="5534510"/>
            <a:ext cx="2179310" cy="90804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1AE0CC2-3594-94AE-CD69-329868EB7772}"/>
              </a:ext>
            </a:extLst>
          </p:cNvPr>
          <p:cNvSpPr txBox="1"/>
          <p:nvPr/>
        </p:nvSpPr>
        <p:spPr>
          <a:xfrm>
            <a:off x="6528619" y="56438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修复后：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4335D87-92FC-546B-1D53-9D42F36B20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0765" y="2924423"/>
            <a:ext cx="5084743" cy="23190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897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9A1B-A144-04DB-9EFC-AE3DD083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910288F-E20A-94A4-1367-25441E3AD438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73CD4E0-679F-598A-D91E-2851E880E029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07E0415-4DCF-3CA8-1C3B-80EB040609E0}"/>
              </a:ext>
            </a:extLst>
          </p:cNvPr>
          <p:cNvSpPr txBox="1"/>
          <p:nvPr/>
        </p:nvSpPr>
        <p:spPr>
          <a:xfrm>
            <a:off x="4770159" y="345292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BE919B4-1207-80B3-2009-52360A063C32}"/>
              </a:ext>
            </a:extLst>
          </p:cNvPr>
          <p:cNvSpPr txBox="1"/>
          <p:nvPr/>
        </p:nvSpPr>
        <p:spPr>
          <a:xfrm>
            <a:off x="409746" y="900191"/>
            <a:ext cx="101206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用户端按分类查询菜品功能    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C62B9E2-263A-C84F-4943-FA705208D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028033"/>
              </p:ext>
            </p:extLst>
          </p:nvPr>
        </p:nvGraphicFramePr>
        <p:xfrm>
          <a:off x="409746" y="1827485"/>
          <a:ext cx="11280809" cy="3388575"/>
        </p:xfrm>
        <a:graphic>
          <a:graphicData uri="http://schemas.openxmlformats.org/drawingml/2006/table">
            <a:tbl>
              <a:tblPr/>
              <a:tblGrid>
                <a:gridCol w="805945">
                  <a:extLst>
                    <a:ext uri="{9D8B030D-6E8A-4147-A177-3AD203B41FA5}">
                      <a16:colId xmlns:a16="http://schemas.microsoft.com/office/drawing/2014/main" val="1067605198"/>
                    </a:ext>
                  </a:extLst>
                </a:gridCol>
                <a:gridCol w="2028954">
                  <a:extLst>
                    <a:ext uri="{9D8B030D-6E8A-4147-A177-3AD203B41FA5}">
                      <a16:colId xmlns:a16="http://schemas.microsoft.com/office/drawing/2014/main" val="3319329418"/>
                    </a:ext>
                  </a:extLst>
                </a:gridCol>
                <a:gridCol w="1327355">
                  <a:extLst>
                    <a:ext uri="{9D8B030D-6E8A-4147-A177-3AD203B41FA5}">
                      <a16:colId xmlns:a16="http://schemas.microsoft.com/office/drawing/2014/main" val="3565092874"/>
                    </a:ext>
                  </a:extLst>
                </a:gridCol>
                <a:gridCol w="2281084">
                  <a:extLst>
                    <a:ext uri="{9D8B030D-6E8A-4147-A177-3AD203B41FA5}">
                      <a16:colId xmlns:a16="http://schemas.microsoft.com/office/drawing/2014/main" val="2135505738"/>
                    </a:ext>
                  </a:extLst>
                </a:gridCol>
                <a:gridCol w="2458064">
                  <a:extLst>
                    <a:ext uri="{9D8B030D-6E8A-4147-A177-3AD203B41FA5}">
                      <a16:colId xmlns:a16="http://schemas.microsoft.com/office/drawing/2014/main" val="301326019"/>
                    </a:ext>
                  </a:extLst>
                </a:gridCol>
                <a:gridCol w="2379407">
                  <a:extLst>
                    <a:ext uri="{9D8B030D-6E8A-4147-A177-3AD203B41FA5}">
                      <a16:colId xmlns:a16="http://schemas.microsoft.com/office/drawing/2014/main" val="304479387"/>
                    </a:ext>
                  </a:extLst>
                </a:gridCol>
              </a:tblGrid>
              <a:tr h="32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用例</a:t>
                      </a:r>
                      <a:r>
                        <a:rPr lang="en-US" sz="1600" b="1" dirty="0">
                          <a:effectLst/>
                        </a:rPr>
                        <a:t>ID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测试场景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测试方法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输入数据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预期结果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实际结果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75618"/>
                  </a:ext>
                </a:extLst>
              </a:tr>
              <a:tr h="57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16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查询存在的分类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有效等价类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=1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返回菜品列表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  <a:r>
                        <a:rPr lang="zh-CN" altLang="en-US" sz="1600" dirty="0">
                          <a:effectLst/>
                        </a:rPr>
                        <a:t>，返回菜品列表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9212"/>
                  </a:ext>
                </a:extLst>
              </a:tr>
              <a:tr h="57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17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查询不存在的分类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无效等价类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=99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code=0，</a:t>
                      </a:r>
                      <a:r>
                        <a:rPr lang="zh-CN" altLang="en-US" sz="1600" dirty="0">
                          <a:effectLst/>
                        </a:rPr>
                        <a:t>提示分类不存在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13298"/>
                  </a:ext>
                </a:extLst>
              </a:tr>
              <a:tr h="57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18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r>
                        <a:rPr lang="zh-CN" altLang="en-US" sz="1600" dirty="0">
                          <a:effectLst/>
                        </a:rPr>
                        <a:t>为负数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边界值分析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=-1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，提示分类不存在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816429"/>
                  </a:ext>
                </a:extLst>
              </a:tr>
              <a:tr h="57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19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r>
                        <a:rPr lang="zh-CN" altLang="en-US" sz="1600" dirty="0">
                          <a:effectLst/>
                        </a:rPr>
                        <a:t>为极大值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边界值分析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=9999999999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code=0，</a:t>
                      </a:r>
                      <a:r>
                        <a:rPr lang="zh-CN" altLang="en-US" sz="1600" dirty="0">
                          <a:effectLst/>
                        </a:rPr>
                        <a:t>提示分类不存在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405756"/>
                  </a:ext>
                </a:extLst>
              </a:tr>
              <a:tr h="76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20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不传分类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endParaRPr lang="en-US" sz="1600" dirty="0"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错误推测法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不传该参数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返回全部菜品</a:t>
                      </a:r>
                      <a:endParaRPr lang="en-US" sz="1600" dirty="0"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返回全部菜品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38524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ECD042A-C2CD-F4CF-DF9C-44031D04E030}"/>
              </a:ext>
            </a:extLst>
          </p:cNvPr>
          <p:cNvSpPr txBox="1"/>
          <p:nvPr/>
        </p:nvSpPr>
        <p:spPr>
          <a:xfrm>
            <a:off x="707920" y="5309490"/>
            <a:ext cx="9281653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</a:rPr>
              <a:t>用例</a:t>
            </a:r>
            <a:r>
              <a:rPr lang="en-US" altLang="zh-CN" b="1" dirty="0">
                <a:solidFill>
                  <a:srgbClr val="002060"/>
                </a:solidFill>
              </a:rPr>
              <a:t>17</a:t>
            </a:r>
            <a:r>
              <a:rPr lang="zh-CN" altLang="en-US" b="1" dirty="0">
                <a:solidFill>
                  <a:srgbClr val="002060"/>
                </a:solidFill>
              </a:rPr>
              <a:t>、</a:t>
            </a:r>
            <a:r>
              <a:rPr lang="en-US" altLang="zh-CN" b="1" dirty="0">
                <a:solidFill>
                  <a:srgbClr val="002060"/>
                </a:solidFill>
              </a:rPr>
              <a:t>18</a:t>
            </a:r>
            <a:r>
              <a:rPr lang="zh-CN" altLang="en-US" b="1" dirty="0">
                <a:solidFill>
                  <a:srgbClr val="002060"/>
                </a:solidFill>
              </a:rPr>
              <a:t>、</a:t>
            </a:r>
            <a:r>
              <a:rPr lang="en-US" altLang="zh-CN" b="1" dirty="0">
                <a:solidFill>
                  <a:srgbClr val="002060"/>
                </a:solidFill>
              </a:rPr>
              <a:t>19</a:t>
            </a:r>
            <a:r>
              <a:rPr lang="zh-CN" altLang="en-US" b="1" dirty="0">
                <a:solidFill>
                  <a:srgbClr val="002060"/>
                </a:solidFill>
              </a:rPr>
              <a:t>中，返回的实际结果与预期不同，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</a:rPr>
              <a:t>这说明接口对 </a:t>
            </a:r>
            <a:r>
              <a:rPr lang="en-US" altLang="zh-CN" b="1" dirty="0" err="1">
                <a:solidFill>
                  <a:srgbClr val="002060"/>
                </a:solidFill>
              </a:rPr>
              <a:t>categoryId</a:t>
            </a:r>
            <a:r>
              <a:rPr lang="zh-CN" altLang="en-US" b="1" dirty="0">
                <a:solidFill>
                  <a:srgbClr val="002060"/>
                </a:solidFill>
              </a:rPr>
              <a:t>的校验缺失边界值和异常值的处理，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</a:rPr>
              <a:t>虽不影响业务，但属于防御性编程的缺失。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CBE7809-7FE0-7C40-B7C2-6C839A876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513" y="205160"/>
            <a:ext cx="2342925" cy="13900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224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5685-3509-DB95-46DD-A276FDF7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40E9B71-6606-94DE-E4A5-1337C763B811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FEE297A-8E64-CF5F-5802-9947D30B740F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0F7E7E6-C4B3-63C3-93BF-6C526C81379E}"/>
              </a:ext>
            </a:extLst>
          </p:cNvPr>
          <p:cNvSpPr txBox="1"/>
          <p:nvPr/>
        </p:nvSpPr>
        <p:spPr>
          <a:xfrm>
            <a:off x="4772565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6C63A6A-9AA8-24DE-48D8-31711DC5BA5E}"/>
              </a:ext>
            </a:extLst>
          </p:cNvPr>
          <p:cNvSpPr txBox="1"/>
          <p:nvPr/>
        </p:nvSpPr>
        <p:spPr>
          <a:xfrm>
            <a:off x="409746" y="900191"/>
            <a:ext cx="101206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用户端按分类查询菜品功能  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2FB3C3-EF36-77D5-FA89-5EE176217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549" y="4946790"/>
            <a:ext cx="2627592" cy="14447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EA853E-BD8C-E3DC-FEE6-5D16BD8A1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8762" y="2383574"/>
            <a:ext cx="4962525" cy="19907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5633681-361D-ACEB-C3C3-F3944A407233}"/>
              </a:ext>
            </a:extLst>
          </p:cNvPr>
          <p:cNvSpPr txBox="1"/>
          <p:nvPr/>
        </p:nvSpPr>
        <p:spPr>
          <a:xfrm>
            <a:off x="1611876" y="1769028"/>
            <a:ext cx="8750709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修复方案：增加校验</a:t>
            </a:r>
            <a:r>
              <a:rPr lang="en-US" altLang="zh-CN" dirty="0" err="1"/>
              <a:t>categoryId</a:t>
            </a:r>
            <a:r>
              <a:rPr lang="zh-CN" altLang="en-US" dirty="0"/>
              <a:t>时，对边界值和异常值的处理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9C69515-C10B-D6DB-F584-6D89D858E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1382" y="4978604"/>
            <a:ext cx="3419475" cy="138112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0A93B25-B015-87BB-5864-3BA9303F078B}"/>
              </a:ext>
            </a:extLst>
          </p:cNvPr>
          <p:cNvSpPr txBox="1"/>
          <p:nvPr/>
        </p:nvSpPr>
        <p:spPr>
          <a:xfrm>
            <a:off x="1669553" y="50104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修复后：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0278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47C7-5E0B-6B70-98C5-F514280B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C5B45AC-0C12-4C0E-71EA-A037A12E52A6}"/>
              </a:ext>
            </a:extLst>
          </p:cNvPr>
          <p:cNvCxnSpPr/>
          <p:nvPr/>
        </p:nvCxnSpPr>
        <p:spPr>
          <a:xfrm>
            <a:off x="0" y="630904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C48966E-895E-3A30-28C7-B51791B475EB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3310828-9F41-0D31-C11A-8EE82C9DCFC8}"/>
              </a:ext>
            </a:extLst>
          </p:cNvPr>
          <p:cNvSpPr txBox="1"/>
          <p:nvPr/>
        </p:nvSpPr>
        <p:spPr>
          <a:xfrm>
            <a:off x="4772566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业务流程测试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80BAC5-44D3-2CFA-0F7D-4E6679002143}"/>
              </a:ext>
            </a:extLst>
          </p:cNvPr>
          <p:cNvSpPr txBox="1"/>
          <p:nvPr/>
        </p:nvSpPr>
        <p:spPr>
          <a:xfrm>
            <a:off x="3441288" y="955770"/>
            <a:ext cx="8662221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测试流程：员工登录 → 新增菜品 → 分页查询验证 → 删除菜品 → 再次查询确认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</a:t>
            </a:r>
            <a:r>
              <a:rPr lang="en-US" altLang="zh-CN" dirty="0"/>
              <a:t>      </a:t>
            </a:r>
            <a:r>
              <a:rPr lang="zh-CN" altLang="en-US" dirty="0"/>
              <a:t>该流程覆盖菜品</a:t>
            </a:r>
            <a:r>
              <a:rPr lang="zh-CN" altLang="en-US" b="1" dirty="0"/>
              <a:t>从创建到销毁</a:t>
            </a:r>
            <a:r>
              <a:rPr lang="zh-CN" altLang="en-US" dirty="0"/>
              <a:t>的完整生命周期，涉及 4 个接口的串联调用，通过</a:t>
            </a:r>
            <a:r>
              <a:rPr lang="zh-CN" altLang="en-US" b="1" dirty="0"/>
              <a:t>正则表达式提取器</a:t>
            </a:r>
            <a:r>
              <a:rPr lang="zh-CN" altLang="en-US" dirty="0"/>
              <a:t>实现菜品 ID 在步骤间的数据传递。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B1180A1-5330-AFDD-E30C-8FF0A7DF5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837254"/>
              </p:ext>
            </p:extLst>
          </p:nvPr>
        </p:nvGraphicFramePr>
        <p:xfrm>
          <a:off x="2884655" y="2531499"/>
          <a:ext cx="9130364" cy="3950519"/>
        </p:xfrm>
        <a:graphic>
          <a:graphicData uri="http://schemas.openxmlformats.org/drawingml/2006/table">
            <a:tbl>
              <a:tblPr/>
              <a:tblGrid>
                <a:gridCol w="696817">
                  <a:extLst>
                    <a:ext uri="{9D8B030D-6E8A-4147-A177-3AD203B41FA5}">
                      <a16:colId xmlns:a16="http://schemas.microsoft.com/office/drawing/2014/main" val="2986075471"/>
                    </a:ext>
                  </a:extLst>
                </a:gridCol>
                <a:gridCol w="1133515">
                  <a:extLst>
                    <a:ext uri="{9D8B030D-6E8A-4147-A177-3AD203B41FA5}">
                      <a16:colId xmlns:a16="http://schemas.microsoft.com/office/drawing/2014/main" val="2478894982"/>
                    </a:ext>
                  </a:extLst>
                </a:gridCol>
                <a:gridCol w="3789916">
                  <a:extLst>
                    <a:ext uri="{9D8B030D-6E8A-4147-A177-3AD203B41FA5}">
                      <a16:colId xmlns:a16="http://schemas.microsoft.com/office/drawing/2014/main" val="3107539122"/>
                    </a:ext>
                  </a:extLst>
                </a:gridCol>
                <a:gridCol w="1818968">
                  <a:extLst>
                    <a:ext uri="{9D8B030D-6E8A-4147-A177-3AD203B41FA5}">
                      <a16:colId xmlns:a16="http://schemas.microsoft.com/office/drawing/2014/main" val="607785063"/>
                    </a:ext>
                  </a:extLst>
                </a:gridCol>
                <a:gridCol w="1691148">
                  <a:extLst>
                    <a:ext uri="{9D8B030D-6E8A-4147-A177-3AD203B41FA5}">
                      <a16:colId xmlns:a16="http://schemas.microsoft.com/office/drawing/2014/main" val="1705072107"/>
                    </a:ext>
                  </a:extLst>
                </a:gridCol>
              </a:tblGrid>
              <a:tr h="2742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用例</a:t>
                      </a:r>
                      <a:r>
                        <a:rPr lang="en-US" sz="1400" b="1" dirty="0">
                          <a:effectLst/>
                        </a:rPr>
                        <a:t>ID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测试场景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涉及接口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数据传递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预期结果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9878"/>
                  </a:ext>
                </a:extLst>
              </a:tr>
              <a:tr h="238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BP-01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正向流程</a:t>
                      </a:r>
                      <a:r>
                        <a:rPr lang="zh-CN" altLang="en-US" sz="1400" dirty="0">
                          <a:effectLst/>
                        </a:rPr>
                        <a:t>：菜品创建→查询→删除完整链路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/admin/employee/login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登录）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新增菜品）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GET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/admin/dish/page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按名称查询，提取菜品</a:t>
                      </a:r>
                      <a:r>
                        <a:rPr lang="en-US" sz="1400" dirty="0">
                          <a:effectLst/>
                        </a:rPr>
                        <a:t>ID）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DELETE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使用提取的</a:t>
                      </a:r>
                      <a:r>
                        <a:rPr lang="en-US" sz="1400" dirty="0">
                          <a:effectLst/>
                        </a:rPr>
                        <a:t>ID</a:t>
                      </a:r>
                      <a:r>
                        <a:rPr lang="zh-CN" altLang="en-US" sz="1400" dirty="0">
                          <a:effectLst/>
                        </a:rPr>
                        <a:t>删除菜品）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GET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/admin/dish/page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再次查询，验证已删除）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1→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2~5: </a:t>
                      </a:r>
                      <a:r>
                        <a:rPr lang="en-US" altLang="zh-CN" sz="1400" dirty="0">
                          <a:effectLst/>
                        </a:rPr>
                        <a:t>HTTP</a:t>
                      </a:r>
                      <a:r>
                        <a:rPr lang="zh-CN" altLang="en-US" sz="1400" dirty="0">
                          <a:effectLst/>
                        </a:rPr>
                        <a:t>信息头管理器传递 </a:t>
                      </a:r>
                      <a:r>
                        <a:rPr lang="en-US" altLang="zh-CN" sz="1400" dirty="0">
                          <a:effectLst/>
                        </a:rPr>
                        <a:t>token</a:t>
                      </a:r>
                    </a:p>
                    <a:p>
                      <a:pPr algn="ctr">
                        <a:buNone/>
                      </a:pPr>
                      <a:endParaRPr lang="en-US" altLang="zh-CN" sz="14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3→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4 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正则提取 </a:t>
                      </a:r>
                      <a:r>
                        <a:rPr lang="en-US" altLang="zh-CN" sz="1400" dirty="0" err="1">
                          <a:effectLst/>
                          <a:latin typeface="Courier New" panose="02070309020205020404" pitchFamily="49" charset="0"/>
                        </a:rPr>
                        <a:t>dishId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全部 </a:t>
                      </a:r>
                      <a:r>
                        <a:rPr lang="en-US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3</a:t>
                      </a:r>
                      <a:r>
                        <a:rPr lang="zh-CN" altLang="en-US" sz="1400" dirty="0">
                          <a:effectLst/>
                        </a:rPr>
                        <a:t>查询到新菜品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5 </a:t>
                      </a:r>
                      <a:r>
                        <a:rPr lang="en-US" sz="1400" dirty="0">
                          <a:effectLst/>
                        </a:rPr>
                        <a:t>total=0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760704"/>
                  </a:ext>
                </a:extLst>
              </a:tr>
              <a:tr h="1294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BP-02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异常流程</a:t>
                      </a:r>
                      <a:r>
                        <a:rPr lang="zh-CN" altLang="en-US" sz="1400">
                          <a:effectLst/>
                        </a:rPr>
                        <a:t>：新增菜品与已有菜品同名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1. POST </a:t>
                      </a:r>
                      <a:r>
                        <a:rPr lang="en-US" sz="1400">
                          <a:effectLst/>
                          <a:latin typeface="Courier New" panose="02070309020205020404" pitchFamily="49" charset="0"/>
                        </a:rPr>
                        <a:t>/admin/employee/login</a:t>
                      </a:r>
                      <a:r>
                        <a:rPr lang="en-US" sz="1400">
                          <a:effectLst/>
                        </a:rPr>
                        <a:t>（</a:t>
                      </a:r>
                      <a:r>
                        <a:rPr lang="zh-CN" altLang="en-US" sz="1400">
                          <a:effectLst/>
                        </a:rPr>
                        <a:t>登录） </a:t>
                      </a:r>
                      <a:r>
                        <a:rPr lang="en-US" altLang="zh-CN" sz="1400">
                          <a:effectLst/>
                        </a:rPr>
                        <a:t>2. </a:t>
                      </a:r>
                      <a:r>
                        <a:rPr lang="en-US" sz="1400">
                          <a:effectLst/>
                        </a:rPr>
                        <a:t>POST </a:t>
                      </a:r>
                      <a:r>
                        <a:rPr lang="en-US" sz="140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>
                          <a:effectLst/>
                        </a:rPr>
                        <a:t>（</a:t>
                      </a:r>
                      <a:r>
                        <a:rPr lang="zh-CN" altLang="en-US" sz="1400">
                          <a:effectLst/>
                        </a:rPr>
                        <a:t>新增重名菜品）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1→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2: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HTTP</a:t>
                      </a:r>
                      <a:r>
                        <a:rPr lang="zh-CN" altLang="en-US" sz="1400" dirty="0">
                          <a:effectLst/>
                        </a:rPr>
                        <a:t>信息头管理器传递 </a:t>
                      </a:r>
                      <a:r>
                        <a:rPr lang="en-US" altLang="zh-CN" sz="1400" dirty="0">
                          <a:effectLst/>
                        </a:rPr>
                        <a:t>token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1 </a:t>
                      </a:r>
                      <a:r>
                        <a:rPr lang="en-US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2 </a:t>
                      </a:r>
                      <a:r>
                        <a:rPr lang="en-US" sz="1400" dirty="0">
                          <a:effectLst/>
                        </a:rPr>
                        <a:t>code=0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82011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9EF41EBD-4131-ED2D-F303-B67CD4664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32" y="154705"/>
            <a:ext cx="2189398" cy="371920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67293B0-D408-1C39-E2EB-C57BF5A56E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342"/>
          <a:stretch>
            <a:fillRect/>
          </a:stretch>
        </p:blipFill>
        <p:spPr>
          <a:xfrm>
            <a:off x="447207" y="3873910"/>
            <a:ext cx="2313423" cy="26081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626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F8BD-AB11-BC62-E6ED-E92F8F3F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A038F0A-8E4A-35EA-1239-B25656643328}"/>
              </a:ext>
            </a:extLst>
          </p:cNvPr>
          <p:cNvCxnSpPr/>
          <p:nvPr/>
        </p:nvCxnSpPr>
        <p:spPr>
          <a:xfrm>
            <a:off x="0" y="630904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59E630D-DED0-1D2F-148A-0FEDCE763513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9EE2D55-B183-FF0D-75A6-115FC1D4E3FB}"/>
              </a:ext>
            </a:extLst>
          </p:cNvPr>
          <p:cNvSpPr txBox="1"/>
          <p:nvPr/>
        </p:nvSpPr>
        <p:spPr>
          <a:xfrm>
            <a:off x="4772566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业务流程测试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EC0ACF2-61F5-71BC-420F-A43300602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6" y="303179"/>
            <a:ext cx="2667000" cy="43529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228E3EE-11E5-1AED-8BF3-2DF4F2891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902" y="4239828"/>
            <a:ext cx="2476500" cy="24288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09069E2-5A39-F334-C412-0618E9608B79}"/>
              </a:ext>
            </a:extLst>
          </p:cNvPr>
          <p:cNvSpPr txBox="1"/>
          <p:nvPr/>
        </p:nvSpPr>
        <p:spPr>
          <a:xfrm>
            <a:off x="5201953" y="1244482"/>
            <a:ext cx="65804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业务流程测试</a:t>
            </a:r>
            <a:r>
              <a:rPr lang="en-US" altLang="zh-CN" dirty="0" err="1"/>
              <a:t>jmeter</a:t>
            </a:r>
            <a:r>
              <a:rPr lang="zh-CN" altLang="en-US" dirty="0"/>
              <a:t>结构</a:t>
            </a:r>
          </a:p>
          <a:p>
            <a:r>
              <a:rPr lang="zh-CN" altLang="en-US" dirty="0"/>
              <a:t>├── 线程组：BP-01-菜品管理正向流程（5个请求）</a:t>
            </a:r>
          </a:p>
          <a:p>
            <a:r>
              <a:rPr lang="zh-CN" altLang="en-US" dirty="0"/>
              <a:t>│   ├── HTTP信息头管理器（Content-Type + token）</a:t>
            </a:r>
          </a:p>
          <a:p>
            <a:r>
              <a:rPr lang="zh-CN" altLang="en-US" dirty="0"/>
              <a:t>│   ├── HTTP请求默认值</a:t>
            </a:r>
          </a:p>
          <a:p>
            <a:r>
              <a:rPr lang="zh-CN" altLang="en-US" dirty="0"/>
              <a:t>│   ├── BP-01-步骤1：员工登录</a:t>
            </a:r>
          </a:p>
          <a:p>
            <a:r>
              <a:rPr lang="zh-CN" altLang="en-US" dirty="0"/>
              <a:t>│   ├── BP-01-步骤2：新增菜品</a:t>
            </a:r>
          </a:p>
          <a:p>
            <a:r>
              <a:rPr lang="zh-CN" altLang="en-US" dirty="0"/>
              <a:t>│   ├── BP-01-步骤3：按名称查询 → 正则提取 dishId</a:t>
            </a:r>
          </a:p>
          <a:p>
            <a:r>
              <a:rPr lang="zh-CN" altLang="en-US" dirty="0"/>
              <a:t>│   ├── BP-01-步骤4：删除菜品（引用 ${bpDishId}）</a:t>
            </a:r>
          </a:p>
          <a:p>
            <a:r>
              <a:rPr lang="zh-CN" altLang="en-US" dirty="0"/>
              <a:t>│   └── BP-01-步骤5：再次查询验证</a:t>
            </a:r>
          </a:p>
          <a:p>
            <a:r>
              <a:rPr lang="zh-CN" altLang="en-US" dirty="0"/>
              <a:t>│</a:t>
            </a:r>
          </a:p>
          <a:p>
            <a:r>
              <a:rPr lang="zh-CN" altLang="en-US" dirty="0"/>
              <a:t>├── 线程组：BP-02-菜品重名异常流程（2个请求）</a:t>
            </a:r>
          </a:p>
          <a:p>
            <a:r>
              <a:rPr lang="zh-CN" altLang="en-US" dirty="0"/>
              <a:t>│   ├── HTTP信息头管理器（Content-Type + token）</a:t>
            </a:r>
          </a:p>
          <a:p>
            <a:r>
              <a:rPr lang="zh-CN" altLang="en-US" dirty="0"/>
              <a:t>│   ├── HTTP请求默认值</a:t>
            </a:r>
          </a:p>
          <a:p>
            <a:r>
              <a:rPr lang="zh-CN" altLang="en-US" dirty="0"/>
              <a:t>│   ├── BP-02-步骤1：员工登录</a:t>
            </a:r>
          </a:p>
          <a:p>
            <a:r>
              <a:rPr lang="zh-CN" altLang="en-US" dirty="0"/>
              <a:t>│   └── BP-02-步骤2：新增重名菜品</a:t>
            </a:r>
          </a:p>
          <a:p>
            <a:r>
              <a:rPr lang="zh-CN" altLang="en-US" dirty="0"/>
              <a:t>│</a:t>
            </a:r>
          </a:p>
          <a:p>
            <a:r>
              <a:rPr lang="zh-CN" altLang="en-US" dirty="0"/>
              <a:t>└── 监听器（共用）</a:t>
            </a:r>
          </a:p>
          <a:p>
            <a:r>
              <a:rPr lang="zh-CN" altLang="en-US" dirty="0"/>
              <a:t>    ├── 查看结果树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4007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671B-8FEF-9275-1E08-AD96FB076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6D80E34-E5CF-ADAF-3601-AA4DCC5CA77B}"/>
              </a:ext>
            </a:extLst>
          </p:cNvPr>
          <p:cNvCxnSpPr/>
          <p:nvPr/>
        </p:nvCxnSpPr>
        <p:spPr>
          <a:xfrm>
            <a:off x="0" y="630904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8E3190B-A669-45E0-7C6C-6C34E096B63C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DC40F703-AC72-8E0F-AC12-B81FC48F71CA}"/>
              </a:ext>
            </a:extLst>
          </p:cNvPr>
          <p:cNvSpPr txBox="1"/>
          <p:nvPr/>
        </p:nvSpPr>
        <p:spPr>
          <a:xfrm>
            <a:off x="4772566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业务流程测试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3B6CBF6-C07B-C440-ABAF-871A31D63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132737"/>
              </p:ext>
            </p:extLst>
          </p:nvPr>
        </p:nvGraphicFramePr>
        <p:xfrm>
          <a:off x="0" y="1390854"/>
          <a:ext cx="10228647" cy="4666940"/>
        </p:xfrm>
        <a:graphic>
          <a:graphicData uri="http://schemas.openxmlformats.org/drawingml/2006/table">
            <a:tbl>
              <a:tblPr/>
              <a:tblGrid>
                <a:gridCol w="467928">
                  <a:extLst>
                    <a:ext uri="{9D8B030D-6E8A-4147-A177-3AD203B41FA5}">
                      <a16:colId xmlns:a16="http://schemas.microsoft.com/office/drawing/2014/main" val="2986075471"/>
                    </a:ext>
                  </a:extLst>
                </a:gridCol>
                <a:gridCol w="1081549">
                  <a:extLst>
                    <a:ext uri="{9D8B030D-6E8A-4147-A177-3AD203B41FA5}">
                      <a16:colId xmlns:a16="http://schemas.microsoft.com/office/drawing/2014/main" val="2478894982"/>
                    </a:ext>
                  </a:extLst>
                </a:gridCol>
                <a:gridCol w="3668817">
                  <a:extLst>
                    <a:ext uri="{9D8B030D-6E8A-4147-A177-3AD203B41FA5}">
                      <a16:colId xmlns:a16="http://schemas.microsoft.com/office/drawing/2014/main" val="3107539122"/>
                    </a:ext>
                  </a:extLst>
                </a:gridCol>
                <a:gridCol w="1668664">
                  <a:extLst>
                    <a:ext uri="{9D8B030D-6E8A-4147-A177-3AD203B41FA5}">
                      <a16:colId xmlns:a16="http://schemas.microsoft.com/office/drawing/2014/main" val="607785063"/>
                    </a:ext>
                  </a:extLst>
                </a:gridCol>
                <a:gridCol w="1660372">
                  <a:extLst>
                    <a:ext uri="{9D8B030D-6E8A-4147-A177-3AD203B41FA5}">
                      <a16:colId xmlns:a16="http://schemas.microsoft.com/office/drawing/2014/main" val="1705072107"/>
                    </a:ext>
                  </a:extLst>
                </a:gridCol>
                <a:gridCol w="1681317">
                  <a:extLst>
                    <a:ext uri="{9D8B030D-6E8A-4147-A177-3AD203B41FA5}">
                      <a16:colId xmlns:a16="http://schemas.microsoft.com/office/drawing/2014/main" val="3276341859"/>
                    </a:ext>
                  </a:extLst>
                </a:gridCol>
              </a:tblGrid>
              <a:tr h="508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用例</a:t>
                      </a:r>
                      <a:r>
                        <a:rPr lang="en-US" sz="1400" b="1" dirty="0">
                          <a:effectLst/>
                        </a:rPr>
                        <a:t>ID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测试场景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涉及接口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数据传递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预期结果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实际结果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9878"/>
                  </a:ext>
                </a:extLst>
              </a:tr>
              <a:tr h="2616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BP-01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正向流程</a:t>
                      </a:r>
                      <a:r>
                        <a:rPr lang="zh-CN" altLang="en-US" sz="1400" dirty="0">
                          <a:effectLst/>
                        </a:rPr>
                        <a:t>：菜品创建→查询→删除完整链路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/admin/employee/login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登录）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新增菜品）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GET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/admin/dish/page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按名称查询，提取菜品</a:t>
                      </a:r>
                      <a:r>
                        <a:rPr lang="en-US" sz="1400" dirty="0">
                          <a:effectLst/>
                        </a:rPr>
                        <a:t>ID）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DELETE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使用提取的</a:t>
                      </a:r>
                      <a:r>
                        <a:rPr lang="en-US" sz="1400" dirty="0">
                          <a:effectLst/>
                        </a:rPr>
                        <a:t>ID</a:t>
                      </a:r>
                      <a:r>
                        <a:rPr lang="zh-CN" altLang="en-US" sz="1400" dirty="0">
                          <a:effectLst/>
                        </a:rPr>
                        <a:t>删除菜品）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GET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/admin/dish/page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再次查询，验证已删除）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1→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2~5 </a:t>
                      </a:r>
                      <a:r>
                        <a:rPr lang="en-US" altLang="zh-CN" sz="1400" dirty="0">
                          <a:effectLst/>
                        </a:rPr>
                        <a:t>HTTP</a:t>
                      </a:r>
                      <a:r>
                        <a:rPr lang="zh-CN" altLang="en-US" sz="1400" dirty="0">
                          <a:effectLst/>
                        </a:rPr>
                        <a:t>信息头管理器传递 </a:t>
                      </a:r>
                      <a:r>
                        <a:rPr lang="en-US" altLang="zh-CN" sz="1400" dirty="0">
                          <a:effectLst/>
                        </a:rPr>
                        <a:t>token</a:t>
                      </a:r>
                    </a:p>
                    <a:p>
                      <a:pPr algn="ctr">
                        <a:buNone/>
                      </a:pPr>
                      <a:endParaRPr lang="en-US" altLang="zh-CN" sz="14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3→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4 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正则提取 </a:t>
                      </a:r>
                      <a:r>
                        <a:rPr lang="en-US" altLang="zh-CN" sz="1400" dirty="0" err="1">
                          <a:effectLst/>
                          <a:latin typeface="Courier New" panose="02070309020205020404" pitchFamily="49" charset="0"/>
                        </a:rPr>
                        <a:t>dishId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全部 </a:t>
                      </a:r>
                      <a:r>
                        <a:rPr lang="en-US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3</a:t>
                      </a:r>
                      <a:r>
                        <a:rPr lang="zh-CN" altLang="en-US" sz="1400" dirty="0">
                          <a:effectLst/>
                        </a:rPr>
                        <a:t>查询到新菜品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5 </a:t>
                      </a:r>
                      <a:r>
                        <a:rPr lang="en-US" sz="1400" dirty="0">
                          <a:effectLst/>
                        </a:rPr>
                        <a:t>total=0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全部 </a:t>
                      </a:r>
                      <a:r>
                        <a:rPr lang="en-US" altLang="zh-CN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3</a:t>
                      </a:r>
                      <a:r>
                        <a:rPr lang="zh-CN" altLang="en-US" sz="1400" dirty="0">
                          <a:effectLst/>
                        </a:rPr>
                        <a:t>查询到新菜品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5 total=0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760704"/>
                  </a:ext>
                </a:extLst>
              </a:tr>
              <a:tr h="1349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BP-02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异常流程</a:t>
                      </a:r>
                      <a:r>
                        <a:rPr lang="zh-CN" altLang="en-US" sz="1400" dirty="0">
                          <a:effectLst/>
                        </a:rPr>
                        <a:t>：新增菜品与已有菜品同名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1. 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/admin/employee/login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登录） </a:t>
                      </a:r>
                      <a:r>
                        <a:rPr lang="en-US" altLang="zh-CN" sz="1400" dirty="0">
                          <a:effectLst/>
                        </a:rPr>
                        <a:t>2. </a:t>
                      </a: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新增重名菜品）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1→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2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HTTP</a:t>
                      </a:r>
                      <a:r>
                        <a:rPr lang="zh-CN" altLang="en-US" sz="1400" dirty="0">
                          <a:effectLst/>
                        </a:rPr>
                        <a:t>信息头管理器传递 </a:t>
                      </a:r>
                      <a:r>
                        <a:rPr lang="en-US" altLang="zh-CN" sz="1400" dirty="0">
                          <a:effectLst/>
                        </a:rPr>
                        <a:t>token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1 </a:t>
                      </a:r>
                      <a:r>
                        <a:rPr lang="en-US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2 </a:t>
                      </a:r>
                      <a:r>
                        <a:rPr lang="en-US" sz="1400" dirty="0">
                          <a:effectLst/>
                        </a:rPr>
                        <a:t>code=0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1 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2 code=0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820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2EC0360B-4669-B7F9-176E-17E4737D3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311" y="2643987"/>
            <a:ext cx="1678751" cy="10088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8FF26C7-4A8F-677F-D399-26C341A34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8311" y="4796094"/>
            <a:ext cx="1724025" cy="533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6857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EFBC-E1E1-DFB8-B46F-32C723A3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C4257A3-773D-1785-2387-4628CE670E69}"/>
              </a:ext>
            </a:extLst>
          </p:cNvPr>
          <p:cNvCxnSpPr/>
          <p:nvPr/>
        </p:nvCxnSpPr>
        <p:spPr>
          <a:xfrm>
            <a:off x="0" y="630904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0A917E5-7487-81B6-C718-BBC7E99BB99E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03A522D-5D60-8C12-88D5-640B1D4D36A7}"/>
              </a:ext>
            </a:extLst>
          </p:cNvPr>
          <p:cNvSpPr txBox="1"/>
          <p:nvPr/>
        </p:nvSpPr>
        <p:spPr>
          <a:xfrm>
            <a:off x="4772569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功能测试总结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5F1D4E-D5E2-3139-A232-1E468B8F828E}"/>
              </a:ext>
            </a:extLst>
          </p:cNvPr>
          <p:cNvSpPr txBox="1"/>
          <p:nvPr/>
        </p:nvSpPr>
        <p:spPr>
          <a:xfrm>
            <a:off x="288823" y="626429"/>
            <a:ext cx="7880554" cy="382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一、测试执行统计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4369CB-1CA3-5479-1C67-09C201E72FB5}"/>
              </a:ext>
            </a:extLst>
          </p:cNvPr>
          <p:cNvSpPr txBox="1"/>
          <p:nvPr/>
        </p:nvSpPr>
        <p:spPr>
          <a:xfrm>
            <a:off x="391565" y="3287919"/>
            <a:ext cx="11546522" cy="329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二、测试结论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        </a:t>
            </a:r>
            <a:r>
              <a:rPr lang="zh-CN" altLang="en-US" sz="1400" dirty="0"/>
              <a:t>经过本次功能测试与业务流程测试，苍穹外卖系统的核心业务功能</a:t>
            </a:r>
            <a:r>
              <a:rPr lang="zh-CN" altLang="en-US" sz="1400" b="1" dirty="0"/>
              <a:t>基本可满足管理端与用户端的日常使用需求</a:t>
            </a:r>
            <a:r>
              <a:rPr lang="zh-CN" altLang="en-US" sz="1400" dirty="0"/>
              <a:t>。系统采用 </a:t>
            </a:r>
            <a:r>
              <a:rPr lang="en-US" altLang="zh-CN" sz="1400" dirty="0"/>
              <a:t>JWT </a:t>
            </a:r>
            <a:r>
              <a:rPr lang="zh-CN" altLang="en-US" sz="1400" dirty="0"/>
              <a:t>双通道认证，前后端分离架构清晰，接口响应格式统一（</a:t>
            </a:r>
            <a:r>
              <a:rPr lang="en-US" altLang="zh-CN" sz="1400" dirty="0"/>
              <a:t>code=1 </a:t>
            </a:r>
            <a:r>
              <a:rPr lang="zh-CN" altLang="en-US" sz="1400" dirty="0"/>
              <a:t>成功 </a:t>
            </a:r>
            <a:r>
              <a:rPr lang="en-US" altLang="zh-CN" sz="1400" dirty="0"/>
              <a:t>/ code=0 </a:t>
            </a:r>
            <a:r>
              <a:rPr lang="zh-CN" altLang="en-US" sz="1400" dirty="0"/>
              <a:t>失败），</a:t>
            </a:r>
            <a:r>
              <a:rPr lang="zh-CN" altLang="en-US" sz="1400" b="1" dirty="0"/>
              <a:t>整体业务流程（登录→新增→查询→删除）也能够顺畅走通，说明数据在接口间的传递也较为可靠</a:t>
            </a:r>
            <a:r>
              <a:rPr lang="zh-CN" altLang="en-US" sz="14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但在测试过程中也暴露了一些</a:t>
            </a:r>
            <a:r>
              <a:rPr lang="zh-CN" altLang="en-US" sz="1400" b="1" dirty="0"/>
              <a:t>问题：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  </a:t>
            </a:r>
            <a:r>
              <a:rPr lang="en-US" altLang="zh-CN" sz="1400" b="1" dirty="0"/>
              <a:t>1. </a:t>
            </a:r>
            <a:r>
              <a:rPr lang="zh-CN" altLang="en-US" sz="1400" b="1" dirty="0"/>
              <a:t>管理端参数校验缺失较为严重。 </a:t>
            </a:r>
            <a:r>
              <a:rPr lang="zh-CN" altLang="en-US" sz="1400" dirty="0"/>
              <a:t>测试发现，新增菜品接口对</a:t>
            </a:r>
            <a:r>
              <a:rPr lang="en-US" altLang="zh-CN" sz="1400" dirty="0"/>
              <a:t>"</a:t>
            </a:r>
            <a:r>
              <a:rPr lang="zh-CN" altLang="en-US" sz="1400" dirty="0"/>
              <a:t>名称为空</a:t>
            </a:r>
            <a:r>
              <a:rPr lang="en-US" altLang="zh-CN" sz="1400" dirty="0"/>
              <a:t>""</a:t>
            </a:r>
            <a:r>
              <a:rPr lang="zh-CN" altLang="en-US" sz="1400" dirty="0"/>
              <a:t>价格为负数</a:t>
            </a:r>
            <a:r>
              <a:rPr lang="en-US" altLang="zh-CN" sz="1400" dirty="0"/>
              <a:t>""status </a:t>
            </a:r>
            <a:r>
              <a:rPr lang="zh-CN" altLang="en-US" sz="1400" dirty="0"/>
              <a:t>设为非法值</a:t>
            </a:r>
            <a:r>
              <a:rPr lang="en-US" altLang="zh-CN" sz="1400" dirty="0"/>
              <a:t>9"</a:t>
            </a:r>
            <a:r>
              <a:rPr lang="zh-CN" altLang="en-US" sz="1400" dirty="0"/>
              <a:t>三种异常输入均未拦截，非法数据可直接写入数据库。这反映出后端对管理员的输入缺乏基本的防御性校验，存在数据污染风险。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  </a:t>
            </a:r>
            <a:r>
              <a:rPr lang="en-US" altLang="zh-CN" sz="1400" b="1" dirty="0"/>
              <a:t>2. </a:t>
            </a:r>
            <a:r>
              <a:rPr lang="zh-CN" altLang="en-US" sz="1400" b="1" dirty="0"/>
              <a:t>用户端接口防御性校验不足。 </a:t>
            </a:r>
            <a:r>
              <a:rPr lang="zh-CN" altLang="en-US" sz="1400" dirty="0"/>
              <a:t>用户端菜品查询接口对 </a:t>
            </a:r>
            <a:r>
              <a:rPr lang="en-US" altLang="zh-CN" sz="1400" dirty="0" err="1"/>
              <a:t>categoryId</a:t>
            </a:r>
            <a:r>
              <a:rPr lang="zh-CN" altLang="en-US" sz="1400" dirty="0"/>
              <a:t>的负数、零值、极大值均未做校验，虽当前不影响业务（返回空列表），但攻击者可利用此类漏洞探测系统数据库范围，存在安全隐患。 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b="1" dirty="0"/>
              <a:t>        </a:t>
            </a:r>
            <a:r>
              <a:rPr lang="zh-CN" altLang="en-US" sz="1400" b="1" dirty="0"/>
              <a:t>故该系统尚需进一步打磨才能达到商用系统的健壮性标准。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AD872B8-D0E4-D0F7-8540-19F9C8C0B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671271"/>
              </p:ext>
            </p:extLst>
          </p:nvPr>
        </p:nvGraphicFramePr>
        <p:xfrm>
          <a:off x="667369" y="1132173"/>
          <a:ext cx="10994914" cy="1936438"/>
        </p:xfrm>
        <a:graphic>
          <a:graphicData uri="http://schemas.openxmlformats.org/drawingml/2006/table">
            <a:tbl>
              <a:tblPr/>
              <a:tblGrid>
                <a:gridCol w="1570702">
                  <a:extLst>
                    <a:ext uri="{9D8B030D-6E8A-4147-A177-3AD203B41FA5}">
                      <a16:colId xmlns:a16="http://schemas.microsoft.com/office/drawing/2014/main" val="2637163700"/>
                    </a:ext>
                  </a:extLst>
                </a:gridCol>
                <a:gridCol w="1570702">
                  <a:extLst>
                    <a:ext uri="{9D8B030D-6E8A-4147-A177-3AD203B41FA5}">
                      <a16:colId xmlns:a16="http://schemas.microsoft.com/office/drawing/2014/main" val="2557331740"/>
                    </a:ext>
                  </a:extLst>
                </a:gridCol>
                <a:gridCol w="1107356">
                  <a:extLst>
                    <a:ext uri="{9D8B030D-6E8A-4147-A177-3AD203B41FA5}">
                      <a16:colId xmlns:a16="http://schemas.microsoft.com/office/drawing/2014/main" val="95695906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269052530"/>
                    </a:ext>
                  </a:extLst>
                </a:gridCol>
                <a:gridCol w="1307690">
                  <a:extLst>
                    <a:ext uri="{9D8B030D-6E8A-4147-A177-3AD203B41FA5}">
                      <a16:colId xmlns:a16="http://schemas.microsoft.com/office/drawing/2014/main" val="844362238"/>
                    </a:ext>
                  </a:extLst>
                </a:gridCol>
                <a:gridCol w="1170039">
                  <a:extLst>
                    <a:ext uri="{9D8B030D-6E8A-4147-A177-3AD203B41FA5}">
                      <a16:colId xmlns:a16="http://schemas.microsoft.com/office/drawing/2014/main" val="4043394752"/>
                    </a:ext>
                  </a:extLst>
                </a:gridCol>
                <a:gridCol w="2980399">
                  <a:extLst>
                    <a:ext uri="{9D8B030D-6E8A-4147-A177-3AD203B41FA5}">
                      <a16:colId xmlns:a16="http://schemas.microsoft.com/office/drawing/2014/main" val="468610565"/>
                    </a:ext>
                  </a:extLst>
                </a:gridCol>
              </a:tblGrid>
              <a:tr h="173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测试类型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模块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effectLst/>
                        </a:rPr>
                        <a:t>用例数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通过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预期不符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通过率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备注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36970"/>
                  </a:ext>
                </a:extLst>
              </a:tr>
              <a:tr h="173229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功能模块测试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员工登录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7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7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0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100%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全部符合预期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385500"/>
                  </a:ext>
                </a:extLst>
              </a:tr>
              <a:tr h="2948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新增菜品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8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6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100%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2</a:t>
                      </a:r>
                      <a:r>
                        <a:rPr lang="zh-CN" altLang="en-US" sz="1400" dirty="0">
                          <a:effectLst/>
                        </a:rPr>
                        <a:t>条缺陷已修复（缺少校验注解）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858927"/>
                  </a:ext>
                </a:extLst>
              </a:tr>
              <a:tr h="41637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</a:t>
                      </a:r>
                      <a:r>
                        <a:rPr lang="zh-CN" altLang="en-US" sz="1400" dirty="0">
                          <a:effectLst/>
                        </a:rPr>
                        <a:t>端菜品查询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5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3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100%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3</a:t>
                      </a:r>
                      <a:r>
                        <a:rPr lang="zh-CN" altLang="en-US" sz="1400" dirty="0">
                          <a:effectLst/>
                        </a:rPr>
                        <a:t>条为防御性编程缺失，不影响业务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222928"/>
                  </a:ext>
                </a:extLst>
              </a:tr>
              <a:tr h="29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业务流程测试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菜品全生命周期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0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100%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BP-01</a:t>
                      </a:r>
                      <a:r>
                        <a:rPr lang="zh-CN" altLang="en-US" sz="1400" dirty="0">
                          <a:effectLst/>
                        </a:rPr>
                        <a:t>正向 </a:t>
                      </a:r>
                      <a:r>
                        <a:rPr lang="en-US" altLang="zh-CN" sz="1400" dirty="0">
                          <a:effectLst/>
                        </a:rPr>
                        <a:t>+ </a:t>
                      </a:r>
                      <a:r>
                        <a:rPr lang="en-US" sz="1400" dirty="0">
                          <a:effectLst/>
                        </a:rPr>
                        <a:t>BP-02</a:t>
                      </a:r>
                      <a:r>
                        <a:rPr lang="zh-CN" altLang="en-US" sz="1400" dirty="0">
                          <a:effectLst/>
                        </a:rPr>
                        <a:t>异常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754753"/>
                  </a:ext>
                </a:extLst>
              </a:tr>
              <a:tr h="29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合计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3</a:t>
                      </a:r>
                      <a:r>
                        <a:rPr lang="zh-CN" altLang="en-US" sz="1400" b="1">
                          <a:effectLst/>
                        </a:rPr>
                        <a:t>模块 </a:t>
                      </a:r>
                      <a:r>
                        <a:rPr lang="en-US" altLang="zh-CN" sz="1400" b="1">
                          <a:effectLst/>
                        </a:rPr>
                        <a:t>+ 1</a:t>
                      </a:r>
                      <a:r>
                        <a:rPr lang="zh-CN" altLang="en-US" sz="1400" b="1">
                          <a:effectLst/>
                        </a:rPr>
                        <a:t>流程</a:t>
                      </a:r>
                      <a:endParaRPr lang="zh-CN" altLang="en-US" sz="140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effectLst/>
                        </a:rPr>
                        <a:t>22</a:t>
                      </a:r>
                      <a:endParaRPr lang="zh-CN" altLang="en-US" sz="140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effectLst/>
                        </a:rPr>
                        <a:t>17</a:t>
                      </a:r>
                      <a:endParaRPr lang="zh-CN" altLang="en-US" sz="140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effectLst/>
                        </a:rPr>
                        <a:t>5</a:t>
                      </a:r>
                      <a:endParaRPr lang="zh-CN" altLang="en-US" sz="140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100%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含已修复缺陷用例回归通过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044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472705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6760</TotalTime>
  <Words>2847</Words>
  <Application>Microsoft Office PowerPoint</Application>
  <PresentationFormat>宽屏</PresentationFormat>
  <Paragraphs>395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思源宋体 Light</vt:lpstr>
      <vt:lpstr>宋体</vt:lpstr>
      <vt:lpstr>Agency FB</vt:lpstr>
      <vt:lpstr>Arial</vt:lpstr>
      <vt:lpstr>Courier New</vt:lpstr>
      <vt:lpstr>Wingdings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MO</dc:creator>
  <cp:lastModifiedBy>ON MO</cp:lastModifiedBy>
  <cp:revision>62</cp:revision>
  <dcterms:created xsi:type="dcterms:W3CDTF">2026-05-21T07:14:14Z</dcterms:created>
  <dcterms:modified xsi:type="dcterms:W3CDTF">2026-05-26T02:56:56Z</dcterms:modified>
</cp:coreProperties>
</file>