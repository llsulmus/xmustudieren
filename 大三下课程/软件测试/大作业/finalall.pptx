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tags/tag17.xml" ContentType="application/vnd.openxmlformats-officedocument.presentationml.tags+xml"/>
  <Override PartName="/ppt/notesSlides/notesSlide21.xml" ContentType="application/vnd.openxmlformats-officedocument.presentationml.notesSlide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1.xml" ContentType="application/vnd.openxmlformats-officedocument.presentationml.tags+xml"/>
  <Override PartName="/ppt/notesSlides/notesSlide26.xml" ContentType="application/vnd.openxmlformats-officedocument.presentationml.notesSlide+xml"/>
  <Override PartName="/ppt/tags/tag22.xml" ContentType="application/vnd.openxmlformats-officedocument.presentationml.tags+xml"/>
  <Override PartName="/ppt/notesSlides/notesSlide27.xml" ContentType="application/vnd.openxmlformats-officedocument.presentationml.notesSlide+xml"/>
  <Override PartName="/ppt/tags/tag23.xml" ContentType="application/vnd.openxmlformats-officedocument.presentationml.tags+xml"/>
  <Override PartName="/ppt/notesSlides/notesSlide28.xml" ContentType="application/vnd.openxmlformats-officedocument.presentationml.notesSlide+xml"/>
  <Override PartName="/ppt/tags/tag24.xml" ContentType="application/vnd.openxmlformats-officedocument.presentationml.tags+xml"/>
  <Override PartName="/ppt/notesSlides/notesSlide29.xml" ContentType="application/vnd.openxmlformats-officedocument.presentationml.notesSlide+xml"/>
  <Override PartName="/ppt/tags/tag25.xml" ContentType="application/vnd.openxmlformats-officedocument.presentationml.tags+xml"/>
  <Override PartName="/ppt/notesSlides/notesSlide30.xml" ContentType="application/vnd.openxmlformats-officedocument.presentationml.notesSlide+xml"/>
  <Override PartName="/ppt/tags/tag26.xml" ContentType="application/vnd.openxmlformats-officedocument.presentationml.tags+xml"/>
  <Override PartName="/ppt/notesSlides/notesSlide31.xml" ContentType="application/vnd.openxmlformats-officedocument.presentationml.notesSlide+xml"/>
  <Override PartName="/ppt/tags/tag27.xml" ContentType="application/vnd.openxmlformats-officedocument.presentationml.tags+xml"/>
  <Override PartName="/ppt/notesSlides/notesSlide32.xml" ContentType="application/vnd.openxmlformats-officedocument.presentationml.notesSlide+xml"/>
  <Override PartName="/ppt/tags/tag28.xml" ContentType="application/vnd.openxmlformats-officedocument.presentationml.tags+xml"/>
  <Override PartName="/ppt/notesSlides/notesSlide33.xml" ContentType="application/vnd.openxmlformats-officedocument.presentationml.notesSlide+xml"/>
  <Override PartName="/ppt/tags/tag29.xml" ContentType="application/vnd.openxmlformats-officedocument.presentationml.tags+xml"/>
  <Override PartName="/ppt/notesSlides/notesSlide34.xml" ContentType="application/vnd.openxmlformats-officedocument.presentationml.notesSlide+xml"/>
  <Override PartName="/ppt/tags/tag30.xml" ContentType="application/vnd.openxmlformats-officedocument.presentationml.tags+xml"/>
  <Override PartName="/ppt/notesSlides/notesSlide35.xml" ContentType="application/vnd.openxmlformats-officedocument.presentationml.notesSlide+xml"/>
  <Override PartName="/ppt/tags/tag31.xml" ContentType="application/vnd.openxmlformats-officedocument.presentationml.tags+xml"/>
  <Override PartName="/ppt/notesSlides/notesSlide36.xml" ContentType="application/vnd.openxmlformats-officedocument.presentationml.notesSlide+xml"/>
  <Override PartName="/ppt/tags/tag32.xml" ContentType="application/vnd.openxmlformats-officedocument.presentationml.tags+xml"/>
  <Override PartName="/ppt/notesSlides/notesSlide37.xml" ContentType="application/vnd.openxmlformats-officedocument.presentationml.notesSlide+xml"/>
  <Override PartName="/ppt/tags/tag33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34.xml" ContentType="application/vnd.openxmlformats-officedocument.presentationml.tags+xml"/>
  <Override PartName="/ppt/notesSlides/notesSlide40.xml" ContentType="application/vnd.openxmlformats-officedocument.presentationml.notesSlide+xml"/>
  <Override PartName="/ppt/tags/tag35.xml" ContentType="application/vnd.openxmlformats-officedocument.presentationml.tags+xml"/>
  <Override PartName="/ppt/notesSlides/notesSlide41.xml" ContentType="application/vnd.openxmlformats-officedocument.presentationml.notesSlide+xml"/>
  <Override PartName="/ppt/tags/tag36.xml" ContentType="application/vnd.openxmlformats-officedocument.presentationml.tags+xml"/>
  <Override PartName="/ppt/notesSlides/notesSlide42.xml" ContentType="application/vnd.openxmlformats-officedocument.presentationml.notesSlide+xml"/>
  <Override PartName="/ppt/tags/tag37.xml" ContentType="application/vnd.openxmlformats-officedocument.presentationml.tags+xml"/>
  <Override PartName="/ppt/notesSlides/notesSlide43.xml" ContentType="application/vnd.openxmlformats-officedocument.presentationml.notesSlide+xml"/>
  <Override PartName="/ppt/tags/tag38.xml" ContentType="application/vnd.openxmlformats-officedocument.presentationml.tags+xml"/>
  <Override PartName="/ppt/notesSlides/notesSlide44.xml" ContentType="application/vnd.openxmlformats-officedocument.presentationml.notesSlide+xml"/>
  <Override PartName="/ppt/tags/tag39.xml" ContentType="application/vnd.openxmlformats-officedocument.presentationml.tags+xml"/>
  <Override PartName="/ppt/notesSlides/notesSlide45.xml" ContentType="application/vnd.openxmlformats-officedocument.presentationml.notesSlide+xml"/>
  <Override PartName="/ppt/tags/tag40.xml" ContentType="application/vnd.openxmlformats-officedocument.presentationml.tags+xml"/>
  <Override PartName="/ppt/notesSlides/notesSlide46.xml" ContentType="application/vnd.openxmlformats-officedocument.presentationml.notesSlide+xml"/>
  <Override PartName="/ppt/tags/tag41.xml" ContentType="application/vnd.openxmlformats-officedocument.presentationml.tags+xml"/>
  <Override PartName="/ppt/notesSlides/notesSlide47.xml" ContentType="application/vnd.openxmlformats-officedocument.presentationml.notesSlide+xml"/>
  <Override PartName="/ppt/tags/tag42.xml" ContentType="application/vnd.openxmlformats-officedocument.presentationml.tags+xml"/>
  <Override PartName="/ppt/notesSlides/notesSlide48.xml" ContentType="application/vnd.openxmlformats-officedocument.presentationml.notesSlide+xml"/>
  <Override PartName="/ppt/tags/tag43.xml" ContentType="application/vnd.openxmlformats-officedocument.presentationml.tags+xml"/>
  <Override PartName="/ppt/notesSlides/notesSlide49.xml" ContentType="application/vnd.openxmlformats-officedocument.presentationml.notesSlide+xml"/>
  <Override PartName="/ppt/tags/tag44.xml" ContentType="application/vnd.openxmlformats-officedocument.presentationml.tags+xml"/>
  <Override PartName="/ppt/notesSlides/notesSlide50.xml" ContentType="application/vnd.openxmlformats-officedocument.presentationml.notesSlide+xml"/>
  <Override PartName="/ppt/tags/tag45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5"/>
  </p:notesMasterIdLst>
  <p:sldIdLst>
    <p:sldId id="379" r:id="rId3"/>
    <p:sldId id="257" r:id="rId4"/>
    <p:sldId id="259" r:id="rId5"/>
    <p:sldId id="284" r:id="rId6"/>
    <p:sldId id="262" r:id="rId7"/>
    <p:sldId id="304" r:id="rId8"/>
    <p:sldId id="365" r:id="rId9"/>
    <p:sldId id="369" r:id="rId10"/>
    <p:sldId id="314" r:id="rId11"/>
    <p:sldId id="364" r:id="rId12"/>
    <p:sldId id="367" r:id="rId13"/>
    <p:sldId id="371" r:id="rId14"/>
    <p:sldId id="370" r:id="rId15"/>
    <p:sldId id="372" r:id="rId16"/>
    <p:sldId id="317" r:id="rId17"/>
    <p:sldId id="318" r:id="rId18"/>
    <p:sldId id="320" r:id="rId19"/>
    <p:sldId id="319" r:id="rId20"/>
    <p:sldId id="368" r:id="rId21"/>
    <p:sldId id="303" r:id="rId22"/>
    <p:sldId id="375" r:id="rId23"/>
    <p:sldId id="305" r:id="rId24"/>
    <p:sldId id="373" r:id="rId25"/>
    <p:sldId id="374" r:id="rId26"/>
    <p:sldId id="261" r:id="rId27"/>
    <p:sldId id="265" r:id="rId28"/>
    <p:sldId id="285" r:id="rId29"/>
    <p:sldId id="264" r:id="rId30"/>
    <p:sldId id="288" r:id="rId31"/>
    <p:sldId id="282" r:id="rId32"/>
    <p:sldId id="283" r:id="rId33"/>
    <p:sldId id="287" r:id="rId34"/>
    <p:sldId id="286" r:id="rId35"/>
    <p:sldId id="290" r:id="rId36"/>
    <p:sldId id="291" r:id="rId37"/>
    <p:sldId id="293" r:id="rId38"/>
    <p:sldId id="292" r:id="rId39"/>
    <p:sldId id="294" r:id="rId40"/>
    <p:sldId id="260" r:id="rId41"/>
    <p:sldId id="321" r:id="rId42"/>
    <p:sldId id="362" r:id="rId43"/>
    <p:sldId id="366" r:id="rId44"/>
    <p:sldId id="376" r:id="rId45"/>
    <p:sldId id="377" r:id="rId46"/>
    <p:sldId id="328" r:id="rId47"/>
    <p:sldId id="322" r:id="rId48"/>
    <p:sldId id="325" r:id="rId49"/>
    <p:sldId id="327" r:id="rId50"/>
    <p:sldId id="378" r:id="rId51"/>
    <p:sldId id="329" r:id="rId52"/>
    <p:sldId id="363" r:id="rId53"/>
    <p:sldId id="263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FE575-EAA3-458F-B517-9BD49EC93366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25F48-2DF6-4297-8B4A-79D033DC3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52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71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77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208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179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271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063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233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892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6148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973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764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056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761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1242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43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856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78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725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893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470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779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42492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002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7E13EF-56DF-477F-9799-2CC6E8A63D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5395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0382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2712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47E4-7852-37E2-23FA-61D88960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DC0595-6912-5611-9D2A-A2B8EDA12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8A7DEA-ECDE-6252-14C1-842AD2EA8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测试工具：</a:t>
            </a:r>
            <a:r>
              <a:rPr lang="en-US" altLang="zh-CN" dirty="0"/>
              <a:t>Apache JMeter 5.6.3</a:t>
            </a:r>
            <a:r>
              <a:rPr lang="zh-CN" altLang="en-US" dirty="0"/>
              <a:t>，使用到了 </a:t>
            </a:r>
            <a:r>
              <a:rPr lang="en-US" altLang="zh-CN" dirty="0"/>
              <a:t>HTTP </a:t>
            </a:r>
            <a:r>
              <a:rPr lang="zh-CN" altLang="en-US" dirty="0"/>
              <a:t>请求、</a:t>
            </a:r>
            <a:r>
              <a:rPr lang="en-US" altLang="zh-CN" dirty="0"/>
              <a:t>JSON </a:t>
            </a:r>
            <a:r>
              <a:rPr lang="zh-CN" altLang="en-US" dirty="0"/>
              <a:t>断言、正则提取器、头信息管理器和查看结果树等具体工具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EC995F-F05A-B1E2-14A4-EFE03CFB8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167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03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F8E8-0E62-C2FF-67D4-55A8039C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D9CDF9-BCEF-017D-DD89-F2474CB2F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73CE71-8B0D-3E40-9272-D7B65C16F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左边这张图是 </a:t>
            </a:r>
            <a:r>
              <a:rPr lang="en-US" altLang="zh-CN" dirty="0"/>
              <a:t>JMeter </a:t>
            </a:r>
            <a:r>
              <a:rPr lang="zh-CN" altLang="en-US" dirty="0"/>
              <a:t>测试脚本的整体结构。</a:t>
            </a:r>
          </a:p>
          <a:p>
            <a:r>
              <a:rPr lang="zh-CN" altLang="en-US" dirty="0"/>
              <a:t>脚本采用统一配置管理：用户定义变量存环境参数，</a:t>
            </a:r>
            <a:r>
              <a:rPr lang="en-US" altLang="zh-CN" dirty="0"/>
              <a:t>HTTP </a:t>
            </a:r>
            <a:r>
              <a:rPr lang="zh-CN" altLang="en-US" dirty="0"/>
              <a:t>请求默认值统一地址端口，全局头信息管理器管理认证令牌，监听器用于查看结果树及断言结果。</a:t>
            </a:r>
            <a:endParaRPr lang="en-US" altLang="zh-CN" dirty="0"/>
          </a:p>
          <a:p>
            <a:r>
              <a:rPr lang="zh-CN" altLang="en-US" dirty="0"/>
              <a:t>下面分三个功能模块共 </a:t>
            </a:r>
            <a:r>
              <a:rPr lang="en-US" altLang="zh-CN" dirty="0"/>
              <a:t>20 </a:t>
            </a:r>
            <a:r>
              <a:rPr lang="zh-CN" altLang="en-US" dirty="0"/>
              <a:t>条用例，每个请求都挂载 </a:t>
            </a:r>
            <a:r>
              <a:rPr lang="en-US" altLang="zh-CN" dirty="0"/>
              <a:t>JSON </a:t>
            </a:r>
            <a:r>
              <a:rPr lang="zh-CN" altLang="en-US" dirty="0"/>
              <a:t>断言校验 </a:t>
            </a:r>
            <a:r>
              <a:rPr lang="en-US" altLang="zh-CN" dirty="0"/>
              <a:t>code </a:t>
            </a:r>
            <a:r>
              <a:rPr lang="zh-CN" altLang="en-US" dirty="0"/>
              <a:t>字段（</a:t>
            </a:r>
            <a:r>
              <a:rPr lang="en-US" altLang="zh-CN" dirty="0"/>
              <a:t>1 </a:t>
            </a:r>
            <a:r>
              <a:rPr lang="zh-CN" altLang="en-US" dirty="0"/>
              <a:t>成功 </a:t>
            </a:r>
            <a:r>
              <a:rPr lang="en-US" altLang="zh-CN" dirty="0"/>
              <a:t>/ 0 </a:t>
            </a:r>
            <a:r>
              <a:rPr lang="zh-CN" altLang="en-US" dirty="0"/>
              <a:t>失败）。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612223-F898-E0B8-07E7-F33893627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675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159DF-7228-916B-A7BE-24993C802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3E8BB1-2ADA-9A5F-1F27-950A33B16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D13F33-D01E-DF95-EBF0-07AB606CF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员工登录功能这一块设计了 </a:t>
            </a:r>
            <a:r>
              <a:rPr lang="en-US" altLang="zh-CN" dirty="0"/>
              <a:t>7 </a:t>
            </a:r>
            <a:r>
              <a:rPr lang="zh-CN" altLang="en-US" dirty="0"/>
              <a:t>条用例，覆盖正确登录、密码错误、账号不存在、空值输入和账号禁用等场景。所有用例全部通过，功能正常。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31513-70B6-A64B-9EC9-129A62303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0064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BFF8E-1ADA-660D-B34E-1A8501E2C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503989-303E-44C4-4A04-EA2C29687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9544EF-B304-2E9E-9F94-6871D5A2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新增菜品功能设计了 </a:t>
            </a:r>
            <a:r>
              <a:rPr lang="en-US" altLang="zh-CN" dirty="0"/>
              <a:t>8 </a:t>
            </a:r>
            <a:r>
              <a:rPr lang="zh-CN" altLang="en-US" dirty="0"/>
              <a:t>条用例，覆盖正确新增、菜品名称为空、价格为</a:t>
            </a:r>
            <a:r>
              <a:rPr lang="en-US" altLang="zh-CN" dirty="0"/>
              <a:t>0</a:t>
            </a:r>
            <a:r>
              <a:rPr lang="zh-CN" altLang="en-US" dirty="0"/>
              <a:t>、为负数、为超大值，以及分类</a:t>
            </a:r>
            <a:r>
              <a:rPr lang="en-US" altLang="zh-CN" dirty="0"/>
              <a:t>id</a:t>
            </a:r>
            <a:r>
              <a:rPr lang="zh-CN" altLang="en-US" dirty="0"/>
              <a:t>和状态设置为非法值的情况。</a:t>
            </a:r>
            <a:endParaRPr lang="en-US" altLang="zh-CN" dirty="0"/>
          </a:p>
          <a:p>
            <a:r>
              <a:rPr lang="zh-CN" altLang="en-US" dirty="0"/>
              <a:t>发现两个系统缺陷：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允许菜品名称为空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允许价格为负数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D1FE73-7D8B-DB1C-83C4-28F6B02AA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6166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8B19-8318-9D47-826A-A3EA6A20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C7074B-5C2C-ACD0-B347-A20A10F76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2D1CBD-B462-398C-50E2-F623F5925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对于这两个缺陷，修复方法是在 </a:t>
            </a:r>
            <a:r>
              <a:rPr lang="en-US" altLang="zh-CN" dirty="0"/>
              <a:t>Controller </a:t>
            </a:r>
            <a:r>
              <a:rPr lang="zh-CN" altLang="en-US" dirty="0"/>
              <a:t>加 </a:t>
            </a:r>
            <a:r>
              <a:rPr lang="en-US" altLang="zh-CN" dirty="0"/>
              <a:t>@Valid </a:t>
            </a:r>
            <a:r>
              <a:rPr lang="zh-CN" altLang="en-US" dirty="0"/>
              <a:t>注解，在 </a:t>
            </a:r>
            <a:r>
              <a:rPr lang="en-US" altLang="zh-CN" dirty="0" err="1"/>
              <a:t>DishDTO</a:t>
            </a:r>
            <a:r>
              <a:rPr lang="en-US" altLang="zh-CN" dirty="0"/>
              <a:t> </a:t>
            </a:r>
            <a:r>
              <a:rPr lang="zh-CN" altLang="en-US" dirty="0"/>
              <a:t>中添加 </a:t>
            </a:r>
            <a:r>
              <a:rPr lang="en-US" altLang="zh-CN" dirty="0"/>
              <a:t>@NotBlank </a:t>
            </a:r>
            <a:r>
              <a:rPr lang="zh-CN" altLang="en-US" dirty="0"/>
              <a:t>和 </a:t>
            </a:r>
            <a:r>
              <a:rPr lang="en-US" altLang="zh-CN" dirty="0"/>
              <a:t>@DecimalMin </a:t>
            </a:r>
            <a:r>
              <a:rPr lang="zh-CN" altLang="en-US" dirty="0"/>
              <a:t>校验注解。可以看到修复后回归测试通过。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2750A-97C5-80D4-E647-878E5D5919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0140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98F7-ED52-6B0E-49E8-32B9BA2B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BB60AF-1BBB-CAB4-F0AB-244A86975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B16EC9-F9FD-E270-13E0-92042EEB1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用户端查询功能设计 </a:t>
            </a:r>
            <a:r>
              <a:rPr lang="en-US" altLang="zh-CN" dirty="0"/>
              <a:t>5 </a:t>
            </a:r>
            <a:r>
              <a:rPr lang="zh-CN" altLang="en-US" dirty="0"/>
              <a:t>条用例，发现 </a:t>
            </a:r>
            <a:r>
              <a:rPr lang="en-US" altLang="zh-CN" dirty="0"/>
              <a:t>3 </a:t>
            </a:r>
            <a:r>
              <a:rPr lang="zh-CN" altLang="en-US" dirty="0"/>
              <a:t>个防御性编程缺失问题：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不存在的分类 </a:t>
            </a:r>
            <a:r>
              <a:rPr lang="en-US" altLang="zh-CN" dirty="0"/>
              <a:t>ID </a:t>
            </a:r>
            <a:r>
              <a:rPr lang="zh-CN" altLang="en-US" dirty="0"/>
              <a:t>返回成功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负数分类 </a:t>
            </a:r>
            <a:r>
              <a:rPr lang="en-US" altLang="zh-CN" dirty="0"/>
              <a:t>ID </a:t>
            </a:r>
            <a:r>
              <a:rPr lang="zh-CN" altLang="en-US" dirty="0"/>
              <a:t>返回成功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极大值分类 </a:t>
            </a:r>
            <a:r>
              <a:rPr lang="en-US" altLang="zh-CN" dirty="0"/>
              <a:t>ID </a:t>
            </a:r>
            <a:r>
              <a:rPr lang="zh-CN" altLang="en-US" dirty="0"/>
              <a:t>返回成功</a:t>
            </a:r>
          </a:p>
          <a:p>
            <a:r>
              <a:rPr lang="zh-CN" altLang="en-US" dirty="0"/>
              <a:t>这张是修复后的代码逻辑。我们在查询结果为空时返回 </a:t>
            </a:r>
            <a:r>
              <a:rPr lang="en-US" altLang="zh-CN" dirty="0"/>
              <a:t>"</a:t>
            </a:r>
            <a:r>
              <a:rPr lang="zh-CN" altLang="en-US" dirty="0"/>
              <a:t>分类不存在</a:t>
            </a:r>
            <a:r>
              <a:rPr lang="en-US" altLang="zh-CN" dirty="0"/>
              <a:t>" </a:t>
            </a:r>
            <a:r>
              <a:rPr lang="zh-CN" altLang="en-US" dirty="0"/>
              <a:t>错误。修复后回归测试通过。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F981A-FE5A-C36D-D55F-D36CC27033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5463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8F1A-60A1-8C67-2E9B-974AD104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3F079E-E61A-62FA-0170-5437F7AC3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B25D22-E215-150D-78FA-6A6706559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修复方法是在查询结果为空时返回 </a:t>
            </a:r>
            <a:r>
              <a:rPr lang="en-US" altLang="zh-CN" dirty="0"/>
              <a:t>“</a:t>
            </a:r>
            <a:r>
              <a:rPr lang="zh-CN" altLang="en-US" dirty="0"/>
              <a:t>分类不存在</a:t>
            </a:r>
            <a:r>
              <a:rPr lang="en-US" altLang="zh-CN" dirty="0"/>
              <a:t>” </a:t>
            </a:r>
            <a:r>
              <a:rPr lang="zh-CN" altLang="en-US" dirty="0"/>
              <a:t>错误。修复后问题后，回归测试通过，并能正确返回错误信息。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119BC7-959D-BD82-400E-BB0E38A978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9242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3410-90B2-028F-F035-CBE71ADF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9EE1E8-5C49-60AD-3D97-3B64E1A9B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626DB8-8D0C-20E5-8CA7-383528D69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业务流程测试覆盖菜品完整生命周期：登录→新增→查询→删除→验证。左图是测试流程图，清晰展示了两条测试路径的执行步骤。</a:t>
            </a:r>
            <a:endParaRPr lang="en-US" altLang="zh-CN" dirty="0"/>
          </a:p>
          <a:p>
            <a:r>
              <a:rPr lang="zh-CN" altLang="en-US" dirty="0"/>
              <a:t>这一部分设计了两条用例：</a:t>
            </a:r>
          </a:p>
          <a:p>
            <a:r>
              <a:rPr lang="en-US" altLang="zh-CN" dirty="0"/>
              <a:t>- BP-01</a:t>
            </a:r>
            <a:r>
              <a:rPr lang="zh-CN" altLang="en-US" dirty="0"/>
              <a:t>：正向完整流程</a:t>
            </a:r>
          </a:p>
          <a:p>
            <a:pPr marL="0" indent="0">
              <a:buFontTx/>
              <a:buNone/>
            </a:pPr>
            <a:r>
              <a:rPr lang="en-US" altLang="zh-CN" dirty="0"/>
              <a:t>- BP-02</a:t>
            </a:r>
            <a:r>
              <a:rPr lang="zh-CN" altLang="en-US" dirty="0"/>
              <a:t>：新增重名菜品异常流程</a:t>
            </a:r>
            <a:endParaRPr lang="en-US" altLang="zh-CN" dirty="0"/>
          </a:p>
          <a:p>
            <a:pPr marL="0" indent="0">
              <a:buFontTx/>
              <a:buNone/>
            </a:pPr>
            <a:r>
              <a:rPr lang="zh-CN" altLang="en-US" dirty="0"/>
              <a:t>通过表格可以看到接口间的数据传递过程：正向流程中，步骤</a:t>
            </a:r>
            <a:r>
              <a:rPr lang="en-US" altLang="zh-CN" dirty="0"/>
              <a:t>1</a:t>
            </a:r>
            <a:r>
              <a:rPr lang="zh-CN" altLang="en-US" dirty="0"/>
              <a:t>员工登录向后面的步骤通过信息头传递了</a:t>
            </a:r>
            <a:r>
              <a:rPr lang="en-US" altLang="zh-CN" dirty="0"/>
              <a:t>token</a:t>
            </a:r>
            <a:r>
              <a:rPr lang="zh-CN" altLang="en-US" dirty="0"/>
              <a:t>，步骤</a:t>
            </a:r>
            <a:r>
              <a:rPr lang="en-US" altLang="zh-CN" dirty="0"/>
              <a:t>3</a:t>
            </a:r>
            <a:r>
              <a:rPr lang="zh-CN" altLang="en-US" dirty="0"/>
              <a:t>按名称查询正则提取出了菜品</a:t>
            </a:r>
            <a:r>
              <a:rPr lang="en-US" altLang="zh-CN" dirty="0"/>
              <a:t>id</a:t>
            </a:r>
            <a:r>
              <a:rPr lang="zh-CN" altLang="en-US" dirty="0"/>
              <a:t>并传递，步骤</a:t>
            </a:r>
            <a:r>
              <a:rPr lang="en-US" altLang="zh-CN" dirty="0"/>
              <a:t>4</a:t>
            </a:r>
            <a:r>
              <a:rPr lang="zh-CN" altLang="en-US" dirty="0"/>
              <a:t>则使用传递而来的</a:t>
            </a:r>
            <a:r>
              <a:rPr lang="en-US" altLang="zh-CN" dirty="0"/>
              <a:t>id</a:t>
            </a:r>
            <a:r>
              <a:rPr lang="zh-CN" altLang="en-US" dirty="0"/>
              <a:t>进行删除。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DBD868-7F43-8592-DBBE-20054178C5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0262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A17D9-EDFD-091B-D07D-2497000D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F76D69-E0E4-446D-44D7-8232F3B9E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0A36C-8800-870D-F5EB-06E4ACDED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这两张是业务流程测试的具体</a:t>
            </a:r>
            <a:r>
              <a:rPr lang="en-US" altLang="zh-CN" dirty="0"/>
              <a:t>JMeter </a:t>
            </a:r>
            <a:r>
              <a:rPr lang="zh-CN" altLang="en-US" dirty="0"/>
              <a:t>脚本结构。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左边是 </a:t>
            </a:r>
            <a:r>
              <a:rPr lang="en-US" altLang="zh-CN" dirty="0"/>
              <a:t>BP-01 </a:t>
            </a:r>
            <a:r>
              <a:rPr lang="zh-CN" altLang="en-US" dirty="0"/>
              <a:t>正向流程，</a:t>
            </a:r>
            <a:r>
              <a:rPr lang="en-US" altLang="zh-CN" dirty="0"/>
              <a:t>5 </a:t>
            </a:r>
            <a:r>
              <a:rPr lang="zh-CN" altLang="en-US" dirty="0"/>
              <a:t>个请求串联，通过正则提取器传递菜品 </a:t>
            </a:r>
            <a:r>
              <a:rPr lang="en-US" altLang="zh-CN" dirty="0"/>
              <a:t>ID</a:t>
            </a:r>
          </a:p>
          <a:p>
            <a:pPr marL="171450" indent="-171450">
              <a:buFontTx/>
              <a:buChar char="-"/>
            </a:pPr>
            <a:r>
              <a:rPr lang="zh-CN" altLang="en-US" dirty="0"/>
              <a:t>右边是 </a:t>
            </a:r>
            <a:r>
              <a:rPr lang="en-US" altLang="zh-CN" dirty="0"/>
              <a:t>BP-02 </a:t>
            </a:r>
            <a:r>
              <a:rPr lang="zh-CN" altLang="en-US" dirty="0"/>
              <a:t>异常流程，</a:t>
            </a:r>
            <a:r>
              <a:rPr lang="en-US" altLang="zh-CN" dirty="0"/>
              <a:t>2 </a:t>
            </a:r>
            <a:r>
              <a:rPr lang="zh-CN" altLang="en-US" dirty="0"/>
              <a:t>个请求测试重名拦截</a:t>
            </a:r>
            <a:endParaRPr lang="en-US" altLang="zh-CN" dirty="0"/>
          </a:p>
          <a:p>
            <a:pPr marL="0" indent="0">
              <a:buFontTx/>
              <a:buNone/>
            </a:pPr>
            <a:r>
              <a:rPr lang="zh-CN" altLang="en-US" dirty="0"/>
              <a:t>这里将两个流程分别创建在不同的线程组中，避免执行时冲突。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7E9477-9B00-2C93-585E-04F0E5335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5043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D0D3-AE9B-B34F-31DF-5541E4E4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7F1EB3-603F-F852-2B9F-CBFFD2F63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1D586A-DF95-F5FB-4626-0DBD831BA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执行测试脚本后，可以看到两条业务流程用例全部通过：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BP-01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：菜品成功创建、查询、删除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BP-02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：重名菜品被正确拦截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说明系统核心业务流程顺畅，数据传递可靠。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3E2F07-A117-E4D4-0FD7-9EE13B4AE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5526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41A98-55C8-4D65-E8FA-48AEC1C8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30377E-E4B8-FBEC-4745-4567C78F5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3BCE2A-C153-3190-C9CF-59D3019D7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测试统计：本次测试共执行 </a:t>
            </a:r>
            <a:r>
              <a:rPr lang="en-US" altLang="zh-CN" dirty="0"/>
              <a:t>22 </a:t>
            </a:r>
            <a:r>
              <a:rPr lang="zh-CN" altLang="en-US" dirty="0"/>
              <a:t>条</a:t>
            </a:r>
            <a:r>
              <a:rPr lang="zh-CN" altLang="en-US"/>
              <a:t>用例，并且所有出现的缺陷</a:t>
            </a:r>
            <a:r>
              <a:rPr lang="zh-CN" altLang="en-US" dirty="0"/>
              <a:t>均已修复，最终通过率 </a:t>
            </a:r>
            <a:r>
              <a:rPr lang="en-US" altLang="zh-CN" dirty="0"/>
              <a:t>100%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可以说该系统的核心功能够满足日常使用需求，架构清晰，接口规范。但存在管理端参数校验不严、用户端防御性编程不足的问题，需进一步加强才能达到商用标准。</a:t>
            </a:r>
          </a:p>
          <a:p>
            <a:r>
              <a:rPr lang="zh-CN" altLang="en-US" dirty="0"/>
              <a:t>以上就是功能测试的汇报，谢谢大家！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1EB1CC-F7D9-D211-D956-5CC992F7D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5132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5903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9470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1966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3668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701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2127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2491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02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9466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6894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4578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5186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9367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2620E-8F9F-5AA7-7C52-B25311546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8656FB-14B1-CA06-78E7-B01D256DA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8F51B0-25EA-42A2-2514-770E608B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12FC81-8CB4-42D2-7932-C4F027DA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F970E4-00A0-9889-150D-8B46165A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31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C1E3B-B97F-9989-F88D-3A215822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57F62A-C1D0-A200-C123-6D4AE5858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068AA0-DCE1-5EC4-4C9E-0FC945EE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426D22-4963-C068-0FDD-DF605D3E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ECC50-ACC6-BB64-1259-431BDAC6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29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702D0-3997-DA31-30A9-1799C151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EF045A-8DF2-C322-AD3B-8449168AC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C843D4-4B8A-9AB1-7431-1CAEBA63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360A3B-8E66-E316-A75B-BCF291818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10DF4B-659D-2875-2AC9-33CA74E7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13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40B53-580E-DD6F-793C-1A2857B0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DAEE7-0F51-0DEE-A134-C3BBB35AC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BA88F4-1142-78CE-C3B5-0A1187E5B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301A36-507E-9CDD-ACB5-3CF31C03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E53E6C-F7C5-6E0C-3FF2-EE941287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583ACC-F406-2AA8-E127-F8C2C734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86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98F54-FC44-C986-93B4-5F6F4E6F5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11AD9D-915E-3BB9-E4F8-DD42A736C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5582D9-F5AE-52FC-C142-3FB158E28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41E391-DCDA-2A44-BFD5-4D345EE8B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192F5A-5784-5DAD-C215-40A41907B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D6EC72-B270-1DD3-1D6A-863E089B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DF3392-6699-E8DE-A822-11E51820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50DE5F-15EC-3EEE-D5CE-AFA13BD92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33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6DAC9-2DF6-A110-A7AA-D5F89E5A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B289B9-4EDF-DBEA-954F-20A46EA0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CE79C0-A8B2-8897-C7BA-0D7EBFEE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80ACAC-7FF6-4233-5CB0-3E7B3EC1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31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504966-3C36-3A90-1D53-02D5B0EA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BF21FC-4923-B746-5629-202E9E5B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FA13F3-A9FB-5FBD-2A4C-C1BBA50A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57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707C1-F3A9-48C3-B6C9-88DA2AB6F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AB1937-1A3F-6EA8-3064-4D6BCA16D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44806C-FF71-56BB-BDA7-970DA5BE8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AB88B3-262A-D6D2-1DB1-9BB66D05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8D00EA-FA9D-C490-68CB-3ABF631C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661FF9-AABA-CC03-793A-8C62A580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305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7D47A-D30E-C863-1445-47C2363C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901ACC-3B52-D598-48E3-AA193230D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C8D0D4-F36A-89B3-005B-D801565D3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D7693-FAF0-E9C9-0544-B81DA7D8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8862B-E127-0DF7-E5F0-F108D58C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A28B6D-9B8B-103A-0476-83085036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64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F3739-A577-10CC-82AF-FABF0444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D890B3-621B-773A-9F41-AF385747A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220FF0-34F3-0AC0-152E-C0A3C5F09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696429-219A-B421-FD32-C0E7CBB5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EB117-63DB-3852-13EA-65409F2B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61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1F90B6-23A2-4A4F-8325-E04F8765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982712-284D-A006-2826-406F42D8E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C01CD5-C507-B33F-A9F2-5F2BACE16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99AD1-78D7-6833-629D-4304F333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6F5ABF-9A7B-872B-8D34-90738C8D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348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952500" y="1574801"/>
            <a:ext cx="5168900" cy="2214563"/>
          </a:xfrm>
          <a:custGeom>
            <a:avLst/>
            <a:gdLst>
              <a:gd name="connsiteX0" fmla="*/ 0 w 5168900"/>
              <a:gd name="connsiteY0" fmla="*/ 0 h 2214563"/>
              <a:gd name="connsiteX1" fmla="*/ 5168900 w 5168900"/>
              <a:gd name="connsiteY1" fmla="*/ 0 h 2214563"/>
              <a:gd name="connsiteX2" fmla="*/ 5168900 w 5168900"/>
              <a:gd name="connsiteY2" fmla="*/ 2214563 h 2214563"/>
              <a:gd name="connsiteX3" fmla="*/ 0 w 5168900"/>
              <a:gd name="connsiteY3" fmla="*/ 2214563 h 221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8900" h="2214563">
                <a:moveTo>
                  <a:pt x="0" y="0"/>
                </a:moveTo>
                <a:lnTo>
                  <a:pt x="5168900" y="0"/>
                </a:lnTo>
                <a:lnTo>
                  <a:pt x="5168900" y="2214563"/>
                </a:lnTo>
                <a:lnTo>
                  <a:pt x="0" y="22145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6527800" y="3910167"/>
            <a:ext cx="4687888" cy="2100107"/>
          </a:xfrm>
          <a:custGeom>
            <a:avLst/>
            <a:gdLst>
              <a:gd name="connsiteX0" fmla="*/ 0 w 4687888"/>
              <a:gd name="connsiteY0" fmla="*/ 0 h 2100107"/>
              <a:gd name="connsiteX1" fmla="*/ 4687888 w 4687888"/>
              <a:gd name="connsiteY1" fmla="*/ 0 h 2100107"/>
              <a:gd name="connsiteX2" fmla="*/ 4687888 w 4687888"/>
              <a:gd name="connsiteY2" fmla="*/ 2100107 h 2100107"/>
              <a:gd name="connsiteX3" fmla="*/ 0 w 4687888"/>
              <a:gd name="connsiteY3" fmla="*/ 2100107 h 2100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7888" h="2100107">
                <a:moveTo>
                  <a:pt x="0" y="0"/>
                </a:moveTo>
                <a:lnTo>
                  <a:pt x="4687888" y="0"/>
                </a:lnTo>
                <a:lnTo>
                  <a:pt x="4687888" y="2100107"/>
                </a:lnTo>
                <a:lnTo>
                  <a:pt x="0" y="21001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516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4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952500" y="1574801"/>
            <a:ext cx="5168900" cy="2214563"/>
          </a:xfrm>
          <a:custGeom>
            <a:avLst/>
            <a:gdLst>
              <a:gd name="connsiteX0" fmla="*/ 0 w 5168900"/>
              <a:gd name="connsiteY0" fmla="*/ 0 h 2214563"/>
              <a:gd name="connsiteX1" fmla="*/ 5168900 w 5168900"/>
              <a:gd name="connsiteY1" fmla="*/ 0 h 2214563"/>
              <a:gd name="connsiteX2" fmla="*/ 5168900 w 5168900"/>
              <a:gd name="connsiteY2" fmla="*/ 2214563 h 2214563"/>
              <a:gd name="connsiteX3" fmla="*/ 0 w 5168900"/>
              <a:gd name="connsiteY3" fmla="*/ 2214563 h 221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8900" h="2214563">
                <a:moveTo>
                  <a:pt x="0" y="0"/>
                </a:moveTo>
                <a:lnTo>
                  <a:pt x="5168900" y="0"/>
                </a:lnTo>
                <a:lnTo>
                  <a:pt x="5168900" y="2214563"/>
                </a:lnTo>
                <a:lnTo>
                  <a:pt x="0" y="22145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6527800" y="3910167"/>
            <a:ext cx="4687888" cy="2100107"/>
          </a:xfrm>
          <a:custGeom>
            <a:avLst/>
            <a:gdLst>
              <a:gd name="connsiteX0" fmla="*/ 0 w 4687888"/>
              <a:gd name="connsiteY0" fmla="*/ 0 h 2100107"/>
              <a:gd name="connsiteX1" fmla="*/ 4687888 w 4687888"/>
              <a:gd name="connsiteY1" fmla="*/ 0 h 2100107"/>
              <a:gd name="connsiteX2" fmla="*/ 4687888 w 4687888"/>
              <a:gd name="connsiteY2" fmla="*/ 2100107 h 2100107"/>
              <a:gd name="connsiteX3" fmla="*/ 0 w 4687888"/>
              <a:gd name="connsiteY3" fmla="*/ 2100107 h 2100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7888" h="2100107">
                <a:moveTo>
                  <a:pt x="0" y="0"/>
                </a:moveTo>
                <a:lnTo>
                  <a:pt x="4687888" y="0"/>
                </a:lnTo>
                <a:lnTo>
                  <a:pt x="4687888" y="2100107"/>
                </a:lnTo>
                <a:lnTo>
                  <a:pt x="0" y="21001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13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E130AC-F040-809B-EADB-4D3183450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9A4A39-43B0-4C57-D272-D2AFC619D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A7D53-5575-7876-51CC-450BD8841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5D7C5-9456-473A-80D7-919D86797F43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480761-F75B-2663-66E4-DC1873794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0A930-33E8-58CF-04FB-DB81A1EA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BBF76-1D6F-4B66-8F3B-897225FBD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17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16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9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Relationship Id="rId4" Type="http://schemas.openxmlformats.org/officeDocument/2006/relationships/hyperlink" Target="http://localhost:8080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Relationship Id="rId4" Type="http://schemas.openxmlformats.org/officeDocument/2006/relationships/image" Target="../media/image53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Relationship Id="rId4" Type="http://schemas.openxmlformats.org/officeDocument/2006/relationships/image" Target="../media/image54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8.xml"/><Relationship Id="rId4" Type="http://schemas.openxmlformats.org/officeDocument/2006/relationships/image" Target="../media/image55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Relationship Id="rId4" Type="http://schemas.openxmlformats.org/officeDocument/2006/relationships/image" Target="../media/image56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0.xml"/><Relationship Id="rId4" Type="http://schemas.openxmlformats.org/officeDocument/2006/relationships/image" Target="../media/image57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1.xml"/><Relationship Id="rId4" Type="http://schemas.openxmlformats.org/officeDocument/2006/relationships/image" Target="../media/image58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2.xml"/><Relationship Id="rId4" Type="http://schemas.openxmlformats.org/officeDocument/2006/relationships/image" Target="../media/image59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3.xml"/><Relationship Id="rId4" Type="http://schemas.openxmlformats.org/officeDocument/2006/relationships/image" Target="../media/image60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4.xml"/><Relationship Id="rId4" Type="http://schemas.openxmlformats.org/officeDocument/2006/relationships/image" Target="../media/image61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/>
          <p:cNvSpPr/>
          <p:nvPr/>
        </p:nvSpPr>
        <p:spPr>
          <a:xfrm flipV="1">
            <a:off x="0" y="0"/>
            <a:ext cx="4961528" cy="41148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10800000" flipV="1">
            <a:off x="10055786" y="5086350"/>
            <a:ext cx="2136213" cy="1771650"/>
          </a:xfrm>
          <a:prstGeom prst="triangle">
            <a:avLst>
              <a:gd name="adj" fmla="val 0"/>
            </a:avLst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622774" y="3045418"/>
            <a:ext cx="1146506" cy="95084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" y="4456560"/>
            <a:ext cx="2895599" cy="24014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4961528" y="0"/>
            <a:ext cx="2429874" cy="201519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144034" y="2440259"/>
            <a:ext cx="5827236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defRPr/>
            </a:pPr>
            <a:r>
              <a:rPr lang="zh-CN" altLang="en-US" sz="4400" dirty="0">
                <a:solidFill>
                  <a:prstClr val="black"/>
                </a:solidFill>
                <a:latin typeface="Agency FB" panose="020B0503020202020204" pitchFamily="34" charset="0"/>
                <a:ea typeface="微软雅黑" panose="020B0503020204020204" charset="-122"/>
              </a:rPr>
              <a:t>苍穹外卖项目测试汇报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88748" y="4948499"/>
            <a:ext cx="2102654" cy="394270"/>
          </a:xfrm>
          <a:prstGeom prst="rect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11569700" y="4310556"/>
            <a:ext cx="622300" cy="5161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93555A6-BF99-6027-E958-631628A798D6}"/>
              </a:ext>
            </a:extLst>
          </p:cNvPr>
          <p:cNvSpPr txBox="1"/>
          <p:nvPr/>
        </p:nvSpPr>
        <p:spPr>
          <a:xfrm>
            <a:off x="4152275" y="3462195"/>
            <a:ext cx="5786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汇报人：刘灵菲，谭舒月，芦思瑶</a:t>
            </a:r>
          </a:p>
        </p:txBody>
      </p:sp>
    </p:spTree>
    <p:extLst>
      <p:ext uri="{BB962C8B-B14F-4D97-AF65-F5344CB8AC3E}">
        <p14:creationId xmlns:p14="http://schemas.microsoft.com/office/powerpoint/2010/main" val="166979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7" grpId="0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等腰三角形 20"/>
          <p:cNvSpPr/>
          <p:nvPr/>
        </p:nvSpPr>
        <p:spPr>
          <a:xfrm flipV="1">
            <a:off x="2354534" y="3098800"/>
            <a:ext cx="256632" cy="10477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3155950" y="0"/>
            <a:ext cx="5880100" cy="2400738"/>
            <a:chOff x="3155950" y="0"/>
            <a:chExt cx="5880100" cy="2400738"/>
          </a:xfrm>
        </p:grpSpPr>
        <p:sp>
          <p:nvSpPr>
            <p:cNvPr id="2" name="等腰三角形 1"/>
            <p:cNvSpPr/>
            <p:nvPr/>
          </p:nvSpPr>
          <p:spPr>
            <a:xfrm flipV="1">
              <a:off x="3155950" y="0"/>
              <a:ext cx="5880100" cy="2400738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647525" y="538769"/>
              <a:ext cx="2896947" cy="110799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CONTENTS</a:t>
              </a:r>
              <a:endParaRPr lang="zh-CN" altLang="en-US" sz="6600" dirty="0">
                <a:solidFill>
                  <a:schemeClr val="bg1"/>
                </a:solidFill>
                <a:latin typeface="Agency FB" panose="020B0503020202020204" pitchFamily="34" charset="0"/>
              </a:endParaRPr>
            </a:p>
          </p:txBody>
        </p:sp>
      </p:grpSp>
      <p:sp>
        <p:nvSpPr>
          <p:cNvPr id="5" name="椭圆 4"/>
          <p:cNvSpPr/>
          <p:nvPr/>
        </p:nvSpPr>
        <p:spPr>
          <a:xfrm>
            <a:off x="1898649" y="3362325"/>
            <a:ext cx="1168402" cy="11684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307416" y="3362325"/>
            <a:ext cx="1168402" cy="1168402"/>
          </a:xfrm>
          <a:prstGeom prst="ellips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716183" y="3362325"/>
            <a:ext cx="1168402" cy="11684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124949" y="3362325"/>
            <a:ext cx="1168402" cy="1168402"/>
          </a:xfrm>
          <a:prstGeom prst="ellips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9"/>
          <p:cNvSpPr/>
          <p:nvPr/>
        </p:nvSpPr>
        <p:spPr>
          <a:xfrm>
            <a:off x="2232024" y="3696030"/>
            <a:ext cx="501652" cy="500993"/>
          </a:xfrm>
          <a:custGeom>
            <a:avLst/>
            <a:gdLst>
              <a:gd name="connsiteX0" fmla="*/ 86413 w 591547"/>
              <a:gd name="connsiteY0" fmla="*/ 515758 h 590770"/>
              <a:gd name="connsiteX1" fmla="*/ 171919 w 591547"/>
              <a:gd name="connsiteY1" fmla="*/ 515758 h 590770"/>
              <a:gd name="connsiteX2" fmla="*/ 171919 w 591547"/>
              <a:gd name="connsiteY2" fmla="*/ 537523 h 590770"/>
              <a:gd name="connsiteX3" fmla="*/ 86413 w 591547"/>
              <a:gd name="connsiteY3" fmla="*/ 537523 h 590770"/>
              <a:gd name="connsiteX4" fmla="*/ 86413 w 591547"/>
              <a:gd name="connsiteY4" fmla="*/ 461733 h 590770"/>
              <a:gd name="connsiteX5" fmla="*/ 171919 w 591547"/>
              <a:gd name="connsiteY5" fmla="*/ 461733 h 590770"/>
              <a:gd name="connsiteX6" fmla="*/ 171919 w 591547"/>
              <a:gd name="connsiteY6" fmla="*/ 483498 h 590770"/>
              <a:gd name="connsiteX7" fmla="*/ 86413 w 591547"/>
              <a:gd name="connsiteY7" fmla="*/ 483498 h 590770"/>
              <a:gd name="connsiteX8" fmla="*/ 86413 w 591547"/>
              <a:gd name="connsiteY8" fmla="*/ 408616 h 590770"/>
              <a:gd name="connsiteX9" fmla="*/ 171919 w 591547"/>
              <a:gd name="connsiteY9" fmla="*/ 408616 h 590770"/>
              <a:gd name="connsiteX10" fmla="*/ 171919 w 591547"/>
              <a:gd name="connsiteY10" fmla="*/ 429474 h 590770"/>
              <a:gd name="connsiteX11" fmla="*/ 86413 w 591547"/>
              <a:gd name="connsiteY11" fmla="*/ 429474 h 590770"/>
              <a:gd name="connsiteX12" fmla="*/ 204177 w 591547"/>
              <a:gd name="connsiteY12" fmla="*/ 357041 h 590770"/>
              <a:gd name="connsiteX13" fmla="*/ 204177 w 591547"/>
              <a:gd name="connsiteY13" fmla="*/ 569815 h 590770"/>
              <a:gd name="connsiteX14" fmla="*/ 333300 w 591547"/>
              <a:gd name="connsiteY14" fmla="*/ 569815 h 590770"/>
              <a:gd name="connsiteX15" fmla="*/ 333300 w 591547"/>
              <a:gd name="connsiteY15" fmla="*/ 382026 h 590770"/>
              <a:gd name="connsiteX16" fmla="*/ 183194 w 591547"/>
              <a:gd name="connsiteY16" fmla="*/ 357041 h 590770"/>
              <a:gd name="connsiteX17" fmla="*/ 75053 w 591547"/>
              <a:gd name="connsiteY17" fmla="*/ 382026 h 590770"/>
              <a:gd name="connsiteX18" fmla="*/ 75053 w 591547"/>
              <a:gd name="connsiteY18" fmla="*/ 569815 h 590770"/>
              <a:gd name="connsiteX19" fmla="*/ 183194 w 591547"/>
              <a:gd name="connsiteY19" fmla="*/ 569815 h 590770"/>
              <a:gd name="connsiteX20" fmla="*/ 247709 w 591547"/>
              <a:gd name="connsiteY20" fmla="*/ 311838 h 590770"/>
              <a:gd name="connsiteX21" fmla="*/ 322851 w 591547"/>
              <a:gd name="connsiteY21" fmla="*/ 311838 h 590770"/>
              <a:gd name="connsiteX22" fmla="*/ 322851 w 591547"/>
              <a:gd name="connsiteY22" fmla="*/ 332826 h 590770"/>
              <a:gd name="connsiteX23" fmla="*/ 247709 w 591547"/>
              <a:gd name="connsiteY23" fmla="*/ 332826 h 590770"/>
              <a:gd name="connsiteX24" fmla="*/ 247709 w 591547"/>
              <a:gd name="connsiteY24" fmla="*/ 257944 h 590770"/>
              <a:gd name="connsiteX25" fmla="*/ 322851 w 591547"/>
              <a:gd name="connsiteY25" fmla="*/ 257944 h 590770"/>
              <a:gd name="connsiteX26" fmla="*/ 322851 w 591547"/>
              <a:gd name="connsiteY26" fmla="*/ 279580 h 590770"/>
              <a:gd name="connsiteX27" fmla="*/ 247709 w 591547"/>
              <a:gd name="connsiteY27" fmla="*/ 279580 h 590770"/>
              <a:gd name="connsiteX28" fmla="*/ 247709 w 591547"/>
              <a:gd name="connsiteY28" fmla="*/ 203919 h 590770"/>
              <a:gd name="connsiteX29" fmla="*/ 322851 w 591547"/>
              <a:gd name="connsiteY29" fmla="*/ 203919 h 590770"/>
              <a:gd name="connsiteX30" fmla="*/ 322851 w 591547"/>
              <a:gd name="connsiteY30" fmla="*/ 225684 h 590770"/>
              <a:gd name="connsiteX31" fmla="*/ 247709 w 591547"/>
              <a:gd name="connsiteY31" fmla="*/ 225684 h 590770"/>
              <a:gd name="connsiteX32" fmla="*/ 247709 w 591547"/>
              <a:gd name="connsiteY32" fmla="*/ 150672 h 590770"/>
              <a:gd name="connsiteX33" fmla="*/ 322851 w 591547"/>
              <a:gd name="connsiteY33" fmla="*/ 150672 h 590770"/>
              <a:gd name="connsiteX34" fmla="*/ 322851 w 591547"/>
              <a:gd name="connsiteY34" fmla="*/ 171660 h 590770"/>
              <a:gd name="connsiteX35" fmla="*/ 247709 w 591547"/>
              <a:gd name="connsiteY35" fmla="*/ 171660 h 590770"/>
              <a:gd name="connsiteX36" fmla="*/ 355090 w 591547"/>
              <a:gd name="connsiteY36" fmla="*/ 102357 h 590770"/>
              <a:gd name="connsiteX37" fmla="*/ 355090 w 591547"/>
              <a:gd name="connsiteY37" fmla="*/ 373160 h 590770"/>
              <a:gd name="connsiteX38" fmla="*/ 355090 w 591547"/>
              <a:gd name="connsiteY38" fmla="*/ 376384 h 590770"/>
              <a:gd name="connsiteX39" fmla="*/ 355090 w 591547"/>
              <a:gd name="connsiteY39" fmla="*/ 569815 h 590770"/>
              <a:gd name="connsiteX40" fmla="*/ 484213 w 591547"/>
              <a:gd name="connsiteY40" fmla="*/ 569815 h 590770"/>
              <a:gd name="connsiteX41" fmla="*/ 484213 w 591547"/>
              <a:gd name="connsiteY41" fmla="*/ 154744 h 590770"/>
              <a:gd name="connsiteX42" fmla="*/ 333300 w 591547"/>
              <a:gd name="connsiteY42" fmla="*/ 99939 h 590770"/>
              <a:gd name="connsiteX43" fmla="*/ 236458 w 591547"/>
              <a:gd name="connsiteY43" fmla="*/ 125730 h 590770"/>
              <a:gd name="connsiteX44" fmla="*/ 236458 w 591547"/>
              <a:gd name="connsiteY44" fmla="*/ 341728 h 590770"/>
              <a:gd name="connsiteX45" fmla="*/ 333300 w 591547"/>
              <a:gd name="connsiteY45" fmla="*/ 360265 h 590770"/>
              <a:gd name="connsiteX46" fmla="*/ 397862 w 591547"/>
              <a:gd name="connsiteY46" fmla="*/ 21761 h 590770"/>
              <a:gd name="connsiteX47" fmla="*/ 387371 w 591547"/>
              <a:gd name="connsiteY47" fmla="*/ 32238 h 590770"/>
              <a:gd name="connsiteX48" fmla="*/ 397862 w 591547"/>
              <a:gd name="connsiteY48" fmla="*/ 42716 h 590770"/>
              <a:gd name="connsiteX49" fmla="*/ 409160 w 591547"/>
              <a:gd name="connsiteY49" fmla="*/ 32238 h 590770"/>
              <a:gd name="connsiteX50" fmla="*/ 397862 w 591547"/>
              <a:gd name="connsiteY50" fmla="*/ 21761 h 590770"/>
              <a:gd name="connsiteX51" fmla="*/ 397862 w 591547"/>
              <a:gd name="connsiteY51" fmla="*/ 0 h 590770"/>
              <a:gd name="connsiteX52" fmla="*/ 430143 w 591547"/>
              <a:gd name="connsiteY52" fmla="*/ 32238 h 590770"/>
              <a:gd name="connsiteX53" fmla="*/ 409160 w 591547"/>
              <a:gd name="connsiteY53" fmla="*/ 62865 h 590770"/>
              <a:gd name="connsiteX54" fmla="*/ 409160 w 591547"/>
              <a:gd name="connsiteY54" fmla="*/ 100745 h 590770"/>
              <a:gd name="connsiteX55" fmla="*/ 498740 w 591547"/>
              <a:gd name="connsiteY55" fmla="*/ 137819 h 590770"/>
              <a:gd name="connsiteX56" fmla="*/ 506003 w 591547"/>
              <a:gd name="connsiteY56" fmla="*/ 147491 h 590770"/>
              <a:gd name="connsiteX57" fmla="*/ 506003 w 591547"/>
              <a:gd name="connsiteY57" fmla="*/ 569815 h 590770"/>
              <a:gd name="connsiteX58" fmla="*/ 591547 w 591547"/>
              <a:gd name="connsiteY58" fmla="*/ 569815 h 590770"/>
              <a:gd name="connsiteX59" fmla="*/ 591547 w 591547"/>
              <a:gd name="connsiteY59" fmla="*/ 590770 h 590770"/>
              <a:gd name="connsiteX60" fmla="*/ 494705 w 591547"/>
              <a:gd name="connsiteY60" fmla="*/ 590770 h 590770"/>
              <a:gd name="connsiteX61" fmla="*/ 344598 w 591547"/>
              <a:gd name="connsiteY61" fmla="*/ 590770 h 590770"/>
              <a:gd name="connsiteX62" fmla="*/ 193685 w 591547"/>
              <a:gd name="connsiteY62" fmla="*/ 590770 h 590770"/>
              <a:gd name="connsiteX63" fmla="*/ 64562 w 591547"/>
              <a:gd name="connsiteY63" fmla="*/ 590770 h 590770"/>
              <a:gd name="connsiteX64" fmla="*/ 0 w 591547"/>
              <a:gd name="connsiteY64" fmla="*/ 590770 h 590770"/>
              <a:gd name="connsiteX65" fmla="*/ 0 w 591547"/>
              <a:gd name="connsiteY65" fmla="*/ 569815 h 590770"/>
              <a:gd name="connsiteX66" fmla="*/ 54070 w 591547"/>
              <a:gd name="connsiteY66" fmla="*/ 569815 h 590770"/>
              <a:gd name="connsiteX67" fmla="*/ 54070 w 591547"/>
              <a:gd name="connsiteY67" fmla="*/ 373160 h 590770"/>
              <a:gd name="connsiteX68" fmla="*/ 62141 w 591547"/>
              <a:gd name="connsiteY68" fmla="*/ 362683 h 590770"/>
              <a:gd name="connsiteX69" fmla="*/ 191264 w 591547"/>
              <a:gd name="connsiteY69" fmla="*/ 333668 h 590770"/>
              <a:gd name="connsiteX70" fmla="*/ 195299 w 591547"/>
              <a:gd name="connsiteY70" fmla="*/ 333668 h 590770"/>
              <a:gd name="connsiteX71" fmla="*/ 196106 w 591547"/>
              <a:gd name="connsiteY71" fmla="*/ 333668 h 590770"/>
              <a:gd name="connsiteX72" fmla="*/ 215475 w 591547"/>
              <a:gd name="connsiteY72" fmla="*/ 336892 h 590770"/>
              <a:gd name="connsiteX73" fmla="*/ 215475 w 591547"/>
              <a:gd name="connsiteY73" fmla="*/ 116864 h 590770"/>
              <a:gd name="connsiteX74" fmla="*/ 223545 w 591547"/>
              <a:gd name="connsiteY74" fmla="*/ 106387 h 590770"/>
              <a:gd name="connsiteX75" fmla="*/ 341370 w 591547"/>
              <a:gd name="connsiteY75" fmla="*/ 75760 h 590770"/>
              <a:gd name="connsiteX76" fmla="*/ 342984 w 591547"/>
              <a:gd name="connsiteY76" fmla="*/ 75760 h 590770"/>
              <a:gd name="connsiteX77" fmla="*/ 345405 w 591547"/>
              <a:gd name="connsiteY77" fmla="*/ 75760 h 590770"/>
              <a:gd name="connsiteX78" fmla="*/ 347020 w 591547"/>
              <a:gd name="connsiteY78" fmla="*/ 75760 h 590770"/>
              <a:gd name="connsiteX79" fmla="*/ 348634 w 591547"/>
              <a:gd name="connsiteY79" fmla="*/ 75760 h 590770"/>
              <a:gd name="connsiteX80" fmla="*/ 387371 w 591547"/>
              <a:gd name="connsiteY80" fmla="*/ 91879 h 590770"/>
              <a:gd name="connsiteX81" fmla="*/ 387371 w 591547"/>
              <a:gd name="connsiteY81" fmla="*/ 62865 h 590770"/>
              <a:gd name="connsiteX82" fmla="*/ 365581 w 591547"/>
              <a:gd name="connsiteY82" fmla="*/ 32238 h 590770"/>
              <a:gd name="connsiteX83" fmla="*/ 397862 w 591547"/>
              <a:gd name="connsiteY83" fmla="*/ 0 h 590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91547" h="590770">
                <a:moveTo>
                  <a:pt x="86413" y="515758"/>
                </a:moveTo>
                <a:lnTo>
                  <a:pt x="171919" y="515758"/>
                </a:lnTo>
                <a:lnTo>
                  <a:pt x="171919" y="537523"/>
                </a:lnTo>
                <a:lnTo>
                  <a:pt x="86413" y="537523"/>
                </a:lnTo>
                <a:close/>
                <a:moveTo>
                  <a:pt x="86413" y="461733"/>
                </a:moveTo>
                <a:lnTo>
                  <a:pt x="171919" y="461733"/>
                </a:lnTo>
                <a:lnTo>
                  <a:pt x="171919" y="483498"/>
                </a:lnTo>
                <a:lnTo>
                  <a:pt x="86413" y="483498"/>
                </a:lnTo>
                <a:close/>
                <a:moveTo>
                  <a:pt x="86413" y="408616"/>
                </a:moveTo>
                <a:lnTo>
                  <a:pt x="171919" y="408616"/>
                </a:lnTo>
                <a:lnTo>
                  <a:pt x="171919" y="429474"/>
                </a:lnTo>
                <a:lnTo>
                  <a:pt x="86413" y="429474"/>
                </a:lnTo>
                <a:close/>
                <a:moveTo>
                  <a:pt x="204177" y="357041"/>
                </a:moveTo>
                <a:lnTo>
                  <a:pt x="204177" y="569815"/>
                </a:lnTo>
                <a:lnTo>
                  <a:pt x="333300" y="569815"/>
                </a:lnTo>
                <a:lnTo>
                  <a:pt x="333300" y="382026"/>
                </a:lnTo>
                <a:close/>
                <a:moveTo>
                  <a:pt x="183194" y="357041"/>
                </a:moveTo>
                <a:lnTo>
                  <a:pt x="75053" y="382026"/>
                </a:lnTo>
                <a:lnTo>
                  <a:pt x="75053" y="569815"/>
                </a:lnTo>
                <a:lnTo>
                  <a:pt x="183194" y="569815"/>
                </a:lnTo>
                <a:close/>
                <a:moveTo>
                  <a:pt x="247709" y="311838"/>
                </a:moveTo>
                <a:lnTo>
                  <a:pt x="322851" y="311838"/>
                </a:lnTo>
                <a:lnTo>
                  <a:pt x="322851" y="332826"/>
                </a:lnTo>
                <a:lnTo>
                  <a:pt x="247709" y="332826"/>
                </a:lnTo>
                <a:close/>
                <a:moveTo>
                  <a:pt x="247709" y="257944"/>
                </a:moveTo>
                <a:lnTo>
                  <a:pt x="322851" y="257944"/>
                </a:lnTo>
                <a:lnTo>
                  <a:pt x="322851" y="279580"/>
                </a:lnTo>
                <a:lnTo>
                  <a:pt x="247709" y="279580"/>
                </a:lnTo>
                <a:close/>
                <a:moveTo>
                  <a:pt x="247709" y="203919"/>
                </a:moveTo>
                <a:lnTo>
                  <a:pt x="322851" y="203919"/>
                </a:lnTo>
                <a:lnTo>
                  <a:pt x="322851" y="225684"/>
                </a:lnTo>
                <a:lnTo>
                  <a:pt x="247709" y="225684"/>
                </a:lnTo>
                <a:close/>
                <a:moveTo>
                  <a:pt x="247709" y="150672"/>
                </a:moveTo>
                <a:lnTo>
                  <a:pt x="322851" y="150672"/>
                </a:lnTo>
                <a:lnTo>
                  <a:pt x="322851" y="171660"/>
                </a:lnTo>
                <a:lnTo>
                  <a:pt x="247709" y="171660"/>
                </a:lnTo>
                <a:close/>
                <a:moveTo>
                  <a:pt x="355090" y="102357"/>
                </a:moveTo>
                <a:lnTo>
                  <a:pt x="355090" y="373160"/>
                </a:lnTo>
                <a:lnTo>
                  <a:pt x="355090" y="376384"/>
                </a:lnTo>
                <a:lnTo>
                  <a:pt x="355090" y="569815"/>
                </a:lnTo>
                <a:lnTo>
                  <a:pt x="484213" y="569815"/>
                </a:lnTo>
                <a:lnTo>
                  <a:pt x="484213" y="154744"/>
                </a:lnTo>
                <a:close/>
                <a:moveTo>
                  <a:pt x="333300" y="99939"/>
                </a:moveTo>
                <a:lnTo>
                  <a:pt x="236458" y="125730"/>
                </a:lnTo>
                <a:lnTo>
                  <a:pt x="236458" y="341728"/>
                </a:lnTo>
                <a:lnTo>
                  <a:pt x="333300" y="360265"/>
                </a:lnTo>
                <a:close/>
                <a:moveTo>
                  <a:pt x="397862" y="21761"/>
                </a:moveTo>
                <a:cubicBezTo>
                  <a:pt x="392213" y="21761"/>
                  <a:pt x="387371" y="26596"/>
                  <a:pt x="387371" y="32238"/>
                </a:cubicBezTo>
                <a:cubicBezTo>
                  <a:pt x="387371" y="37880"/>
                  <a:pt x="392213" y="42716"/>
                  <a:pt x="397862" y="42716"/>
                </a:cubicBezTo>
                <a:cubicBezTo>
                  <a:pt x="404318" y="42716"/>
                  <a:pt x="409160" y="37880"/>
                  <a:pt x="409160" y="32238"/>
                </a:cubicBezTo>
                <a:cubicBezTo>
                  <a:pt x="409160" y="26596"/>
                  <a:pt x="404318" y="21761"/>
                  <a:pt x="397862" y="21761"/>
                </a:cubicBezTo>
                <a:close/>
                <a:moveTo>
                  <a:pt x="397862" y="0"/>
                </a:moveTo>
                <a:cubicBezTo>
                  <a:pt x="415616" y="0"/>
                  <a:pt x="430143" y="14507"/>
                  <a:pt x="430143" y="32238"/>
                </a:cubicBezTo>
                <a:cubicBezTo>
                  <a:pt x="430143" y="45940"/>
                  <a:pt x="421266" y="58029"/>
                  <a:pt x="409160" y="62865"/>
                </a:cubicBezTo>
                <a:lnTo>
                  <a:pt x="409160" y="100745"/>
                </a:lnTo>
                <a:lnTo>
                  <a:pt x="498740" y="137819"/>
                </a:lnTo>
                <a:cubicBezTo>
                  <a:pt x="502775" y="139431"/>
                  <a:pt x="506003" y="143461"/>
                  <a:pt x="506003" y="147491"/>
                </a:cubicBezTo>
                <a:lnTo>
                  <a:pt x="506003" y="569815"/>
                </a:lnTo>
                <a:lnTo>
                  <a:pt x="591547" y="569815"/>
                </a:lnTo>
                <a:lnTo>
                  <a:pt x="591547" y="590770"/>
                </a:lnTo>
                <a:lnTo>
                  <a:pt x="494705" y="590770"/>
                </a:lnTo>
                <a:lnTo>
                  <a:pt x="344598" y="590770"/>
                </a:lnTo>
                <a:lnTo>
                  <a:pt x="193685" y="590770"/>
                </a:lnTo>
                <a:lnTo>
                  <a:pt x="64562" y="590770"/>
                </a:lnTo>
                <a:lnTo>
                  <a:pt x="0" y="590770"/>
                </a:lnTo>
                <a:lnTo>
                  <a:pt x="0" y="569815"/>
                </a:lnTo>
                <a:lnTo>
                  <a:pt x="54070" y="569815"/>
                </a:lnTo>
                <a:lnTo>
                  <a:pt x="54070" y="373160"/>
                </a:lnTo>
                <a:cubicBezTo>
                  <a:pt x="54070" y="368324"/>
                  <a:pt x="57298" y="364294"/>
                  <a:pt x="62141" y="362683"/>
                </a:cubicBezTo>
                <a:lnTo>
                  <a:pt x="191264" y="333668"/>
                </a:lnTo>
                <a:cubicBezTo>
                  <a:pt x="192878" y="332862"/>
                  <a:pt x="194492" y="332862"/>
                  <a:pt x="195299" y="333668"/>
                </a:cubicBezTo>
                <a:cubicBezTo>
                  <a:pt x="196106" y="333668"/>
                  <a:pt x="196106" y="333668"/>
                  <a:pt x="196106" y="333668"/>
                </a:cubicBezTo>
                <a:lnTo>
                  <a:pt x="215475" y="336892"/>
                </a:lnTo>
                <a:lnTo>
                  <a:pt x="215475" y="116864"/>
                </a:lnTo>
                <a:cubicBezTo>
                  <a:pt x="215475" y="112028"/>
                  <a:pt x="218703" y="107999"/>
                  <a:pt x="223545" y="106387"/>
                </a:cubicBezTo>
                <a:lnTo>
                  <a:pt x="341370" y="75760"/>
                </a:lnTo>
                <a:cubicBezTo>
                  <a:pt x="342177" y="75760"/>
                  <a:pt x="342177" y="75760"/>
                  <a:pt x="342984" y="75760"/>
                </a:cubicBezTo>
                <a:cubicBezTo>
                  <a:pt x="343791" y="75760"/>
                  <a:pt x="344598" y="74954"/>
                  <a:pt x="345405" y="75760"/>
                </a:cubicBezTo>
                <a:cubicBezTo>
                  <a:pt x="346213" y="75760"/>
                  <a:pt x="347020" y="75760"/>
                  <a:pt x="347020" y="75760"/>
                </a:cubicBezTo>
                <a:cubicBezTo>
                  <a:pt x="347827" y="75760"/>
                  <a:pt x="347827" y="75760"/>
                  <a:pt x="348634" y="75760"/>
                </a:cubicBezTo>
                <a:lnTo>
                  <a:pt x="387371" y="91879"/>
                </a:lnTo>
                <a:lnTo>
                  <a:pt x="387371" y="62865"/>
                </a:lnTo>
                <a:cubicBezTo>
                  <a:pt x="375265" y="58029"/>
                  <a:pt x="365581" y="45940"/>
                  <a:pt x="365581" y="32238"/>
                </a:cubicBezTo>
                <a:cubicBezTo>
                  <a:pt x="365581" y="14507"/>
                  <a:pt x="380107" y="0"/>
                  <a:pt x="3978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" name="椭圆 10"/>
          <p:cNvSpPr/>
          <p:nvPr/>
        </p:nvSpPr>
        <p:spPr>
          <a:xfrm>
            <a:off x="4640791" y="3696079"/>
            <a:ext cx="501652" cy="500894"/>
          </a:xfrm>
          <a:custGeom>
            <a:avLst/>
            <a:gdLst>
              <a:gd name="connsiteX0" fmla="*/ 303775 w 607639"/>
              <a:gd name="connsiteY0" fmla="*/ 525007 h 606722"/>
              <a:gd name="connsiteX1" fmla="*/ 315710 w 607639"/>
              <a:gd name="connsiteY1" fmla="*/ 536902 h 606722"/>
              <a:gd name="connsiteX2" fmla="*/ 315710 w 607639"/>
              <a:gd name="connsiteY2" fmla="*/ 552347 h 606722"/>
              <a:gd name="connsiteX3" fmla="*/ 303775 w 607639"/>
              <a:gd name="connsiteY3" fmla="*/ 564241 h 606722"/>
              <a:gd name="connsiteX4" fmla="*/ 291929 w 607639"/>
              <a:gd name="connsiteY4" fmla="*/ 552347 h 606722"/>
              <a:gd name="connsiteX5" fmla="*/ 291929 w 607639"/>
              <a:gd name="connsiteY5" fmla="*/ 536902 h 606722"/>
              <a:gd name="connsiteX6" fmla="*/ 303775 w 607639"/>
              <a:gd name="connsiteY6" fmla="*/ 525007 h 606722"/>
              <a:gd name="connsiteX7" fmla="*/ 429885 w 607639"/>
              <a:gd name="connsiteY7" fmla="*/ 509483 h 606722"/>
              <a:gd name="connsiteX8" fmla="*/ 441811 w 607639"/>
              <a:gd name="connsiteY8" fmla="*/ 521409 h 606722"/>
              <a:gd name="connsiteX9" fmla="*/ 429885 w 607639"/>
              <a:gd name="connsiteY9" fmla="*/ 533335 h 606722"/>
              <a:gd name="connsiteX10" fmla="*/ 417959 w 607639"/>
              <a:gd name="connsiteY10" fmla="*/ 521409 h 606722"/>
              <a:gd name="connsiteX11" fmla="*/ 429885 w 607639"/>
              <a:gd name="connsiteY11" fmla="*/ 509483 h 606722"/>
              <a:gd name="connsiteX12" fmla="*/ 177720 w 607639"/>
              <a:gd name="connsiteY12" fmla="*/ 509483 h 606722"/>
              <a:gd name="connsiteX13" fmla="*/ 189611 w 607639"/>
              <a:gd name="connsiteY13" fmla="*/ 521409 h 606722"/>
              <a:gd name="connsiteX14" fmla="*/ 177720 w 607639"/>
              <a:gd name="connsiteY14" fmla="*/ 533335 h 606722"/>
              <a:gd name="connsiteX15" fmla="*/ 165829 w 607639"/>
              <a:gd name="connsiteY15" fmla="*/ 521409 h 606722"/>
              <a:gd name="connsiteX16" fmla="*/ 177720 w 607639"/>
              <a:gd name="connsiteY16" fmla="*/ 509483 h 606722"/>
              <a:gd name="connsiteX17" fmla="*/ 522185 w 607639"/>
              <a:gd name="connsiteY17" fmla="*/ 417324 h 606722"/>
              <a:gd name="connsiteX18" fmla="*/ 534111 w 607639"/>
              <a:gd name="connsiteY18" fmla="*/ 429250 h 606722"/>
              <a:gd name="connsiteX19" fmla="*/ 522185 w 607639"/>
              <a:gd name="connsiteY19" fmla="*/ 441176 h 606722"/>
              <a:gd name="connsiteX20" fmla="*/ 510259 w 607639"/>
              <a:gd name="connsiteY20" fmla="*/ 429250 h 606722"/>
              <a:gd name="connsiteX21" fmla="*/ 522185 w 607639"/>
              <a:gd name="connsiteY21" fmla="*/ 417324 h 606722"/>
              <a:gd name="connsiteX22" fmla="*/ 85420 w 607639"/>
              <a:gd name="connsiteY22" fmla="*/ 417324 h 606722"/>
              <a:gd name="connsiteX23" fmla="*/ 97311 w 607639"/>
              <a:gd name="connsiteY23" fmla="*/ 429250 h 606722"/>
              <a:gd name="connsiteX24" fmla="*/ 85420 w 607639"/>
              <a:gd name="connsiteY24" fmla="*/ 441176 h 606722"/>
              <a:gd name="connsiteX25" fmla="*/ 73529 w 607639"/>
              <a:gd name="connsiteY25" fmla="*/ 429250 h 606722"/>
              <a:gd name="connsiteX26" fmla="*/ 85420 w 607639"/>
              <a:gd name="connsiteY26" fmla="*/ 417324 h 606722"/>
              <a:gd name="connsiteX27" fmla="*/ 537643 w 607639"/>
              <a:gd name="connsiteY27" fmla="*/ 291506 h 606722"/>
              <a:gd name="connsiteX28" fmla="*/ 555628 w 607639"/>
              <a:gd name="connsiteY28" fmla="*/ 291506 h 606722"/>
              <a:gd name="connsiteX29" fmla="*/ 567558 w 607639"/>
              <a:gd name="connsiteY29" fmla="*/ 303316 h 606722"/>
              <a:gd name="connsiteX30" fmla="*/ 555628 w 607639"/>
              <a:gd name="connsiteY30" fmla="*/ 315216 h 606722"/>
              <a:gd name="connsiteX31" fmla="*/ 537643 w 607639"/>
              <a:gd name="connsiteY31" fmla="*/ 315216 h 606722"/>
              <a:gd name="connsiteX32" fmla="*/ 525713 w 607639"/>
              <a:gd name="connsiteY32" fmla="*/ 303316 h 606722"/>
              <a:gd name="connsiteX33" fmla="*/ 537643 w 607639"/>
              <a:gd name="connsiteY33" fmla="*/ 291506 h 606722"/>
              <a:gd name="connsiteX34" fmla="*/ 51991 w 607639"/>
              <a:gd name="connsiteY34" fmla="*/ 291506 h 606722"/>
              <a:gd name="connsiteX35" fmla="*/ 69946 w 607639"/>
              <a:gd name="connsiteY35" fmla="*/ 291506 h 606722"/>
              <a:gd name="connsiteX36" fmla="*/ 81856 w 607639"/>
              <a:gd name="connsiteY36" fmla="*/ 303316 h 606722"/>
              <a:gd name="connsiteX37" fmla="*/ 69946 w 607639"/>
              <a:gd name="connsiteY37" fmla="*/ 315216 h 606722"/>
              <a:gd name="connsiteX38" fmla="*/ 51991 w 607639"/>
              <a:gd name="connsiteY38" fmla="*/ 315216 h 606722"/>
              <a:gd name="connsiteX39" fmla="*/ 40081 w 607639"/>
              <a:gd name="connsiteY39" fmla="*/ 303316 h 606722"/>
              <a:gd name="connsiteX40" fmla="*/ 51991 w 607639"/>
              <a:gd name="connsiteY40" fmla="*/ 291506 h 606722"/>
              <a:gd name="connsiteX41" fmla="*/ 412608 w 607639"/>
              <a:gd name="connsiteY41" fmla="*/ 222096 h 606722"/>
              <a:gd name="connsiteX42" fmla="*/ 345491 w 607639"/>
              <a:gd name="connsiteY42" fmla="*/ 334245 h 606722"/>
              <a:gd name="connsiteX43" fmla="*/ 412608 w 607639"/>
              <a:gd name="connsiteY43" fmla="*/ 334245 h 606722"/>
              <a:gd name="connsiteX44" fmla="*/ 427651 w 607639"/>
              <a:gd name="connsiteY44" fmla="*/ 167533 h 606722"/>
              <a:gd name="connsiteX45" fmla="*/ 436375 w 607639"/>
              <a:gd name="connsiteY45" fmla="*/ 178996 h 606722"/>
              <a:gd name="connsiteX46" fmla="*/ 436375 w 607639"/>
              <a:gd name="connsiteY46" fmla="*/ 334245 h 606722"/>
              <a:gd name="connsiteX47" fmla="*/ 469399 w 607639"/>
              <a:gd name="connsiteY47" fmla="*/ 334245 h 606722"/>
              <a:gd name="connsiteX48" fmla="*/ 481327 w 607639"/>
              <a:gd name="connsiteY48" fmla="*/ 346153 h 606722"/>
              <a:gd name="connsiteX49" fmla="*/ 469399 w 607639"/>
              <a:gd name="connsiteY49" fmla="*/ 357973 h 606722"/>
              <a:gd name="connsiteX50" fmla="*/ 436375 w 607639"/>
              <a:gd name="connsiteY50" fmla="*/ 357973 h 606722"/>
              <a:gd name="connsiteX51" fmla="*/ 436375 w 607639"/>
              <a:gd name="connsiteY51" fmla="*/ 427733 h 606722"/>
              <a:gd name="connsiteX52" fmla="*/ 424536 w 607639"/>
              <a:gd name="connsiteY52" fmla="*/ 439552 h 606722"/>
              <a:gd name="connsiteX53" fmla="*/ 412608 w 607639"/>
              <a:gd name="connsiteY53" fmla="*/ 427733 h 606722"/>
              <a:gd name="connsiteX54" fmla="*/ 412608 w 607639"/>
              <a:gd name="connsiteY54" fmla="*/ 357973 h 606722"/>
              <a:gd name="connsiteX55" fmla="*/ 324573 w 607639"/>
              <a:gd name="connsiteY55" fmla="*/ 357973 h 606722"/>
              <a:gd name="connsiteX56" fmla="*/ 314158 w 607639"/>
              <a:gd name="connsiteY56" fmla="*/ 352019 h 606722"/>
              <a:gd name="connsiteX57" fmla="*/ 314336 w 607639"/>
              <a:gd name="connsiteY57" fmla="*/ 340022 h 606722"/>
              <a:gd name="connsiteX58" fmla="*/ 414299 w 607639"/>
              <a:gd name="connsiteY58" fmla="*/ 172953 h 606722"/>
              <a:gd name="connsiteX59" fmla="*/ 427651 w 607639"/>
              <a:gd name="connsiteY59" fmla="*/ 167533 h 606722"/>
              <a:gd name="connsiteX60" fmla="*/ 216270 w 607639"/>
              <a:gd name="connsiteY60" fmla="*/ 167099 h 606722"/>
              <a:gd name="connsiteX61" fmla="*/ 290518 w 607639"/>
              <a:gd name="connsiteY61" fmla="*/ 241210 h 606722"/>
              <a:gd name="connsiteX62" fmla="*/ 242978 w 607639"/>
              <a:gd name="connsiteY62" fmla="*/ 355754 h 606722"/>
              <a:gd name="connsiteX63" fmla="*/ 182707 w 607639"/>
              <a:gd name="connsiteY63" fmla="*/ 415825 h 606722"/>
              <a:gd name="connsiteX64" fmla="*/ 278588 w 607639"/>
              <a:gd name="connsiteY64" fmla="*/ 415825 h 606722"/>
              <a:gd name="connsiteX65" fmla="*/ 290518 w 607639"/>
              <a:gd name="connsiteY65" fmla="*/ 427734 h 606722"/>
              <a:gd name="connsiteX66" fmla="*/ 278588 w 607639"/>
              <a:gd name="connsiteY66" fmla="*/ 439552 h 606722"/>
              <a:gd name="connsiteX67" fmla="*/ 154040 w 607639"/>
              <a:gd name="connsiteY67" fmla="*/ 439552 h 606722"/>
              <a:gd name="connsiteX68" fmla="*/ 143001 w 607639"/>
              <a:gd name="connsiteY68" fmla="*/ 432265 h 606722"/>
              <a:gd name="connsiteX69" fmla="*/ 145582 w 607639"/>
              <a:gd name="connsiteY69" fmla="*/ 419292 h 606722"/>
              <a:gd name="connsiteX70" fmla="*/ 226152 w 607639"/>
              <a:gd name="connsiteY70" fmla="*/ 338959 h 606722"/>
              <a:gd name="connsiteX71" fmla="*/ 266659 w 607639"/>
              <a:gd name="connsiteY71" fmla="*/ 241210 h 606722"/>
              <a:gd name="connsiteX72" fmla="*/ 216270 w 607639"/>
              <a:gd name="connsiteY72" fmla="*/ 190914 h 606722"/>
              <a:gd name="connsiteX73" fmla="*/ 165880 w 607639"/>
              <a:gd name="connsiteY73" fmla="*/ 241210 h 606722"/>
              <a:gd name="connsiteX74" fmla="*/ 154040 w 607639"/>
              <a:gd name="connsiteY74" fmla="*/ 253029 h 606722"/>
              <a:gd name="connsiteX75" fmla="*/ 142110 w 607639"/>
              <a:gd name="connsiteY75" fmla="*/ 241210 h 606722"/>
              <a:gd name="connsiteX76" fmla="*/ 216270 w 607639"/>
              <a:gd name="connsiteY76" fmla="*/ 167099 h 606722"/>
              <a:gd name="connsiteX77" fmla="*/ 522185 w 607639"/>
              <a:gd name="connsiteY77" fmla="*/ 165547 h 606722"/>
              <a:gd name="connsiteX78" fmla="*/ 534111 w 607639"/>
              <a:gd name="connsiteY78" fmla="*/ 177438 h 606722"/>
              <a:gd name="connsiteX79" fmla="*/ 522185 w 607639"/>
              <a:gd name="connsiteY79" fmla="*/ 189329 h 606722"/>
              <a:gd name="connsiteX80" fmla="*/ 510259 w 607639"/>
              <a:gd name="connsiteY80" fmla="*/ 177438 h 606722"/>
              <a:gd name="connsiteX81" fmla="*/ 522185 w 607639"/>
              <a:gd name="connsiteY81" fmla="*/ 165547 h 606722"/>
              <a:gd name="connsiteX82" fmla="*/ 85420 w 607639"/>
              <a:gd name="connsiteY82" fmla="*/ 165547 h 606722"/>
              <a:gd name="connsiteX83" fmla="*/ 97311 w 607639"/>
              <a:gd name="connsiteY83" fmla="*/ 177438 h 606722"/>
              <a:gd name="connsiteX84" fmla="*/ 85420 w 607639"/>
              <a:gd name="connsiteY84" fmla="*/ 189329 h 606722"/>
              <a:gd name="connsiteX85" fmla="*/ 73529 w 607639"/>
              <a:gd name="connsiteY85" fmla="*/ 177438 h 606722"/>
              <a:gd name="connsiteX86" fmla="*/ 85420 w 607639"/>
              <a:gd name="connsiteY86" fmla="*/ 165547 h 606722"/>
              <a:gd name="connsiteX87" fmla="*/ 429885 w 607639"/>
              <a:gd name="connsiteY87" fmla="*/ 73388 h 606722"/>
              <a:gd name="connsiteX88" fmla="*/ 441811 w 607639"/>
              <a:gd name="connsiteY88" fmla="*/ 85279 h 606722"/>
              <a:gd name="connsiteX89" fmla="*/ 429885 w 607639"/>
              <a:gd name="connsiteY89" fmla="*/ 97170 h 606722"/>
              <a:gd name="connsiteX90" fmla="*/ 417959 w 607639"/>
              <a:gd name="connsiteY90" fmla="*/ 85279 h 606722"/>
              <a:gd name="connsiteX91" fmla="*/ 429885 w 607639"/>
              <a:gd name="connsiteY91" fmla="*/ 73388 h 606722"/>
              <a:gd name="connsiteX92" fmla="*/ 177720 w 607639"/>
              <a:gd name="connsiteY92" fmla="*/ 73388 h 606722"/>
              <a:gd name="connsiteX93" fmla="*/ 189611 w 607639"/>
              <a:gd name="connsiteY93" fmla="*/ 85279 h 606722"/>
              <a:gd name="connsiteX94" fmla="*/ 177720 w 607639"/>
              <a:gd name="connsiteY94" fmla="*/ 97170 h 606722"/>
              <a:gd name="connsiteX95" fmla="*/ 165829 w 607639"/>
              <a:gd name="connsiteY95" fmla="*/ 85279 h 606722"/>
              <a:gd name="connsiteX96" fmla="*/ 177720 w 607639"/>
              <a:gd name="connsiteY96" fmla="*/ 73388 h 606722"/>
              <a:gd name="connsiteX97" fmla="*/ 303775 w 607639"/>
              <a:gd name="connsiteY97" fmla="*/ 42480 h 606722"/>
              <a:gd name="connsiteX98" fmla="*/ 315710 w 607639"/>
              <a:gd name="connsiteY98" fmla="*/ 54396 h 606722"/>
              <a:gd name="connsiteX99" fmla="*/ 315710 w 607639"/>
              <a:gd name="connsiteY99" fmla="*/ 69869 h 606722"/>
              <a:gd name="connsiteX100" fmla="*/ 303775 w 607639"/>
              <a:gd name="connsiteY100" fmla="*/ 81785 h 606722"/>
              <a:gd name="connsiteX101" fmla="*/ 291929 w 607639"/>
              <a:gd name="connsiteY101" fmla="*/ 69869 h 606722"/>
              <a:gd name="connsiteX102" fmla="*/ 291929 w 607639"/>
              <a:gd name="connsiteY102" fmla="*/ 54396 h 606722"/>
              <a:gd name="connsiteX103" fmla="*/ 303775 w 607639"/>
              <a:gd name="connsiteY103" fmla="*/ 42480 h 606722"/>
              <a:gd name="connsiteX104" fmla="*/ 303775 w 607639"/>
              <a:gd name="connsiteY104" fmla="*/ 0 h 606722"/>
              <a:gd name="connsiteX105" fmla="*/ 537058 w 607639"/>
              <a:gd name="connsiteY105" fmla="*/ 108956 h 606722"/>
              <a:gd name="connsiteX106" fmla="*/ 537058 w 607639"/>
              <a:gd name="connsiteY106" fmla="*/ 93048 h 606722"/>
              <a:gd name="connsiteX107" fmla="*/ 548895 w 607639"/>
              <a:gd name="connsiteY107" fmla="*/ 81139 h 606722"/>
              <a:gd name="connsiteX108" fmla="*/ 560822 w 607639"/>
              <a:gd name="connsiteY108" fmla="*/ 93048 h 606722"/>
              <a:gd name="connsiteX109" fmla="*/ 560822 w 607639"/>
              <a:gd name="connsiteY109" fmla="*/ 138994 h 606722"/>
              <a:gd name="connsiteX110" fmla="*/ 548895 w 607639"/>
              <a:gd name="connsiteY110" fmla="*/ 150903 h 606722"/>
              <a:gd name="connsiteX111" fmla="*/ 502880 w 607639"/>
              <a:gd name="connsiteY111" fmla="*/ 150903 h 606722"/>
              <a:gd name="connsiteX112" fmla="*/ 490953 w 607639"/>
              <a:gd name="connsiteY112" fmla="*/ 138994 h 606722"/>
              <a:gd name="connsiteX113" fmla="*/ 502880 w 607639"/>
              <a:gd name="connsiteY113" fmla="*/ 127174 h 606722"/>
              <a:gd name="connsiteX114" fmla="*/ 521126 w 607639"/>
              <a:gd name="connsiteY114" fmla="*/ 127174 h 606722"/>
              <a:gd name="connsiteX115" fmla="*/ 303775 w 607639"/>
              <a:gd name="connsiteY115" fmla="*/ 23728 h 606722"/>
              <a:gd name="connsiteX116" fmla="*/ 23764 w 607639"/>
              <a:gd name="connsiteY116" fmla="*/ 303316 h 606722"/>
              <a:gd name="connsiteX117" fmla="*/ 303775 w 607639"/>
              <a:gd name="connsiteY117" fmla="*/ 582905 h 606722"/>
              <a:gd name="connsiteX118" fmla="*/ 583786 w 607639"/>
              <a:gd name="connsiteY118" fmla="*/ 303316 h 606722"/>
              <a:gd name="connsiteX119" fmla="*/ 573906 w 607639"/>
              <a:gd name="connsiteY119" fmla="*/ 229376 h 606722"/>
              <a:gd name="connsiteX120" fmla="*/ 582273 w 607639"/>
              <a:gd name="connsiteY120" fmla="*/ 214801 h 606722"/>
              <a:gd name="connsiteX121" fmla="*/ 596869 w 607639"/>
              <a:gd name="connsiteY121" fmla="*/ 223066 h 606722"/>
              <a:gd name="connsiteX122" fmla="*/ 607639 w 607639"/>
              <a:gd name="connsiteY122" fmla="*/ 303316 h 606722"/>
              <a:gd name="connsiteX123" fmla="*/ 303775 w 607639"/>
              <a:gd name="connsiteY123" fmla="*/ 606722 h 606722"/>
              <a:gd name="connsiteX124" fmla="*/ 0 w 607639"/>
              <a:gd name="connsiteY124" fmla="*/ 303316 h 606722"/>
              <a:gd name="connsiteX125" fmla="*/ 303775 w 607639"/>
              <a:gd name="connsiteY125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607639" h="606722">
                <a:moveTo>
                  <a:pt x="303775" y="525007"/>
                </a:moveTo>
                <a:cubicBezTo>
                  <a:pt x="310366" y="525007"/>
                  <a:pt x="315710" y="530333"/>
                  <a:pt x="315710" y="536902"/>
                </a:cubicBezTo>
                <a:lnTo>
                  <a:pt x="315710" y="552347"/>
                </a:lnTo>
                <a:cubicBezTo>
                  <a:pt x="315710" y="558915"/>
                  <a:pt x="310366" y="564241"/>
                  <a:pt x="303775" y="564241"/>
                </a:cubicBezTo>
                <a:cubicBezTo>
                  <a:pt x="297184" y="564241"/>
                  <a:pt x="291929" y="558915"/>
                  <a:pt x="291929" y="552347"/>
                </a:cubicBezTo>
                <a:lnTo>
                  <a:pt x="291929" y="536902"/>
                </a:lnTo>
                <a:cubicBezTo>
                  <a:pt x="291929" y="530333"/>
                  <a:pt x="297184" y="525007"/>
                  <a:pt x="303775" y="525007"/>
                </a:cubicBezTo>
                <a:close/>
                <a:moveTo>
                  <a:pt x="429885" y="509483"/>
                </a:moveTo>
                <a:cubicBezTo>
                  <a:pt x="436472" y="509483"/>
                  <a:pt x="441811" y="514822"/>
                  <a:pt x="441811" y="521409"/>
                </a:cubicBezTo>
                <a:cubicBezTo>
                  <a:pt x="441811" y="527996"/>
                  <a:pt x="436472" y="533335"/>
                  <a:pt x="429885" y="533335"/>
                </a:cubicBezTo>
                <a:cubicBezTo>
                  <a:pt x="423298" y="533335"/>
                  <a:pt x="417959" y="527996"/>
                  <a:pt x="417959" y="521409"/>
                </a:cubicBezTo>
                <a:cubicBezTo>
                  <a:pt x="417959" y="514822"/>
                  <a:pt x="423298" y="509483"/>
                  <a:pt x="429885" y="509483"/>
                </a:cubicBezTo>
                <a:close/>
                <a:moveTo>
                  <a:pt x="177720" y="509483"/>
                </a:moveTo>
                <a:cubicBezTo>
                  <a:pt x="184287" y="509483"/>
                  <a:pt x="189611" y="514822"/>
                  <a:pt x="189611" y="521409"/>
                </a:cubicBezTo>
                <a:cubicBezTo>
                  <a:pt x="189611" y="527996"/>
                  <a:pt x="184287" y="533335"/>
                  <a:pt x="177720" y="533335"/>
                </a:cubicBezTo>
                <a:cubicBezTo>
                  <a:pt x="171153" y="533335"/>
                  <a:pt x="165829" y="527996"/>
                  <a:pt x="165829" y="521409"/>
                </a:cubicBezTo>
                <a:cubicBezTo>
                  <a:pt x="165829" y="514822"/>
                  <a:pt x="171153" y="509483"/>
                  <a:pt x="177720" y="509483"/>
                </a:cubicBezTo>
                <a:close/>
                <a:moveTo>
                  <a:pt x="522185" y="417324"/>
                </a:moveTo>
                <a:cubicBezTo>
                  <a:pt x="528772" y="417324"/>
                  <a:pt x="534111" y="422663"/>
                  <a:pt x="534111" y="429250"/>
                </a:cubicBezTo>
                <a:cubicBezTo>
                  <a:pt x="534111" y="435837"/>
                  <a:pt x="528772" y="441176"/>
                  <a:pt x="522185" y="441176"/>
                </a:cubicBezTo>
                <a:cubicBezTo>
                  <a:pt x="515598" y="441176"/>
                  <a:pt x="510259" y="435837"/>
                  <a:pt x="510259" y="429250"/>
                </a:cubicBezTo>
                <a:cubicBezTo>
                  <a:pt x="510259" y="422663"/>
                  <a:pt x="515598" y="417324"/>
                  <a:pt x="522185" y="417324"/>
                </a:cubicBezTo>
                <a:close/>
                <a:moveTo>
                  <a:pt x="85420" y="417324"/>
                </a:moveTo>
                <a:cubicBezTo>
                  <a:pt x="91987" y="417324"/>
                  <a:pt x="97311" y="422663"/>
                  <a:pt x="97311" y="429250"/>
                </a:cubicBezTo>
                <a:cubicBezTo>
                  <a:pt x="97311" y="435837"/>
                  <a:pt x="91987" y="441176"/>
                  <a:pt x="85420" y="441176"/>
                </a:cubicBezTo>
                <a:cubicBezTo>
                  <a:pt x="78853" y="441176"/>
                  <a:pt x="73529" y="435837"/>
                  <a:pt x="73529" y="429250"/>
                </a:cubicBezTo>
                <a:cubicBezTo>
                  <a:pt x="73529" y="422663"/>
                  <a:pt x="78853" y="417324"/>
                  <a:pt x="85420" y="417324"/>
                </a:cubicBezTo>
                <a:close/>
                <a:moveTo>
                  <a:pt x="537643" y="291506"/>
                </a:moveTo>
                <a:lnTo>
                  <a:pt x="555628" y="291506"/>
                </a:lnTo>
                <a:cubicBezTo>
                  <a:pt x="562216" y="291506"/>
                  <a:pt x="567558" y="296745"/>
                  <a:pt x="567558" y="303316"/>
                </a:cubicBezTo>
                <a:cubicBezTo>
                  <a:pt x="567558" y="309888"/>
                  <a:pt x="562216" y="315216"/>
                  <a:pt x="555628" y="315216"/>
                </a:cubicBezTo>
                <a:lnTo>
                  <a:pt x="537643" y="315216"/>
                </a:lnTo>
                <a:cubicBezTo>
                  <a:pt x="531055" y="315216"/>
                  <a:pt x="525713" y="309888"/>
                  <a:pt x="525713" y="303316"/>
                </a:cubicBezTo>
                <a:cubicBezTo>
                  <a:pt x="525713" y="296745"/>
                  <a:pt x="531055" y="291506"/>
                  <a:pt x="537643" y="291506"/>
                </a:cubicBezTo>
                <a:close/>
                <a:moveTo>
                  <a:pt x="51991" y="291506"/>
                </a:moveTo>
                <a:lnTo>
                  <a:pt x="69946" y="291506"/>
                </a:lnTo>
                <a:cubicBezTo>
                  <a:pt x="76523" y="291506"/>
                  <a:pt x="81856" y="296745"/>
                  <a:pt x="81856" y="303316"/>
                </a:cubicBezTo>
                <a:cubicBezTo>
                  <a:pt x="81856" y="309888"/>
                  <a:pt x="76523" y="315216"/>
                  <a:pt x="69946" y="315216"/>
                </a:cubicBezTo>
                <a:lnTo>
                  <a:pt x="51991" y="315216"/>
                </a:lnTo>
                <a:cubicBezTo>
                  <a:pt x="45414" y="315216"/>
                  <a:pt x="40081" y="309888"/>
                  <a:pt x="40081" y="303316"/>
                </a:cubicBezTo>
                <a:cubicBezTo>
                  <a:pt x="40081" y="296745"/>
                  <a:pt x="45414" y="291506"/>
                  <a:pt x="51991" y="291506"/>
                </a:cubicBezTo>
                <a:close/>
                <a:moveTo>
                  <a:pt x="412608" y="222096"/>
                </a:moveTo>
                <a:lnTo>
                  <a:pt x="345491" y="334245"/>
                </a:lnTo>
                <a:lnTo>
                  <a:pt x="412608" y="334245"/>
                </a:lnTo>
                <a:close/>
                <a:moveTo>
                  <a:pt x="427651" y="167533"/>
                </a:moveTo>
                <a:cubicBezTo>
                  <a:pt x="432814" y="168954"/>
                  <a:pt x="436375" y="173664"/>
                  <a:pt x="436375" y="178996"/>
                </a:cubicBezTo>
                <a:lnTo>
                  <a:pt x="436375" y="334245"/>
                </a:lnTo>
                <a:lnTo>
                  <a:pt x="469399" y="334245"/>
                </a:lnTo>
                <a:cubicBezTo>
                  <a:pt x="475986" y="334245"/>
                  <a:pt x="481327" y="339577"/>
                  <a:pt x="481327" y="346153"/>
                </a:cubicBezTo>
                <a:cubicBezTo>
                  <a:pt x="481327" y="352641"/>
                  <a:pt x="475986" y="357973"/>
                  <a:pt x="469399" y="357973"/>
                </a:cubicBezTo>
                <a:lnTo>
                  <a:pt x="436375" y="357973"/>
                </a:lnTo>
                <a:lnTo>
                  <a:pt x="436375" y="427733"/>
                </a:lnTo>
                <a:cubicBezTo>
                  <a:pt x="436375" y="434220"/>
                  <a:pt x="431123" y="439552"/>
                  <a:pt x="424536" y="439552"/>
                </a:cubicBezTo>
                <a:cubicBezTo>
                  <a:pt x="417949" y="439552"/>
                  <a:pt x="412608" y="434220"/>
                  <a:pt x="412608" y="427733"/>
                </a:cubicBezTo>
                <a:lnTo>
                  <a:pt x="412608" y="357973"/>
                </a:lnTo>
                <a:lnTo>
                  <a:pt x="324573" y="357973"/>
                </a:lnTo>
                <a:cubicBezTo>
                  <a:pt x="320300" y="357973"/>
                  <a:pt x="316295" y="355662"/>
                  <a:pt x="314158" y="352019"/>
                </a:cubicBezTo>
                <a:cubicBezTo>
                  <a:pt x="312111" y="348286"/>
                  <a:pt x="312111" y="343665"/>
                  <a:pt x="314336" y="340022"/>
                </a:cubicBezTo>
                <a:lnTo>
                  <a:pt x="414299" y="172953"/>
                </a:lnTo>
                <a:cubicBezTo>
                  <a:pt x="417059" y="168332"/>
                  <a:pt x="422489" y="166111"/>
                  <a:pt x="427651" y="167533"/>
                </a:cubicBezTo>
                <a:close/>
                <a:moveTo>
                  <a:pt x="216270" y="167099"/>
                </a:moveTo>
                <a:cubicBezTo>
                  <a:pt x="257222" y="167099"/>
                  <a:pt x="290518" y="200333"/>
                  <a:pt x="290518" y="241210"/>
                </a:cubicBezTo>
                <a:cubicBezTo>
                  <a:pt x="290518" y="284486"/>
                  <a:pt x="273603" y="325097"/>
                  <a:pt x="242978" y="355754"/>
                </a:cubicBezTo>
                <a:lnTo>
                  <a:pt x="182707" y="415825"/>
                </a:lnTo>
                <a:lnTo>
                  <a:pt x="278588" y="415825"/>
                </a:lnTo>
                <a:cubicBezTo>
                  <a:pt x="285176" y="415825"/>
                  <a:pt x="290518" y="421158"/>
                  <a:pt x="290518" y="427734"/>
                </a:cubicBezTo>
                <a:cubicBezTo>
                  <a:pt x="290518" y="434220"/>
                  <a:pt x="285176" y="439552"/>
                  <a:pt x="278588" y="439552"/>
                </a:cubicBezTo>
                <a:lnTo>
                  <a:pt x="154040" y="439552"/>
                </a:lnTo>
                <a:cubicBezTo>
                  <a:pt x="149232" y="439552"/>
                  <a:pt x="144870" y="436709"/>
                  <a:pt x="143001" y="432265"/>
                </a:cubicBezTo>
                <a:cubicBezTo>
                  <a:pt x="141131" y="427822"/>
                  <a:pt x="142199" y="422668"/>
                  <a:pt x="145582" y="419292"/>
                </a:cubicBezTo>
                <a:lnTo>
                  <a:pt x="226152" y="338959"/>
                </a:lnTo>
                <a:cubicBezTo>
                  <a:pt x="252236" y="312834"/>
                  <a:pt x="266659" y="278088"/>
                  <a:pt x="266659" y="241210"/>
                </a:cubicBezTo>
                <a:cubicBezTo>
                  <a:pt x="266659" y="213485"/>
                  <a:pt x="244046" y="190914"/>
                  <a:pt x="216270" y="190914"/>
                </a:cubicBezTo>
                <a:cubicBezTo>
                  <a:pt x="188493" y="190914"/>
                  <a:pt x="165880" y="213485"/>
                  <a:pt x="165880" y="241210"/>
                </a:cubicBezTo>
                <a:cubicBezTo>
                  <a:pt x="165880" y="247786"/>
                  <a:pt x="160539" y="253029"/>
                  <a:pt x="154040" y="253029"/>
                </a:cubicBezTo>
                <a:cubicBezTo>
                  <a:pt x="147452" y="253029"/>
                  <a:pt x="142110" y="247786"/>
                  <a:pt x="142110" y="241210"/>
                </a:cubicBezTo>
                <a:cubicBezTo>
                  <a:pt x="142110" y="200333"/>
                  <a:pt x="175406" y="167099"/>
                  <a:pt x="216270" y="167099"/>
                </a:cubicBezTo>
                <a:close/>
                <a:moveTo>
                  <a:pt x="522185" y="165547"/>
                </a:moveTo>
                <a:cubicBezTo>
                  <a:pt x="528772" y="165547"/>
                  <a:pt x="534111" y="170871"/>
                  <a:pt x="534111" y="177438"/>
                </a:cubicBezTo>
                <a:cubicBezTo>
                  <a:pt x="534111" y="184005"/>
                  <a:pt x="528772" y="189329"/>
                  <a:pt x="522185" y="189329"/>
                </a:cubicBezTo>
                <a:cubicBezTo>
                  <a:pt x="515598" y="189329"/>
                  <a:pt x="510259" y="184005"/>
                  <a:pt x="510259" y="177438"/>
                </a:cubicBezTo>
                <a:cubicBezTo>
                  <a:pt x="510259" y="170871"/>
                  <a:pt x="515598" y="165547"/>
                  <a:pt x="522185" y="165547"/>
                </a:cubicBezTo>
                <a:close/>
                <a:moveTo>
                  <a:pt x="85420" y="165547"/>
                </a:moveTo>
                <a:cubicBezTo>
                  <a:pt x="91987" y="165547"/>
                  <a:pt x="97311" y="170871"/>
                  <a:pt x="97311" y="177438"/>
                </a:cubicBezTo>
                <a:cubicBezTo>
                  <a:pt x="97311" y="184005"/>
                  <a:pt x="91987" y="189329"/>
                  <a:pt x="85420" y="189329"/>
                </a:cubicBezTo>
                <a:cubicBezTo>
                  <a:pt x="78853" y="189329"/>
                  <a:pt x="73529" y="184005"/>
                  <a:pt x="73529" y="177438"/>
                </a:cubicBezTo>
                <a:cubicBezTo>
                  <a:pt x="73529" y="170871"/>
                  <a:pt x="78853" y="165547"/>
                  <a:pt x="85420" y="165547"/>
                </a:cubicBezTo>
                <a:close/>
                <a:moveTo>
                  <a:pt x="429885" y="73388"/>
                </a:moveTo>
                <a:cubicBezTo>
                  <a:pt x="436472" y="73388"/>
                  <a:pt x="441811" y="78712"/>
                  <a:pt x="441811" y="85279"/>
                </a:cubicBezTo>
                <a:cubicBezTo>
                  <a:pt x="441811" y="91846"/>
                  <a:pt x="436472" y="97170"/>
                  <a:pt x="429885" y="97170"/>
                </a:cubicBezTo>
                <a:cubicBezTo>
                  <a:pt x="423298" y="97170"/>
                  <a:pt x="417959" y="91846"/>
                  <a:pt x="417959" y="85279"/>
                </a:cubicBezTo>
                <a:cubicBezTo>
                  <a:pt x="417959" y="78712"/>
                  <a:pt x="423298" y="73388"/>
                  <a:pt x="429885" y="73388"/>
                </a:cubicBezTo>
                <a:close/>
                <a:moveTo>
                  <a:pt x="177720" y="73388"/>
                </a:moveTo>
                <a:cubicBezTo>
                  <a:pt x="184287" y="73388"/>
                  <a:pt x="189611" y="78712"/>
                  <a:pt x="189611" y="85279"/>
                </a:cubicBezTo>
                <a:cubicBezTo>
                  <a:pt x="189611" y="91846"/>
                  <a:pt x="184287" y="97170"/>
                  <a:pt x="177720" y="97170"/>
                </a:cubicBezTo>
                <a:cubicBezTo>
                  <a:pt x="171153" y="97170"/>
                  <a:pt x="165829" y="91846"/>
                  <a:pt x="165829" y="85279"/>
                </a:cubicBezTo>
                <a:cubicBezTo>
                  <a:pt x="165829" y="78712"/>
                  <a:pt x="171153" y="73388"/>
                  <a:pt x="177720" y="73388"/>
                </a:cubicBezTo>
                <a:close/>
                <a:moveTo>
                  <a:pt x="303775" y="42480"/>
                </a:moveTo>
                <a:cubicBezTo>
                  <a:pt x="310366" y="42480"/>
                  <a:pt x="315710" y="47815"/>
                  <a:pt x="315710" y="54396"/>
                </a:cubicBezTo>
                <a:lnTo>
                  <a:pt x="315710" y="69869"/>
                </a:lnTo>
                <a:cubicBezTo>
                  <a:pt x="315710" y="76449"/>
                  <a:pt x="310366" y="81785"/>
                  <a:pt x="303775" y="81785"/>
                </a:cubicBezTo>
                <a:cubicBezTo>
                  <a:pt x="297184" y="81785"/>
                  <a:pt x="291929" y="76449"/>
                  <a:pt x="291929" y="69869"/>
                </a:cubicBezTo>
                <a:lnTo>
                  <a:pt x="291929" y="54396"/>
                </a:lnTo>
                <a:cubicBezTo>
                  <a:pt x="291929" y="47815"/>
                  <a:pt x="297184" y="42480"/>
                  <a:pt x="303775" y="42480"/>
                </a:cubicBezTo>
                <a:close/>
                <a:moveTo>
                  <a:pt x="303775" y="0"/>
                </a:moveTo>
                <a:cubicBezTo>
                  <a:pt x="394204" y="0"/>
                  <a:pt x="479560" y="40347"/>
                  <a:pt x="537058" y="108956"/>
                </a:cubicBezTo>
                <a:lnTo>
                  <a:pt x="537058" y="93048"/>
                </a:lnTo>
                <a:cubicBezTo>
                  <a:pt x="537058" y="86471"/>
                  <a:pt x="542309" y="81139"/>
                  <a:pt x="548895" y="81139"/>
                </a:cubicBezTo>
                <a:cubicBezTo>
                  <a:pt x="555482" y="81139"/>
                  <a:pt x="560822" y="86471"/>
                  <a:pt x="560822" y="93048"/>
                </a:cubicBezTo>
                <a:lnTo>
                  <a:pt x="560822" y="138994"/>
                </a:lnTo>
                <a:cubicBezTo>
                  <a:pt x="560822" y="145570"/>
                  <a:pt x="555482" y="150903"/>
                  <a:pt x="548895" y="150903"/>
                </a:cubicBezTo>
                <a:lnTo>
                  <a:pt x="502880" y="150903"/>
                </a:lnTo>
                <a:cubicBezTo>
                  <a:pt x="496293" y="150903"/>
                  <a:pt x="490953" y="145570"/>
                  <a:pt x="490953" y="138994"/>
                </a:cubicBezTo>
                <a:cubicBezTo>
                  <a:pt x="490953" y="132417"/>
                  <a:pt x="496293" y="127174"/>
                  <a:pt x="502880" y="127174"/>
                </a:cubicBezTo>
                <a:lnTo>
                  <a:pt x="521126" y="127174"/>
                </a:lnTo>
                <a:cubicBezTo>
                  <a:pt x="468168" y="62032"/>
                  <a:pt x="388419" y="23728"/>
                  <a:pt x="303775" y="23728"/>
                </a:cubicBezTo>
                <a:cubicBezTo>
                  <a:pt x="149440" y="23728"/>
                  <a:pt x="23764" y="149214"/>
                  <a:pt x="23764" y="303316"/>
                </a:cubicBezTo>
                <a:cubicBezTo>
                  <a:pt x="23764" y="457508"/>
                  <a:pt x="149440" y="582905"/>
                  <a:pt x="303775" y="582905"/>
                </a:cubicBezTo>
                <a:cubicBezTo>
                  <a:pt x="458199" y="582905"/>
                  <a:pt x="583786" y="457508"/>
                  <a:pt x="583786" y="303316"/>
                </a:cubicBezTo>
                <a:cubicBezTo>
                  <a:pt x="583786" y="278255"/>
                  <a:pt x="580492" y="253371"/>
                  <a:pt x="573906" y="229376"/>
                </a:cubicBezTo>
                <a:cubicBezTo>
                  <a:pt x="572126" y="223066"/>
                  <a:pt x="575864" y="216489"/>
                  <a:pt x="582273" y="214801"/>
                </a:cubicBezTo>
                <a:cubicBezTo>
                  <a:pt x="588592" y="213023"/>
                  <a:pt x="595089" y="216756"/>
                  <a:pt x="596869" y="223066"/>
                </a:cubicBezTo>
                <a:cubicBezTo>
                  <a:pt x="603990" y="249194"/>
                  <a:pt x="607639" y="276122"/>
                  <a:pt x="607639" y="303316"/>
                </a:cubicBezTo>
                <a:cubicBezTo>
                  <a:pt x="607639" y="470572"/>
                  <a:pt x="471283" y="606722"/>
                  <a:pt x="303775" y="606722"/>
                </a:cubicBezTo>
                <a:cubicBezTo>
                  <a:pt x="136267" y="606722"/>
                  <a:pt x="0" y="470572"/>
                  <a:pt x="0" y="303316"/>
                </a:cubicBezTo>
                <a:cubicBezTo>
                  <a:pt x="0" y="136061"/>
                  <a:pt x="136267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1" name="椭圆 11"/>
          <p:cNvSpPr/>
          <p:nvPr/>
        </p:nvSpPr>
        <p:spPr>
          <a:xfrm>
            <a:off x="7049558" y="3696084"/>
            <a:ext cx="501652" cy="500883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607535" h="606604">
                <a:moveTo>
                  <a:pt x="394900" y="353768"/>
                </a:moveTo>
                <a:cubicBezTo>
                  <a:pt x="400507" y="353768"/>
                  <a:pt x="405045" y="358301"/>
                  <a:pt x="405045" y="363900"/>
                </a:cubicBezTo>
                <a:lnTo>
                  <a:pt x="405045" y="515616"/>
                </a:lnTo>
                <a:cubicBezTo>
                  <a:pt x="405045" y="543435"/>
                  <a:pt x="382353" y="566099"/>
                  <a:pt x="354410" y="566099"/>
                </a:cubicBezTo>
                <a:lnTo>
                  <a:pt x="212649" y="566099"/>
                </a:lnTo>
                <a:cubicBezTo>
                  <a:pt x="207131" y="566099"/>
                  <a:pt x="202593" y="561566"/>
                  <a:pt x="202593" y="556056"/>
                </a:cubicBezTo>
                <a:cubicBezTo>
                  <a:pt x="202593" y="550457"/>
                  <a:pt x="207131" y="545924"/>
                  <a:pt x="212649" y="545924"/>
                </a:cubicBezTo>
                <a:lnTo>
                  <a:pt x="354410" y="545924"/>
                </a:lnTo>
                <a:cubicBezTo>
                  <a:pt x="371140" y="545924"/>
                  <a:pt x="384845" y="532325"/>
                  <a:pt x="384845" y="515616"/>
                </a:cubicBezTo>
                <a:lnTo>
                  <a:pt x="384845" y="363900"/>
                </a:lnTo>
                <a:cubicBezTo>
                  <a:pt x="384845" y="358301"/>
                  <a:pt x="389294" y="353768"/>
                  <a:pt x="394900" y="353768"/>
                </a:cubicBezTo>
                <a:close/>
                <a:moveTo>
                  <a:pt x="131640" y="262739"/>
                </a:moveTo>
                <a:cubicBezTo>
                  <a:pt x="137236" y="262739"/>
                  <a:pt x="141766" y="267271"/>
                  <a:pt x="141766" y="272870"/>
                </a:cubicBezTo>
                <a:lnTo>
                  <a:pt x="141766" y="333565"/>
                </a:lnTo>
                <a:cubicBezTo>
                  <a:pt x="141766" y="339075"/>
                  <a:pt x="137236" y="343607"/>
                  <a:pt x="131640" y="343607"/>
                </a:cubicBezTo>
                <a:cubicBezTo>
                  <a:pt x="126044" y="343607"/>
                  <a:pt x="121514" y="339075"/>
                  <a:pt x="121514" y="333565"/>
                </a:cubicBezTo>
                <a:lnTo>
                  <a:pt x="121514" y="272870"/>
                </a:lnTo>
                <a:cubicBezTo>
                  <a:pt x="121514" y="267271"/>
                  <a:pt x="126044" y="262739"/>
                  <a:pt x="131640" y="262739"/>
                </a:cubicBezTo>
                <a:close/>
                <a:moveTo>
                  <a:pt x="489057" y="194973"/>
                </a:moveTo>
                <a:cubicBezTo>
                  <a:pt x="492973" y="190974"/>
                  <a:pt x="499381" y="190974"/>
                  <a:pt x="503386" y="194973"/>
                </a:cubicBezTo>
                <a:lnTo>
                  <a:pt x="604576" y="296095"/>
                </a:lnTo>
                <a:cubicBezTo>
                  <a:pt x="605555" y="296983"/>
                  <a:pt x="606267" y="298138"/>
                  <a:pt x="606801" y="299383"/>
                </a:cubicBezTo>
                <a:cubicBezTo>
                  <a:pt x="607780" y="301871"/>
                  <a:pt x="607780" y="304625"/>
                  <a:pt x="606801" y="307113"/>
                </a:cubicBezTo>
                <a:cubicBezTo>
                  <a:pt x="606267" y="308357"/>
                  <a:pt x="605555" y="309424"/>
                  <a:pt x="604576" y="310401"/>
                </a:cubicBezTo>
                <a:lnTo>
                  <a:pt x="503386" y="411434"/>
                </a:lnTo>
                <a:cubicBezTo>
                  <a:pt x="501339" y="413478"/>
                  <a:pt x="498758" y="414455"/>
                  <a:pt x="496177" y="414455"/>
                </a:cubicBezTo>
                <a:cubicBezTo>
                  <a:pt x="493596" y="414455"/>
                  <a:pt x="491015" y="413478"/>
                  <a:pt x="489057" y="411434"/>
                </a:cubicBezTo>
                <a:cubicBezTo>
                  <a:pt x="485052" y="407524"/>
                  <a:pt x="485052" y="401126"/>
                  <a:pt x="489057" y="397217"/>
                </a:cubicBezTo>
                <a:lnTo>
                  <a:pt x="572982" y="313333"/>
                </a:lnTo>
                <a:lnTo>
                  <a:pt x="232921" y="313333"/>
                </a:lnTo>
                <a:cubicBezTo>
                  <a:pt x="227314" y="313333"/>
                  <a:pt x="222775" y="308802"/>
                  <a:pt x="222775" y="303203"/>
                </a:cubicBezTo>
                <a:cubicBezTo>
                  <a:pt x="222775" y="297605"/>
                  <a:pt x="227314" y="293074"/>
                  <a:pt x="232921" y="293074"/>
                </a:cubicBezTo>
                <a:lnTo>
                  <a:pt x="572982" y="293074"/>
                </a:lnTo>
                <a:lnTo>
                  <a:pt x="489057" y="209279"/>
                </a:lnTo>
                <a:cubicBezTo>
                  <a:pt x="485052" y="205281"/>
                  <a:pt x="485052" y="198883"/>
                  <a:pt x="489057" y="194973"/>
                </a:cubicBezTo>
                <a:close/>
                <a:moveTo>
                  <a:pt x="211398" y="40317"/>
                </a:moveTo>
                <a:lnTo>
                  <a:pt x="354409" y="40317"/>
                </a:lnTo>
                <a:cubicBezTo>
                  <a:pt x="382353" y="40317"/>
                  <a:pt x="405046" y="62981"/>
                  <a:pt x="405046" y="90889"/>
                </a:cubicBezTo>
                <a:lnTo>
                  <a:pt x="405046" y="242605"/>
                </a:lnTo>
                <a:cubicBezTo>
                  <a:pt x="405046" y="248115"/>
                  <a:pt x="400508" y="252648"/>
                  <a:pt x="394901" y="252648"/>
                </a:cubicBezTo>
                <a:cubicBezTo>
                  <a:pt x="389295" y="252648"/>
                  <a:pt x="384845" y="248115"/>
                  <a:pt x="384845" y="242605"/>
                </a:cubicBezTo>
                <a:lnTo>
                  <a:pt x="384845" y="90889"/>
                </a:lnTo>
                <a:cubicBezTo>
                  <a:pt x="384845" y="74180"/>
                  <a:pt x="371140" y="60581"/>
                  <a:pt x="354409" y="60581"/>
                </a:cubicBezTo>
                <a:lnTo>
                  <a:pt x="211398" y="60581"/>
                </a:lnTo>
                <a:cubicBezTo>
                  <a:pt x="205791" y="60581"/>
                  <a:pt x="201253" y="56048"/>
                  <a:pt x="201253" y="50449"/>
                </a:cubicBezTo>
                <a:cubicBezTo>
                  <a:pt x="201253" y="44850"/>
                  <a:pt x="205791" y="40317"/>
                  <a:pt x="211398" y="40317"/>
                </a:cubicBezTo>
                <a:close/>
                <a:moveTo>
                  <a:pt x="147115" y="20146"/>
                </a:moveTo>
                <a:cubicBezTo>
                  <a:pt x="144890" y="20146"/>
                  <a:pt x="142576" y="20590"/>
                  <a:pt x="140084" y="21568"/>
                </a:cubicBezTo>
                <a:lnTo>
                  <a:pt x="44232" y="59782"/>
                </a:lnTo>
                <a:cubicBezTo>
                  <a:pt x="24919" y="66981"/>
                  <a:pt x="20292" y="73024"/>
                  <a:pt x="20292" y="90887"/>
                </a:cubicBezTo>
                <a:lnTo>
                  <a:pt x="20292" y="515689"/>
                </a:lnTo>
                <a:cubicBezTo>
                  <a:pt x="20292" y="533464"/>
                  <a:pt x="24919" y="539596"/>
                  <a:pt x="44054" y="546616"/>
                </a:cubicBezTo>
                <a:lnTo>
                  <a:pt x="140262" y="585098"/>
                </a:lnTo>
                <a:cubicBezTo>
                  <a:pt x="142576" y="585897"/>
                  <a:pt x="144890" y="586431"/>
                  <a:pt x="147115" y="586431"/>
                </a:cubicBezTo>
                <a:cubicBezTo>
                  <a:pt x="156015" y="586431"/>
                  <a:pt x="161978" y="578254"/>
                  <a:pt x="161978" y="566257"/>
                </a:cubicBezTo>
                <a:lnTo>
                  <a:pt x="161978" y="40319"/>
                </a:lnTo>
                <a:cubicBezTo>
                  <a:pt x="161978" y="28233"/>
                  <a:pt x="156015" y="20146"/>
                  <a:pt x="147115" y="20146"/>
                </a:cubicBezTo>
                <a:close/>
                <a:moveTo>
                  <a:pt x="151669" y="315"/>
                </a:moveTo>
                <a:cubicBezTo>
                  <a:pt x="169354" y="2727"/>
                  <a:pt x="182270" y="18724"/>
                  <a:pt x="182270" y="40319"/>
                </a:cubicBezTo>
                <a:lnTo>
                  <a:pt x="182270" y="566257"/>
                </a:lnTo>
                <a:cubicBezTo>
                  <a:pt x="182270" y="589630"/>
                  <a:pt x="167496" y="606604"/>
                  <a:pt x="147115" y="606604"/>
                </a:cubicBezTo>
                <a:cubicBezTo>
                  <a:pt x="142487" y="606604"/>
                  <a:pt x="137681" y="605716"/>
                  <a:pt x="132964" y="603938"/>
                </a:cubicBezTo>
                <a:lnTo>
                  <a:pt x="36756" y="565457"/>
                </a:lnTo>
                <a:cubicBezTo>
                  <a:pt x="10057" y="555592"/>
                  <a:pt x="0" y="542084"/>
                  <a:pt x="0" y="515689"/>
                </a:cubicBezTo>
                <a:lnTo>
                  <a:pt x="0" y="90887"/>
                </a:lnTo>
                <a:cubicBezTo>
                  <a:pt x="0" y="64492"/>
                  <a:pt x="10057" y="50895"/>
                  <a:pt x="37023" y="40942"/>
                </a:cubicBezTo>
                <a:lnTo>
                  <a:pt x="132697" y="2727"/>
                </a:lnTo>
                <a:cubicBezTo>
                  <a:pt x="139350" y="217"/>
                  <a:pt x="145774" y="-489"/>
                  <a:pt x="151669" y="3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" name="椭圆 12"/>
          <p:cNvSpPr/>
          <p:nvPr/>
        </p:nvSpPr>
        <p:spPr>
          <a:xfrm>
            <a:off x="9458324" y="3715187"/>
            <a:ext cx="501652" cy="462678"/>
          </a:xfrm>
          <a:custGeom>
            <a:avLst/>
            <a:gdLst>
              <a:gd name="connsiteX0" fmla="*/ 176147 w 578111"/>
              <a:gd name="connsiteY0" fmla="*/ 221031 h 533197"/>
              <a:gd name="connsiteX1" fmla="*/ 212154 w 578111"/>
              <a:gd name="connsiteY1" fmla="*/ 256947 h 533197"/>
              <a:gd name="connsiteX2" fmla="*/ 212154 w 578111"/>
              <a:gd name="connsiteY2" fmla="*/ 348118 h 533197"/>
              <a:gd name="connsiteX3" fmla="*/ 176147 w 578111"/>
              <a:gd name="connsiteY3" fmla="*/ 384955 h 533197"/>
              <a:gd name="connsiteX4" fmla="*/ 139217 w 578111"/>
              <a:gd name="connsiteY4" fmla="*/ 348118 h 533197"/>
              <a:gd name="connsiteX5" fmla="*/ 139217 w 578111"/>
              <a:gd name="connsiteY5" fmla="*/ 256947 h 533197"/>
              <a:gd name="connsiteX6" fmla="*/ 176147 w 578111"/>
              <a:gd name="connsiteY6" fmla="*/ 221031 h 533197"/>
              <a:gd name="connsiteX7" fmla="*/ 267503 w 578111"/>
              <a:gd name="connsiteY7" fmla="*/ 184193 h 533197"/>
              <a:gd name="connsiteX8" fmla="*/ 303437 w 578111"/>
              <a:gd name="connsiteY8" fmla="*/ 221030 h 533197"/>
              <a:gd name="connsiteX9" fmla="*/ 303437 w 578111"/>
              <a:gd name="connsiteY9" fmla="*/ 348119 h 533197"/>
              <a:gd name="connsiteX10" fmla="*/ 267503 w 578111"/>
              <a:gd name="connsiteY10" fmla="*/ 384956 h 533197"/>
              <a:gd name="connsiteX11" fmla="*/ 230648 w 578111"/>
              <a:gd name="connsiteY11" fmla="*/ 348119 h 533197"/>
              <a:gd name="connsiteX12" fmla="*/ 230648 w 578111"/>
              <a:gd name="connsiteY12" fmla="*/ 221030 h 533197"/>
              <a:gd name="connsiteX13" fmla="*/ 267503 w 578111"/>
              <a:gd name="connsiteY13" fmla="*/ 184193 h 533197"/>
              <a:gd name="connsiteX14" fmla="*/ 357937 w 578111"/>
              <a:gd name="connsiteY14" fmla="*/ 148390 h 533197"/>
              <a:gd name="connsiteX15" fmla="*/ 394867 w 578111"/>
              <a:gd name="connsiteY15" fmla="*/ 184289 h 533197"/>
              <a:gd name="connsiteX16" fmla="*/ 394867 w 578111"/>
              <a:gd name="connsiteY16" fmla="*/ 348136 h 533197"/>
              <a:gd name="connsiteX17" fmla="*/ 357937 w 578111"/>
              <a:gd name="connsiteY17" fmla="*/ 384955 h 533197"/>
              <a:gd name="connsiteX18" fmla="*/ 321930 w 578111"/>
              <a:gd name="connsiteY18" fmla="*/ 348136 h 533197"/>
              <a:gd name="connsiteX19" fmla="*/ 321930 w 578111"/>
              <a:gd name="connsiteY19" fmla="*/ 184289 h 533197"/>
              <a:gd name="connsiteX20" fmla="*/ 357937 w 578111"/>
              <a:gd name="connsiteY20" fmla="*/ 148390 h 533197"/>
              <a:gd name="connsiteX21" fmla="*/ 267469 w 578111"/>
              <a:gd name="connsiteY21" fmla="*/ 0 h 533197"/>
              <a:gd name="connsiteX22" fmla="*/ 529404 w 578111"/>
              <a:gd name="connsiteY22" fmla="*/ 218252 h 533197"/>
              <a:gd name="connsiteX23" fmla="*/ 566296 w 578111"/>
              <a:gd name="connsiteY23" fmla="*/ 218252 h 533197"/>
              <a:gd name="connsiteX24" fmla="*/ 576441 w 578111"/>
              <a:gd name="connsiteY24" fmla="*/ 224698 h 533197"/>
              <a:gd name="connsiteX25" fmla="*/ 575519 w 578111"/>
              <a:gd name="connsiteY25" fmla="*/ 237590 h 533197"/>
              <a:gd name="connsiteX26" fmla="*/ 514647 w 578111"/>
              <a:gd name="connsiteY26" fmla="*/ 310341 h 533197"/>
              <a:gd name="connsiteX27" fmla="*/ 505424 w 578111"/>
              <a:gd name="connsiteY27" fmla="*/ 314945 h 533197"/>
              <a:gd name="connsiteX28" fmla="*/ 496201 w 578111"/>
              <a:gd name="connsiteY28" fmla="*/ 310341 h 533197"/>
              <a:gd name="connsiteX29" fmla="*/ 435328 w 578111"/>
              <a:gd name="connsiteY29" fmla="*/ 237590 h 533197"/>
              <a:gd name="connsiteX30" fmla="*/ 433484 w 578111"/>
              <a:gd name="connsiteY30" fmla="*/ 224698 h 533197"/>
              <a:gd name="connsiteX31" fmla="*/ 444551 w 578111"/>
              <a:gd name="connsiteY31" fmla="*/ 218252 h 533197"/>
              <a:gd name="connsiteX32" fmla="*/ 480521 w 578111"/>
              <a:gd name="connsiteY32" fmla="*/ 218252 h 533197"/>
              <a:gd name="connsiteX33" fmla="*/ 267469 w 578111"/>
              <a:gd name="connsiteY33" fmla="*/ 47886 h 533197"/>
              <a:gd name="connsiteX34" fmla="*/ 48882 w 578111"/>
              <a:gd name="connsiteY34" fmla="*/ 266138 h 533197"/>
              <a:gd name="connsiteX35" fmla="*/ 267469 w 578111"/>
              <a:gd name="connsiteY35" fmla="*/ 484390 h 533197"/>
              <a:gd name="connsiteX36" fmla="*/ 456541 w 578111"/>
              <a:gd name="connsiteY36" fmla="*/ 375724 h 533197"/>
              <a:gd name="connsiteX37" fmla="*/ 489744 w 578111"/>
              <a:gd name="connsiteY37" fmla="*/ 366515 h 533197"/>
              <a:gd name="connsiteX38" fmla="*/ 498967 w 578111"/>
              <a:gd name="connsiteY38" fmla="*/ 399668 h 533197"/>
              <a:gd name="connsiteX39" fmla="*/ 267469 w 578111"/>
              <a:gd name="connsiteY39" fmla="*/ 533197 h 533197"/>
              <a:gd name="connsiteX40" fmla="*/ 0 w 578111"/>
              <a:gd name="connsiteY40" fmla="*/ 266138 h 533197"/>
              <a:gd name="connsiteX41" fmla="*/ 267469 w 578111"/>
              <a:gd name="connsiteY41" fmla="*/ 0 h 53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578111" h="533197">
                <a:moveTo>
                  <a:pt x="176147" y="221031"/>
                </a:moveTo>
                <a:cubicBezTo>
                  <a:pt x="196459" y="221031"/>
                  <a:pt x="212154" y="237608"/>
                  <a:pt x="212154" y="256947"/>
                </a:cubicBezTo>
                <a:lnTo>
                  <a:pt x="212154" y="348118"/>
                </a:lnTo>
                <a:cubicBezTo>
                  <a:pt x="212154" y="368378"/>
                  <a:pt x="196459" y="384955"/>
                  <a:pt x="176147" y="384955"/>
                </a:cubicBezTo>
                <a:cubicBezTo>
                  <a:pt x="155836" y="384955"/>
                  <a:pt x="139217" y="368378"/>
                  <a:pt x="139217" y="348118"/>
                </a:cubicBezTo>
                <a:lnTo>
                  <a:pt x="139217" y="256947"/>
                </a:lnTo>
                <a:cubicBezTo>
                  <a:pt x="139217" y="237608"/>
                  <a:pt x="155836" y="221031"/>
                  <a:pt x="176147" y="221031"/>
                </a:cubicBezTo>
                <a:close/>
                <a:moveTo>
                  <a:pt x="267503" y="184193"/>
                </a:moveTo>
                <a:cubicBezTo>
                  <a:pt x="286852" y="184193"/>
                  <a:pt x="303437" y="200770"/>
                  <a:pt x="303437" y="221030"/>
                </a:cubicBezTo>
                <a:lnTo>
                  <a:pt x="303437" y="348119"/>
                </a:lnTo>
                <a:cubicBezTo>
                  <a:pt x="303437" y="368379"/>
                  <a:pt x="287774" y="384956"/>
                  <a:pt x="267503" y="384956"/>
                </a:cubicBezTo>
                <a:cubicBezTo>
                  <a:pt x="247233" y="384956"/>
                  <a:pt x="230648" y="368379"/>
                  <a:pt x="230648" y="348119"/>
                </a:cubicBezTo>
                <a:lnTo>
                  <a:pt x="230648" y="221030"/>
                </a:lnTo>
                <a:cubicBezTo>
                  <a:pt x="230648" y="200770"/>
                  <a:pt x="247233" y="184193"/>
                  <a:pt x="267503" y="184193"/>
                </a:cubicBezTo>
                <a:close/>
                <a:moveTo>
                  <a:pt x="357937" y="148390"/>
                </a:moveTo>
                <a:cubicBezTo>
                  <a:pt x="378249" y="148390"/>
                  <a:pt x="394867" y="164959"/>
                  <a:pt x="394867" y="184289"/>
                </a:cubicBezTo>
                <a:lnTo>
                  <a:pt x="394867" y="348136"/>
                </a:lnTo>
                <a:cubicBezTo>
                  <a:pt x="394867" y="368386"/>
                  <a:pt x="378249" y="384955"/>
                  <a:pt x="357937" y="384955"/>
                </a:cubicBezTo>
                <a:cubicBezTo>
                  <a:pt x="338549" y="384955"/>
                  <a:pt x="321930" y="368386"/>
                  <a:pt x="321930" y="348136"/>
                </a:cubicBezTo>
                <a:lnTo>
                  <a:pt x="321930" y="184289"/>
                </a:lnTo>
                <a:cubicBezTo>
                  <a:pt x="321930" y="164959"/>
                  <a:pt x="338549" y="148390"/>
                  <a:pt x="357937" y="148390"/>
                </a:cubicBezTo>
                <a:close/>
                <a:moveTo>
                  <a:pt x="267469" y="0"/>
                </a:moveTo>
                <a:cubicBezTo>
                  <a:pt x="397514" y="0"/>
                  <a:pt x="507268" y="93931"/>
                  <a:pt x="529404" y="218252"/>
                </a:cubicBezTo>
                <a:lnTo>
                  <a:pt x="566296" y="218252"/>
                </a:lnTo>
                <a:cubicBezTo>
                  <a:pt x="570907" y="218252"/>
                  <a:pt x="574597" y="221014"/>
                  <a:pt x="576441" y="224698"/>
                </a:cubicBezTo>
                <a:cubicBezTo>
                  <a:pt x="579208" y="229302"/>
                  <a:pt x="578286" y="233907"/>
                  <a:pt x="575519" y="237590"/>
                </a:cubicBezTo>
                <a:lnTo>
                  <a:pt x="514647" y="310341"/>
                </a:lnTo>
                <a:cubicBezTo>
                  <a:pt x="511880" y="313104"/>
                  <a:pt x="509113" y="314945"/>
                  <a:pt x="505424" y="314945"/>
                </a:cubicBezTo>
                <a:cubicBezTo>
                  <a:pt x="501734" y="314945"/>
                  <a:pt x="498045" y="313104"/>
                  <a:pt x="496201" y="310341"/>
                </a:cubicBezTo>
                <a:lnTo>
                  <a:pt x="435328" y="237590"/>
                </a:lnTo>
                <a:cubicBezTo>
                  <a:pt x="431639" y="233907"/>
                  <a:pt x="431639" y="229302"/>
                  <a:pt x="433484" y="224698"/>
                </a:cubicBezTo>
                <a:cubicBezTo>
                  <a:pt x="435328" y="221014"/>
                  <a:pt x="439940" y="218252"/>
                  <a:pt x="444551" y="218252"/>
                </a:cubicBezTo>
                <a:lnTo>
                  <a:pt x="480521" y="218252"/>
                </a:lnTo>
                <a:cubicBezTo>
                  <a:pt x="458386" y="120637"/>
                  <a:pt x="370767" y="47886"/>
                  <a:pt x="267469" y="47886"/>
                </a:cubicBezTo>
                <a:cubicBezTo>
                  <a:pt x="146647" y="47886"/>
                  <a:pt x="48882" y="146422"/>
                  <a:pt x="48882" y="266138"/>
                </a:cubicBezTo>
                <a:cubicBezTo>
                  <a:pt x="48882" y="386775"/>
                  <a:pt x="146647" y="484390"/>
                  <a:pt x="267469" y="484390"/>
                </a:cubicBezTo>
                <a:cubicBezTo>
                  <a:pt x="344942" y="484390"/>
                  <a:pt x="417805" y="442949"/>
                  <a:pt x="456541" y="375724"/>
                </a:cubicBezTo>
                <a:cubicBezTo>
                  <a:pt x="462998" y="363753"/>
                  <a:pt x="477754" y="360069"/>
                  <a:pt x="489744" y="366515"/>
                </a:cubicBezTo>
                <a:cubicBezTo>
                  <a:pt x="501734" y="373883"/>
                  <a:pt x="505424" y="388617"/>
                  <a:pt x="498967" y="399668"/>
                </a:cubicBezTo>
                <a:cubicBezTo>
                  <a:pt x="451008" y="482548"/>
                  <a:pt x="362466" y="533197"/>
                  <a:pt x="267469" y="533197"/>
                </a:cubicBezTo>
                <a:cubicBezTo>
                  <a:pt x="119900" y="533197"/>
                  <a:pt x="0" y="413481"/>
                  <a:pt x="0" y="266138"/>
                </a:cubicBezTo>
                <a:cubicBezTo>
                  <a:pt x="0" y="119716"/>
                  <a:pt x="119900" y="0"/>
                  <a:pt x="2674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8709200" y="390818"/>
            <a:ext cx="1303474" cy="10810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" y="5629275"/>
            <a:ext cx="1481567" cy="12287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等腰三角形 21"/>
          <p:cNvSpPr/>
          <p:nvPr/>
        </p:nvSpPr>
        <p:spPr>
          <a:xfrm flipV="1">
            <a:off x="4763301" y="3098800"/>
            <a:ext cx="256632" cy="10477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等腰三角形 22"/>
          <p:cNvSpPr/>
          <p:nvPr/>
        </p:nvSpPr>
        <p:spPr>
          <a:xfrm flipV="1">
            <a:off x="7172068" y="3098800"/>
            <a:ext cx="256632" cy="10477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/>
          <p:cNvSpPr/>
          <p:nvPr/>
        </p:nvSpPr>
        <p:spPr>
          <a:xfrm flipV="1">
            <a:off x="9580835" y="3098800"/>
            <a:ext cx="256632" cy="10477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672371" y="468514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系统介绍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081140" y="467522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单元测试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489907" y="46659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功能测试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898676" y="465675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性能测试</a:t>
            </a:r>
          </a:p>
        </p:txBody>
      </p:sp>
    </p:spTree>
    <p:extLst>
      <p:ext uri="{BB962C8B-B14F-4D97-AF65-F5344CB8AC3E}">
        <p14:creationId xmlns:p14="http://schemas.microsoft.com/office/powerpoint/2010/main" val="1058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5" grpId="0" animBg="1"/>
      <p:bldP spid="6" grpId="0" animBg="1"/>
      <p:bldP spid="7" grpId="0" animBg="1"/>
      <p:bldP spid="8" grpId="0" animBg="1"/>
      <p:bldP spid="34" grpId="0" animBg="1"/>
      <p:bldP spid="32" grpId="0" animBg="1"/>
      <p:bldP spid="31" grpId="0" animBg="1"/>
      <p:bldP spid="33" grpId="0" animBg="1"/>
      <p:bldP spid="22" grpId="0" animBg="1"/>
      <p:bldP spid="23" grpId="0" animBg="1"/>
      <p:bldP spid="24" grpId="0" animBg="1"/>
      <p:bldP spid="26" grpId="0"/>
      <p:bldP spid="27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V="1">
            <a:off x="-1099284" y="1444859"/>
            <a:ext cx="6166850" cy="3968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535886" y="-1743"/>
            <a:ext cx="2656115" cy="22028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 flipV="1">
            <a:off x="3899720" y="2151953"/>
            <a:ext cx="1015660" cy="653564"/>
          </a:xfrm>
          <a:prstGeom prst="triangl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3578217" y="4767072"/>
            <a:ext cx="1156115" cy="958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840859" y="1970902"/>
            <a:ext cx="2042547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PART 01</a:t>
            </a:r>
            <a:endParaRPr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0859" y="3038719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000" dirty="0">
                <a:latin typeface="Agency FB" panose="020B0503020202020204" pitchFamily="34" charset="0"/>
              </a:rPr>
              <a:t>系统介绍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859909" y="3731960"/>
            <a:ext cx="6258034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40" name="任意多边形 39"/>
          <p:cNvSpPr/>
          <p:nvPr/>
        </p:nvSpPr>
        <p:spPr>
          <a:xfrm>
            <a:off x="10445469" y="5500915"/>
            <a:ext cx="1746531" cy="1357086"/>
          </a:xfrm>
          <a:custGeom>
            <a:avLst/>
            <a:gdLst>
              <a:gd name="connsiteX0" fmla="*/ 1319464 w 1319464"/>
              <a:gd name="connsiteY0" fmla="*/ 0 h 1025247"/>
              <a:gd name="connsiteX1" fmla="*/ 1319464 w 1319464"/>
              <a:gd name="connsiteY1" fmla="*/ 1025247 h 1025247"/>
              <a:gd name="connsiteX2" fmla="*/ 0 w 1319464"/>
              <a:gd name="connsiteY2" fmla="*/ 1025247 h 102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9727812" y="6378594"/>
            <a:ext cx="578056" cy="4794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45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6" grpId="0"/>
      <p:bldP spid="37" grpId="0"/>
      <p:bldP spid="38" grpId="0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2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系统介绍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50EBD4-D424-A55C-6002-D2711509E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40" y="1208926"/>
            <a:ext cx="8967986" cy="51330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BD7DAB0-0558-50BB-714B-BA199054A6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01" y="3587240"/>
            <a:ext cx="6230448" cy="27547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7FC727-A1FA-9699-A47C-6478996DB5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615" y="1208927"/>
            <a:ext cx="2041134" cy="36134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537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V="1">
            <a:off x="-1099284" y="1444859"/>
            <a:ext cx="6166850" cy="3968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535886" y="-1743"/>
            <a:ext cx="2656115" cy="22028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 flipV="1">
            <a:off x="3899720" y="2151953"/>
            <a:ext cx="1015660" cy="653564"/>
          </a:xfrm>
          <a:prstGeom prst="triangl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3578217" y="4767072"/>
            <a:ext cx="1156115" cy="958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840859" y="1970902"/>
            <a:ext cx="218521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PART 0</a:t>
            </a:r>
            <a:r>
              <a:rPr lang="en-US" altLang="zh-CN" sz="6000" dirty="0">
                <a:solidFill>
                  <a:prstClr val="black">
                    <a:lumMod val="75000"/>
                    <a:lumOff val="25000"/>
                  </a:prstClr>
                </a:solidFill>
                <a:latin typeface="Agency FB" panose="020B0503020202020204" pitchFamily="34" charset="0"/>
                <a:ea typeface="微软雅黑" panose="020B0503020204020204" charset="-122"/>
              </a:rPr>
              <a:t>2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0859" y="3038719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单元测试</a:t>
            </a:r>
          </a:p>
        </p:txBody>
      </p:sp>
      <p:sp>
        <p:nvSpPr>
          <p:cNvPr id="40" name="任意多边形 39"/>
          <p:cNvSpPr/>
          <p:nvPr/>
        </p:nvSpPr>
        <p:spPr>
          <a:xfrm>
            <a:off x="10445469" y="5500915"/>
            <a:ext cx="1746531" cy="1357086"/>
          </a:xfrm>
          <a:custGeom>
            <a:avLst/>
            <a:gdLst>
              <a:gd name="connsiteX0" fmla="*/ 1319464 w 1319464"/>
              <a:gd name="connsiteY0" fmla="*/ 0 h 1025247"/>
              <a:gd name="connsiteX1" fmla="*/ 1319464 w 1319464"/>
              <a:gd name="connsiteY1" fmla="*/ 1025247 h 1025247"/>
              <a:gd name="connsiteX2" fmla="*/ 0 w 1319464"/>
              <a:gd name="connsiteY2" fmla="*/ 1025247 h 102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9727812" y="6378594"/>
            <a:ext cx="578056" cy="4794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95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6" grpId="0"/>
      <p:bldP spid="37" grpId="0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3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单元测试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711634" y="2431056"/>
            <a:ext cx="1701138" cy="1644861"/>
            <a:chOff x="1004890" y="2075502"/>
            <a:chExt cx="2264502" cy="2193351"/>
          </a:xfrm>
        </p:grpSpPr>
        <p:sp>
          <p:nvSpPr>
            <p:cNvPr id="105" name="ïṧḷïḓê-矩形: 圆角 2"/>
            <p:cNvSpPr/>
            <p:nvPr/>
          </p:nvSpPr>
          <p:spPr>
            <a:xfrm>
              <a:off x="1004890" y="2075502"/>
              <a:ext cx="2264502" cy="2193351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6" name="椭圆 105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7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1161074" y="3320101"/>
              <a:ext cx="2084387" cy="3623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设计测试用例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766881" y="2431056"/>
            <a:ext cx="1861652" cy="1617579"/>
            <a:chOff x="3609572" y="2075502"/>
            <a:chExt cx="2344863" cy="2188766"/>
          </a:xfrm>
        </p:grpSpPr>
        <p:sp>
          <p:nvSpPr>
            <p:cNvPr id="112" name="ïṧḷïḓê-矩形: 圆角 12"/>
            <p:cNvSpPr/>
            <p:nvPr/>
          </p:nvSpPr>
          <p:spPr>
            <a:xfrm>
              <a:off x="3609572" y="2075502"/>
              <a:ext cx="2344863" cy="2188766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3" name="椭圆 112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4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3661459" y="3269176"/>
              <a:ext cx="2292976" cy="5247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测试类设计及运行</a:t>
              </a: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979932" y="2477519"/>
            <a:ext cx="2080629" cy="1542629"/>
            <a:chOff x="6214253" y="2075503"/>
            <a:chExt cx="2431194" cy="1990854"/>
          </a:xfrm>
        </p:grpSpPr>
        <p:sp>
          <p:nvSpPr>
            <p:cNvPr id="119" name="ïṧḷïḓê-矩形: 圆角 13"/>
            <p:cNvSpPr/>
            <p:nvPr/>
          </p:nvSpPr>
          <p:spPr>
            <a:xfrm>
              <a:off x="6214253" y="2075503"/>
              <a:ext cx="2086257" cy="1990854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6834104" y="2316803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1" name="椭圆 38"/>
            <p:cNvSpPr/>
            <p:nvPr/>
          </p:nvSpPr>
          <p:spPr>
            <a:xfrm>
              <a:off x="7045241" y="2528196"/>
              <a:ext cx="339726" cy="339213"/>
            </a:xfrm>
            <a:custGeom>
              <a:avLst/>
              <a:gdLst>
                <a:gd name="connsiteX0" fmla="*/ 303775 w 607639"/>
                <a:gd name="connsiteY0" fmla="*/ 525007 h 606722"/>
                <a:gd name="connsiteX1" fmla="*/ 315710 w 607639"/>
                <a:gd name="connsiteY1" fmla="*/ 536902 h 606722"/>
                <a:gd name="connsiteX2" fmla="*/ 315710 w 607639"/>
                <a:gd name="connsiteY2" fmla="*/ 552347 h 606722"/>
                <a:gd name="connsiteX3" fmla="*/ 303775 w 607639"/>
                <a:gd name="connsiteY3" fmla="*/ 564241 h 606722"/>
                <a:gd name="connsiteX4" fmla="*/ 291929 w 607639"/>
                <a:gd name="connsiteY4" fmla="*/ 552347 h 606722"/>
                <a:gd name="connsiteX5" fmla="*/ 291929 w 607639"/>
                <a:gd name="connsiteY5" fmla="*/ 536902 h 606722"/>
                <a:gd name="connsiteX6" fmla="*/ 303775 w 607639"/>
                <a:gd name="connsiteY6" fmla="*/ 525007 h 606722"/>
                <a:gd name="connsiteX7" fmla="*/ 429885 w 607639"/>
                <a:gd name="connsiteY7" fmla="*/ 509483 h 606722"/>
                <a:gd name="connsiteX8" fmla="*/ 441811 w 607639"/>
                <a:gd name="connsiteY8" fmla="*/ 521409 h 606722"/>
                <a:gd name="connsiteX9" fmla="*/ 429885 w 607639"/>
                <a:gd name="connsiteY9" fmla="*/ 533335 h 606722"/>
                <a:gd name="connsiteX10" fmla="*/ 417959 w 607639"/>
                <a:gd name="connsiteY10" fmla="*/ 521409 h 606722"/>
                <a:gd name="connsiteX11" fmla="*/ 429885 w 607639"/>
                <a:gd name="connsiteY11" fmla="*/ 509483 h 606722"/>
                <a:gd name="connsiteX12" fmla="*/ 177720 w 607639"/>
                <a:gd name="connsiteY12" fmla="*/ 509483 h 606722"/>
                <a:gd name="connsiteX13" fmla="*/ 189611 w 607639"/>
                <a:gd name="connsiteY13" fmla="*/ 521409 h 606722"/>
                <a:gd name="connsiteX14" fmla="*/ 177720 w 607639"/>
                <a:gd name="connsiteY14" fmla="*/ 533335 h 606722"/>
                <a:gd name="connsiteX15" fmla="*/ 165829 w 607639"/>
                <a:gd name="connsiteY15" fmla="*/ 521409 h 606722"/>
                <a:gd name="connsiteX16" fmla="*/ 177720 w 607639"/>
                <a:gd name="connsiteY16" fmla="*/ 509483 h 606722"/>
                <a:gd name="connsiteX17" fmla="*/ 522185 w 607639"/>
                <a:gd name="connsiteY17" fmla="*/ 417324 h 606722"/>
                <a:gd name="connsiteX18" fmla="*/ 534111 w 607639"/>
                <a:gd name="connsiteY18" fmla="*/ 429250 h 606722"/>
                <a:gd name="connsiteX19" fmla="*/ 522185 w 607639"/>
                <a:gd name="connsiteY19" fmla="*/ 441176 h 606722"/>
                <a:gd name="connsiteX20" fmla="*/ 510259 w 607639"/>
                <a:gd name="connsiteY20" fmla="*/ 429250 h 606722"/>
                <a:gd name="connsiteX21" fmla="*/ 522185 w 607639"/>
                <a:gd name="connsiteY21" fmla="*/ 417324 h 606722"/>
                <a:gd name="connsiteX22" fmla="*/ 85420 w 607639"/>
                <a:gd name="connsiteY22" fmla="*/ 417324 h 606722"/>
                <a:gd name="connsiteX23" fmla="*/ 97311 w 607639"/>
                <a:gd name="connsiteY23" fmla="*/ 429250 h 606722"/>
                <a:gd name="connsiteX24" fmla="*/ 85420 w 607639"/>
                <a:gd name="connsiteY24" fmla="*/ 441176 h 606722"/>
                <a:gd name="connsiteX25" fmla="*/ 73529 w 607639"/>
                <a:gd name="connsiteY25" fmla="*/ 429250 h 606722"/>
                <a:gd name="connsiteX26" fmla="*/ 85420 w 607639"/>
                <a:gd name="connsiteY26" fmla="*/ 417324 h 606722"/>
                <a:gd name="connsiteX27" fmla="*/ 537643 w 607639"/>
                <a:gd name="connsiteY27" fmla="*/ 291506 h 606722"/>
                <a:gd name="connsiteX28" fmla="*/ 555628 w 607639"/>
                <a:gd name="connsiteY28" fmla="*/ 291506 h 606722"/>
                <a:gd name="connsiteX29" fmla="*/ 567558 w 607639"/>
                <a:gd name="connsiteY29" fmla="*/ 303316 h 606722"/>
                <a:gd name="connsiteX30" fmla="*/ 555628 w 607639"/>
                <a:gd name="connsiteY30" fmla="*/ 315216 h 606722"/>
                <a:gd name="connsiteX31" fmla="*/ 537643 w 607639"/>
                <a:gd name="connsiteY31" fmla="*/ 315216 h 606722"/>
                <a:gd name="connsiteX32" fmla="*/ 525713 w 607639"/>
                <a:gd name="connsiteY32" fmla="*/ 303316 h 606722"/>
                <a:gd name="connsiteX33" fmla="*/ 537643 w 607639"/>
                <a:gd name="connsiteY33" fmla="*/ 291506 h 606722"/>
                <a:gd name="connsiteX34" fmla="*/ 51991 w 607639"/>
                <a:gd name="connsiteY34" fmla="*/ 291506 h 606722"/>
                <a:gd name="connsiteX35" fmla="*/ 69946 w 607639"/>
                <a:gd name="connsiteY35" fmla="*/ 291506 h 606722"/>
                <a:gd name="connsiteX36" fmla="*/ 81856 w 607639"/>
                <a:gd name="connsiteY36" fmla="*/ 303316 h 606722"/>
                <a:gd name="connsiteX37" fmla="*/ 69946 w 607639"/>
                <a:gd name="connsiteY37" fmla="*/ 315216 h 606722"/>
                <a:gd name="connsiteX38" fmla="*/ 51991 w 607639"/>
                <a:gd name="connsiteY38" fmla="*/ 315216 h 606722"/>
                <a:gd name="connsiteX39" fmla="*/ 40081 w 607639"/>
                <a:gd name="connsiteY39" fmla="*/ 303316 h 606722"/>
                <a:gd name="connsiteX40" fmla="*/ 51991 w 607639"/>
                <a:gd name="connsiteY40" fmla="*/ 291506 h 606722"/>
                <a:gd name="connsiteX41" fmla="*/ 412608 w 607639"/>
                <a:gd name="connsiteY41" fmla="*/ 222096 h 606722"/>
                <a:gd name="connsiteX42" fmla="*/ 345491 w 607639"/>
                <a:gd name="connsiteY42" fmla="*/ 334245 h 606722"/>
                <a:gd name="connsiteX43" fmla="*/ 412608 w 607639"/>
                <a:gd name="connsiteY43" fmla="*/ 334245 h 606722"/>
                <a:gd name="connsiteX44" fmla="*/ 427651 w 607639"/>
                <a:gd name="connsiteY44" fmla="*/ 167533 h 606722"/>
                <a:gd name="connsiteX45" fmla="*/ 436375 w 607639"/>
                <a:gd name="connsiteY45" fmla="*/ 178996 h 606722"/>
                <a:gd name="connsiteX46" fmla="*/ 436375 w 607639"/>
                <a:gd name="connsiteY46" fmla="*/ 334245 h 606722"/>
                <a:gd name="connsiteX47" fmla="*/ 469399 w 607639"/>
                <a:gd name="connsiteY47" fmla="*/ 334245 h 606722"/>
                <a:gd name="connsiteX48" fmla="*/ 481327 w 607639"/>
                <a:gd name="connsiteY48" fmla="*/ 346153 h 606722"/>
                <a:gd name="connsiteX49" fmla="*/ 469399 w 607639"/>
                <a:gd name="connsiteY49" fmla="*/ 357973 h 606722"/>
                <a:gd name="connsiteX50" fmla="*/ 436375 w 607639"/>
                <a:gd name="connsiteY50" fmla="*/ 357973 h 606722"/>
                <a:gd name="connsiteX51" fmla="*/ 436375 w 607639"/>
                <a:gd name="connsiteY51" fmla="*/ 427733 h 606722"/>
                <a:gd name="connsiteX52" fmla="*/ 424536 w 607639"/>
                <a:gd name="connsiteY52" fmla="*/ 439552 h 606722"/>
                <a:gd name="connsiteX53" fmla="*/ 412608 w 607639"/>
                <a:gd name="connsiteY53" fmla="*/ 427733 h 606722"/>
                <a:gd name="connsiteX54" fmla="*/ 412608 w 607639"/>
                <a:gd name="connsiteY54" fmla="*/ 357973 h 606722"/>
                <a:gd name="connsiteX55" fmla="*/ 324573 w 607639"/>
                <a:gd name="connsiteY55" fmla="*/ 357973 h 606722"/>
                <a:gd name="connsiteX56" fmla="*/ 314158 w 607639"/>
                <a:gd name="connsiteY56" fmla="*/ 352019 h 606722"/>
                <a:gd name="connsiteX57" fmla="*/ 314336 w 607639"/>
                <a:gd name="connsiteY57" fmla="*/ 340022 h 606722"/>
                <a:gd name="connsiteX58" fmla="*/ 414299 w 607639"/>
                <a:gd name="connsiteY58" fmla="*/ 172953 h 606722"/>
                <a:gd name="connsiteX59" fmla="*/ 427651 w 607639"/>
                <a:gd name="connsiteY59" fmla="*/ 167533 h 606722"/>
                <a:gd name="connsiteX60" fmla="*/ 216270 w 607639"/>
                <a:gd name="connsiteY60" fmla="*/ 167099 h 606722"/>
                <a:gd name="connsiteX61" fmla="*/ 290518 w 607639"/>
                <a:gd name="connsiteY61" fmla="*/ 241210 h 606722"/>
                <a:gd name="connsiteX62" fmla="*/ 242978 w 607639"/>
                <a:gd name="connsiteY62" fmla="*/ 355754 h 606722"/>
                <a:gd name="connsiteX63" fmla="*/ 182707 w 607639"/>
                <a:gd name="connsiteY63" fmla="*/ 415825 h 606722"/>
                <a:gd name="connsiteX64" fmla="*/ 278588 w 607639"/>
                <a:gd name="connsiteY64" fmla="*/ 415825 h 606722"/>
                <a:gd name="connsiteX65" fmla="*/ 290518 w 607639"/>
                <a:gd name="connsiteY65" fmla="*/ 427734 h 606722"/>
                <a:gd name="connsiteX66" fmla="*/ 278588 w 607639"/>
                <a:gd name="connsiteY66" fmla="*/ 439552 h 606722"/>
                <a:gd name="connsiteX67" fmla="*/ 154040 w 607639"/>
                <a:gd name="connsiteY67" fmla="*/ 439552 h 606722"/>
                <a:gd name="connsiteX68" fmla="*/ 143001 w 607639"/>
                <a:gd name="connsiteY68" fmla="*/ 432265 h 606722"/>
                <a:gd name="connsiteX69" fmla="*/ 145582 w 607639"/>
                <a:gd name="connsiteY69" fmla="*/ 419292 h 606722"/>
                <a:gd name="connsiteX70" fmla="*/ 226152 w 607639"/>
                <a:gd name="connsiteY70" fmla="*/ 338959 h 606722"/>
                <a:gd name="connsiteX71" fmla="*/ 266659 w 607639"/>
                <a:gd name="connsiteY71" fmla="*/ 241210 h 606722"/>
                <a:gd name="connsiteX72" fmla="*/ 216270 w 607639"/>
                <a:gd name="connsiteY72" fmla="*/ 190914 h 606722"/>
                <a:gd name="connsiteX73" fmla="*/ 165880 w 607639"/>
                <a:gd name="connsiteY73" fmla="*/ 241210 h 606722"/>
                <a:gd name="connsiteX74" fmla="*/ 154040 w 607639"/>
                <a:gd name="connsiteY74" fmla="*/ 253029 h 606722"/>
                <a:gd name="connsiteX75" fmla="*/ 142110 w 607639"/>
                <a:gd name="connsiteY75" fmla="*/ 241210 h 606722"/>
                <a:gd name="connsiteX76" fmla="*/ 216270 w 607639"/>
                <a:gd name="connsiteY76" fmla="*/ 167099 h 606722"/>
                <a:gd name="connsiteX77" fmla="*/ 522185 w 607639"/>
                <a:gd name="connsiteY77" fmla="*/ 165547 h 606722"/>
                <a:gd name="connsiteX78" fmla="*/ 534111 w 607639"/>
                <a:gd name="connsiteY78" fmla="*/ 177438 h 606722"/>
                <a:gd name="connsiteX79" fmla="*/ 522185 w 607639"/>
                <a:gd name="connsiteY79" fmla="*/ 189329 h 606722"/>
                <a:gd name="connsiteX80" fmla="*/ 510259 w 607639"/>
                <a:gd name="connsiteY80" fmla="*/ 177438 h 606722"/>
                <a:gd name="connsiteX81" fmla="*/ 522185 w 607639"/>
                <a:gd name="connsiteY81" fmla="*/ 165547 h 606722"/>
                <a:gd name="connsiteX82" fmla="*/ 85420 w 607639"/>
                <a:gd name="connsiteY82" fmla="*/ 165547 h 606722"/>
                <a:gd name="connsiteX83" fmla="*/ 97311 w 607639"/>
                <a:gd name="connsiteY83" fmla="*/ 177438 h 606722"/>
                <a:gd name="connsiteX84" fmla="*/ 85420 w 607639"/>
                <a:gd name="connsiteY84" fmla="*/ 189329 h 606722"/>
                <a:gd name="connsiteX85" fmla="*/ 73529 w 607639"/>
                <a:gd name="connsiteY85" fmla="*/ 177438 h 606722"/>
                <a:gd name="connsiteX86" fmla="*/ 85420 w 607639"/>
                <a:gd name="connsiteY86" fmla="*/ 165547 h 606722"/>
                <a:gd name="connsiteX87" fmla="*/ 429885 w 607639"/>
                <a:gd name="connsiteY87" fmla="*/ 73388 h 606722"/>
                <a:gd name="connsiteX88" fmla="*/ 441811 w 607639"/>
                <a:gd name="connsiteY88" fmla="*/ 85279 h 606722"/>
                <a:gd name="connsiteX89" fmla="*/ 429885 w 607639"/>
                <a:gd name="connsiteY89" fmla="*/ 97170 h 606722"/>
                <a:gd name="connsiteX90" fmla="*/ 417959 w 607639"/>
                <a:gd name="connsiteY90" fmla="*/ 85279 h 606722"/>
                <a:gd name="connsiteX91" fmla="*/ 429885 w 607639"/>
                <a:gd name="connsiteY91" fmla="*/ 73388 h 606722"/>
                <a:gd name="connsiteX92" fmla="*/ 177720 w 607639"/>
                <a:gd name="connsiteY92" fmla="*/ 73388 h 606722"/>
                <a:gd name="connsiteX93" fmla="*/ 189611 w 607639"/>
                <a:gd name="connsiteY93" fmla="*/ 85279 h 606722"/>
                <a:gd name="connsiteX94" fmla="*/ 177720 w 607639"/>
                <a:gd name="connsiteY94" fmla="*/ 97170 h 606722"/>
                <a:gd name="connsiteX95" fmla="*/ 165829 w 607639"/>
                <a:gd name="connsiteY95" fmla="*/ 85279 h 606722"/>
                <a:gd name="connsiteX96" fmla="*/ 177720 w 607639"/>
                <a:gd name="connsiteY96" fmla="*/ 73388 h 606722"/>
                <a:gd name="connsiteX97" fmla="*/ 303775 w 607639"/>
                <a:gd name="connsiteY97" fmla="*/ 42480 h 606722"/>
                <a:gd name="connsiteX98" fmla="*/ 315710 w 607639"/>
                <a:gd name="connsiteY98" fmla="*/ 54396 h 606722"/>
                <a:gd name="connsiteX99" fmla="*/ 315710 w 607639"/>
                <a:gd name="connsiteY99" fmla="*/ 69869 h 606722"/>
                <a:gd name="connsiteX100" fmla="*/ 303775 w 607639"/>
                <a:gd name="connsiteY100" fmla="*/ 81785 h 606722"/>
                <a:gd name="connsiteX101" fmla="*/ 291929 w 607639"/>
                <a:gd name="connsiteY101" fmla="*/ 69869 h 606722"/>
                <a:gd name="connsiteX102" fmla="*/ 291929 w 607639"/>
                <a:gd name="connsiteY102" fmla="*/ 54396 h 606722"/>
                <a:gd name="connsiteX103" fmla="*/ 303775 w 607639"/>
                <a:gd name="connsiteY103" fmla="*/ 42480 h 606722"/>
                <a:gd name="connsiteX104" fmla="*/ 303775 w 607639"/>
                <a:gd name="connsiteY104" fmla="*/ 0 h 606722"/>
                <a:gd name="connsiteX105" fmla="*/ 537058 w 607639"/>
                <a:gd name="connsiteY105" fmla="*/ 108956 h 606722"/>
                <a:gd name="connsiteX106" fmla="*/ 537058 w 607639"/>
                <a:gd name="connsiteY106" fmla="*/ 93048 h 606722"/>
                <a:gd name="connsiteX107" fmla="*/ 548895 w 607639"/>
                <a:gd name="connsiteY107" fmla="*/ 81139 h 606722"/>
                <a:gd name="connsiteX108" fmla="*/ 560822 w 607639"/>
                <a:gd name="connsiteY108" fmla="*/ 93048 h 606722"/>
                <a:gd name="connsiteX109" fmla="*/ 560822 w 607639"/>
                <a:gd name="connsiteY109" fmla="*/ 138994 h 606722"/>
                <a:gd name="connsiteX110" fmla="*/ 548895 w 607639"/>
                <a:gd name="connsiteY110" fmla="*/ 150903 h 606722"/>
                <a:gd name="connsiteX111" fmla="*/ 502880 w 607639"/>
                <a:gd name="connsiteY111" fmla="*/ 150903 h 606722"/>
                <a:gd name="connsiteX112" fmla="*/ 490953 w 607639"/>
                <a:gd name="connsiteY112" fmla="*/ 138994 h 606722"/>
                <a:gd name="connsiteX113" fmla="*/ 502880 w 607639"/>
                <a:gd name="connsiteY113" fmla="*/ 127174 h 606722"/>
                <a:gd name="connsiteX114" fmla="*/ 521126 w 607639"/>
                <a:gd name="connsiteY114" fmla="*/ 127174 h 606722"/>
                <a:gd name="connsiteX115" fmla="*/ 303775 w 607639"/>
                <a:gd name="connsiteY115" fmla="*/ 23728 h 606722"/>
                <a:gd name="connsiteX116" fmla="*/ 23764 w 607639"/>
                <a:gd name="connsiteY116" fmla="*/ 303316 h 606722"/>
                <a:gd name="connsiteX117" fmla="*/ 303775 w 607639"/>
                <a:gd name="connsiteY117" fmla="*/ 582905 h 606722"/>
                <a:gd name="connsiteX118" fmla="*/ 583786 w 607639"/>
                <a:gd name="connsiteY118" fmla="*/ 303316 h 606722"/>
                <a:gd name="connsiteX119" fmla="*/ 573906 w 607639"/>
                <a:gd name="connsiteY119" fmla="*/ 229376 h 606722"/>
                <a:gd name="connsiteX120" fmla="*/ 582273 w 607639"/>
                <a:gd name="connsiteY120" fmla="*/ 214801 h 606722"/>
                <a:gd name="connsiteX121" fmla="*/ 596869 w 607639"/>
                <a:gd name="connsiteY121" fmla="*/ 223066 h 606722"/>
                <a:gd name="connsiteX122" fmla="*/ 607639 w 607639"/>
                <a:gd name="connsiteY122" fmla="*/ 303316 h 606722"/>
                <a:gd name="connsiteX123" fmla="*/ 303775 w 607639"/>
                <a:gd name="connsiteY123" fmla="*/ 606722 h 606722"/>
                <a:gd name="connsiteX124" fmla="*/ 0 w 607639"/>
                <a:gd name="connsiteY124" fmla="*/ 303316 h 606722"/>
                <a:gd name="connsiteX125" fmla="*/ 303775 w 607639"/>
                <a:gd name="connsiteY125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07639" h="606722">
                  <a:moveTo>
                    <a:pt x="303775" y="525007"/>
                  </a:moveTo>
                  <a:cubicBezTo>
                    <a:pt x="310366" y="525007"/>
                    <a:pt x="315710" y="530333"/>
                    <a:pt x="315710" y="536902"/>
                  </a:cubicBezTo>
                  <a:lnTo>
                    <a:pt x="315710" y="552347"/>
                  </a:lnTo>
                  <a:cubicBezTo>
                    <a:pt x="315710" y="558915"/>
                    <a:pt x="310366" y="564241"/>
                    <a:pt x="303775" y="564241"/>
                  </a:cubicBezTo>
                  <a:cubicBezTo>
                    <a:pt x="297184" y="564241"/>
                    <a:pt x="291929" y="558915"/>
                    <a:pt x="291929" y="552347"/>
                  </a:cubicBezTo>
                  <a:lnTo>
                    <a:pt x="291929" y="536902"/>
                  </a:lnTo>
                  <a:cubicBezTo>
                    <a:pt x="291929" y="530333"/>
                    <a:pt x="297184" y="525007"/>
                    <a:pt x="303775" y="525007"/>
                  </a:cubicBezTo>
                  <a:close/>
                  <a:moveTo>
                    <a:pt x="429885" y="509483"/>
                  </a:moveTo>
                  <a:cubicBezTo>
                    <a:pt x="436472" y="509483"/>
                    <a:pt x="441811" y="514822"/>
                    <a:pt x="441811" y="521409"/>
                  </a:cubicBezTo>
                  <a:cubicBezTo>
                    <a:pt x="441811" y="527996"/>
                    <a:pt x="436472" y="533335"/>
                    <a:pt x="429885" y="533335"/>
                  </a:cubicBezTo>
                  <a:cubicBezTo>
                    <a:pt x="423298" y="533335"/>
                    <a:pt x="417959" y="527996"/>
                    <a:pt x="417959" y="521409"/>
                  </a:cubicBezTo>
                  <a:cubicBezTo>
                    <a:pt x="417959" y="514822"/>
                    <a:pt x="423298" y="509483"/>
                    <a:pt x="429885" y="509483"/>
                  </a:cubicBezTo>
                  <a:close/>
                  <a:moveTo>
                    <a:pt x="177720" y="509483"/>
                  </a:moveTo>
                  <a:cubicBezTo>
                    <a:pt x="184287" y="509483"/>
                    <a:pt x="189611" y="514822"/>
                    <a:pt x="189611" y="521409"/>
                  </a:cubicBezTo>
                  <a:cubicBezTo>
                    <a:pt x="189611" y="527996"/>
                    <a:pt x="184287" y="533335"/>
                    <a:pt x="177720" y="533335"/>
                  </a:cubicBezTo>
                  <a:cubicBezTo>
                    <a:pt x="171153" y="533335"/>
                    <a:pt x="165829" y="527996"/>
                    <a:pt x="165829" y="521409"/>
                  </a:cubicBezTo>
                  <a:cubicBezTo>
                    <a:pt x="165829" y="514822"/>
                    <a:pt x="171153" y="509483"/>
                    <a:pt x="177720" y="509483"/>
                  </a:cubicBezTo>
                  <a:close/>
                  <a:moveTo>
                    <a:pt x="522185" y="417324"/>
                  </a:moveTo>
                  <a:cubicBezTo>
                    <a:pt x="528772" y="417324"/>
                    <a:pt x="534111" y="422663"/>
                    <a:pt x="534111" y="429250"/>
                  </a:cubicBezTo>
                  <a:cubicBezTo>
                    <a:pt x="534111" y="435837"/>
                    <a:pt x="528772" y="441176"/>
                    <a:pt x="522185" y="441176"/>
                  </a:cubicBezTo>
                  <a:cubicBezTo>
                    <a:pt x="515598" y="441176"/>
                    <a:pt x="510259" y="435837"/>
                    <a:pt x="510259" y="429250"/>
                  </a:cubicBezTo>
                  <a:cubicBezTo>
                    <a:pt x="510259" y="422663"/>
                    <a:pt x="515598" y="417324"/>
                    <a:pt x="522185" y="417324"/>
                  </a:cubicBezTo>
                  <a:close/>
                  <a:moveTo>
                    <a:pt x="85420" y="417324"/>
                  </a:moveTo>
                  <a:cubicBezTo>
                    <a:pt x="91987" y="417324"/>
                    <a:pt x="97311" y="422663"/>
                    <a:pt x="97311" y="429250"/>
                  </a:cubicBezTo>
                  <a:cubicBezTo>
                    <a:pt x="97311" y="435837"/>
                    <a:pt x="91987" y="441176"/>
                    <a:pt x="85420" y="441176"/>
                  </a:cubicBezTo>
                  <a:cubicBezTo>
                    <a:pt x="78853" y="441176"/>
                    <a:pt x="73529" y="435837"/>
                    <a:pt x="73529" y="429250"/>
                  </a:cubicBezTo>
                  <a:cubicBezTo>
                    <a:pt x="73529" y="422663"/>
                    <a:pt x="78853" y="417324"/>
                    <a:pt x="85420" y="417324"/>
                  </a:cubicBezTo>
                  <a:close/>
                  <a:moveTo>
                    <a:pt x="537643" y="291506"/>
                  </a:moveTo>
                  <a:lnTo>
                    <a:pt x="555628" y="291506"/>
                  </a:lnTo>
                  <a:cubicBezTo>
                    <a:pt x="562216" y="291506"/>
                    <a:pt x="567558" y="296745"/>
                    <a:pt x="567558" y="303316"/>
                  </a:cubicBezTo>
                  <a:cubicBezTo>
                    <a:pt x="567558" y="309888"/>
                    <a:pt x="562216" y="315216"/>
                    <a:pt x="555628" y="315216"/>
                  </a:cubicBezTo>
                  <a:lnTo>
                    <a:pt x="537643" y="315216"/>
                  </a:lnTo>
                  <a:cubicBezTo>
                    <a:pt x="531055" y="315216"/>
                    <a:pt x="525713" y="309888"/>
                    <a:pt x="525713" y="303316"/>
                  </a:cubicBezTo>
                  <a:cubicBezTo>
                    <a:pt x="525713" y="296745"/>
                    <a:pt x="531055" y="291506"/>
                    <a:pt x="537643" y="291506"/>
                  </a:cubicBezTo>
                  <a:close/>
                  <a:moveTo>
                    <a:pt x="51991" y="291506"/>
                  </a:moveTo>
                  <a:lnTo>
                    <a:pt x="69946" y="291506"/>
                  </a:lnTo>
                  <a:cubicBezTo>
                    <a:pt x="76523" y="291506"/>
                    <a:pt x="81856" y="296745"/>
                    <a:pt x="81856" y="303316"/>
                  </a:cubicBezTo>
                  <a:cubicBezTo>
                    <a:pt x="81856" y="309888"/>
                    <a:pt x="76523" y="315216"/>
                    <a:pt x="69946" y="315216"/>
                  </a:cubicBezTo>
                  <a:lnTo>
                    <a:pt x="51991" y="315216"/>
                  </a:lnTo>
                  <a:cubicBezTo>
                    <a:pt x="45414" y="315216"/>
                    <a:pt x="40081" y="309888"/>
                    <a:pt x="40081" y="303316"/>
                  </a:cubicBezTo>
                  <a:cubicBezTo>
                    <a:pt x="40081" y="296745"/>
                    <a:pt x="45414" y="291506"/>
                    <a:pt x="51991" y="291506"/>
                  </a:cubicBezTo>
                  <a:close/>
                  <a:moveTo>
                    <a:pt x="412608" y="222096"/>
                  </a:moveTo>
                  <a:lnTo>
                    <a:pt x="345491" y="334245"/>
                  </a:lnTo>
                  <a:lnTo>
                    <a:pt x="412608" y="334245"/>
                  </a:lnTo>
                  <a:close/>
                  <a:moveTo>
                    <a:pt x="427651" y="167533"/>
                  </a:moveTo>
                  <a:cubicBezTo>
                    <a:pt x="432814" y="168954"/>
                    <a:pt x="436375" y="173664"/>
                    <a:pt x="436375" y="178996"/>
                  </a:cubicBezTo>
                  <a:lnTo>
                    <a:pt x="436375" y="334245"/>
                  </a:lnTo>
                  <a:lnTo>
                    <a:pt x="469399" y="334245"/>
                  </a:lnTo>
                  <a:cubicBezTo>
                    <a:pt x="475986" y="334245"/>
                    <a:pt x="481327" y="339577"/>
                    <a:pt x="481327" y="346153"/>
                  </a:cubicBezTo>
                  <a:cubicBezTo>
                    <a:pt x="481327" y="352641"/>
                    <a:pt x="475986" y="357973"/>
                    <a:pt x="469399" y="357973"/>
                  </a:cubicBezTo>
                  <a:lnTo>
                    <a:pt x="436375" y="357973"/>
                  </a:lnTo>
                  <a:lnTo>
                    <a:pt x="436375" y="427733"/>
                  </a:lnTo>
                  <a:cubicBezTo>
                    <a:pt x="436375" y="434220"/>
                    <a:pt x="431123" y="439552"/>
                    <a:pt x="424536" y="439552"/>
                  </a:cubicBezTo>
                  <a:cubicBezTo>
                    <a:pt x="417949" y="439552"/>
                    <a:pt x="412608" y="434220"/>
                    <a:pt x="412608" y="427733"/>
                  </a:cubicBezTo>
                  <a:lnTo>
                    <a:pt x="412608" y="357973"/>
                  </a:lnTo>
                  <a:lnTo>
                    <a:pt x="324573" y="357973"/>
                  </a:lnTo>
                  <a:cubicBezTo>
                    <a:pt x="320300" y="357973"/>
                    <a:pt x="316295" y="355662"/>
                    <a:pt x="314158" y="352019"/>
                  </a:cubicBezTo>
                  <a:cubicBezTo>
                    <a:pt x="312111" y="348286"/>
                    <a:pt x="312111" y="343665"/>
                    <a:pt x="314336" y="340022"/>
                  </a:cubicBezTo>
                  <a:lnTo>
                    <a:pt x="414299" y="172953"/>
                  </a:lnTo>
                  <a:cubicBezTo>
                    <a:pt x="417059" y="168332"/>
                    <a:pt x="422489" y="166111"/>
                    <a:pt x="427651" y="167533"/>
                  </a:cubicBezTo>
                  <a:close/>
                  <a:moveTo>
                    <a:pt x="216270" y="167099"/>
                  </a:moveTo>
                  <a:cubicBezTo>
                    <a:pt x="257222" y="167099"/>
                    <a:pt x="290518" y="200333"/>
                    <a:pt x="290518" y="241210"/>
                  </a:cubicBezTo>
                  <a:cubicBezTo>
                    <a:pt x="290518" y="284486"/>
                    <a:pt x="273603" y="325097"/>
                    <a:pt x="242978" y="355754"/>
                  </a:cubicBezTo>
                  <a:lnTo>
                    <a:pt x="182707" y="415825"/>
                  </a:lnTo>
                  <a:lnTo>
                    <a:pt x="278588" y="415825"/>
                  </a:lnTo>
                  <a:cubicBezTo>
                    <a:pt x="285176" y="415825"/>
                    <a:pt x="290518" y="421158"/>
                    <a:pt x="290518" y="427734"/>
                  </a:cubicBezTo>
                  <a:cubicBezTo>
                    <a:pt x="290518" y="434220"/>
                    <a:pt x="285176" y="439552"/>
                    <a:pt x="278588" y="439552"/>
                  </a:cubicBezTo>
                  <a:lnTo>
                    <a:pt x="154040" y="439552"/>
                  </a:lnTo>
                  <a:cubicBezTo>
                    <a:pt x="149232" y="439552"/>
                    <a:pt x="144870" y="436709"/>
                    <a:pt x="143001" y="432265"/>
                  </a:cubicBezTo>
                  <a:cubicBezTo>
                    <a:pt x="141131" y="427822"/>
                    <a:pt x="142199" y="422668"/>
                    <a:pt x="145582" y="419292"/>
                  </a:cubicBezTo>
                  <a:lnTo>
                    <a:pt x="226152" y="338959"/>
                  </a:lnTo>
                  <a:cubicBezTo>
                    <a:pt x="252236" y="312834"/>
                    <a:pt x="266659" y="278088"/>
                    <a:pt x="266659" y="241210"/>
                  </a:cubicBezTo>
                  <a:cubicBezTo>
                    <a:pt x="266659" y="213485"/>
                    <a:pt x="244046" y="190914"/>
                    <a:pt x="216270" y="190914"/>
                  </a:cubicBezTo>
                  <a:cubicBezTo>
                    <a:pt x="188493" y="190914"/>
                    <a:pt x="165880" y="213485"/>
                    <a:pt x="165880" y="241210"/>
                  </a:cubicBezTo>
                  <a:cubicBezTo>
                    <a:pt x="165880" y="247786"/>
                    <a:pt x="160539" y="253029"/>
                    <a:pt x="154040" y="253029"/>
                  </a:cubicBezTo>
                  <a:cubicBezTo>
                    <a:pt x="147452" y="253029"/>
                    <a:pt x="142110" y="247786"/>
                    <a:pt x="142110" y="241210"/>
                  </a:cubicBezTo>
                  <a:cubicBezTo>
                    <a:pt x="142110" y="200333"/>
                    <a:pt x="175406" y="167099"/>
                    <a:pt x="216270" y="167099"/>
                  </a:cubicBezTo>
                  <a:close/>
                  <a:moveTo>
                    <a:pt x="522185" y="165547"/>
                  </a:moveTo>
                  <a:cubicBezTo>
                    <a:pt x="528772" y="165547"/>
                    <a:pt x="534111" y="170871"/>
                    <a:pt x="534111" y="177438"/>
                  </a:cubicBezTo>
                  <a:cubicBezTo>
                    <a:pt x="534111" y="184005"/>
                    <a:pt x="528772" y="189329"/>
                    <a:pt x="522185" y="189329"/>
                  </a:cubicBezTo>
                  <a:cubicBezTo>
                    <a:pt x="515598" y="189329"/>
                    <a:pt x="510259" y="184005"/>
                    <a:pt x="510259" y="177438"/>
                  </a:cubicBezTo>
                  <a:cubicBezTo>
                    <a:pt x="510259" y="170871"/>
                    <a:pt x="515598" y="165547"/>
                    <a:pt x="522185" y="165547"/>
                  </a:cubicBezTo>
                  <a:close/>
                  <a:moveTo>
                    <a:pt x="85420" y="165547"/>
                  </a:moveTo>
                  <a:cubicBezTo>
                    <a:pt x="91987" y="165547"/>
                    <a:pt x="97311" y="170871"/>
                    <a:pt x="97311" y="177438"/>
                  </a:cubicBezTo>
                  <a:cubicBezTo>
                    <a:pt x="97311" y="184005"/>
                    <a:pt x="91987" y="189329"/>
                    <a:pt x="85420" y="189329"/>
                  </a:cubicBezTo>
                  <a:cubicBezTo>
                    <a:pt x="78853" y="189329"/>
                    <a:pt x="73529" y="184005"/>
                    <a:pt x="73529" y="177438"/>
                  </a:cubicBezTo>
                  <a:cubicBezTo>
                    <a:pt x="73529" y="170871"/>
                    <a:pt x="78853" y="165547"/>
                    <a:pt x="85420" y="165547"/>
                  </a:cubicBezTo>
                  <a:close/>
                  <a:moveTo>
                    <a:pt x="429885" y="73388"/>
                  </a:moveTo>
                  <a:cubicBezTo>
                    <a:pt x="436472" y="73388"/>
                    <a:pt x="441811" y="78712"/>
                    <a:pt x="441811" y="85279"/>
                  </a:cubicBezTo>
                  <a:cubicBezTo>
                    <a:pt x="441811" y="91846"/>
                    <a:pt x="436472" y="97170"/>
                    <a:pt x="429885" y="97170"/>
                  </a:cubicBezTo>
                  <a:cubicBezTo>
                    <a:pt x="423298" y="97170"/>
                    <a:pt x="417959" y="91846"/>
                    <a:pt x="417959" y="85279"/>
                  </a:cubicBezTo>
                  <a:cubicBezTo>
                    <a:pt x="417959" y="78712"/>
                    <a:pt x="423298" y="73388"/>
                    <a:pt x="429885" y="73388"/>
                  </a:cubicBezTo>
                  <a:close/>
                  <a:moveTo>
                    <a:pt x="177720" y="73388"/>
                  </a:moveTo>
                  <a:cubicBezTo>
                    <a:pt x="184287" y="73388"/>
                    <a:pt x="189611" y="78712"/>
                    <a:pt x="189611" y="85279"/>
                  </a:cubicBezTo>
                  <a:cubicBezTo>
                    <a:pt x="189611" y="91846"/>
                    <a:pt x="184287" y="97170"/>
                    <a:pt x="177720" y="97170"/>
                  </a:cubicBezTo>
                  <a:cubicBezTo>
                    <a:pt x="171153" y="97170"/>
                    <a:pt x="165829" y="91846"/>
                    <a:pt x="165829" y="85279"/>
                  </a:cubicBezTo>
                  <a:cubicBezTo>
                    <a:pt x="165829" y="78712"/>
                    <a:pt x="171153" y="73388"/>
                    <a:pt x="177720" y="73388"/>
                  </a:cubicBezTo>
                  <a:close/>
                  <a:moveTo>
                    <a:pt x="303775" y="42480"/>
                  </a:moveTo>
                  <a:cubicBezTo>
                    <a:pt x="310366" y="42480"/>
                    <a:pt x="315710" y="47815"/>
                    <a:pt x="315710" y="54396"/>
                  </a:cubicBezTo>
                  <a:lnTo>
                    <a:pt x="315710" y="69869"/>
                  </a:lnTo>
                  <a:cubicBezTo>
                    <a:pt x="315710" y="76449"/>
                    <a:pt x="310366" y="81785"/>
                    <a:pt x="303775" y="81785"/>
                  </a:cubicBezTo>
                  <a:cubicBezTo>
                    <a:pt x="297184" y="81785"/>
                    <a:pt x="291929" y="76449"/>
                    <a:pt x="291929" y="69869"/>
                  </a:cubicBezTo>
                  <a:lnTo>
                    <a:pt x="291929" y="54396"/>
                  </a:lnTo>
                  <a:cubicBezTo>
                    <a:pt x="291929" y="47815"/>
                    <a:pt x="297184" y="42480"/>
                    <a:pt x="303775" y="42480"/>
                  </a:cubicBezTo>
                  <a:close/>
                  <a:moveTo>
                    <a:pt x="303775" y="0"/>
                  </a:moveTo>
                  <a:cubicBezTo>
                    <a:pt x="394204" y="0"/>
                    <a:pt x="479560" y="40347"/>
                    <a:pt x="537058" y="108956"/>
                  </a:cubicBezTo>
                  <a:lnTo>
                    <a:pt x="537058" y="93048"/>
                  </a:lnTo>
                  <a:cubicBezTo>
                    <a:pt x="537058" y="86471"/>
                    <a:pt x="542309" y="81139"/>
                    <a:pt x="548895" y="81139"/>
                  </a:cubicBezTo>
                  <a:cubicBezTo>
                    <a:pt x="555482" y="81139"/>
                    <a:pt x="560822" y="86471"/>
                    <a:pt x="560822" y="93048"/>
                  </a:cubicBezTo>
                  <a:lnTo>
                    <a:pt x="560822" y="138994"/>
                  </a:lnTo>
                  <a:cubicBezTo>
                    <a:pt x="560822" y="145570"/>
                    <a:pt x="555482" y="150903"/>
                    <a:pt x="548895" y="150903"/>
                  </a:cubicBezTo>
                  <a:lnTo>
                    <a:pt x="502880" y="150903"/>
                  </a:lnTo>
                  <a:cubicBezTo>
                    <a:pt x="496293" y="150903"/>
                    <a:pt x="490953" y="145570"/>
                    <a:pt x="490953" y="138994"/>
                  </a:cubicBezTo>
                  <a:cubicBezTo>
                    <a:pt x="490953" y="132417"/>
                    <a:pt x="496293" y="127174"/>
                    <a:pt x="502880" y="127174"/>
                  </a:cubicBezTo>
                  <a:lnTo>
                    <a:pt x="521126" y="127174"/>
                  </a:lnTo>
                  <a:cubicBezTo>
                    <a:pt x="468168" y="62032"/>
                    <a:pt x="388419" y="23728"/>
                    <a:pt x="303775" y="23728"/>
                  </a:cubicBezTo>
                  <a:cubicBezTo>
                    <a:pt x="149440" y="23728"/>
                    <a:pt x="23764" y="149214"/>
                    <a:pt x="23764" y="303316"/>
                  </a:cubicBezTo>
                  <a:cubicBezTo>
                    <a:pt x="23764" y="457508"/>
                    <a:pt x="149440" y="582905"/>
                    <a:pt x="303775" y="582905"/>
                  </a:cubicBezTo>
                  <a:cubicBezTo>
                    <a:pt x="458199" y="582905"/>
                    <a:pt x="583786" y="457508"/>
                    <a:pt x="583786" y="303316"/>
                  </a:cubicBezTo>
                  <a:cubicBezTo>
                    <a:pt x="583786" y="278255"/>
                    <a:pt x="580492" y="253371"/>
                    <a:pt x="573906" y="229376"/>
                  </a:cubicBezTo>
                  <a:cubicBezTo>
                    <a:pt x="572126" y="223066"/>
                    <a:pt x="575864" y="216489"/>
                    <a:pt x="582273" y="214801"/>
                  </a:cubicBezTo>
                  <a:cubicBezTo>
                    <a:pt x="588592" y="213023"/>
                    <a:pt x="595089" y="216756"/>
                    <a:pt x="596869" y="223066"/>
                  </a:cubicBezTo>
                  <a:cubicBezTo>
                    <a:pt x="603990" y="249194"/>
                    <a:pt x="607639" y="276122"/>
                    <a:pt x="607639" y="303316"/>
                  </a:cubicBezTo>
                  <a:cubicBezTo>
                    <a:pt x="607639" y="470572"/>
                    <a:pt x="471283" y="606722"/>
                    <a:pt x="303775" y="606722"/>
                  </a:cubicBezTo>
                  <a:cubicBezTo>
                    <a:pt x="136267" y="606722"/>
                    <a:pt x="0" y="470572"/>
                    <a:pt x="0" y="303316"/>
                  </a:cubicBezTo>
                  <a:cubicBezTo>
                    <a:pt x="0" y="136061"/>
                    <a:pt x="136267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6561061" y="3154031"/>
              <a:ext cx="2084386" cy="46539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覆盖率测试</a:t>
              </a: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7148889" y="2445430"/>
            <a:ext cx="2099056" cy="1630487"/>
            <a:chOff x="3632838" y="2075502"/>
            <a:chExt cx="2629054" cy="2210399"/>
          </a:xfrm>
        </p:grpSpPr>
        <p:sp>
          <p:nvSpPr>
            <p:cNvPr id="133" name="ïṧḷïḓê-矩形: 圆角 12"/>
            <p:cNvSpPr/>
            <p:nvPr/>
          </p:nvSpPr>
          <p:spPr>
            <a:xfrm>
              <a:off x="3632838" y="2075502"/>
              <a:ext cx="2360301" cy="2210399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4" name="椭圆 133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5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4177504" y="3288885"/>
              <a:ext cx="2084388" cy="48794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边界测试</a:t>
              </a: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9419516" y="2445430"/>
            <a:ext cx="1636411" cy="1630488"/>
            <a:chOff x="1004890" y="2075502"/>
            <a:chExt cx="2240571" cy="2508303"/>
          </a:xfrm>
        </p:grpSpPr>
        <p:sp>
          <p:nvSpPr>
            <p:cNvPr id="140" name="ïṧḷïḓê-矩形: 圆角 2"/>
            <p:cNvSpPr/>
            <p:nvPr/>
          </p:nvSpPr>
          <p:spPr>
            <a:xfrm>
              <a:off x="1004890" y="2075502"/>
              <a:ext cx="2240571" cy="250830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2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5" name="矩形 144"/>
            <p:cNvSpPr/>
            <p:nvPr/>
          </p:nvSpPr>
          <p:spPr>
            <a:xfrm>
              <a:off x="1161074" y="3320101"/>
              <a:ext cx="2084387" cy="95888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行代码运行效能测试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8484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772567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测试用例设计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9" name="图片占位符 8"/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tretch>
            <a:fillRect/>
          </a:stretch>
        </p:blipFill>
        <p:spPr>
          <a:xfrm>
            <a:off x="358775" y="2799080"/>
            <a:ext cx="3636010" cy="38830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75" y="1393825"/>
            <a:ext cx="6076315" cy="1164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rcRect l="3756" t="30446" r="41250"/>
          <a:stretch>
            <a:fillRect/>
          </a:stretch>
        </p:blipFill>
        <p:spPr>
          <a:xfrm>
            <a:off x="7099300" y="1781175"/>
            <a:ext cx="2240915" cy="8921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2010" y="4108450"/>
            <a:ext cx="3209290" cy="19608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045960" y="1325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基本路径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229100" y="3524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环形复杂度：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2+1=3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045960" y="3481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测试用例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051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772567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测试用例设计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10" name="图片占位符 9"/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tretch>
            <a:fillRect/>
          </a:stretch>
        </p:blipFill>
        <p:spPr>
          <a:xfrm>
            <a:off x="993775" y="2124710"/>
            <a:ext cx="9778365" cy="36741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4285" y="1343660"/>
            <a:ext cx="5108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  <a:sym typeface="+mn-ea"/>
              </a:rPr>
              <a:t>按照基本路径覆盖的原则设计测试用例。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下图为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POST /user/order/submit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接口测试用例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602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测试类设计及运行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测试类设计：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77710" y="1393825"/>
            <a:ext cx="498094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总共设计了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16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个测试类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核心业务测试类：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员工管理测试类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分类管理测试类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菜品管理测试类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套餐管理测试类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订单管理测试类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购物车管理测试类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地址簿管理测试类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3 个辅助测试类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GlobalExceptionHandlerTest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ResultTest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PageResultTest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用于验证全局异常拦截机制、统一响应格式封装和分页数据结构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83970"/>
            <a:ext cx="2945130" cy="52901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681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测试类设计及运行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测试类设计：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36015" y="1744345"/>
            <a:ext cx="9665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对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Controller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层各接口，按基本路径覆盖原则，使用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MockMvc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模拟请求，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Mock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业务层依赖，无需启动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Tomcat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和连接数据库。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Service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层：@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Mock + @InjectMocks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+mn-ea"/>
              </a:rPr>
              <a:t>隔离数据库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15" y="2686685"/>
            <a:ext cx="7825105" cy="39382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9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测试类设计及运行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菜品操作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95" y="1875155"/>
            <a:ext cx="8507095" cy="46805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3535" y="1963420"/>
            <a:ext cx="2726690" cy="15741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568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测试类设计及运行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菜品分类操作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95" y="1744345"/>
            <a:ext cx="8250555" cy="48952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6220" y="2057400"/>
            <a:ext cx="2926715" cy="13239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513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测试类设计及运行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订单操作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80" y="1844675"/>
            <a:ext cx="8521700" cy="45739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4305" y="1942465"/>
            <a:ext cx="2926080" cy="17113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68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测试类设计及运行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异常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860" y="2138045"/>
            <a:ext cx="2872105" cy="11436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60" y="1744345"/>
            <a:ext cx="8095615" cy="49199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377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977759" y="345292"/>
            <a:ext cx="223651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覆盖率测试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4" name="矩形 3"/>
          <p:cNvSpPr/>
          <p:nvPr/>
        </p:nvSpPr>
        <p:spPr>
          <a:xfrm>
            <a:off x="304165" y="1499235"/>
            <a:ext cx="442976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等线" panose="02010600030101010101" charset="-122"/>
                <a:cs typeface="Times New Roman" panose="02020603050405020304" pitchFamily="18" charset="0"/>
              </a:rPr>
              <a:t>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等线" panose="02010600030101010101" charset="-122"/>
                <a:cs typeface="Times New Roman" panose="02020603050405020304" pitchFamily="18" charset="0"/>
              </a:rPr>
              <a:t>IDEA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等线" panose="02010600030101010101" charset="-122"/>
                <a:cs typeface="Times New Roman" panose="02020603050405020304" pitchFamily="18" charset="0"/>
              </a:rPr>
              <a:t>的插件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等线" panose="02010600030101010101" charset="-122"/>
                <a:cs typeface="Times New Roman" panose="02020603050405020304" pitchFamily="18" charset="0"/>
              </a:rPr>
              <a:t>Run coverage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等线" panose="02010600030101010101" charset="-122"/>
                <a:cs typeface="Times New Roman" panose="02020603050405020304" pitchFamily="18" charset="0"/>
              </a:rPr>
              <a:t>来测试程序测试的覆盖率。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165" y="2849245"/>
            <a:ext cx="45681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Controller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层：27%  </a:t>
            </a:r>
          </a:p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← 管理端核心接口已覆盖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Service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层：   70%  </a:t>
            </a:r>
          </a:p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←  重点保障，下单/登录/套餐全覆盖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异常处理层：   100% </a:t>
            </a:r>
          </a:p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← 全局异常拦截验证完毕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980" y="1153160"/>
            <a:ext cx="6285230" cy="54241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582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46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边界测试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5" y="1266825"/>
            <a:ext cx="4627880" cy="2058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525" y="1266825"/>
            <a:ext cx="5564505" cy="3375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2605" y="3774440"/>
            <a:ext cx="49428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选择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EmployeeServiceImpl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员工业务逻辑类，重点测试了其中的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login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登录方法 和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pageQuery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分页查询方法。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这两个方法是员工管理模块的核心入口，用户交互频繁、业务逻辑复杂，且涉及大量条件判断和异常拦截，是边界条件的高发区域。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521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46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边界测试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1223010"/>
            <a:ext cx="7353935" cy="52755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2900" y="1307465"/>
            <a:ext cx="41027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以员工登录为例，只有账号密码正确且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status=1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才正常返回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考虑以下情况设计用例：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用户名空字符串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用户名不存在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密码空字符串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密码错误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账号状态=0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密码正确且状态=1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密码长度不足边界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203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46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边界测试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矩形 2"/>
          <p:cNvSpPr/>
          <p:nvPr/>
        </p:nvSpPr>
        <p:spPr>
          <a:xfrm>
            <a:off x="8100291" y="1333245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边界测试代码：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55" y="1393825"/>
            <a:ext cx="4717415" cy="1891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020" y="1847850"/>
            <a:ext cx="5504180" cy="1769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735" y="2220595"/>
            <a:ext cx="6501765" cy="1991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25" y="2666365"/>
            <a:ext cx="6821170" cy="2463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5300" y="3056255"/>
            <a:ext cx="6667500" cy="23387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9345" y="3616960"/>
            <a:ext cx="7605395" cy="26822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9910" y="4128770"/>
            <a:ext cx="7776845" cy="23983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561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46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边界测试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55" y="2615565"/>
            <a:ext cx="11667490" cy="36868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7360" y="13938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测试结果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7825" y="1896745"/>
            <a:ext cx="11462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业务代码健壮性良好：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EmployeeServiceImpl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在各种临界条件（空值、最小值、状态临界值、长度边界）下均能正确处理，没有出现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NullPointerException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或其他未捕获异常。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811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效能测试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25830" y="1254760"/>
            <a:ext cx="93129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JProfiler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进行行代码运行效能测试，监控内存消耗情况、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GC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JVM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垃圾回收）活动情况、类加载情况、线程情况和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CPU</a:t>
            </a: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消耗情况。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 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35" y="1884680"/>
            <a:ext cx="8628380" cy="47732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018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效能测试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5" y="2352040"/>
            <a:ext cx="7481570" cy="4059555"/>
          </a:xfrm>
          <a:prstGeom prst="rect">
            <a:avLst/>
          </a:prstGeom>
        </p:spPr>
      </p:pic>
      <p:sp>
        <p:nvSpPr>
          <p:cNvPr id="2" name="TextBox 30"/>
          <p:cNvSpPr txBox="1"/>
          <p:nvPr/>
        </p:nvSpPr>
        <p:spPr>
          <a:xfrm>
            <a:off x="782639" y="1153465"/>
            <a:ext cx="1091919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IDEA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的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Jprofiler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插件，配合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Jprofiler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进行内存泄漏的查找：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打开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Jprofiler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的内存视图，“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Mark Current value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”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运行项目，将所有操作都执行一遍。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在操作执行完以后：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761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效能测试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235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运行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GC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过后：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40" y="1815465"/>
            <a:ext cx="8067040" cy="4355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19540" y="1815465"/>
            <a:ext cx="28213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总实例数和总内存都几乎腰斩，说明大量临时对象被成功回收，没有停留在内存中。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086850" y="3676650"/>
            <a:ext cx="2921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业务代码创建的对象，在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GC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后没有出现在实例列表里，说明它们在业务流程结束后被正常回收，没有被意外引用导致泄漏。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915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效能测试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4" name="TextBox 30"/>
          <p:cNvSpPr txBox="1"/>
          <p:nvPr/>
        </p:nvSpPr>
        <p:spPr>
          <a:xfrm>
            <a:off x="806872" y="1621844"/>
            <a:ext cx="10877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运行项目，将所有操作都执行一遍。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查看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CPU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视图的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Call Tree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5" y="2268220"/>
            <a:ext cx="6361430" cy="42310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052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效能测试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970" y="1554480"/>
            <a:ext cx="7559040" cy="4837430"/>
          </a:xfrm>
          <a:prstGeom prst="rect">
            <a:avLst/>
          </a:prstGeom>
        </p:spPr>
      </p:pic>
      <p:sp>
        <p:nvSpPr>
          <p:cNvPr id="10" name="TextBox 30"/>
          <p:cNvSpPr txBox="1"/>
          <p:nvPr/>
        </p:nvSpPr>
        <p:spPr>
          <a:xfrm>
            <a:off x="507596" y="1721740"/>
            <a:ext cx="3513668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    展开用时比较多的几项，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AliOssUtil.upload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占了 10.3%（约 93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ms），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是主要耗时点。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上传接口的性能瓶颈完全在阿里云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OSS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网络请求上。业务逻辑本身无额外开销，属于正常的网络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I/O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耗时。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可缓存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OSSClient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实例，避免每次上传都重新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build（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减少 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ms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的开销）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或引入异步上传，把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OSS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+mn-cs"/>
              </a:rPr>
              <a:t>请求放到线程池执行，不阻塞主线程。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13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V="1">
            <a:off x="-1099284" y="1444859"/>
            <a:ext cx="6166850" cy="3968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535886" y="-1743"/>
            <a:ext cx="2656115" cy="22028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 flipV="1">
            <a:off x="3899720" y="2151953"/>
            <a:ext cx="1015660" cy="653564"/>
          </a:xfrm>
          <a:prstGeom prst="triangl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3578217" y="4767072"/>
            <a:ext cx="1156115" cy="958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840859" y="1970902"/>
            <a:ext cx="2210862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PART 03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0859" y="3038719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功能测试</a:t>
            </a:r>
          </a:p>
        </p:txBody>
      </p:sp>
      <p:sp>
        <p:nvSpPr>
          <p:cNvPr id="40" name="任意多边形 39"/>
          <p:cNvSpPr/>
          <p:nvPr/>
        </p:nvSpPr>
        <p:spPr>
          <a:xfrm>
            <a:off x="10445469" y="5500915"/>
            <a:ext cx="1746531" cy="1357086"/>
          </a:xfrm>
          <a:custGeom>
            <a:avLst/>
            <a:gdLst>
              <a:gd name="connsiteX0" fmla="*/ 1319464 w 1319464"/>
              <a:gd name="connsiteY0" fmla="*/ 0 h 1025247"/>
              <a:gd name="connsiteX1" fmla="*/ 1319464 w 1319464"/>
              <a:gd name="connsiteY1" fmla="*/ 1025247 h 1025247"/>
              <a:gd name="connsiteX2" fmla="*/ 0 w 1319464"/>
              <a:gd name="connsiteY2" fmla="*/ 1025247 h 102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9727812" y="6378594"/>
            <a:ext cx="578056" cy="4794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37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6" grpId="0"/>
      <p:bldP spid="37" grpId="0"/>
      <p:bldP spid="4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2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功能测试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67E9C22E-0007-22EB-3061-C56D0C57FAFB}"/>
              </a:ext>
            </a:extLst>
          </p:cNvPr>
          <p:cNvSpPr txBox="1"/>
          <p:nvPr/>
        </p:nvSpPr>
        <p:spPr>
          <a:xfrm>
            <a:off x="1745424" y="3084295"/>
            <a:ext cx="8510884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       选取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管理端的员工登录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功能和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新增菜品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功能、用户端的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查询菜品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功能，采用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等价类划分、边界值分析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等方法设计测试用例，使用</a:t>
            </a:r>
            <a:r>
              <a:rPr lang="en-US" altLang="zh-CN" sz="1600" dirty="0" err="1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Jmeter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进行测试。</a:t>
            </a:r>
          </a:p>
        </p:txBody>
      </p:sp>
      <p:sp>
        <p:nvSpPr>
          <p:cNvPr id="3" name="TextBox 33">
            <a:extLst>
              <a:ext uri="{FF2B5EF4-FFF2-40B4-BE49-F238E27FC236}">
                <a16:creationId xmlns:a16="http://schemas.microsoft.com/office/drawing/2014/main" id="{0228E884-E78E-763B-2EA4-FCEBD1B51309}"/>
              </a:ext>
            </a:extLst>
          </p:cNvPr>
          <p:cNvSpPr txBox="1"/>
          <p:nvPr/>
        </p:nvSpPr>
        <p:spPr>
          <a:xfrm>
            <a:off x="1741231" y="2544657"/>
            <a:ext cx="2692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一、功能模块测试</a:t>
            </a:r>
          </a:p>
        </p:txBody>
      </p:sp>
      <p:sp>
        <p:nvSpPr>
          <p:cNvPr id="4" name="TextBox 30">
            <a:extLst>
              <a:ext uri="{FF2B5EF4-FFF2-40B4-BE49-F238E27FC236}">
                <a16:creationId xmlns:a16="http://schemas.microsoft.com/office/drawing/2014/main" id="{20C63620-A076-7340-EAC7-35C52A3B6E74}"/>
              </a:ext>
            </a:extLst>
          </p:cNvPr>
          <p:cNvSpPr txBox="1"/>
          <p:nvPr/>
        </p:nvSpPr>
        <p:spPr>
          <a:xfrm>
            <a:off x="1796120" y="4819622"/>
            <a:ext cx="8510883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       使用</a:t>
            </a:r>
            <a:r>
              <a:rPr lang="en-US" altLang="zh-CN" sz="1600" dirty="0" err="1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Jmeter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将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多个接口串联调用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，模拟管理端菜品</a:t>
            </a:r>
            <a:r>
              <a:rPr lang="zh-CN" altLang="en-US" sz="16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从创建到销毁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的完整流程。</a:t>
            </a:r>
          </a:p>
        </p:txBody>
      </p:sp>
      <p:sp>
        <p:nvSpPr>
          <p:cNvPr id="5" name="TextBox 33">
            <a:extLst>
              <a:ext uri="{FF2B5EF4-FFF2-40B4-BE49-F238E27FC236}">
                <a16:creationId xmlns:a16="http://schemas.microsoft.com/office/drawing/2014/main" id="{E39018A8-3773-FBBA-DFF9-85AC033B913C}"/>
              </a:ext>
            </a:extLst>
          </p:cNvPr>
          <p:cNvSpPr txBox="1"/>
          <p:nvPr/>
        </p:nvSpPr>
        <p:spPr>
          <a:xfrm>
            <a:off x="1741231" y="4283449"/>
            <a:ext cx="2822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二、业务流程测试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8D1394-4E5C-E599-CB80-74FF00D4F786}"/>
              </a:ext>
            </a:extLst>
          </p:cNvPr>
          <p:cNvSpPr txBox="1"/>
          <p:nvPr/>
        </p:nvSpPr>
        <p:spPr>
          <a:xfrm>
            <a:off x="392143" y="1620187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Agency FB" panose="020B0503020202020204" pitchFamily="34" charset="0"/>
                <a:ea typeface="微软雅黑" panose="020B0503020204020204" charset="-122"/>
              </a:rPr>
              <a:t>测试内容如下：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755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36DB-9A92-A6FA-9466-DB4E197B1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13A8C29-BC9A-F2CD-5AB2-F9C7EE33E5F4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B3BC603-F688-8112-D8B5-CD6DB5242534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0D5EFBA-BB55-7D51-8129-EC42A26721BE}"/>
              </a:ext>
            </a:extLst>
          </p:cNvPr>
          <p:cNvSpPr txBox="1"/>
          <p:nvPr/>
        </p:nvSpPr>
        <p:spPr>
          <a:xfrm>
            <a:off x="5182932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功能测试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43FEBB9-BD9E-330D-71C3-A0C5615C86D5}"/>
              </a:ext>
            </a:extLst>
          </p:cNvPr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B7DAB85-F596-75D9-BDEC-3C7BB170C2F0}"/>
              </a:ext>
            </a:extLst>
          </p:cNvPr>
          <p:cNvGrpSpPr/>
          <p:nvPr/>
        </p:nvGrpSpPr>
        <p:grpSpPr>
          <a:xfrm>
            <a:off x="-769772" y="2345549"/>
            <a:ext cx="6962839" cy="1070325"/>
            <a:chOff x="281452" y="2164510"/>
            <a:chExt cx="3120194" cy="3398693"/>
          </a:xfrm>
        </p:grpSpPr>
        <p:sp>
          <p:nvSpPr>
            <p:cNvPr id="105" name="ïṧḷïḓê-矩形: 圆角 2">
              <a:extLst>
                <a:ext uri="{FF2B5EF4-FFF2-40B4-BE49-F238E27FC236}">
                  <a16:creationId xmlns:a16="http://schemas.microsoft.com/office/drawing/2014/main" id="{77263CEA-E7CD-1133-B9B4-D2754924B9BC}"/>
                </a:ext>
              </a:extLst>
            </p:cNvPr>
            <p:cNvSpPr/>
            <p:nvPr/>
          </p:nvSpPr>
          <p:spPr>
            <a:xfrm>
              <a:off x="1004890" y="2164510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A5F26957-410F-E539-79BC-E3645F39ED33}"/>
                </a:ext>
              </a:extLst>
            </p:cNvPr>
            <p:cNvGrpSpPr/>
            <p:nvPr/>
          </p:nvGrpSpPr>
          <p:grpSpPr>
            <a:xfrm>
              <a:off x="281452" y="2525161"/>
              <a:ext cx="2986623" cy="2354728"/>
              <a:chOff x="1797643" y="1201415"/>
              <a:chExt cx="2986623" cy="2354728"/>
            </a:xfrm>
          </p:grpSpPr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399D3700-E046-BD3A-930B-977131F28CEB}"/>
                  </a:ext>
                </a:extLst>
              </p:cNvPr>
              <p:cNvSpPr/>
              <p:nvPr/>
            </p:nvSpPr>
            <p:spPr>
              <a:xfrm>
                <a:off x="2699878" y="2494949"/>
                <a:ext cx="2084388" cy="106119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1400" b="1" dirty="0"/>
                  <a:t>• Windows 11</a:t>
                </a:r>
                <a:endParaRPr lang="zh-CN" altLang="en-US" sz="1400" b="1" dirty="0"/>
              </a:p>
            </p:txBody>
          </p: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4CE092C6-AE6B-7AA0-533D-177F7D098954}"/>
                  </a:ext>
                </a:extLst>
              </p:cNvPr>
              <p:cNvSpPr/>
              <p:nvPr/>
            </p:nvSpPr>
            <p:spPr>
              <a:xfrm>
                <a:off x="1797643" y="1201415"/>
                <a:ext cx="2084387" cy="139042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/>
                  <a:t>操作系统</a:t>
                </a:r>
              </a:p>
            </p:txBody>
          </p:sp>
        </p:grp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E37866B6-8EB3-5395-90D6-0D74056DF6A6}"/>
              </a:ext>
            </a:extLst>
          </p:cNvPr>
          <p:cNvGrpSpPr/>
          <p:nvPr/>
        </p:nvGrpSpPr>
        <p:grpSpPr>
          <a:xfrm>
            <a:off x="844609" y="3766313"/>
            <a:ext cx="5348458" cy="2673816"/>
            <a:chOff x="6214252" y="2075502"/>
            <a:chExt cx="2396756" cy="3398693"/>
          </a:xfrm>
        </p:grpSpPr>
        <p:sp>
          <p:nvSpPr>
            <p:cNvPr id="119" name="ïṧḷïḓê-矩形: 圆角 13">
              <a:extLst>
                <a:ext uri="{FF2B5EF4-FFF2-40B4-BE49-F238E27FC236}">
                  <a16:creationId xmlns:a16="http://schemas.microsoft.com/office/drawing/2014/main" id="{BD11A106-B4BD-14F9-AEF0-D0C50EE8FDB5}"/>
                </a:ext>
              </a:extLst>
            </p:cNvPr>
            <p:cNvSpPr/>
            <p:nvPr/>
          </p:nvSpPr>
          <p:spPr>
            <a:xfrm>
              <a:off x="6214252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B0EE25EA-4C9A-FA6C-8AE8-9FD57F93D50F}"/>
                </a:ext>
              </a:extLst>
            </p:cNvPr>
            <p:cNvGrpSpPr/>
            <p:nvPr/>
          </p:nvGrpSpPr>
          <p:grpSpPr>
            <a:xfrm>
              <a:off x="6273407" y="2280139"/>
              <a:ext cx="2181417" cy="2644754"/>
              <a:chOff x="2580238" y="956393"/>
              <a:chExt cx="2181417" cy="2644754"/>
            </a:xfrm>
          </p:grpSpPr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D92F2EEF-AD3F-AA14-E2F0-C7D2D7109F15}"/>
                  </a:ext>
                </a:extLst>
              </p:cNvPr>
              <p:cNvSpPr/>
              <p:nvPr/>
            </p:nvSpPr>
            <p:spPr>
              <a:xfrm>
                <a:off x="2677267" y="1533247"/>
                <a:ext cx="2084388" cy="206790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1400" b="1" dirty="0"/>
                  <a:t>  • JDK 1.8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1400" b="1" dirty="0"/>
                  <a:t>  • MySQL 8.0</a:t>
                </a:r>
                <a:r>
                  <a:rPr lang="zh-CN" altLang="en-US" sz="1400" b="1" dirty="0"/>
                  <a:t>（数据库：</a:t>
                </a:r>
                <a:r>
                  <a:rPr lang="en-US" altLang="zh-CN" sz="1400" b="1" dirty="0" err="1"/>
                  <a:t>sky_take_out</a:t>
                </a:r>
                <a:r>
                  <a:rPr lang="zh-CN" altLang="en-US" sz="1400" b="1" dirty="0"/>
                  <a:t>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/>
                  <a:t>  </a:t>
                </a:r>
                <a:r>
                  <a:rPr lang="en-US" altLang="zh-CN" sz="1400" b="1" dirty="0"/>
                  <a:t>• Redis</a:t>
                </a:r>
                <a:r>
                  <a:rPr lang="zh-CN" altLang="en-US" sz="1400" b="1" dirty="0"/>
                  <a:t>（缓存服务）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/>
                  <a:t>  </a:t>
                </a:r>
                <a:r>
                  <a:rPr lang="en-US" altLang="zh-CN" sz="1400" b="1" dirty="0"/>
                  <a:t>• Nginx</a:t>
                </a:r>
                <a:r>
                  <a:rPr lang="zh-CN" altLang="en-US" sz="1400" b="1" dirty="0"/>
                  <a:t>（前端部署）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/>
                  <a:t>  </a:t>
                </a:r>
                <a:r>
                  <a:rPr lang="en-US" altLang="zh-CN" sz="1400" b="1" dirty="0"/>
                  <a:t>• Spring Boot 2.x</a:t>
                </a:r>
                <a:r>
                  <a:rPr lang="zh-CN" altLang="en-US" sz="1400" b="1" dirty="0"/>
                  <a:t>（后端框架）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/>
                  <a:t>  </a:t>
                </a:r>
                <a:r>
                  <a:rPr lang="en-US" altLang="zh-CN" sz="1400" b="1" dirty="0"/>
                  <a:t>• </a:t>
                </a:r>
                <a:r>
                  <a:rPr lang="en-US" altLang="zh-CN" sz="1400" b="1" dirty="0" err="1"/>
                  <a:t>MyBatis</a:t>
                </a:r>
                <a:r>
                  <a:rPr lang="zh-CN" altLang="en-US" sz="1400" b="1" dirty="0"/>
                  <a:t>（持久层框架）</a:t>
                </a:r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6FC4D894-9F84-6BF5-BB21-52B110B40DA6}"/>
                  </a:ext>
                </a:extLst>
              </p:cNvPr>
              <p:cNvSpPr/>
              <p:nvPr/>
            </p:nvSpPr>
            <p:spPr>
              <a:xfrm>
                <a:off x="2580238" y="956393"/>
                <a:ext cx="2084387" cy="1390428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000" b="1" dirty="0"/>
                  <a:t>软件环境</a:t>
                </a:r>
                <a:endParaRPr lang="zh-CN" altLang="en-US" sz="1600" b="1" dirty="0"/>
              </a:p>
            </p:txBody>
          </p:sp>
        </p:grpSp>
      </p:grpSp>
      <p:sp>
        <p:nvSpPr>
          <p:cNvPr id="146" name="文本框 145">
            <a:extLst>
              <a:ext uri="{FF2B5EF4-FFF2-40B4-BE49-F238E27FC236}">
                <a16:creationId xmlns:a16="http://schemas.microsoft.com/office/drawing/2014/main" id="{EED51B0E-225B-5746-891B-EC7696CC9E85}"/>
              </a:ext>
            </a:extLst>
          </p:cNvPr>
          <p:cNvSpPr txBox="1"/>
          <p:nvPr/>
        </p:nvSpPr>
        <p:spPr>
          <a:xfrm>
            <a:off x="534570" y="146441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测试环境：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E58547-A21D-FC82-D000-7DF43D139F2A}"/>
              </a:ext>
            </a:extLst>
          </p:cNvPr>
          <p:cNvGrpSpPr/>
          <p:nvPr/>
        </p:nvGrpSpPr>
        <p:grpSpPr>
          <a:xfrm>
            <a:off x="6817710" y="2317838"/>
            <a:ext cx="4529680" cy="3845544"/>
            <a:chOff x="6214252" y="2075502"/>
            <a:chExt cx="2396756" cy="3398693"/>
          </a:xfrm>
        </p:grpSpPr>
        <p:sp>
          <p:nvSpPr>
            <p:cNvPr id="3" name="ïṧḷïḓê-矩形: 圆角 13">
              <a:extLst>
                <a:ext uri="{FF2B5EF4-FFF2-40B4-BE49-F238E27FC236}">
                  <a16:creationId xmlns:a16="http://schemas.microsoft.com/office/drawing/2014/main" id="{224EA56F-0EA7-67B3-9B1C-66FC69036095}"/>
                </a:ext>
              </a:extLst>
            </p:cNvPr>
            <p:cNvSpPr/>
            <p:nvPr/>
          </p:nvSpPr>
          <p:spPr>
            <a:xfrm>
              <a:off x="6214252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3215C60-422B-A8AC-346F-A4FE1FC336A3}"/>
                </a:ext>
              </a:extLst>
            </p:cNvPr>
            <p:cNvGrpSpPr/>
            <p:nvPr/>
          </p:nvGrpSpPr>
          <p:grpSpPr>
            <a:xfrm>
              <a:off x="6315506" y="2323726"/>
              <a:ext cx="2139318" cy="2440689"/>
              <a:chOff x="2622337" y="999980"/>
              <a:chExt cx="2139318" cy="244068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91D1042-8B52-F347-B62D-3D4E17087FCD}"/>
                  </a:ext>
                </a:extLst>
              </p:cNvPr>
              <p:cNvSpPr/>
              <p:nvPr/>
            </p:nvSpPr>
            <p:spPr>
              <a:xfrm>
                <a:off x="2677267" y="1592793"/>
                <a:ext cx="2084388" cy="1847876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b="1" dirty="0"/>
                  <a:t>Apache JMeter 5.6.3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1400" b="1" dirty="0"/>
                  <a:t>    - HTTP Sampler</a:t>
                </a:r>
                <a:r>
                  <a:rPr lang="zh-CN" altLang="en-US" sz="1400" b="1" dirty="0"/>
                  <a:t>（请求发送）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b="1" dirty="0"/>
                  <a:t>    </a:t>
                </a:r>
                <a:r>
                  <a:rPr lang="en-US" altLang="zh-CN" sz="1400" b="1" dirty="0"/>
                  <a:t>- JSON Path Assertion</a:t>
                </a:r>
                <a:r>
                  <a:rPr lang="zh-CN" altLang="en-US" sz="1400" b="1" dirty="0"/>
                  <a:t>（响应断言）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b="1" dirty="0"/>
                  <a:t>    </a:t>
                </a:r>
                <a:r>
                  <a:rPr lang="en-US" altLang="zh-CN" sz="1400" b="1" dirty="0"/>
                  <a:t>- Regular Expression Extractor</a:t>
                </a:r>
                <a:r>
                  <a:rPr lang="zh-CN" altLang="en-US" sz="1400" b="1" dirty="0"/>
                  <a:t>（数据提取）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b="1" dirty="0"/>
                  <a:t>    </a:t>
                </a:r>
                <a:r>
                  <a:rPr lang="en-US" altLang="zh-CN" sz="1400" b="1" dirty="0"/>
                  <a:t>- HTTP Header Manager</a:t>
                </a:r>
                <a:r>
                  <a:rPr lang="zh-CN" altLang="en-US" sz="1400" b="1" dirty="0"/>
                  <a:t>（认证管理）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b="1" dirty="0"/>
                  <a:t>    </a:t>
                </a:r>
                <a:r>
                  <a:rPr lang="en-US" altLang="zh-CN" sz="1400" b="1" dirty="0"/>
                  <a:t>- </a:t>
                </a:r>
                <a:r>
                  <a:rPr lang="zh-CN" altLang="en-US" sz="1400" b="1" dirty="0"/>
                  <a:t>监听器：查看结果树</a:t>
                </a: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CB533E-CCBA-C8EA-16C0-44FBE726F244}"/>
                  </a:ext>
                </a:extLst>
              </p:cNvPr>
              <p:cNvSpPr/>
              <p:nvPr/>
            </p:nvSpPr>
            <p:spPr>
              <a:xfrm>
                <a:off x="2622337" y="999980"/>
                <a:ext cx="2084387" cy="44802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dirty="0"/>
                  <a:t>测试工具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1349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2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功能测试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457590" y="2218117"/>
            <a:ext cx="2057009" cy="2421765"/>
            <a:chOff x="1004890" y="2075502"/>
            <a:chExt cx="2396756" cy="3398693"/>
          </a:xfrm>
        </p:grpSpPr>
        <p:sp>
          <p:nvSpPr>
            <p:cNvPr id="105" name="ïṧḷïḓê-矩形: 圆角 2"/>
            <p:cNvSpPr/>
            <p:nvPr/>
          </p:nvSpPr>
          <p:spPr>
            <a:xfrm>
              <a:off x="1004890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1150683" y="3320102"/>
              <a:ext cx="2094778" cy="1519951"/>
              <a:chOff x="2666874" y="1996356"/>
              <a:chExt cx="2094778" cy="1519951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2666874" y="2549949"/>
                <a:ext cx="2084388" cy="966358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根据等价类划分和边界值分析等方法设计测试用例</a:t>
                </a:r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2677265" y="1996356"/>
                <a:ext cx="2084387" cy="362343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b="1" dirty="0"/>
                  <a:t>设计测试用例</a:t>
                </a:r>
              </a:p>
            </p:txBody>
          </p:sp>
        </p:grpSp>
      </p:grpSp>
      <p:grpSp>
        <p:nvGrpSpPr>
          <p:cNvPr id="111" name="组合 110"/>
          <p:cNvGrpSpPr/>
          <p:nvPr/>
        </p:nvGrpSpPr>
        <p:grpSpPr>
          <a:xfrm>
            <a:off x="2728263" y="2378036"/>
            <a:ext cx="2057010" cy="2421765"/>
            <a:chOff x="3609571" y="2075502"/>
            <a:chExt cx="2396756" cy="3398693"/>
          </a:xfrm>
        </p:grpSpPr>
        <p:sp>
          <p:nvSpPr>
            <p:cNvPr id="112" name="ïṧḷïḓê-矩形: 圆角 12"/>
            <p:cNvSpPr/>
            <p:nvPr/>
          </p:nvSpPr>
          <p:spPr>
            <a:xfrm>
              <a:off x="3609571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3765754" y="3320102"/>
              <a:ext cx="2096554" cy="1207736"/>
              <a:chOff x="2677265" y="1996356"/>
              <a:chExt cx="2096554" cy="1207736"/>
            </a:xfrm>
          </p:grpSpPr>
          <p:sp>
            <p:nvSpPr>
              <p:cNvPr id="116" name="矩形 115"/>
              <p:cNvSpPr/>
              <p:nvPr/>
            </p:nvSpPr>
            <p:spPr>
              <a:xfrm>
                <a:off x="2689431" y="2547220"/>
                <a:ext cx="2084388" cy="656872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包括</a:t>
                </a:r>
                <a:r>
                  <a:rPr lang="zh-CN" altLang="en-US" sz="11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参数化、断言、变量传递</a:t>
                </a: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677265" y="1996356"/>
                <a:ext cx="2084387" cy="498967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1600" b="1" dirty="0" err="1"/>
                  <a:t>Jmeter</a:t>
                </a:r>
                <a:r>
                  <a:rPr lang="zh-CN" altLang="en-US" sz="1600" b="1" dirty="0"/>
                  <a:t>脚本设计</a:t>
                </a:r>
              </a:p>
            </p:txBody>
          </p:sp>
        </p:grpSp>
      </p:grpSp>
      <p:grpSp>
        <p:nvGrpSpPr>
          <p:cNvPr id="118" name="组合 117"/>
          <p:cNvGrpSpPr/>
          <p:nvPr/>
        </p:nvGrpSpPr>
        <p:grpSpPr>
          <a:xfrm>
            <a:off x="7213222" y="2748787"/>
            <a:ext cx="2051157" cy="2421766"/>
            <a:chOff x="6214252" y="2075502"/>
            <a:chExt cx="2396756" cy="3398693"/>
          </a:xfrm>
        </p:grpSpPr>
        <p:sp>
          <p:nvSpPr>
            <p:cNvPr id="119" name="ïṧḷïḓê-矩形: 圆角 13"/>
            <p:cNvSpPr/>
            <p:nvPr/>
          </p:nvSpPr>
          <p:spPr>
            <a:xfrm>
              <a:off x="6214252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7031630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38"/>
            <p:cNvSpPr/>
            <p:nvPr/>
          </p:nvSpPr>
          <p:spPr>
            <a:xfrm>
              <a:off x="7242767" y="2528195"/>
              <a:ext cx="339726" cy="339213"/>
            </a:xfrm>
            <a:custGeom>
              <a:avLst/>
              <a:gdLst>
                <a:gd name="connsiteX0" fmla="*/ 303775 w 607639"/>
                <a:gd name="connsiteY0" fmla="*/ 525007 h 606722"/>
                <a:gd name="connsiteX1" fmla="*/ 315710 w 607639"/>
                <a:gd name="connsiteY1" fmla="*/ 536902 h 606722"/>
                <a:gd name="connsiteX2" fmla="*/ 315710 w 607639"/>
                <a:gd name="connsiteY2" fmla="*/ 552347 h 606722"/>
                <a:gd name="connsiteX3" fmla="*/ 303775 w 607639"/>
                <a:gd name="connsiteY3" fmla="*/ 564241 h 606722"/>
                <a:gd name="connsiteX4" fmla="*/ 291929 w 607639"/>
                <a:gd name="connsiteY4" fmla="*/ 552347 h 606722"/>
                <a:gd name="connsiteX5" fmla="*/ 291929 w 607639"/>
                <a:gd name="connsiteY5" fmla="*/ 536902 h 606722"/>
                <a:gd name="connsiteX6" fmla="*/ 303775 w 607639"/>
                <a:gd name="connsiteY6" fmla="*/ 525007 h 606722"/>
                <a:gd name="connsiteX7" fmla="*/ 429885 w 607639"/>
                <a:gd name="connsiteY7" fmla="*/ 509483 h 606722"/>
                <a:gd name="connsiteX8" fmla="*/ 441811 w 607639"/>
                <a:gd name="connsiteY8" fmla="*/ 521409 h 606722"/>
                <a:gd name="connsiteX9" fmla="*/ 429885 w 607639"/>
                <a:gd name="connsiteY9" fmla="*/ 533335 h 606722"/>
                <a:gd name="connsiteX10" fmla="*/ 417959 w 607639"/>
                <a:gd name="connsiteY10" fmla="*/ 521409 h 606722"/>
                <a:gd name="connsiteX11" fmla="*/ 429885 w 607639"/>
                <a:gd name="connsiteY11" fmla="*/ 509483 h 606722"/>
                <a:gd name="connsiteX12" fmla="*/ 177720 w 607639"/>
                <a:gd name="connsiteY12" fmla="*/ 509483 h 606722"/>
                <a:gd name="connsiteX13" fmla="*/ 189611 w 607639"/>
                <a:gd name="connsiteY13" fmla="*/ 521409 h 606722"/>
                <a:gd name="connsiteX14" fmla="*/ 177720 w 607639"/>
                <a:gd name="connsiteY14" fmla="*/ 533335 h 606722"/>
                <a:gd name="connsiteX15" fmla="*/ 165829 w 607639"/>
                <a:gd name="connsiteY15" fmla="*/ 521409 h 606722"/>
                <a:gd name="connsiteX16" fmla="*/ 177720 w 607639"/>
                <a:gd name="connsiteY16" fmla="*/ 509483 h 606722"/>
                <a:gd name="connsiteX17" fmla="*/ 522185 w 607639"/>
                <a:gd name="connsiteY17" fmla="*/ 417324 h 606722"/>
                <a:gd name="connsiteX18" fmla="*/ 534111 w 607639"/>
                <a:gd name="connsiteY18" fmla="*/ 429250 h 606722"/>
                <a:gd name="connsiteX19" fmla="*/ 522185 w 607639"/>
                <a:gd name="connsiteY19" fmla="*/ 441176 h 606722"/>
                <a:gd name="connsiteX20" fmla="*/ 510259 w 607639"/>
                <a:gd name="connsiteY20" fmla="*/ 429250 h 606722"/>
                <a:gd name="connsiteX21" fmla="*/ 522185 w 607639"/>
                <a:gd name="connsiteY21" fmla="*/ 417324 h 606722"/>
                <a:gd name="connsiteX22" fmla="*/ 85420 w 607639"/>
                <a:gd name="connsiteY22" fmla="*/ 417324 h 606722"/>
                <a:gd name="connsiteX23" fmla="*/ 97311 w 607639"/>
                <a:gd name="connsiteY23" fmla="*/ 429250 h 606722"/>
                <a:gd name="connsiteX24" fmla="*/ 85420 w 607639"/>
                <a:gd name="connsiteY24" fmla="*/ 441176 h 606722"/>
                <a:gd name="connsiteX25" fmla="*/ 73529 w 607639"/>
                <a:gd name="connsiteY25" fmla="*/ 429250 h 606722"/>
                <a:gd name="connsiteX26" fmla="*/ 85420 w 607639"/>
                <a:gd name="connsiteY26" fmla="*/ 417324 h 606722"/>
                <a:gd name="connsiteX27" fmla="*/ 537643 w 607639"/>
                <a:gd name="connsiteY27" fmla="*/ 291506 h 606722"/>
                <a:gd name="connsiteX28" fmla="*/ 555628 w 607639"/>
                <a:gd name="connsiteY28" fmla="*/ 291506 h 606722"/>
                <a:gd name="connsiteX29" fmla="*/ 567558 w 607639"/>
                <a:gd name="connsiteY29" fmla="*/ 303316 h 606722"/>
                <a:gd name="connsiteX30" fmla="*/ 555628 w 607639"/>
                <a:gd name="connsiteY30" fmla="*/ 315216 h 606722"/>
                <a:gd name="connsiteX31" fmla="*/ 537643 w 607639"/>
                <a:gd name="connsiteY31" fmla="*/ 315216 h 606722"/>
                <a:gd name="connsiteX32" fmla="*/ 525713 w 607639"/>
                <a:gd name="connsiteY32" fmla="*/ 303316 h 606722"/>
                <a:gd name="connsiteX33" fmla="*/ 537643 w 607639"/>
                <a:gd name="connsiteY33" fmla="*/ 291506 h 606722"/>
                <a:gd name="connsiteX34" fmla="*/ 51991 w 607639"/>
                <a:gd name="connsiteY34" fmla="*/ 291506 h 606722"/>
                <a:gd name="connsiteX35" fmla="*/ 69946 w 607639"/>
                <a:gd name="connsiteY35" fmla="*/ 291506 h 606722"/>
                <a:gd name="connsiteX36" fmla="*/ 81856 w 607639"/>
                <a:gd name="connsiteY36" fmla="*/ 303316 h 606722"/>
                <a:gd name="connsiteX37" fmla="*/ 69946 w 607639"/>
                <a:gd name="connsiteY37" fmla="*/ 315216 h 606722"/>
                <a:gd name="connsiteX38" fmla="*/ 51991 w 607639"/>
                <a:gd name="connsiteY38" fmla="*/ 315216 h 606722"/>
                <a:gd name="connsiteX39" fmla="*/ 40081 w 607639"/>
                <a:gd name="connsiteY39" fmla="*/ 303316 h 606722"/>
                <a:gd name="connsiteX40" fmla="*/ 51991 w 607639"/>
                <a:gd name="connsiteY40" fmla="*/ 291506 h 606722"/>
                <a:gd name="connsiteX41" fmla="*/ 412608 w 607639"/>
                <a:gd name="connsiteY41" fmla="*/ 222096 h 606722"/>
                <a:gd name="connsiteX42" fmla="*/ 345491 w 607639"/>
                <a:gd name="connsiteY42" fmla="*/ 334245 h 606722"/>
                <a:gd name="connsiteX43" fmla="*/ 412608 w 607639"/>
                <a:gd name="connsiteY43" fmla="*/ 334245 h 606722"/>
                <a:gd name="connsiteX44" fmla="*/ 427651 w 607639"/>
                <a:gd name="connsiteY44" fmla="*/ 167533 h 606722"/>
                <a:gd name="connsiteX45" fmla="*/ 436375 w 607639"/>
                <a:gd name="connsiteY45" fmla="*/ 178996 h 606722"/>
                <a:gd name="connsiteX46" fmla="*/ 436375 w 607639"/>
                <a:gd name="connsiteY46" fmla="*/ 334245 h 606722"/>
                <a:gd name="connsiteX47" fmla="*/ 469399 w 607639"/>
                <a:gd name="connsiteY47" fmla="*/ 334245 h 606722"/>
                <a:gd name="connsiteX48" fmla="*/ 481327 w 607639"/>
                <a:gd name="connsiteY48" fmla="*/ 346153 h 606722"/>
                <a:gd name="connsiteX49" fmla="*/ 469399 w 607639"/>
                <a:gd name="connsiteY49" fmla="*/ 357973 h 606722"/>
                <a:gd name="connsiteX50" fmla="*/ 436375 w 607639"/>
                <a:gd name="connsiteY50" fmla="*/ 357973 h 606722"/>
                <a:gd name="connsiteX51" fmla="*/ 436375 w 607639"/>
                <a:gd name="connsiteY51" fmla="*/ 427733 h 606722"/>
                <a:gd name="connsiteX52" fmla="*/ 424536 w 607639"/>
                <a:gd name="connsiteY52" fmla="*/ 439552 h 606722"/>
                <a:gd name="connsiteX53" fmla="*/ 412608 w 607639"/>
                <a:gd name="connsiteY53" fmla="*/ 427733 h 606722"/>
                <a:gd name="connsiteX54" fmla="*/ 412608 w 607639"/>
                <a:gd name="connsiteY54" fmla="*/ 357973 h 606722"/>
                <a:gd name="connsiteX55" fmla="*/ 324573 w 607639"/>
                <a:gd name="connsiteY55" fmla="*/ 357973 h 606722"/>
                <a:gd name="connsiteX56" fmla="*/ 314158 w 607639"/>
                <a:gd name="connsiteY56" fmla="*/ 352019 h 606722"/>
                <a:gd name="connsiteX57" fmla="*/ 314336 w 607639"/>
                <a:gd name="connsiteY57" fmla="*/ 340022 h 606722"/>
                <a:gd name="connsiteX58" fmla="*/ 414299 w 607639"/>
                <a:gd name="connsiteY58" fmla="*/ 172953 h 606722"/>
                <a:gd name="connsiteX59" fmla="*/ 427651 w 607639"/>
                <a:gd name="connsiteY59" fmla="*/ 167533 h 606722"/>
                <a:gd name="connsiteX60" fmla="*/ 216270 w 607639"/>
                <a:gd name="connsiteY60" fmla="*/ 167099 h 606722"/>
                <a:gd name="connsiteX61" fmla="*/ 290518 w 607639"/>
                <a:gd name="connsiteY61" fmla="*/ 241210 h 606722"/>
                <a:gd name="connsiteX62" fmla="*/ 242978 w 607639"/>
                <a:gd name="connsiteY62" fmla="*/ 355754 h 606722"/>
                <a:gd name="connsiteX63" fmla="*/ 182707 w 607639"/>
                <a:gd name="connsiteY63" fmla="*/ 415825 h 606722"/>
                <a:gd name="connsiteX64" fmla="*/ 278588 w 607639"/>
                <a:gd name="connsiteY64" fmla="*/ 415825 h 606722"/>
                <a:gd name="connsiteX65" fmla="*/ 290518 w 607639"/>
                <a:gd name="connsiteY65" fmla="*/ 427734 h 606722"/>
                <a:gd name="connsiteX66" fmla="*/ 278588 w 607639"/>
                <a:gd name="connsiteY66" fmla="*/ 439552 h 606722"/>
                <a:gd name="connsiteX67" fmla="*/ 154040 w 607639"/>
                <a:gd name="connsiteY67" fmla="*/ 439552 h 606722"/>
                <a:gd name="connsiteX68" fmla="*/ 143001 w 607639"/>
                <a:gd name="connsiteY68" fmla="*/ 432265 h 606722"/>
                <a:gd name="connsiteX69" fmla="*/ 145582 w 607639"/>
                <a:gd name="connsiteY69" fmla="*/ 419292 h 606722"/>
                <a:gd name="connsiteX70" fmla="*/ 226152 w 607639"/>
                <a:gd name="connsiteY70" fmla="*/ 338959 h 606722"/>
                <a:gd name="connsiteX71" fmla="*/ 266659 w 607639"/>
                <a:gd name="connsiteY71" fmla="*/ 241210 h 606722"/>
                <a:gd name="connsiteX72" fmla="*/ 216270 w 607639"/>
                <a:gd name="connsiteY72" fmla="*/ 190914 h 606722"/>
                <a:gd name="connsiteX73" fmla="*/ 165880 w 607639"/>
                <a:gd name="connsiteY73" fmla="*/ 241210 h 606722"/>
                <a:gd name="connsiteX74" fmla="*/ 154040 w 607639"/>
                <a:gd name="connsiteY74" fmla="*/ 253029 h 606722"/>
                <a:gd name="connsiteX75" fmla="*/ 142110 w 607639"/>
                <a:gd name="connsiteY75" fmla="*/ 241210 h 606722"/>
                <a:gd name="connsiteX76" fmla="*/ 216270 w 607639"/>
                <a:gd name="connsiteY76" fmla="*/ 167099 h 606722"/>
                <a:gd name="connsiteX77" fmla="*/ 522185 w 607639"/>
                <a:gd name="connsiteY77" fmla="*/ 165547 h 606722"/>
                <a:gd name="connsiteX78" fmla="*/ 534111 w 607639"/>
                <a:gd name="connsiteY78" fmla="*/ 177438 h 606722"/>
                <a:gd name="connsiteX79" fmla="*/ 522185 w 607639"/>
                <a:gd name="connsiteY79" fmla="*/ 189329 h 606722"/>
                <a:gd name="connsiteX80" fmla="*/ 510259 w 607639"/>
                <a:gd name="connsiteY80" fmla="*/ 177438 h 606722"/>
                <a:gd name="connsiteX81" fmla="*/ 522185 w 607639"/>
                <a:gd name="connsiteY81" fmla="*/ 165547 h 606722"/>
                <a:gd name="connsiteX82" fmla="*/ 85420 w 607639"/>
                <a:gd name="connsiteY82" fmla="*/ 165547 h 606722"/>
                <a:gd name="connsiteX83" fmla="*/ 97311 w 607639"/>
                <a:gd name="connsiteY83" fmla="*/ 177438 h 606722"/>
                <a:gd name="connsiteX84" fmla="*/ 85420 w 607639"/>
                <a:gd name="connsiteY84" fmla="*/ 189329 h 606722"/>
                <a:gd name="connsiteX85" fmla="*/ 73529 w 607639"/>
                <a:gd name="connsiteY85" fmla="*/ 177438 h 606722"/>
                <a:gd name="connsiteX86" fmla="*/ 85420 w 607639"/>
                <a:gd name="connsiteY86" fmla="*/ 165547 h 606722"/>
                <a:gd name="connsiteX87" fmla="*/ 429885 w 607639"/>
                <a:gd name="connsiteY87" fmla="*/ 73388 h 606722"/>
                <a:gd name="connsiteX88" fmla="*/ 441811 w 607639"/>
                <a:gd name="connsiteY88" fmla="*/ 85279 h 606722"/>
                <a:gd name="connsiteX89" fmla="*/ 429885 w 607639"/>
                <a:gd name="connsiteY89" fmla="*/ 97170 h 606722"/>
                <a:gd name="connsiteX90" fmla="*/ 417959 w 607639"/>
                <a:gd name="connsiteY90" fmla="*/ 85279 h 606722"/>
                <a:gd name="connsiteX91" fmla="*/ 429885 w 607639"/>
                <a:gd name="connsiteY91" fmla="*/ 73388 h 606722"/>
                <a:gd name="connsiteX92" fmla="*/ 177720 w 607639"/>
                <a:gd name="connsiteY92" fmla="*/ 73388 h 606722"/>
                <a:gd name="connsiteX93" fmla="*/ 189611 w 607639"/>
                <a:gd name="connsiteY93" fmla="*/ 85279 h 606722"/>
                <a:gd name="connsiteX94" fmla="*/ 177720 w 607639"/>
                <a:gd name="connsiteY94" fmla="*/ 97170 h 606722"/>
                <a:gd name="connsiteX95" fmla="*/ 165829 w 607639"/>
                <a:gd name="connsiteY95" fmla="*/ 85279 h 606722"/>
                <a:gd name="connsiteX96" fmla="*/ 177720 w 607639"/>
                <a:gd name="connsiteY96" fmla="*/ 73388 h 606722"/>
                <a:gd name="connsiteX97" fmla="*/ 303775 w 607639"/>
                <a:gd name="connsiteY97" fmla="*/ 42480 h 606722"/>
                <a:gd name="connsiteX98" fmla="*/ 315710 w 607639"/>
                <a:gd name="connsiteY98" fmla="*/ 54396 h 606722"/>
                <a:gd name="connsiteX99" fmla="*/ 315710 w 607639"/>
                <a:gd name="connsiteY99" fmla="*/ 69869 h 606722"/>
                <a:gd name="connsiteX100" fmla="*/ 303775 w 607639"/>
                <a:gd name="connsiteY100" fmla="*/ 81785 h 606722"/>
                <a:gd name="connsiteX101" fmla="*/ 291929 w 607639"/>
                <a:gd name="connsiteY101" fmla="*/ 69869 h 606722"/>
                <a:gd name="connsiteX102" fmla="*/ 291929 w 607639"/>
                <a:gd name="connsiteY102" fmla="*/ 54396 h 606722"/>
                <a:gd name="connsiteX103" fmla="*/ 303775 w 607639"/>
                <a:gd name="connsiteY103" fmla="*/ 42480 h 606722"/>
                <a:gd name="connsiteX104" fmla="*/ 303775 w 607639"/>
                <a:gd name="connsiteY104" fmla="*/ 0 h 606722"/>
                <a:gd name="connsiteX105" fmla="*/ 537058 w 607639"/>
                <a:gd name="connsiteY105" fmla="*/ 108956 h 606722"/>
                <a:gd name="connsiteX106" fmla="*/ 537058 w 607639"/>
                <a:gd name="connsiteY106" fmla="*/ 93048 h 606722"/>
                <a:gd name="connsiteX107" fmla="*/ 548895 w 607639"/>
                <a:gd name="connsiteY107" fmla="*/ 81139 h 606722"/>
                <a:gd name="connsiteX108" fmla="*/ 560822 w 607639"/>
                <a:gd name="connsiteY108" fmla="*/ 93048 h 606722"/>
                <a:gd name="connsiteX109" fmla="*/ 560822 w 607639"/>
                <a:gd name="connsiteY109" fmla="*/ 138994 h 606722"/>
                <a:gd name="connsiteX110" fmla="*/ 548895 w 607639"/>
                <a:gd name="connsiteY110" fmla="*/ 150903 h 606722"/>
                <a:gd name="connsiteX111" fmla="*/ 502880 w 607639"/>
                <a:gd name="connsiteY111" fmla="*/ 150903 h 606722"/>
                <a:gd name="connsiteX112" fmla="*/ 490953 w 607639"/>
                <a:gd name="connsiteY112" fmla="*/ 138994 h 606722"/>
                <a:gd name="connsiteX113" fmla="*/ 502880 w 607639"/>
                <a:gd name="connsiteY113" fmla="*/ 127174 h 606722"/>
                <a:gd name="connsiteX114" fmla="*/ 521126 w 607639"/>
                <a:gd name="connsiteY114" fmla="*/ 127174 h 606722"/>
                <a:gd name="connsiteX115" fmla="*/ 303775 w 607639"/>
                <a:gd name="connsiteY115" fmla="*/ 23728 h 606722"/>
                <a:gd name="connsiteX116" fmla="*/ 23764 w 607639"/>
                <a:gd name="connsiteY116" fmla="*/ 303316 h 606722"/>
                <a:gd name="connsiteX117" fmla="*/ 303775 w 607639"/>
                <a:gd name="connsiteY117" fmla="*/ 582905 h 606722"/>
                <a:gd name="connsiteX118" fmla="*/ 583786 w 607639"/>
                <a:gd name="connsiteY118" fmla="*/ 303316 h 606722"/>
                <a:gd name="connsiteX119" fmla="*/ 573906 w 607639"/>
                <a:gd name="connsiteY119" fmla="*/ 229376 h 606722"/>
                <a:gd name="connsiteX120" fmla="*/ 582273 w 607639"/>
                <a:gd name="connsiteY120" fmla="*/ 214801 h 606722"/>
                <a:gd name="connsiteX121" fmla="*/ 596869 w 607639"/>
                <a:gd name="connsiteY121" fmla="*/ 223066 h 606722"/>
                <a:gd name="connsiteX122" fmla="*/ 607639 w 607639"/>
                <a:gd name="connsiteY122" fmla="*/ 303316 h 606722"/>
                <a:gd name="connsiteX123" fmla="*/ 303775 w 607639"/>
                <a:gd name="connsiteY123" fmla="*/ 606722 h 606722"/>
                <a:gd name="connsiteX124" fmla="*/ 0 w 607639"/>
                <a:gd name="connsiteY124" fmla="*/ 303316 h 606722"/>
                <a:gd name="connsiteX125" fmla="*/ 303775 w 607639"/>
                <a:gd name="connsiteY125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07639" h="606722">
                  <a:moveTo>
                    <a:pt x="303775" y="525007"/>
                  </a:moveTo>
                  <a:cubicBezTo>
                    <a:pt x="310366" y="525007"/>
                    <a:pt x="315710" y="530333"/>
                    <a:pt x="315710" y="536902"/>
                  </a:cubicBezTo>
                  <a:lnTo>
                    <a:pt x="315710" y="552347"/>
                  </a:lnTo>
                  <a:cubicBezTo>
                    <a:pt x="315710" y="558915"/>
                    <a:pt x="310366" y="564241"/>
                    <a:pt x="303775" y="564241"/>
                  </a:cubicBezTo>
                  <a:cubicBezTo>
                    <a:pt x="297184" y="564241"/>
                    <a:pt x="291929" y="558915"/>
                    <a:pt x="291929" y="552347"/>
                  </a:cubicBezTo>
                  <a:lnTo>
                    <a:pt x="291929" y="536902"/>
                  </a:lnTo>
                  <a:cubicBezTo>
                    <a:pt x="291929" y="530333"/>
                    <a:pt x="297184" y="525007"/>
                    <a:pt x="303775" y="525007"/>
                  </a:cubicBezTo>
                  <a:close/>
                  <a:moveTo>
                    <a:pt x="429885" y="509483"/>
                  </a:moveTo>
                  <a:cubicBezTo>
                    <a:pt x="436472" y="509483"/>
                    <a:pt x="441811" y="514822"/>
                    <a:pt x="441811" y="521409"/>
                  </a:cubicBezTo>
                  <a:cubicBezTo>
                    <a:pt x="441811" y="527996"/>
                    <a:pt x="436472" y="533335"/>
                    <a:pt x="429885" y="533335"/>
                  </a:cubicBezTo>
                  <a:cubicBezTo>
                    <a:pt x="423298" y="533335"/>
                    <a:pt x="417959" y="527996"/>
                    <a:pt x="417959" y="521409"/>
                  </a:cubicBezTo>
                  <a:cubicBezTo>
                    <a:pt x="417959" y="514822"/>
                    <a:pt x="423298" y="509483"/>
                    <a:pt x="429885" y="509483"/>
                  </a:cubicBezTo>
                  <a:close/>
                  <a:moveTo>
                    <a:pt x="177720" y="509483"/>
                  </a:moveTo>
                  <a:cubicBezTo>
                    <a:pt x="184287" y="509483"/>
                    <a:pt x="189611" y="514822"/>
                    <a:pt x="189611" y="521409"/>
                  </a:cubicBezTo>
                  <a:cubicBezTo>
                    <a:pt x="189611" y="527996"/>
                    <a:pt x="184287" y="533335"/>
                    <a:pt x="177720" y="533335"/>
                  </a:cubicBezTo>
                  <a:cubicBezTo>
                    <a:pt x="171153" y="533335"/>
                    <a:pt x="165829" y="527996"/>
                    <a:pt x="165829" y="521409"/>
                  </a:cubicBezTo>
                  <a:cubicBezTo>
                    <a:pt x="165829" y="514822"/>
                    <a:pt x="171153" y="509483"/>
                    <a:pt x="177720" y="509483"/>
                  </a:cubicBezTo>
                  <a:close/>
                  <a:moveTo>
                    <a:pt x="522185" y="417324"/>
                  </a:moveTo>
                  <a:cubicBezTo>
                    <a:pt x="528772" y="417324"/>
                    <a:pt x="534111" y="422663"/>
                    <a:pt x="534111" y="429250"/>
                  </a:cubicBezTo>
                  <a:cubicBezTo>
                    <a:pt x="534111" y="435837"/>
                    <a:pt x="528772" y="441176"/>
                    <a:pt x="522185" y="441176"/>
                  </a:cubicBezTo>
                  <a:cubicBezTo>
                    <a:pt x="515598" y="441176"/>
                    <a:pt x="510259" y="435837"/>
                    <a:pt x="510259" y="429250"/>
                  </a:cubicBezTo>
                  <a:cubicBezTo>
                    <a:pt x="510259" y="422663"/>
                    <a:pt x="515598" y="417324"/>
                    <a:pt x="522185" y="417324"/>
                  </a:cubicBezTo>
                  <a:close/>
                  <a:moveTo>
                    <a:pt x="85420" y="417324"/>
                  </a:moveTo>
                  <a:cubicBezTo>
                    <a:pt x="91987" y="417324"/>
                    <a:pt x="97311" y="422663"/>
                    <a:pt x="97311" y="429250"/>
                  </a:cubicBezTo>
                  <a:cubicBezTo>
                    <a:pt x="97311" y="435837"/>
                    <a:pt x="91987" y="441176"/>
                    <a:pt x="85420" y="441176"/>
                  </a:cubicBezTo>
                  <a:cubicBezTo>
                    <a:pt x="78853" y="441176"/>
                    <a:pt x="73529" y="435837"/>
                    <a:pt x="73529" y="429250"/>
                  </a:cubicBezTo>
                  <a:cubicBezTo>
                    <a:pt x="73529" y="422663"/>
                    <a:pt x="78853" y="417324"/>
                    <a:pt x="85420" y="417324"/>
                  </a:cubicBezTo>
                  <a:close/>
                  <a:moveTo>
                    <a:pt x="537643" y="291506"/>
                  </a:moveTo>
                  <a:lnTo>
                    <a:pt x="555628" y="291506"/>
                  </a:lnTo>
                  <a:cubicBezTo>
                    <a:pt x="562216" y="291506"/>
                    <a:pt x="567558" y="296745"/>
                    <a:pt x="567558" y="303316"/>
                  </a:cubicBezTo>
                  <a:cubicBezTo>
                    <a:pt x="567558" y="309888"/>
                    <a:pt x="562216" y="315216"/>
                    <a:pt x="555628" y="315216"/>
                  </a:cubicBezTo>
                  <a:lnTo>
                    <a:pt x="537643" y="315216"/>
                  </a:lnTo>
                  <a:cubicBezTo>
                    <a:pt x="531055" y="315216"/>
                    <a:pt x="525713" y="309888"/>
                    <a:pt x="525713" y="303316"/>
                  </a:cubicBezTo>
                  <a:cubicBezTo>
                    <a:pt x="525713" y="296745"/>
                    <a:pt x="531055" y="291506"/>
                    <a:pt x="537643" y="291506"/>
                  </a:cubicBezTo>
                  <a:close/>
                  <a:moveTo>
                    <a:pt x="51991" y="291506"/>
                  </a:moveTo>
                  <a:lnTo>
                    <a:pt x="69946" y="291506"/>
                  </a:lnTo>
                  <a:cubicBezTo>
                    <a:pt x="76523" y="291506"/>
                    <a:pt x="81856" y="296745"/>
                    <a:pt x="81856" y="303316"/>
                  </a:cubicBezTo>
                  <a:cubicBezTo>
                    <a:pt x="81856" y="309888"/>
                    <a:pt x="76523" y="315216"/>
                    <a:pt x="69946" y="315216"/>
                  </a:cubicBezTo>
                  <a:lnTo>
                    <a:pt x="51991" y="315216"/>
                  </a:lnTo>
                  <a:cubicBezTo>
                    <a:pt x="45414" y="315216"/>
                    <a:pt x="40081" y="309888"/>
                    <a:pt x="40081" y="303316"/>
                  </a:cubicBezTo>
                  <a:cubicBezTo>
                    <a:pt x="40081" y="296745"/>
                    <a:pt x="45414" y="291506"/>
                    <a:pt x="51991" y="291506"/>
                  </a:cubicBezTo>
                  <a:close/>
                  <a:moveTo>
                    <a:pt x="412608" y="222096"/>
                  </a:moveTo>
                  <a:lnTo>
                    <a:pt x="345491" y="334245"/>
                  </a:lnTo>
                  <a:lnTo>
                    <a:pt x="412608" y="334245"/>
                  </a:lnTo>
                  <a:close/>
                  <a:moveTo>
                    <a:pt x="427651" y="167533"/>
                  </a:moveTo>
                  <a:cubicBezTo>
                    <a:pt x="432814" y="168954"/>
                    <a:pt x="436375" y="173664"/>
                    <a:pt x="436375" y="178996"/>
                  </a:cubicBezTo>
                  <a:lnTo>
                    <a:pt x="436375" y="334245"/>
                  </a:lnTo>
                  <a:lnTo>
                    <a:pt x="469399" y="334245"/>
                  </a:lnTo>
                  <a:cubicBezTo>
                    <a:pt x="475986" y="334245"/>
                    <a:pt x="481327" y="339577"/>
                    <a:pt x="481327" y="346153"/>
                  </a:cubicBezTo>
                  <a:cubicBezTo>
                    <a:pt x="481327" y="352641"/>
                    <a:pt x="475986" y="357973"/>
                    <a:pt x="469399" y="357973"/>
                  </a:cubicBezTo>
                  <a:lnTo>
                    <a:pt x="436375" y="357973"/>
                  </a:lnTo>
                  <a:lnTo>
                    <a:pt x="436375" y="427733"/>
                  </a:lnTo>
                  <a:cubicBezTo>
                    <a:pt x="436375" y="434220"/>
                    <a:pt x="431123" y="439552"/>
                    <a:pt x="424536" y="439552"/>
                  </a:cubicBezTo>
                  <a:cubicBezTo>
                    <a:pt x="417949" y="439552"/>
                    <a:pt x="412608" y="434220"/>
                    <a:pt x="412608" y="427733"/>
                  </a:cubicBezTo>
                  <a:lnTo>
                    <a:pt x="412608" y="357973"/>
                  </a:lnTo>
                  <a:lnTo>
                    <a:pt x="324573" y="357973"/>
                  </a:lnTo>
                  <a:cubicBezTo>
                    <a:pt x="320300" y="357973"/>
                    <a:pt x="316295" y="355662"/>
                    <a:pt x="314158" y="352019"/>
                  </a:cubicBezTo>
                  <a:cubicBezTo>
                    <a:pt x="312111" y="348286"/>
                    <a:pt x="312111" y="343665"/>
                    <a:pt x="314336" y="340022"/>
                  </a:cubicBezTo>
                  <a:lnTo>
                    <a:pt x="414299" y="172953"/>
                  </a:lnTo>
                  <a:cubicBezTo>
                    <a:pt x="417059" y="168332"/>
                    <a:pt x="422489" y="166111"/>
                    <a:pt x="427651" y="167533"/>
                  </a:cubicBezTo>
                  <a:close/>
                  <a:moveTo>
                    <a:pt x="216270" y="167099"/>
                  </a:moveTo>
                  <a:cubicBezTo>
                    <a:pt x="257222" y="167099"/>
                    <a:pt x="290518" y="200333"/>
                    <a:pt x="290518" y="241210"/>
                  </a:cubicBezTo>
                  <a:cubicBezTo>
                    <a:pt x="290518" y="284486"/>
                    <a:pt x="273603" y="325097"/>
                    <a:pt x="242978" y="355754"/>
                  </a:cubicBezTo>
                  <a:lnTo>
                    <a:pt x="182707" y="415825"/>
                  </a:lnTo>
                  <a:lnTo>
                    <a:pt x="278588" y="415825"/>
                  </a:lnTo>
                  <a:cubicBezTo>
                    <a:pt x="285176" y="415825"/>
                    <a:pt x="290518" y="421158"/>
                    <a:pt x="290518" y="427734"/>
                  </a:cubicBezTo>
                  <a:cubicBezTo>
                    <a:pt x="290518" y="434220"/>
                    <a:pt x="285176" y="439552"/>
                    <a:pt x="278588" y="439552"/>
                  </a:cubicBezTo>
                  <a:lnTo>
                    <a:pt x="154040" y="439552"/>
                  </a:lnTo>
                  <a:cubicBezTo>
                    <a:pt x="149232" y="439552"/>
                    <a:pt x="144870" y="436709"/>
                    <a:pt x="143001" y="432265"/>
                  </a:cubicBezTo>
                  <a:cubicBezTo>
                    <a:pt x="141131" y="427822"/>
                    <a:pt x="142199" y="422668"/>
                    <a:pt x="145582" y="419292"/>
                  </a:cubicBezTo>
                  <a:lnTo>
                    <a:pt x="226152" y="338959"/>
                  </a:lnTo>
                  <a:cubicBezTo>
                    <a:pt x="252236" y="312834"/>
                    <a:pt x="266659" y="278088"/>
                    <a:pt x="266659" y="241210"/>
                  </a:cubicBezTo>
                  <a:cubicBezTo>
                    <a:pt x="266659" y="213485"/>
                    <a:pt x="244046" y="190914"/>
                    <a:pt x="216270" y="190914"/>
                  </a:cubicBezTo>
                  <a:cubicBezTo>
                    <a:pt x="188493" y="190914"/>
                    <a:pt x="165880" y="213485"/>
                    <a:pt x="165880" y="241210"/>
                  </a:cubicBezTo>
                  <a:cubicBezTo>
                    <a:pt x="165880" y="247786"/>
                    <a:pt x="160539" y="253029"/>
                    <a:pt x="154040" y="253029"/>
                  </a:cubicBezTo>
                  <a:cubicBezTo>
                    <a:pt x="147452" y="253029"/>
                    <a:pt x="142110" y="247786"/>
                    <a:pt x="142110" y="241210"/>
                  </a:cubicBezTo>
                  <a:cubicBezTo>
                    <a:pt x="142110" y="200333"/>
                    <a:pt x="175406" y="167099"/>
                    <a:pt x="216270" y="167099"/>
                  </a:cubicBezTo>
                  <a:close/>
                  <a:moveTo>
                    <a:pt x="522185" y="165547"/>
                  </a:moveTo>
                  <a:cubicBezTo>
                    <a:pt x="528772" y="165547"/>
                    <a:pt x="534111" y="170871"/>
                    <a:pt x="534111" y="177438"/>
                  </a:cubicBezTo>
                  <a:cubicBezTo>
                    <a:pt x="534111" y="184005"/>
                    <a:pt x="528772" y="189329"/>
                    <a:pt x="522185" y="189329"/>
                  </a:cubicBezTo>
                  <a:cubicBezTo>
                    <a:pt x="515598" y="189329"/>
                    <a:pt x="510259" y="184005"/>
                    <a:pt x="510259" y="177438"/>
                  </a:cubicBezTo>
                  <a:cubicBezTo>
                    <a:pt x="510259" y="170871"/>
                    <a:pt x="515598" y="165547"/>
                    <a:pt x="522185" y="165547"/>
                  </a:cubicBezTo>
                  <a:close/>
                  <a:moveTo>
                    <a:pt x="85420" y="165547"/>
                  </a:moveTo>
                  <a:cubicBezTo>
                    <a:pt x="91987" y="165547"/>
                    <a:pt x="97311" y="170871"/>
                    <a:pt x="97311" y="177438"/>
                  </a:cubicBezTo>
                  <a:cubicBezTo>
                    <a:pt x="97311" y="184005"/>
                    <a:pt x="91987" y="189329"/>
                    <a:pt x="85420" y="189329"/>
                  </a:cubicBezTo>
                  <a:cubicBezTo>
                    <a:pt x="78853" y="189329"/>
                    <a:pt x="73529" y="184005"/>
                    <a:pt x="73529" y="177438"/>
                  </a:cubicBezTo>
                  <a:cubicBezTo>
                    <a:pt x="73529" y="170871"/>
                    <a:pt x="78853" y="165547"/>
                    <a:pt x="85420" y="165547"/>
                  </a:cubicBezTo>
                  <a:close/>
                  <a:moveTo>
                    <a:pt x="429885" y="73388"/>
                  </a:moveTo>
                  <a:cubicBezTo>
                    <a:pt x="436472" y="73388"/>
                    <a:pt x="441811" y="78712"/>
                    <a:pt x="441811" y="85279"/>
                  </a:cubicBezTo>
                  <a:cubicBezTo>
                    <a:pt x="441811" y="91846"/>
                    <a:pt x="436472" y="97170"/>
                    <a:pt x="429885" y="97170"/>
                  </a:cubicBezTo>
                  <a:cubicBezTo>
                    <a:pt x="423298" y="97170"/>
                    <a:pt x="417959" y="91846"/>
                    <a:pt x="417959" y="85279"/>
                  </a:cubicBezTo>
                  <a:cubicBezTo>
                    <a:pt x="417959" y="78712"/>
                    <a:pt x="423298" y="73388"/>
                    <a:pt x="429885" y="73388"/>
                  </a:cubicBezTo>
                  <a:close/>
                  <a:moveTo>
                    <a:pt x="177720" y="73388"/>
                  </a:moveTo>
                  <a:cubicBezTo>
                    <a:pt x="184287" y="73388"/>
                    <a:pt x="189611" y="78712"/>
                    <a:pt x="189611" y="85279"/>
                  </a:cubicBezTo>
                  <a:cubicBezTo>
                    <a:pt x="189611" y="91846"/>
                    <a:pt x="184287" y="97170"/>
                    <a:pt x="177720" y="97170"/>
                  </a:cubicBezTo>
                  <a:cubicBezTo>
                    <a:pt x="171153" y="97170"/>
                    <a:pt x="165829" y="91846"/>
                    <a:pt x="165829" y="85279"/>
                  </a:cubicBezTo>
                  <a:cubicBezTo>
                    <a:pt x="165829" y="78712"/>
                    <a:pt x="171153" y="73388"/>
                    <a:pt x="177720" y="73388"/>
                  </a:cubicBezTo>
                  <a:close/>
                  <a:moveTo>
                    <a:pt x="303775" y="42480"/>
                  </a:moveTo>
                  <a:cubicBezTo>
                    <a:pt x="310366" y="42480"/>
                    <a:pt x="315710" y="47815"/>
                    <a:pt x="315710" y="54396"/>
                  </a:cubicBezTo>
                  <a:lnTo>
                    <a:pt x="315710" y="69869"/>
                  </a:lnTo>
                  <a:cubicBezTo>
                    <a:pt x="315710" y="76449"/>
                    <a:pt x="310366" y="81785"/>
                    <a:pt x="303775" y="81785"/>
                  </a:cubicBezTo>
                  <a:cubicBezTo>
                    <a:pt x="297184" y="81785"/>
                    <a:pt x="291929" y="76449"/>
                    <a:pt x="291929" y="69869"/>
                  </a:cubicBezTo>
                  <a:lnTo>
                    <a:pt x="291929" y="54396"/>
                  </a:lnTo>
                  <a:cubicBezTo>
                    <a:pt x="291929" y="47815"/>
                    <a:pt x="297184" y="42480"/>
                    <a:pt x="303775" y="42480"/>
                  </a:cubicBezTo>
                  <a:close/>
                  <a:moveTo>
                    <a:pt x="303775" y="0"/>
                  </a:moveTo>
                  <a:cubicBezTo>
                    <a:pt x="394204" y="0"/>
                    <a:pt x="479560" y="40347"/>
                    <a:pt x="537058" y="108956"/>
                  </a:cubicBezTo>
                  <a:lnTo>
                    <a:pt x="537058" y="93048"/>
                  </a:lnTo>
                  <a:cubicBezTo>
                    <a:pt x="537058" y="86471"/>
                    <a:pt x="542309" y="81139"/>
                    <a:pt x="548895" y="81139"/>
                  </a:cubicBezTo>
                  <a:cubicBezTo>
                    <a:pt x="555482" y="81139"/>
                    <a:pt x="560822" y="86471"/>
                    <a:pt x="560822" y="93048"/>
                  </a:cubicBezTo>
                  <a:lnTo>
                    <a:pt x="560822" y="138994"/>
                  </a:lnTo>
                  <a:cubicBezTo>
                    <a:pt x="560822" y="145570"/>
                    <a:pt x="555482" y="150903"/>
                    <a:pt x="548895" y="150903"/>
                  </a:cubicBezTo>
                  <a:lnTo>
                    <a:pt x="502880" y="150903"/>
                  </a:lnTo>
                  <a:cubicBezTo>
                    <a:pt x="496293" y="150903"/>
                    <a:pt x="490953" y="145570"/>
                    <a:pt x="490953" y="138994"/>
                  </a:cubicBezTo>
                  <a:cubicBezTo>
                    <a:pt x="490953" y="132417"/>
                    <a:pt x="496293" y="127174"/>
                    <a:pt x="502880" y="127174"/>
                  </a:cubicBezTo>
                  <a:lnTo>
                    <a:pt x="521126" y="127174"/>
                  </a:lnTo>
                  <a:cubicBezTo>
                    <a:pt x="468168" y="62032"/>
                    <a:pt x="388419" y="23728"/>
                    <a:pt x="303775" y="23728"/>
                  </a:cubicBezTo>
                  <a:cubicBezTo>
                    <a:pt x="149440" y="23728"/>
                    <a:pt x="23764" y="149214"/>
                    <a:pt x="23764" y="303316"/>
                  </a:cubicBezTo>
                  <a:cubicBezTo>
                    <a:pt x="23764" y="457508"/>
                    <a:pt x="149440" y="582905"/>
                    <a:pt x="303775" y="582905"/>
                  </a:cubicBezTo>
                  <a:cubicBezTo>
                    <a:pt x="458199" y="582905"/>
                    <a:pt x="583786" y="457508"/>
                    <a:pt x="583786" y="303316"/>
                  </a:cubicBezTo>
                  <a:cubicBezTo>
                    <a:pt x="583786" y="278255"/>
                    <a:pt x="580492" y="253371"/>
                    <a:pt x="573906" y="229376"/>
                  </a:cubicBezTo>
                  <a:cubicBezTo>
                    <a:pt x="572126" y="223066"/>
                    <a:pt x="575864" y="216489"/>
                    <a:pt x="582273" y="214801"/>
                  </a:cubicBezTo>
                  <a:cubicBezTo>
                    <a:pt x="588592" y="213023"/>
                    <a:pt x="595089" y="216756"/>
                    <a:pt x="596869" y="223066"/>
                  </a:cubicBezTo>
                  <a:cubicBezTo>
                    <a:pt x="603990" y="249194"/>
                    <a:pt x="607639" y="276122"/>
                    <a:pt x="607639" y="303316"/>
                  </a:cubicBezTo>
                  <a:cubicBezTo>
                    <a:pt x="607639" y="470572"/>
                    <a:pt x="471283" y="606722"/>
                    <a:pt x="303775" y="606722"/>
                  </a:cubicBezTo>
                  <a:cubicBezTo>
                    <a:pt x="136267" y="606722"/>
                    <a:pt x="0" y="470572"/>
                    <a:pt x="0" y="303316"/>
                  </a:cubicBezTo>
                  <a:cubicBezTo>
                    <a:pt x="0" y="136061"/>
                    <a:pt x="136267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2" name="组合 121"/>
            <p:cNvGrpSpPr/>
            <p:nvPr/>
          </p:nvGrpSpPr>
          <p:grpSpPr>
            <a:xfrm>
              <a:off x="6370433" y="3320102"/>
              <a:ext cx="2084388" cy="1764848"/>
              <a:chOff x="2677264" y="1996356"/>
              <a:chExt cx="2084388" cy="1764848"/>
            </a:xfrm>
          </p:grpSpPr>
          <p:sp>
            <p:nvSpPr>
              <p:cNvPr id="123" name="矩形 122"/>
              <p:cNvSpPr/>
              <p:nvPr/>
            </p:nvSpPr>
            <p:spPr>
              <a:xfrm>
                <a:off x="2677264" y="2509769"/>
                <a:ext cx="2084388" cy="1251435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用一个简单的控制器（或一个线程组）按顺序放置 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5 </a:t>
                </a: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个 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HTTP </a:t>
                </a: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请求，并通过变量传递 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token</a:t>
                </a:r>
                <a:endPara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2677265" y="1996356"/>
                <a:ext cx="2084387" cy="47590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b="1" dirty="0"/>
                  <a:t>业务流程测试</a:t>
                </a:r>
              </a:p>
            </p:txBody>
          </p:sp>
        </p:grpSp>
      </p:grpSp>
      <p:sp>
        <p:nvSpPr>
          <p:cNvPr id="146" name="文本框 145"/>
          <p:cNvSpPr txBox="1"/>
          <p:nvPr/>
        </p:nvSpPr>
        <p:spPr>
          <a:xfrm>
            <a:off x="711634" y="1516227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测试过程：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3E764E1-BBEF-8392-6CBF-EEBA6691C0A0}"/>
              </a:ext>
            </a:extLst>
          </p:cNvPr>
          <p:cNvGrpSpPr/>
          <p:nvPr/>
        </p:nvGrpSpPr>
        <p:grpSpPr>
          <a:xfrm>
            <a:off x="4970743" y="2549976"/>
            <a:ext cx="2057009" cy="2421765"/>
            <a:chOff x="1004890" y="2075502"/>
            <a:chExt cx="2396756" cy="3398693"/>
          </a:xfrm>
        </p:grpSpPr>
        <p:sp>
          <p:nvSpPr>
            <p:cNvPr id="14" name="ïṧḷïḓê-矩形: 圆角 2">
              <a:extLst>
                <a:ext uri="{FF2B5EF4-FFF2-40B4-BE49-F238E27FC236}">
                  <a16:creationId xmlns:a16="http://schemas.microsoft.com/office/drawing/2014/main" id="{BA46FC63-0AC9-B08D-283E-9D0C2DAE64D2}"/>
                </a:ext>
              </a:extLst>
            </p:cNvPr>
            <p:cNvSpPr/>
            <p:nvPr/>
          </p:nvSpPr>
          <p:spPr>
            <a:xfrm>
              <a:off x="1004890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1BDECC0-51CF-ED72-B9D0-6309C51D2E17}"/>
                </a:ext>
              </a:extLst>
            </p:cNvPr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31">
              <a:extLst>
                <a:ext uri="{FF2B5EF4-FFF2-40B4-BE49-F238E27FC236}">
                  <a16:creationId xmlns:a16="http://schemas.microsoft.com/office/drawing/2014/main" id="{9463B3EA-7A7F-AABF-5F7A-0E290F9C67A1}"/>
                </a:ext>
              </a:extLst>
            </p:cNvPr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BE401B2F-7DFA-BEC2-B6DF-89B37FE6FD00}"/>
                </a:ext>
              </a:extLst>
            </p:cNvPr>
            <p:cNvGrpSpPr/>
            <p:nvPr/>
          </p:nvGrpSpPr>
          <p:grpSpPr>
            <a:xfrm>
              <a:off x="1150683" y="3320102"/>
              <a:ext cx="2094778" cy="1234877"/>
              <a:chOff x="2666874" y="1996356"/>
              <a:chExt cx="2094778" cy="1234877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D6620BE-F527-3B47-60C1-C107854D2401}"/>
                  </a:ext>
                </a:extLst>
              </p:cNvPr>
              <p:cNvSpPr/>
              <p:nvPr/>
            </p:nvSpPr>
            <p:spPr>
              <a:xfrm>
                <a:off x="2666874" y="2549949"/>
                <a:ext cx="2084388" cy="68128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对系统中</a:t>
                </a:r>
                <a:r>
                  <a:rPr lang="en-US" altLang="zh-CN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3</a:t>
                </a: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个较为核心的业务功能进行测试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F25ACC8-3543-6597-D1A0-D8C246D53B08}"/>
                  </a:ext>
                </a:extLst>
              </p:cNvPr>
              <p:cNvSpPr/>
              <p:nvPr/>
            </p:nvSpPr>
            <p:spPr>
              <a:xfrm>
                <a:off x="2677265" y="1996356"/>
                <a:ext cx="2084387" cy="51750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b="1" dirty="0"/>
                  <a:t>功能模块测试</a:t>
                </a: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11ACE84-6844-FF03-D7B9-98706B353FEB}"/>
              </a:ext>
            </a:extLst>
          </p:cNvPr>
          <p:cNvGrpSpPr/>
          <p:nvPr/>
        </p:nvGrpSpPr>
        <p:grpSpPr>
          <a:xfrm>
            <a:off x="9445071" y="2993400"/>
            <a:ext cx="2057010" cy="2421765"/>
            <a:chOff x="3609571" y="2075502"/>
            <a:chExt cx="2396756" cy="3398693"/>
          </a:xfrm>
        </p:grpSpPr>
        <p:sp>
          <p:nvSpPr>
            <p:cNvPr id="21" name="ïṧḷïḓê-矩形: 圆角 12">
              <a:extLst>
                <a:ext uri="{FF2B5EF4-FFF2-40B4-BE49-F238E27FC236}">
                  <a16:creationId xmlns:a16="http://schemas.microsoft.com/office/drawing/2014/main" id="{C50819ED-BECB-63A3-410A-CD38B70F0200}"/>
                </a:ext>
              </a:extLst>
            </p:cNvPr>
            <p:cNvSpPr/>
            <p:nvPr/>
          </p:nvSpPr>
          <p:spPr>
            <a:xfrm>
              <a:off x="3609571" y="2075502"/>
              <a:ext cx="2396756" cy="339869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4F3271B-F7FC-8EAE-80B7-A438CBEB6B34}"/>
                </a:ext>
              </a:extLst>
            </p:cNvPr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35">
              <a:extLst>
                <a:ext uri="{FF2B5EF4-FFF2-40B4-BE49-F238E27FC236}">
                  <a16:creationId xmlns:a16="http://schemas.microsoft.com/office/drawing/2014/main" id="{F62C9A0F-F53A-CCCC-1CC8-014AE0935D1B}"/>
                </a:ext>
              </a:extLst>
            </p:cNvPr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BC96775-99BF-5282-6C34-D0FFD68808B2}"/>
                </a:ext>
              </a:extLst>
            </p:cNvPr>
            <p:cNvGrpSpPr/>
            <p:nvPr/>
          </p:nvGrpSpPr>
          <p:grpSpPr>
            <a:xfrm>
              <a:off x="3765754" y="3320102"/>
              <a:ext cx="2096554" cy="1232148"/>
              <a:chOff x="2677265" y="1996356"/>
              <a:chExt cx="2096554" cy="1232148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30B2F6EE-2123-4ABA-FA13-236C6937F2AC}"/>
                  </a:ext>
                </a:extLst>
              </p:cNvPr>
              <p:cNvSpPr/>
              <p:nvPr/>
            </p:nvSpPr>
            <p:spPr>
              <a:xfrm>
                <a:off x="2689430" y="2547221"/>
                <a:ext cx="2084389" cy="681283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对测试执行结果进行统计和分析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56E3EFB-F700-D948-5A92-CCCC7679ED28}"/>
                  </a:ext>
                </a:extLst>
              </p:cNvPr>
              <p:cNvSpPr/>
              <p:nvPr/>
            </p:nvSpPr>
            <p:spPr>
              <a:xfrm>
                <a:off x="2677265" y="1996356"/>
                <a:ext cx="2084387" cy="517509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600" b="1" dirty="0"/>
                  <a:t>测试结果分析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733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7B9F-01A3-1DDB-6D56-1FA5E2722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F0ED757-1E55-75EF-1289-CA007B9149E9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49DFA20-ABE4-6900-900E-E39346B5075B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8894432-52D4-CCC9-40EB-9A625EF1503F}"/>
              </a:ext>
            </a:extLst>
          </p:cNvPr>
          <p:cNvSpPr txBox="1"/>
          <p:nvPr/>
        </p:nvSpPr>
        <p:spPr>
          <a:xfrm>
            <a:off x="4184266" y="345292"/>
            <a:ext cx="382348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err="1"/>
              <a:t>Jmeter</a:t>
            </a:r>
            <a:r>
              <a:rPr lang="zh-CN" altLang="en-US" sz="3200" dirty="0">
                <a:latin typeface="Agency FB" panose="020B0503020202020204" pitchFamily="34" charset="0"/>
              </a:rPr>
              <a:t>测试脚本设计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2AECC9-405E-6315-B766-72CF1FB3D89A}"/>
              </a:ext>
            </a:extLst>
          </p:cNvPr>
          <p:cNvSpPr txBox="1"/>
          <p:nvPr/>
        </p:nvSpPr>
        <p:spPr>
          <a:xfrm>
            <a:off x="3113647" y="855244"/>
            <a:ext cx="8771495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功能模块测试采用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JMeter 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单线程组顺序执行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 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条用例</a:t>
            </a:r>
            <a:endParaRPr lang="en-US" altLang="zh-CN" sz="16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用户定义变量、</a:t>
            </a:r>
            <a:r>
              <a:rPr lang="en-US" altLang="zh-CN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HTTP 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请求默认值及全局 </a:t>
            </a:r>
            <a:r>
              <a:rPr lang="en-US" altLang="zh-CN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HTTP 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信息头管理器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实现环境参数、请求地址和认证令牌（管理端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token + 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用户端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authentication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）等配置的统一管理，避免重复配置</a:t>
            </a:r>
            <a:endParaRPr lang="en-US" altLang="zh-CN" sz="16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每个请求均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挂载 </a:t>
            </a:r>
            <a:r>
              <a:rPr lang="en-US" altLang="zh-CN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JSON 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断言自动校验响应 </a:t>
            </a:r>
            <a:r>
              <a:rPr lang="en-US" altLang="zh-CN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$.code</a:t>
            </a:r>
            <a:r>
              <a:rPr lang="zh-CN" altLang="en-US" sz="16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字段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，有效等价类断言值为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（预期成功），无效等价类断言值为 </a:t>
            </a:r>
            <a:r>
              <a:rPr lang="en-US" altLang="zh-CN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（预期失败）。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0A90D9-E037-B0F1-08C9-2193B5776A1A}"/>
              </a:ext>
            </a:extLst>
          </p:cNvPr>
          <p:cNvSpPr txBox="1"/>
          <p:nvPr/>
        </p:nvSpPr>
        <p:spPr>
          <a:xfrm>
            <a:off x="3198767" y="2632371"/>
            <a:ext cx="8273419" cy="4117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整体架构：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苍穹外卖</a:t>
            </a:r>
            <a:r>
              <a:rPr lang="en-US" altLang="zh-CN" sz="1600" b="1" dirty="0"/>
              <a:t>-</a:t>
            </a:r>
            <a:r>
              <a:rPr lang="zh-CN" altLang="en-US" sz="1600" b="1" dirty="0"/>
              <a:t>功能测试计划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用户定义的变量                 ← 环境参数（</a:t>
            </a:r>
            <a:r>
              <a:rPr lang="en-US" altLang="zh-CN" sz="1600" b="1" dirty="0" err="1"/>
              <a:t>baseUrl</a:t>
            </a:r>
            <a:r>
              <a:rPr lang="en-US" altLang="zh-CN" sz="1600" b="1" dirty="0"/>
              <a:t>, port, </a:t>
            </a:r>
            <a:r>
              <a:rPr lang="zh-CN" altLang="en-US" sz="1600" b="1" dirty="0"/>
              <a:t>账号和密码）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</a:t>
            </a:r>
            <a:r>
              <a:rPr lang="en-US" altLang="zh-CN" sz="1600" b="1" dirty="0"/>
              <a:t>HTTP</a:t>
            </a:r>
            <a:r>
              <a:rPr lang="zh-CN" altLang="en-US" sz="1600" b="1" dirty="0"/>
              <a:t>请求默认值                 ← 统一协议、服务器、端口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</a:t>
            </a:r>
            <a:r>
              <a:rPr lang="en-US" altLang="zh-CN" sz="1600" b="1" dirty="0"/>
              <a:t>HTTP</a:t>
            </a:r>
            <a:r>
              <a:rPr lang="zh-CN" altLang="en-US" sz="1600" b="1" dirty="0"/>
              <a:t>信息头管理器（全局）        ← </a:t>
            </a:r>
            <a:r>
              <a:rPr lang="en-US" altLang="zh-CN" sz="1600" b="1" dirty="0"/>
              <a:t>Content-Type + </a:t>
            </a:r>
            <a:r>
              <a:rPr lang="zh-CN" altLang="en-US" sz="1600" b="1" dirty="0"/>
              <a:t>管理端</a:t>
            </a:r>
            <a:r>
              <a:rPr lang="en-US" altLang="zh-CN" sz="1600" b="1" dirty="0"/>
              <a:t>Token + </a:t>
            </a:r>
            <a:r>
              <a:rPr lang="zh-CN" altLang="en-US" sz="1600" b="1" dirty="0"/>
              <a:t>用户端</a:t>
            </a:r>
            <a:r>
              <a:rPr lang="en-US" altLang="zh-CN" sz="1600" b="1" dirty="0"/>
              <a:t>Token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/>
              <a:t>├── </a:t>
            </a:r>
            <a:r>
              <a:rPr lang="zh-CN" altLang="en-US" sz="1600" b="1" dirty="0"/>
              <a:t>监听器                         ← 查看结果树、断言结果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功能一：管理端员工登录（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条 </a:t>
            </a:r>
            <a:r>
              <a:rPr lang="en-US" altLang="zh-CN" sz="1600" b="1" dirty="0"/>
              <a:t>POST</a:t>
            </a:r>
            <a:r>
              <a:rPr lang="zh-CN" altLang="en-US" sz="1600" b="1" dirty="0"/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├── 功能二：管理端新增菜品（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条 </a:t>
            </a:r>
            <a:r>
              <a:rPr lang="en-US" altLang="zh-CN" sz="1600" b="1" dirty="0"/>
              <a:t>POST</a:t>
            </a:r>
            <a:r>
              <a:rPr lang="zh-CN" altLang="en-US" sz="1600" b="1" dirty="0"/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└── 功能三：客户端菜品查询（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条 </a:t>
            </a:r>
            <a:r>
              <a:rPr lang="en-US" altLang="zh-CN" sz="1600" b="1" dirty="0"/>
              <a:t>GET</a:t>
            </a:r>
            <a:r>
              <a:rPr lang="zh-CN" altLang="en-US" sz="1600" b="1" dirty="0"/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778727C-23CC-1767-D06D-6FE93979A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46" y="760464"/>
            <a:ext cx="2742077" cy="57386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1210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105CA-CE80-B476-1DAE-C392604E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55519F1-279D-F495-A379-28A38AE4E7C4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B66454A-B06A-0D85-A34E-1DD2DBFA7C63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8B72091-22F3-0005-56AE-2AE1B9A7846A}"/>
              </a:ext>
            </a:extLst>
          </p:cNvPr>
          <p:cNvSpPr txBox="1"/>
          <p:nvPr/>
        </p:nvSpPr>
        <p:spPr>
          <a:xfrm>
            <a:off x="4770159" y="345292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DF00074-0382-50EA-FB9C-C669C327DB9C}"/>
              </a:ext>
            </a:extLst>
          </p:cNvPr>
          <p:cNvSpPr txBox="1"/>
          <p:nvPr/>
        </p:nvSpPr>
        <p:spPr>
          <a:xfrm>
            <a:off x="468740" y="955566"/>
            <a:ext cx="101206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管理员登录功能    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56FD785-8820-58D2-E650-FA7B3ABE027E}"/>
              </a:ext>
            </a:extLst>
          </p:cNvPr>
          <p:cNvGraphicFramePr>
            <a:graphicFrameLocks noGrp="1"/>
          </p:cNvGraphicFramePr>
          <p:nvPr/>
        </p:nvGraphicFramePr>
        <p:xfrm>
          <a:off x="298279" y="1883020"/>
          <a:ext cx="11595441" cy="4339980"/>
        </p:xfrm>
        <a:graphic>
          <a:graphicData uri="http://schemas.openxmlformats.org/drawingml/2006/table">
            <a:tbl>
              <a:tblPr/>
              <a:tblGrid>
                <a:gridCol w="544020">
                  <a:extLst>
                    <a:ext uri="{9D8B030D-6E8A-4147-A177-3AD203B41FA5}">
                      <a16:colId xmlns:a16="http://schemas.microsoft.com/office/drawing/2014/main" val="2660051762"/>
                    </a:ext>
                  </a:extLst>
                </a:gridCol>
                <a:gridCol w="1579704">
                  <a:extLst>
                    <a:ext uri="{9D8B030D-6E8A-4147-A177-3AD203B41FA5}">
                      <a16:colId xmlns:a16="http://schemas.microsoft.com/office/drawing/2014/main" val="4150558382"/>
                    </a:ext>
                  </a:extLst>
                </a:gridCol>
                <a:gridCol w="877286">
                  <a:extLst>
                    <a:ext uri="{9D8B030D-6E8A-4147-A177-3AD203B41FA5}">
                      <a16:colId xmlns:a16="http://schemas.microsoft.com/office/drawing/2014/main" val="2228685955"/>
                    </a:ext>
                  </a:extLst>
                </a:gridCol>
                <a:gridCol w="1970177">
                  <a:extLst>
                    <a:ext uri="{9D8B030D-6E8A-4147-A177-3AD203B41FA5}">
                      <a16:colId xmlns:a16="http://schemas.microsoft.com/office/drawing/2014/main" val="2338049496"/>
                    </a:ext>
                  </a:extLst>
                </a:gridCol>
                <a:gridCol w="1107760">
                  <a:extLst>
                    <a:ext uri="{9D8B030D-6E8A-4147-A177-3AD203B41FA5}">
                      <a16:colId xmlns:a16="http://schemas.microsoft.com/office/drawing/2014/main" val="1728067083"/>
                    </a:ext>
                  </a:extLst>
                </a:gridCol>
                <a:gridCol w="2758247">
                  <a:extLst>
                    <a:ext uri="{9D8B030D-6E8A-4147-A177-3AD203B41FA5}">
                      <a16:colId xmlns:a16="http://schemas.microsoft.com/office/drawing/2014/main" val="441719574"/>
                    </a:ext>
                  </a:extLst>
                </a:gridCol>
                <a:gridCol w="2758247">
                  <a:extLst>
                    <a:ext uri="{9D8B030D-6E8A-4147-A177-3AD203B41FA5}">
                      <a16:colId xmlns:a16="http://schemas.microsoft.com/office/drawing/2014/main" val="3295428034"/>
                    </a:ext>
                  </a:extLst>
                </a:gridCol>
              </a:tblGrid>
              <a:tr h="3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用例</a:t>
                      </a:r>
                      <a:r>
                        <a:rPr lang="en-US" sz="1600" b="1" dirty="0">
                          <a:effectLst/>
                        </a:rPr>
                        <a:t>ID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测试场景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测试方法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username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password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预期结果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实际结果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92818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01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正确用户名</a:t>
                      </a:r>
                      <a:r>
                        <a:rPr lang="en-US" altLang="zh-CN" sz="1600">
                          <a:effectLst/>
                        </a:rPr>
                        <a:t>+</a:t>
                      </a:r>
                      <a:r>
                        <a:rPr lang="zh-CN" altLang="en-US" sz="1600">
                          <a:effectLst/>
                        </a:rPr>
                        <a:t>密码登录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有效等价类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</a:rPr>
                        <a:t>admin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123456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sz="1600" dirty="0">
                          <a:effectLst/>
                        </a:rPr>
                        <a:t>token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altLang="zh-CN" sz="1600" dirty="0">
                          <a:effectLst/>
                        </a:rPr>
                        <a:t>token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075211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02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无效等价类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</a:rPr>
                        <a:t>admin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</a:rPr>
                        <a:t>wrong123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8220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03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用户名不存在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  <a:latin typeface="Courier New" panose="02070309020205020404" pitchFamily="49" charset="0"/>
                        </a:rPr>
                        <a:t>notexist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effectLst/>
                          <a:latin typeface="Courier New" panose="02070309020205020404" pitchFamily="49" charset="0"/>
                        </a:rPr>
                        <a:t>123456</a:t>
                      </a:r>
                      <a:endParaRPr lang="zh-CN" altLang="en-US" sz="160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code=0，</a:t>
                      </a:r>
                      <a:r>
                        <a:rPr lang="zh-CN" altLang="en-US" sz="1600" dirty="0">
                          <a:effectLst/>
                        </a:rPr>
                        <a:t>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code=0，</a:t>
                      </a:r>
                      <a:r>
                        <a:rPr lang="zh-CN" altLang="en-US" sz="1600" dirty="0">
                          <a:effectLst/>
                        </a:rPr>
                        <a:t>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06380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04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用户名为空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""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123456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17951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05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密码为空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</a:rPr>
                        <a:t>admin</a:t>
                      </a:r>
                      <a:endParaRPr 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""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，提示密码错误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301080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06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用户名和密码均为空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""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""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，提示账号不存在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48065"/>
                  </a:ext>
                </a:extLst>
              </a:tr>
              <a:tr h="537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07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账号已被禁用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错误推测法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 err="1">
                          <a:effectLst/>
                        </a:rPr>
                        <a:t>Zhangsan</a:t>
                      </a:r>
                      <a:r>
                        <a:rPr lang="zh-CN" altLang="en-US" sz="1600" dirty="0">
                          <a:effectLst/>
                        </a:rPr>
                        <a:t>（已被禁用的员工账号）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  <a:latin typeface="Courier New" panose="02070309020205020404" pitchFamily="49" charset="0"/>
                        </a:rPr>
                        <a:t>123456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，提示账号被锁定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，提示账号被锁定</a:t>
                      </a:r>
                    </a:p>
                  </a:txBody>
                  <a:tcPr marL="59607" marR="59607" marT="29804" marB="29804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823213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DA35FCB-9194-8B58-AFFF-97622C96C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65" y="187570"/>
            <a:ext cx="2238375" cy="1695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799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6924-B7E9-D891-3A7E-30E6B62C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7ED750B-B33A-D101-D443-06455A12B524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0A54CE6-C089-47CE-165A-D0A9C99A3491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EDF0CCE-06C2-8310-B99A-A836E39712E2}"/>
              </a:ext>
            </a:extLst>
          </p:cNvPr>
          <p:cNvSpPr txBox="1"/>
          <p:nvPr/>
        </p:nvSpPr>
        <p:spPr>
          <a:xfrm>
            <a:off x="4770159" y="345292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1C0B544-FDA4-E6E4-3594-825D473FC580}"/>
              </a:ext>
            </a:extLst>
          </p:cNvPr>
          <p:cNvSpPr txBox="1"/>
          <p:nvPr/>
        </p:nvSpPr>
        <p:spPr>
          <a:xfrm>
            <a:off x="550608" y="1081366"/>
            <a:ext cx="6349816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新增菜品功能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E976C53-A362-CB7B-6D6F-2CC11E07380F}"/>
              </a:ext>
            </a:extLst>
          </p:cNvPr>
          <p:cNvGraphicFramePr>
            <a:graphicFrameLocks noGrp="1"/>
          </p:cNvGraphicFramePr>
          <p:nvPr/>
        </p:nvGraphicFramePr>
        <p:xfrm>
          <a:off x="373627" y="1933497"/>
          <a:ext cx="11444746" cy="4869646"/>
        </p:xfrm>
        <a:graphic>
          <a:graphicData uri="http://schemas.openxmlformats.org/drawingml/2006/table">
            <a:tbl>
              <a:tblPr/>
              <a:tblGrid>
                <a:gridCol w="766362">
                  <a:extLst>
                    <a:ext uri="{9D8B030D-6E8A-4147-A177-3AD203B41FA5}">
                      <a16:colId xmlns:a16="http://schemas.microsoft.com/office/drawing/2014/main" val="2765127229"/>
                    </a:ext>
                  </a:extLst>
                </a:gridCol>
                <a:gridCol w="1901649">
                  <a:extLst>
                    <a:ext uri="{9D8B030D-6E8A-4147-A177-3AD203B41FA5}">
                      <a16:colId xmlns:a16="http://schemas.microsoft.com/office/drawing/2014/main" val="873368800"/>
                    </a:ext>
                  </a:extLst>
                </a:gridCol>
                <a:gridCol w="1108026">
                  <a:extLst>
                    <a:ext uri="{9D8B030D-6E8A-4147-A177-3AD203B41FA5}">
                      <a16:colId xmlns:a16="http://schemas.microsoft.com/office/drawing/2014/main" val="1263523358"/>
                    </a:ext>
                  </a:extLst>
                </a:gridCol>
                <a:gridCol w="2964457">
                  <a:extLst>
                    <a:ext uri="{9D8B030D-6E8A-4147-A177-3AD203B41FA5}">
                      <a16:colId xmlns:a16="http://schemas.microsoft.com/office/drawing/2014/main" val="2705613377"/>
                    </a:ext>
                  </a:extLst>
                </a:gridCol>
                <a:gridCol w="2352126">
                  <a:extLst>
                    <a:ext uri="{9D8B030D-6E8A-4147-A177-3AD203B41FA5}">
                      <a16:colId xmlns:a16="http://schemas.microsoft.com/office/drawing/2014/main" val="2787040195"/>
                    </a:ext>
                  </a:extLst>
                </a:gridCol>
                <a:gridCol w="2352126">
                  <a:extLst>
                    <a:ext uri="{9D8B030D-6E8A-4147-A177-3AD203B41FA5}">
                      <a16:colId xmlns:a16="http://schemas.microsoft.com/office/drawing/2014/main" val="1261038920"/>
                    </a:ext>
                  </a:extLst>
                </a:gridCol>
              </a:tblGrid>
              <a:tr h="26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用例</a:t>
                      </a:r>
                      <a:r>
                        <a:rPr lang="en-US" sz="1600" b="1" dirty="0">
                          <a:effectLst/>
                        </a:rPr>
                        <a:t>ID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测试场景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测试方法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测试数据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预期结果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实际结果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107425"/>
                  </a:ext>
                </a:extLst>
              </a:tr>
              <a:tr h="93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08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完整数据新增菜品（含口味）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有效等价类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name="</a:t>
                      </a:r>
                      <a:r>
                        <a:rPr lang="zh-CN" altLang="en-US" sz="1600" dirty="0">
                          <a:effectLst/>
                        </a:rPr>
                        <a:t>宫保鸡丁</a:t>
                      </a:r>
                      <a:r>
                        <a:rPr lang="en-US" altLang="zh-CN" sz="1600" dirty="0">
                          <a:effectLst/>
                        </a:rPr>
                        <a:t>", </a:t>
                      </a: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=1（</a:t>
                      </a:r>
                      <a:r>
                        <a:rPr lang="zh-CN" altLang="en-US" sz="1600" dirty="0">
                          <a:effectLst/>
                        </a:rPr>
                        <a:t>已存在的分类）</a:t>
                      </a:r>
                      <a:r>
                        <a:rPr lang="en-US" altLang="zh-CN" sz="1600" dirty="0">
                          <a:effectLst/>
                        </a:rPr>
                        <a:t>, </a:t>
                      </a:r>
                      <a:r>
                        <a:rPr lang="en-US" sz="1600" dirty="0">
                          <a:effectLst/>
                        </a:rPr>
                        <a:t>price=28.00, status=1, flavors</a:t>
                      </a:r>
                      <a:r>
                        <a:rPr lang="zh-CN" altLang="en-US" sz="1600" dirty="0">
                          <a:effectLst/>
                        </a:rPr>
                        <a:t>含</a:t>
                      </a:r>
                      <a:r>
                        <a:rPr lang="en-US" altLang="zh-CN" sz="1600" dirty="0">
                          <a:effectLst/>
                        </a:rPr>
                        <a:t>2</a:t>
                      </a:r>
                      <a:r>
                        <a:rPr lang="zh-CN" altLang="en-US" sz="1600" dirty="0">
                          <a:effectLst/>
                        </a:rPr>
                        <a:t>条口味数据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775124"/>
                  </a:ext>
                </a:extLst>
              </a:tr>
              <a:tr h="784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09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不带口味的新增菜品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name="</a:t>
                      </a:r>
                      <a:r>
                        <a:rPr lang="zh-CN" altLang="en-US" sz="1600">
                          <a:effectLst/>
                        </a:rPr>
                        <a:t>白米饭</a:t>
                      </a:r>
                      <a:r>
                        <a:rPr lang="en-US" altLang="zh-CN" sz="1600">
                          <a:effectLst/>
                        </a:rPr>
                        <a:t>", </a:t>
                      </a:r>
                      <a:r>
                        <a:rPr lang="en-US" sz="1600">
                          <a:effectLst/>
                        </a:rPr>
                        <a:t>categoryId=1, price=2.00, status=1, flavors=[]（</a:t>
                      </a:r>
                      <a:r>
                        <a:rPr lang="zh-CN" altLang="en-US" sz="1600">
                          <a:effectLst/>
                        </a:rPr>
                        <a:t>空数组）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233805"/>
                  </a:ext>
                </a:extLst>
              </a:tr>
              <a:tr h="26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菜品名称为空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无效等价类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name=""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775447"/>
                  </a:ext>
                </a:extLst>
              </a:tr>
              <a:tr h="693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11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价格为 </a:t>
                      </a:r>
                      <a:r>
                        <a:rPr lang="en-US" altLang="zh-CN" sz="1600" dirty="0">
                          <a:effectLst/>
                        </a:rPr>
                        <a:t>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边界值分析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price=0.00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code=1 </a:t>
                      </a:r>
                      <a:r>
                        <a:rPr lang="zh-CN" altLang="en-US" sz="1600" dirty="0">
                          <a:effectLst/>
                        </a:rPr>
                        <a:t>（允许免费菜品）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664565"/>
                  </a:ext>
                </a:extLst>
              </a:tr>
              <a:tr h="26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12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价格为负数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无效等价类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price=-10.00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915767"/>
                  </a:ext>
                </a:extLst>
              </a:tr>
              <a:tr h="637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13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价格超大值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边界值分析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price=99999999.99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533966"/>
                  </a:ext>
                </a:extLst>
              </a:tr>
              <a:tr h="490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14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分类</a:t>
                      </a:r>
                      <a:r>
                        <a:rPr lang="en-US" sz="1600" dirty="0">
                          <a:effectLst/>
                        </a:rPr>
                        <a:t>ID</a:t>
                      </a:r>
                      <a:r>
                        <a:rPr lang="zh-CN" altLang="en-US" sz="1600" dirty="0">
                          <a:effectLst/>
                        </a:rPr>
                        <a:t>不存在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无效等价类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=99999（</a:t>
                      </a:r>
                      <a:r>
                        <a:rPr lang="zh-CN" altLang="en-US" sz="1600" dirty="0">
                          <a:effectLst/>
                        </a:rPr>
                        <a:t>数据库中不存在的分类</a:t>
                      </a:r>
                      <a:r>
                        <a:rPr lang="en-US" sz="1600" dirty="0">
                          <a:effectLst/>
                        </a:rPr>
                        <a:t>ID）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code=0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366608"/>
                  </a:ext>
                </a:extLst>
              </a:tr>
              <a:tr h="343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15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status</a:t>
                      </a:r>
                      <a:r>
                        <a:rPr lang="zh-CN" altLang="en-US" sz="1600" dirty="0">
                          <a:effectLst/>
                        </a:rPr>
                        <a:t>设置为非法值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>
                          <a:effectLst/>
                        </a:rPr>
                        <a:t>无效等价类</a:t>
                      </a:r>
                      <a:endParaRPr lang="zh-CN" altLang="en-US" sz="1600">
                        <a:effectLst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status=9（</a:t>
                      </a:r>
                      <a:r>
                        <a:rPr lang="zh-CN" altLang="en-US" sz="1600">
                          <a:effectLst/>
                        </a:rPr>
                        <a:t>仅允许 </a:t>
                      </a:r>
                      <a:r>
                        <a:rPr lang="en-US" altLang="zh-CN" sz="1600">
                          <a:effectLst/>
                        </a:rPr>
                        <a:t>0 </a:t>
                      </a:r>
                      <a:r>
                        <a:rPr lang="zh-CN" altLang="en-US" sz="1600">
                          <a:effectLst/>
                        </a:rPr>
                        <a:t>和 </a:t>
                      </a:r>
                      <a:r>
                        <a:rPr lang="en-US" altLang="zh-CN" sz="1600">
                          <a:effectLst/>
                        </a:rPr>
                        <a:t>1</a:t>
                      </a:r>
                      <a:r>
                        <a:rPr lang="zh-CN" altLang="en-US" sz="1600">
                          <a:effectLst/>
                        </a:rPr>
                        <a:t>）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</a:t>
                      </a: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code=0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513" marR="43513" marT="21757" marB="21757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033461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986DC5F-9EA6-712B-6713-797DF7411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943" y="22082"/>
            <a:ext cx="2533650" cy="14097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B25C223-325B-ADD2-CE74-9B75A7769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942" y="1431781"/>
            <a:ext cx="2115953" cy="4616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3464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06A3B-F9F4-003F-830B-8D59867B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11DFFCE-A323-61BF-3F97-4514B1175B95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3B41008-6AB7-379B-A8D5-116F79F381E7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07E4534-E88C-D519-AED3-87A7D3C2CF09}"/>
              </a:ext>
            </a:extLst>
          </p:cNvPr>
          <p:cNvSpPr txBox="1"/>
          <p:nvPr/>
        </p:nvSpPr>
        <p:spPr>
          <a:xfrm>
            <a:off x="4770159" y="345292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940BEB2-AA3A-AF73-F661-A6637184D5E9}"/>
              </a:ext>
            </a:extLst>
          </p:cNvPr>
          <p:cNvSpPr txBox="1"/>
          <p:nvPr/>
        </p:nvSpPr>
        <p:spPr>
          <a:xfrm>
            <a:off x="511279" y="860862"/>
            <a:ext cx="6349816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新增菜品功能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1FDA01-5506-A5DC-7160-83D687262E6A}"/>
              </a:ext>
            </a:extLst>
          </p:cNvPr>
          <p:cNvSpPr txBox="1"/>
          <p:nvPr/>
        </p:nvSpPr>
        <p:spPr>
          <a:xfrm>
            <a:off x="1252150" y="4665678"/>
            <a:ext cx="4414684" cy="116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2060"/>
                </a:solidFill>
              </a:rPr>
              <a:t>发现系统缺陷：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2060"/>
                </a:solidFill>
              </a:rPr>
              <a:t>未校验菜品名称为空</a:t>
            </a:r>
            <a:endParaRPr lang="en-US" altLang="zh-CN" sz="1600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2060"/>
                </a:solidFill>
              </a:rPr>
              <a:t>未校验价格合法性</a:t>
            </a:r>
            <a:endParaRPr lang="en-US" altLang="zh-CN" sz="1600" b="1" dirty="0">
              <a:solidFill>
                <a:srgbClr val="00206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33B03A-16B7-B159-3B37-15738AB53BDB}"/>
              </a:ext>
            </a:extLst>
          </p:cNvPr>
          <p:cNvSpPr txBox="1"/>
          <p:nvPr/>
        </p:nvSpPr>
        <p:spPr>
          <a:xfrm>
            <a:off x="4634444" y="1204852"/>
            <a:ext cx="8750709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修复方案：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</a:t>
            </a:r>
            <a:r>
              <a:rPr lang="en-US" altLang="zh-CN" dirty="0"/>
              <a:t>1. Controller </a:t>
            </a:r>
            <a:r>
              <a:rPr lang="zh-CN" altLang="en-US" dirty="0"/>
              <a:t>加 </a:t>
            </a:r>
            <a:r>
              <a:rPr lang="en-US" altLang="zh-CN" dirty="0"/>
              <a:t>@Valid</a:t>
            </a:r>
            <a:r>
              <a:rPr lang="zh-CN" altLang="en-US" dirty="0"/>
              <a:t>：让 </a:t>
            </a:r>
            <a:r>
              <a:rPr lang="en-US" altLang="zh-CN" dirty="0"/>
              <a:t>Spring </a:t>
            </a:r>
            <a:r>
              <a:rPr lang="zh-CN" altLang="en-US" dirty="0"/>
              <a:t>自动校验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2. </a:t>
            </a:r>
            <a:r>
              <a:rPr lang="en-US" altLang="zh-CN" dirty="0" err="1"/>
              <a:t>DishDTO</a:t>
            </a:r>
            <a:r>
              <a:rPr lang="en-US" altLang="zh-CN" dirty="0"/>
              <a:t> </a:t>
            </a:r>
            <a:r>
              <a:rPr lang="zh-CN" altLang="en-US" dirty="0"/>
              <a:t>加校验注解：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C3DA9C-9A29-5664-FFC0-10158A5CD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667" y="1838097"/>
            <a:ext cx="3431481" cy="19092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4B30964-19B7-BCB3-B696-176F05AC6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67" y="3747342"/>
            <a:ext cx="2865767" cy="62525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1C205B9-39F2-AF14-EA1B-7F1ADB5815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0765" y="2098277"/>
            <a:ext cx="4995261" cy="4871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FC03C19-9BFC-831F-2B33-E5EF672241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615" y="5534510"/>
            <a:ext cx="2179310" cy="90804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1AE0CC2-3594-94AE-CD69-329868EB7772}"/>
              </a:ext>
            </a:extLst>
          </p:cNvPr>
          <p:cNvSpPr txBox="1"/>
          <p:nvPr/>
        </p:nvSpPr>
        <p:spPr>
          <a:xfrm>
            <a:off x="6528619" y="56438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修复后：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4335D87-92FC-546B-1D53-9D42F36B20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0765" y="2924423"/>
            <a:ext cx="5084743" cy="23190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685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C9A1B-A144-04DB-9EFC-AE3DD083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910288F-E20A-94A4-1367-25441E3AD438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73CD4E0-679F-598A-D91E-2851E880E029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07E0415-4DCF-3CA8-1C3B-80EB040609E0}"/>
              </a:ext>
            </a:extLst>
          </p:cNvPr>
          <p:cNvSpPr txBox="1"/>
          <p:nvPr/>
        </p:nvSpPr>
        <p:spPr>
          <a:xfrm>
            <a:off x="4770159" y="345292"/>
            <a:ext cx="265168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BE919B4-1207-80B3-2009-52360A063C32}"/>
              </a:ext>
            </a:extLst>
          </p:cNvPr>
          <p:cNvSpPr txBox="1"/>
          <p:nvPr/>
        </p:nvSpPr>
        <p:spPr>
          <a:xfrm>
            <a:off x="409746" y="900191"/>
            <a:ext cx="101206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用户端按分类查询菜品功能    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C62B9E2-263A-C84F-4943-FA705208D3B0}"/>
              </a:ext>
            </a:extLst>
          </p:cNvPr>
          <p:cNvGraphicFramePr>
            <a:graphicFrameLocks noGrp="1"/>
          </p:cNvGraphicFramePr>
          <p:nvPr/>
        </p:nvGraphicFramePr>
        <p:xfrm>
          <a:off x="409746" y="1827485"/>
          <a:ext cx="11280809" cy="3388575"/>
        </p:xfrm>
        <a:graphic>
          <a:graphicData uri="http://schemas.openxmlformats.org/drawingml/2006/table">
            <a:tbl>
              <a:tblPr/>
              <a:tblGrid>
                <a:gridCol w="805945">
                  <a:extLst>
                    <a:ext uri="{9D8B030D-6E8A-4147-A177-3AD203B41FA5}">
                      <a16:colId xmlns:a16="http://schemas.microsoft.com/office/drawing/2014/main" val="1067605198"/>
                    </a:ext>
                  </a:extLst>
                </a:gridCol>
                <a:gridCol w="2028954">
                  <a:extLst>
                    <a:ext uri="{9D8B030D-6E8A-4147-A177-3AD203B41FA5}">
                      <a16:colId xmlns:a16="http://schemas.microsoft.com/office/drawing/2014/main" val="3319329418"/>
                    </a:ext>
                  </a:extLst>
                </a:gridCol>
                <a:gridCol w="1327355">
                  <a:extLst>
                    <a:ext uri="{9D8B030D-6E8A-4147-A177-3AD203B41FA5}">
                      <a16:colId xmlns:a16="http://schemas.microsoft.com/office/drawing/2014/main" val="3565092874"/>
                    </a:ext>
                  </a:extLst>
                </a:gridCol>
                <a:gridCol w="2281084">
                  <a:extLst>
                    <a:ext uri="{9D8B030D-6E8A-4147-A177-3AD203B41FA5}">
                      <a16:colId xmlns:a16="http://schemas.microsoft.com/office/drawing/2014/main" val="2135505738"/>
                    </a:ext>
                  </a:extLst>
                </a:gridCol>
                <a:gridCol w="2458064">
                  <a:extLst>
                    <a:ext uri="{9D8B030D-6E8A-4147-A177-3AD203B41FA5}">
                      <a16:colId xmlns:a16="http://schemas.microsoft.com/office/drawing/2014/main" val="301326019"/>
                    </a:ext>
                  </a:extLst>
                </a:gridCol>
                <a:gridCol w="2379407">
                  <a:extLst>
                    <a:ext uri="{9D8B030D-6E8A-4147-A177-3AD203B41FA5}">
                      <a16:colId xmlns:a16="http://schemas.microsoft.com/office/drawing/2014/main" val="304479387"/>
                    </a:ext>
                  </a:extLst>
                </a:gridCol>
              </a:tblGrid>
              <a:tr h="320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用例</a:t>
                      </a:r>
                      <a:r>
                        <a:rPr lang="en-US" sz="1600" b="1" dirty="0">
                          <a:effectLst/>
                        </a:rPr>
                        <a:t>ID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测试场景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测试方法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输入数据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预期结果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实际结果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75618"/>
                  </a:ext>
                </a:extLst>
              </a:tr>
              <a:tr h="57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16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查询存在的分类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有效等价类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=1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返回菜品列表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code=1</a:t>
                      </a:r>
                      <a:r>
                        <a:rPr lang="zh-CN" altLang="en-US" sz="1600" dirty="0">
                          <a:effectLst/>
                        </a:rPr>
                        <a:t>，返回菜品列表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9212"/>
                  </a:ext>
                </a:extLst>
              </a:tr>
              <a:tr h="57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17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查询不存在的分类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无效等价类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=99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code=0，</a:t>
                      </a:r>
                      <a:r>
                        <a:rPr lang="zh-CN" altLang="en-US" sz="1600" dirty="0">
                          <a:effectLst/>
                        </a:rPr>
                        <a:t>提示分类不存在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13298"/>
                  </a:ext>
                </a:extLst>
              </a:tr>
              <a:tr h="57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18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r>
                        <a:rPr lang="zh-CN" altLang="en-US" sz="1600" dirty="0">
                          <a:effectLst/>
                        </a:rPr>
                        <a:t>为负数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边界值分析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=-1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code=0</a:t>
                      </a:r>
                      <a:r>
                        <a:rPr lang="zh-CN" altLang="en-US" sz="1600" dirty="0">
                          <a:effectLst/>
                        </a:rPr>
                        <a:t>，提示分类不存在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816429"/>
                  </a:ext>
                </a:extLst>
              </a:tr>
              <a:tr h="575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19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r>
                        <a:rPr lang="zh-CN" altLang="en-US" sz="1600" dirty="0">
                          <a:effectLst/>
                        </a:rPr>
                        <a:t>为极大值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边界值分析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categoryId</a:t>
                      </a:r>
                      <a:r>
                        <a:rPr lang="en-US" sz="1600" dirty="0">
                          <a:effectLst/>
                        </a:rPr>
                        <a:t>=9999999999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code=0，</a:t>
                      </a:r>
                      <a:r>
                        <a:rPr lang="zh-CN" altLang="en-US" sz="1600" dirty="0">
                          <a:effectLst/>
                        </a:rPr>
                        <a:t>提示分类不存在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effectLst/>
                        </a:rPr>
                        <a:t>code=1</a:t>
                      </a:r>
                      <a:endParaRPr lang="zh-CN" altLang="en-US" sz="16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405756"/>
                  </a:ext>
                </a:extLst>
              </a:tr>
              <a:tr h="76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20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不传分类</a:t>
                      </a:r>
                      <a:r>
                        <a:rPr lang="en-US" altLang="zh-CN" sz="1600" dirty="0">
                          <a:effectLst/>
                        </a:rPr>
                        <a:t>ID</a:t>
                      </a:r>
                      <a:endParaRPr lang="en-US" sz="1600" dirty="0"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错误推测法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不传该参数</a:t>
                      </a: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返回全部菜品</a:t>
                      </a:r>
                      <a:endParaRPr lang="en-US" sz="1600" dirty="0"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ffectLst/>
                        </a:rPr>
                        <a:t>code=1，</a:t>
                      </a:r>
                      <a:r>
                        <a:rPr lang="zh-CN" altLang="en-US" sz="1600" dirty="0">
                          <a:effectLst/>
                        </a:rPr>
                        <a:t>返回全部菜品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63063" marR="63063" marT="31531" marB="31531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38524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ECD042A-C2CD-F4CF-DF9C-44031D04E030}"/>
              </a:ext>
            </a:extLst>
          </p:cNvPr>
          <p:cNvSpPr txBox="1"/>
          <p:nvPr/>
        </p:nvSpPr>
        <p:spPr>
          <a:xfrm>
            <a:off x="707920" y="5309490"/>
            <a:ext cx="9281653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</a:rPr>
              <a:t>用例</a:t>
            </a:r>
            <a:r>
              <a:rPr lang="en-US" altLang="zh-CN" b="1" dirty="0">
                <a:solidFill>
                  <a:srgbClr val="002060"/>
                </a:solidFill>
              </a:rPr>
              <a:t>17</a:t>
            </a:r>
            <a:r>
              <a:rPr lang="zh-CN" altLang="en-US" b="1" dirty="0">
                <a:solidFill>
                  <a:srgbClr val="002060"/>
                </a:solidFill>
              </a:rPr>
              <a:t>、</a:t>
            </a:r>
            <a:r>
              <a:rPr lang="en-US" altLang="zh-CN" b="1" dirty="0">
                <a:solidFill>
                  <a:srgbClr val="002060"/>
                </a:solidFill>
              </a:rPr>
              <a:t>18</a:t>
            </a:r>
            <a:r>
              <a:rPr lang="zh-CN" altLang="en-US" b="1" dirty="0">
                <a:solidFill>
                  <a:srgbClr val="002060"/>
                </a:solidFill>
              </a:rPr>
              <a:t>、</a:t>
            </a:r>
            <a:r>
              <a:rPr lang="en-US" altLang="zh-CN" b="1" dirty="0">
                <a:solidFill>
                  <a:srgbClr val="002060"/>
                </a:solidFill>
              </a:rPr>
              <a:t>19</a:t>
            </a:r>
            <a:r>
              <a:rPr lang="zh-CN" altLang="en-US" b="1" dirty="0">
                <a:solidFill>
                  <a:srgbClr val="002060"/>
                </a:solidFill>
              </a:rPr>
              <a:t>中，返回的实际结果与预期不同，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</a:rPr>
              <a:t>这说明接口对 </a:t>
            </a:r>
            <a:r>
              <a:rPr lang="en-US" altLang="zh-CN" b="1" dirty="0" err="1">
                <a:solidFill>
                  <a:srgbClr val="002060"/>
                </a:solidFill>
              </a:rPr>
              <a:t>categoryId</a:t>
            </a:r>
            <a:r>
              <a:rPr lang="zh-CN" altLang="en-US" b="1" dirty="0">
                <a:solidFill>
                  <a:srgbClr val="002060"/>
                </a:solidFill>
              </a:rPr>
              <a:t>的校验缺失边界值和异常值的处理，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2060"/>
                </a:solidFill>
              </a:rPr>
              <a:t>虽不影响业务，但属于防御性编程的缺失。</a:t>
            </a:r>
            <a:endParaRPr lang="en-US" altLang="zh-CN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CBE7809-7FE0-7C40-B7C2-6C839A876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513" y="205160"/>
            <a:ext cx="2342925" cy="13900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303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5685-3509-DB95-46DD-A276FDF7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40E9B71-6606-94DE-E4A5-1337C763B811}"/>
              </a:ext>
            </a:extLst>
          </p:cNvPr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FEE297A-8E64-CF5F-5802-9947D30B740F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0F7E7E6-C4B3-63C3-93BF-6C526C81379E}"/>
              </a:ext>
            </a:extLst>
          </p:cNvPr>
          <p:cNvSpPr txBox="1"/>
          <p:nvPr/>
        </p:nvSpPr>
        <p:spPr>
          <a:xfrm>
            <a:off x="4772565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设计测试用例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6C63A6A-9AA8-24DE-48D8-31711DC5BA5E}"/>
              </a:ext>
            </a:extLst>
          </p:cNvPr>
          <p:cNvSpPr txBox="1"/>
          <p:nvPr/>
        </p:nvSpPr>
        <p:spPr>
          <a:xfrm>
            <a:off x="409746" y="900191"/>
            <a:ext cx="101206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latin typeface="Agency FB" panose="020B0503020202020204" pitchFamily="34" charset="0"/>
              </a:rPr>
              <a:t>测试用例：                                          </a:t>
            </a:r>
            <a:r>
              <a:rPr lang="zh-CN" altLang="en-US" sz="20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用户端按分类查询菜品功能  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2FB3C3-EF36-77D5-FA89-5EE176217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549" y="4946790"/>
            <a:ext cx="2627592" cy="14447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EA853E-BD8C-E3DC-FEE6-5D16BD8A1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8762" y="2383574"/>
            <a:ext cx="4962525" cy="19907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5633681-361D-ACEB-C3C3-F3944A407233}"/>
              </a:ext>
            </a:extLst>
          </p:cNvPr>
          <p:cNvSpPr txBox="1"/>
          <p:nvPr/>
        </p:nvSpPr>
        <p:spPr>
          <a:xfrm>
            <a:off x="1611876" y="1769028"/>
            <a:ext cx="8750709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修复方案：增加校验</a:t>
            </a:r>
            <a:r>
              <a:rPr lang="en-US" altLang="zh-CN" dirty="0" err="1"/>
              <a:t>categoryId</a:t>
            </a:r>
            <a:r>
              <a:rPr lang="zh-CN" altLang="en-US" dirty="0"/>
              <a:t>时，对边界值和异常值的处理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9C69515-C10B-D6DB-F584-6D89D858E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1382" y="4978604"/>
            <a:ext cx="3419475" cy="138112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0A93B25-B015-87BB-5864-3BA9303F078B}"/>
              </a:ext>
            </a:extLst>
          </p:cNvPr>
          <p:cNvSpPr txBox="1"/>
          <p:nvPr/>
        </p:nvSpPr>
        <p:spPr>
          <a:xfrm>
            <a:off x="1669553" y="50104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修复后：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9494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47C7-5E0B-6B70-98C5-F514280B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C5B45AC-0C12-4C0E-71EA-A037A12E52A6}"/>
              </a:ext>
            </a:extLst>
          </p:cNvPr>
          <p:cNvCxnSpPr/>
          <p:nvPr/>
        </p:nvCxnSpPr>
        <p:spPr>
          <a:xfrm>
            <a:off x="0" y="630904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C48966E-895E-3A30-28C7-B51791B475EB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3310828-9F41-0D31-C11A-8EE82C9DCFC8}"/>
              </a:ext>
            </a:extLst>
          </p:cNvPr>
          <p:cNvSpPr txBox="1"/>
          <p:nvPr/>
        </p:nvSpPr>
        <p:spPr>
          <a:xfrm>
            <a:off x="4772566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业务流程测试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80BAC5-44D3-2CFA-0F7D-4E6679002143}"/>
              </a:ext>
            </a:extLst>
          </p:cNvPr>
          <p:cNvSpPr txBox="1"/>
          <p:nvPr/>
        </p:nvSpPr>
        <p:spPr>
          <a:xfrm>
            <a:off x="3441288" y="955770"/>
            <a:ext cx="8662221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测试流程：员工登录 → 新增菜品 → 分页查询验证 → 删除菜品 → 再次查询确认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</a:t>
            </a:r>
            <a:r>
              <a:rPr lang="en-US" altLang="zh-CN" dirty="0"/>
              <a:t>      </a:t>
            </a:r>
            <a:r>
              <a:rPr lang="zh-CN" altLang="en-US" dirty="0"/>
              <a:t>该流程覆盖菜品</a:t>
            </a:r>
            <a:r>
              <a:rPr lang="zh-CN" altLang="en-US" b="1" dirty="0"/>
              <a:t>从创建到销毁</a:t>
            </a:r>
            <a:r>
              <a:rPr lang="zh-CN" altLang="en-US" dirty="0"/>
              <a:t>的完整生命周期，涉及 4 个接口的串联调用，通过</a:t>
            </a:r>
            <a:r>
              <a:rPr lang="zh-CN" altLang="en-US" b="1" dirty="0"/>
              <a:t>正则表达式提取器</a:t>
            </a:r>
            <a:r>
              <a:rPr lang="zh-CN" altLang="en-US" dirty="0"/>
              <a:t>实现菜品 ID 在步骤间的数据传递。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B1180A1-5330-AFDD-E30C-8FF0A7DF53D0}"/>
              </a:ext>
            </a:extLst>
          </p:cNvPr>
          <p:cNvGraphicFramePr>
            <a:graphicFrameLocks noGrp="1"/>
          </p:cNvGraphicFramePr>
          <p:nvPr/>
        </p:nvGraphicFramePr>
        <p:xfrm>
          <a:off x="2884655" y="2531499"/>
          <a:ext cx="9130364" cy="3950519"/>
        </p:xfrm>
        <a:graphic>
          <a:graphicData uri="http://schemas.openxmlformats.org/drawingml/2006/table">
            <a:tbl>
              <a:tblPr/>
              <a:tblGrid>
                <a:gridCol w="696817">
                  <a:extLst>
                    <a:ext uri="{9D8B030D-6E8A-4147-A177-3AD203B41FA5}">
                      <a16:colId xmlns:a16="http://schemas.microsoft.com/office/drawing/2014/main" val="2986075471"/>
                    </a:ext>
                  </a:extLst>
                </a:gridCol>
                <a:gridCol w="1133515">
                  <a:extLst>
                    <a:ext uri="{9D8B030D-6E8A-4147-A177-3AD203B41FA5}">
                      <a16:colId xmlns:a16="http://schemas.microsoft.com/office/drawing/2014/main" val="2478894982"/>
                    </a:ext>
                  </a:extLst>
                </a:gridCol>
                <a:gridCol w="3789916">
                  <a:extLst>
                    <a:ext uri="{9D8B030D-6E8A-4147-A177-3AD203B41FA5}">
                      <a16:colId xmlns:a16="http://schemas.microsoft.com/office/drawing/2014/main" val="3107539122"/>
                    </a:ext>
                  </a:extLst>
                </a:gridCol>
                <a:gridCol w="1818968">
                  <a:extLst>
                    <a:ext uri="{9D8B030D-6E8A-4147-A177-3AD203B41FA5}">
                      <a16:colId xmlns:a16="http://schemas.microsoft.com/office/drawing/2014/main" val="607785063"/>
                    </a:ext>
                  </a:extLst>
                </a:gridCol>
                <a:gridCol w="1691148">
                  <a:extLst>
                    <a:ext uri="{9D8B030D-6E8A-4147-A177-3AD203B41FA5}">
                      <a16:colId xmlns:a16="http://schemas.microsoft.com/office/drawing/2014/main" val="1705072107"/>
                    </a:ext>
                  </a:extLst>
                </a:gridCol>
              </a:tblGrid>
              <a:tr h="2742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用例</a:t>
                      </a:r>
                      <a:r>
                        <a:rPr lang="en-US" sz="1400" b="1" dirty="0">
                          <a:effectLst/>
                        </a:rPr>
                        <a:t>ID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测试场景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涉及接口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数据传递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预期结果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9878"/>
                  </a:ext>
                </a:extLst>
              </a:tr>
              <a:tr h="238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BP-01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正向流程</a:t>
                      </a:r>
                      <a:r>
                        <a:rPr lang="zh-CN" altLang="en-US" sz="1400" dirty="0">
                          <a:effectLst/>
                        </a:rPr>
                        <a:t>：菜品创建→查询→删除完整链路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/admin/employee/login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登录）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新增菜品）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GET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/admin/dish/page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按名称查询，提取菜品</a:t>
                      </a:r>
                      <a:r>
                        <a:rPr lang="en-US" sz="1400" dirty="0">
                          <a:effectLst/>
                        </a:rPr>
                        <a:t>ID）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DELETE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使用提取的</a:t>
                      </a:r>
                      <a:r>
                        <a:rPr lang="en-US" sz="1400" dirty="0">
                          <a:effectLst/>
                        </a:rPr>
                        <a:t>ID</a:t>
                      </a:r>
                      <a:r>
                        <a:rPr lang="zh-CN" altLang="en-US" sz="1400" dirty="0">
                          <a:effectLst/>
                        </a:rPr>
                        <a:t>删除菜品）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GET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/admin/dish/page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再次查询，验证已删除）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1→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2~5: </a:t>
                      </a:r>
                      <a:r>
                        <a:rPr lang="en-US" altLang="zh-CN" sz="1400" dirty="0">
                          <a:effectLst/>
                        </a:rPr>
                        <a:t>HTTP</a:t>
                      </a:r>
                      <a:r>
                        <a:rPr lang="zh-CN" altLang="en-US" sz="1400" dirty="0">
                          <a:effectLst/>
                        </a:rPr>
                        <a:t>信息头管理器传递 </a:t>
                      </a:r>
                      <a:r>
                        <a:rPr lang="en-US" altLang="zh-CN" sz="1400" dirty="0">
                          <a:effectLst/>
                        </a:rPr>
                        <a:t>token</a:t>
                      </a:r>
                    </a:p>
                    <a:p>
                      <a:pPr algn="ctr">
                        <a:buNone/>
                      </a:pPr>
                      <a:endParaRPr lang="en-US" altLang="zh-CN" sz="14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3→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4 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正则提取 </a:t>
                      </a:r>
                      <a:r>
                        <a:rPr lang="en-US" altLang="zh-CN" sz="1400" dirty="0" err="1">
                          <a:effectLst/>
                          <a:latin typeface="Courier New" panose="02070309020205020404" pitchFamily="49" charset="0"/>
                        </a:rPr>
                        <a:t>dishId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全部 </a:t>
                      </a:r>
                      <a:r>
                        <a:rPr lang="en-US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3</a:t>
                      </a:r>
                      <a:r>
                        <a:rPr lang="zh-CN" altLang="en-US" sz="1400" dirty="0">
                          <a:effectLst/>
                        </a:rPr>
                        <a:t>查询到新菜品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5 </a:t>
                      </a:r>
                      <a:r>
                        <a:rPr lang="en-US" sz="1400" dirty="0">
                          <a:effectLst/>
                        </a:rPr>
                        <a:t>total=0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760704"/>
                  </a:ext>
                </a:extLst>
              </a:tr>
              <a:tr h="1294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BP-02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异常流程</a:t>
                      </a:r>
                      <a:r>
                        <a:rPr lang="zh-CN" altLang="en-US" sz="1400">
                          <a:effectLst/>
                        </a:rPr>
                        <a:t>：新增菜品与已有菜品同名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1. POST </a:t>
                      </a:r>
                      <a:r>
                        <a:rPr lang="en-US" sz="1400">
                          <a:effectLst/>
                          <a:latin typeface="Courier New" panose="02070309020205020404" pitchFamily="49" charset="0"/>
                        </a:rPr>
                        <a:t>/admin/employee/login</a:t>
                      </a:r>
                      <a:r>
                        <a:rPr lang="en-US" sz="1400">
                          <a:effectLst/>
                        </a:rPr>
                        <a:t>（</a:t>
                      </a:r>
                      <a:r>
                        <a:rPr lang="zh-CN" altLang="en-US" sz="1400">
                          <a:effectLst/>
                        </a:rPr>
                        <a:t>登录） </a:t>
                      </a:r>
                      <a:r>
                        <a:rPr lang="en-US" altLang="zh-CN" sz="1400">
                          <a:effectLst/>
                        </a:rPr>
                        <a:t>2. </a:t>
                      </a:r>
                      <a:r>
                        <a:rPr lang="en-US" sz="1400">
                          <a:effectLst/>
                        </a:rPr>
                        <a:t>POST </a:t>
                      </a:r>
                      <a:r>
                        <a:rPr lang="en-US" sz="140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>
                          <a:effectLst/>
                        </a:rPr>
                        <a:t>（</a:t>
                      </a:r>
                      <a:r>
                        <a:rPr lang="zh-CN" altLang="en-US" sz="1400">
                          <a:effectLst/>
                        </a:rPr>
                        <a:t>新增重名菜品）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1→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2: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HTTP</a:t>
                      </a:r>
                      <a:r>
                        <a:rPr lang="zh-CN" altLang="en-US" sz="1400" dirty="0">
                          <a:effectLst/>
                        </a:rPr>
                        <a:t>信息头管理器传递 </a:t>
                      </a:r>
                      <a:r>
                        <a:rPr lang="en-US" altLang="zh-CN" sz="1400" dirty="0">
                          <a:effectLst/>
                        </a:rPr>
                        <a:t>token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1 </a:t>
                      </a:r>
                      <a:r>
                        <a:rPr lang="en-US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2 </a:t>
                      </a:r>
                      <a:r>
                        <a:rPr lang="en-US" sz="1400" dirty="0">
                          <a:effectLst/>
                        </a:rPr>
                        <a:t>code=0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82011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9EF41EBD-4131-ED2D-F303-B67CD4664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32" y="154705"/>
            <a:ext cx="2189398" cy="371920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67293B0-D408-1C39-E2EB-C57BF5A56E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342"/>
          <a:stretch>
            <a:fillRect/>
          </a:stretch>
        </p:blipFill>
        <p:spPr>
          <a:xfrm>
            <a:off x="447207" y="3873910"/>
            <a:ext cx="2313423" cy="26081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2021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F8BD-AB11-BC62-E6ED-E92F8F3F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A038F0A-8E4A-35EA-1239-B25656643328}"/>
              </a:ext>
            </a:extLst>
          </p:cNvPr>
          <p:cNvCxnSpPr/>
          <p:nvPr/>
        </p:nvCxnSpPr>
        <p:spPr>
          <a:xfrm>
            <a:off x="0" y="630904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59E630D-DED0-1D2F-148A-0FEDCE763513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9EE2D55-B183-FF0D-75A6-115FC1D4E3FB}"/>
              </a:ext>
            </a:extLst>
          </p:cNvPr>
          <p:cNvSpPr txBox="1"/>
          <p:nvPr/>
        </p:nvSpPr>
        <p:spPr>
          <a:xfrm>
            <a:off x="4772566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业务流程测试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EC0ACF2-61F5-71BC-420F-A43300602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6" y="303179"/>
            <a:ext cx="2667000" cy="43529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228E3EE-11E5-1AED-8BF3-2DF4F2891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902" y="4239828"/>
            <a:ext cx="2476500" cy="24288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09069E2-5A39-F334-C412-0618E9608B79}"/>
              </a:ext>
            </a:extLst>
          </p:cNvPr>
          <p:cNvSpPr txBox="1"/>
          <p:nvPr/>
        </p:nvSpPr>
        <p:spPr>
          <a:xfrm>
            <a:off x="5201953" y="1244482"/>
            <a:ext cx="65804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业务流程测试</a:t>
            </a:r>
            <a:r>
              <a:rPr lang="en-US" altLang="zh-CN" dirty="0" err="1"/>
              <a:t>jmeter</a:t>
            </a:r>
            <a:r>
              <a:rPr lang="zh-CN" altLang="en-US" dirty="0"/>
              <a:t>结构</a:t>
            </a:r>
          </a:p>
          <a:p>
            <a:r>
              <a:rPr lang="zh-CN" altLang="en-US" dirty="0"/>
              <a:t>├── 线程组：BP-01-菜品管理正向流程（5个请求）</a:t>
            </a:r>
          </a:p>
          <a:p>
            <a:r>
              <a:rPr lang="zh-CN" altLang="en-US" dirty="0"/>
              <a:t>│   ├── HTTP信息头管理器（Content-Type + token）</a:t>
            </a:r>
          </a:p>
          <a:p>
            <a:r>
              <a:rPr lang="zh-CN" altLang="en-US" dirty="0"/>
              <a:t>│   ├── HTTP请求默认值</a:t>
            </a:r>
          </a:p>
          <a:p>
            <a:r>
              <a:rPr lang="zh-CN" altLang="en-US" dirty="0"/>
              <a:t>│   ├── BP-01-步骤1：员工登录</a:t>
            </a:r>
          </a:p>
          <a:p>
            <a:r>
              <a:rPr lang="zh-CN" altLang="en-US" dirty="0"/>
              <a:t>│   ├── BP-01-步骤2：新增菜品</a:t>
            </a:r>
          </a:p>
          <a:p>
            <a:r>
              <a:rPr lang="zh-CN" altLang="en-US" dirty="0"/>
              <a:t>│   ├── BP-01-步骤3：按名称查询 → 正则提取 dishId</a:t>
            </a:r>
          </a:p>
          <a:p>
            <a:r>
              <a:rPr lang="zh-CN" altLang="en-US" dirty="0"/>
              <a:t>│   ├── BP-01-步骤4：删除菜品（引用 ${bpDishId}）</a:t>
            </a:r>
          </a:p>
          <a:p>
            <a:r>
              <a:rPr lang="zh-CN" altLang="en-US" dirty="0"/>
              <a:t>│   └── BP-01-步骤5：再次查询验证</a:t>
            </a:r>
          </a:p>
          <a:p>
            <a:r>
              <a:rPr lang="zh-CN" altLang="en-US" dirty="0"/>
              <a:t>│</a:t>
            </a:r>
          </a:p>
          <a:p>
            <a:r>
              <a:rPr lang="zh-CN" altLang="en-US" dirty="0"/>
              <a:t>├── 线程组：BP-02-菜品重名异常流程（2个请求）</a:t>
            </a:r>
          </a:p>
          <a:p>
            <a:r>
              <a:rPr lang="zh-CN" altLang="en-US" dirty="0"/>
              <a:t>│   ├── HTTP信息头管理器（Content-Type + token）</a:t>
            </a:r>
          </a:p>
          <a:p>
            <a:r>
              <a:rPr lang="zh-CN" altLang="en-US" dirty="0"/>
              <a:t>│   ├── HTTP请求默认值</a:t>
            </a:r>
          </a:p>
          <a:p>
            <a:r>
              <a:rPr lang="zh-CN" altLang="en-US" dirty="0"/>
              <a:t>│   ├── BP-02-步骤1：员工登录</a:t>
            </a:r>
          </a:p>
          <a:p>
            <a:r>
              <a:rPr lang="zh-CN" altLang="en-US" dirty="0"/>
              <a:t>│   └── BP-02-步骤2：新增重名菜品</a:t>
            </a:r>
          </a:p>
          <a:p>
            <a:r>
              <a:rPr lang="zh-CN" altLang="en-US" dirty="0"/>
              <a:t>│</a:t>
            </a:r>
          </a:p>
          <a:p>
            <a:r>
              <a:rPr lang="zh-CN" altLang="en-US" dirty="0"/>
              <a:t>└── 监听器（共用）</a:t>
            </a:r>
          </a:p>
          <a:p>
            <a:r>
              <a:rPr lang="zh-CN" altLang="en-US" dirty="0"/>
              <a:t>    ├── 查看结果树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2892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671B-8FEF-9275-1E08-AD96FB076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6D80E34-E5CF-ADAF-3601-AA4DCC5CA77B}"/>
              </a:ext>
            </a:extLst>
          </p:cNvPr>
          <p:cNvCxnSpPr/>
          <p:nvPr/>
        </p:nvCxnSpPr>
        <p:spPr>
          <a:xfrm>
            <a:off x="0" y="630904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8E3190B-A669-45E0-7C6C-6C34E096B63C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DC40F703-AC72-8E0F-AC12-B81FC48F71CA}"/>
              </a:ext>
            </a:extLst>
          </p:cNvPr>
          <p:cNvSpPr txBox="1"/>
          <p:nvPr/>
        </p:nvSpPr>
        <p:spPr>
          <a:xfrm>
            <a:off x="4772566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业务流程测试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3B6CBF6-C07B-C440-ABAF-871A31D637B2}"/>
              </a:ext>
            </a:extLst>
          </p:cNvPr>
          <p:cNvGraphicFramePr>
            <a:graphicFrameLocks noGrp="1"/>
          </p:cNvGraphicFramePr>
          <p:nvPr/>
        </p:nvGraphicFramePr>
        <p:xfrm>
          <a:off x="0" y="1390854"/>
          <a:ext cx="10228647" cy="4666940"/>
        </p:xfrm>
        <a:graphic>
          <a:graphicData uri="http://schemas.openxmlformats.org/drawingml/2006/table">
            <a:tbl>
              <a:tblPr/>
              <a:tblGrid>
                <a:gridCol w="467928">
                  <a:extLst>
                    <a:ext uri="{9D8B030D-6E8A-4147-A177-3AD203B41FA5}">
                      <a16:colId xmlns:a16="http://schemas.microsoft.com/office/drawing/2014/main" val="2986075471"/>
                    </a:ext>
                  </a:extLst>
                </a:gridCol>
                <a:gridCol w="1081549">
                  <a:extLst>
                    <a:ext uri="{9D8B030D-6E8A-4147-A177-3AD203B41FA5}">
                      <a16:colId xmlns:a16="http://schemas.microsoft.com/office/drawing/2014/main" val="2478894982"/>
                    </a:ext>
                  </a:extLst>
                </a:gridCol>
                <a:gridCol w="3668817">
                  <a:extLst>
                    <a:ext uri="{9D8B030D-6E8A-4147-A177-3AD203B41FA5}">
                      <a16:colId xmlns:a16="http://schemas.microsoft.com/office/drawing/2014/main" val="3107539122"/>
                    </a:ext>
                  </a:extLst>
                </a:gridCol>
                <a:gridCol w="1668664">
                  <a:extLst>
                    <a:ext uri="{9D8B030D-6E8A-4147-A177-3AD203B41FA5}">
                      <a16:colId xmlns:a16="http://schemas.microsoft.com/office/drawing/2014/main" val="607785063"/>
                    </a:ext>
                  </a:extLst>
                </a:gridCol>
                <a:gridCol w="1660372">
                  <a:extLst>
                    <a:ext uri="{9D8B030D-6E8A-4147-A177-3AD203B41FA5}">
                      <a16:colId xmlns:a16="http://schemas.microsoft.com/office/drawing/2014/main" val="1705072107"/>
                    </a:ext>
                  </a:extLst>
                </a:gridCol>
                <a:gridCol w="1681317">
                  <a:extLst>
                    <a:ext uri="{9D8B030D-6E8A-4147-A177-3AD203B41FA5}">
                      <a16:colId xmlns:a16="http://schemas.microsoft.com/office/drawing/2014/main" val="3276341859"/>
                    </a:ext>
                  </a:extLst>
                </a:gridCol>
              </a:tblGrid>
              <a:tr h="508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用例</a:t>
                      </a:r>
                      <a:r>
                        <a:rPr lang="en-US" sz="1400" b="1" dirty="0">
                          <a:effectLst/>
                        </a:rPr>
                        <a:t>ID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测试场景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涉及接口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数据传递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预期结果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实际结果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9878"/>
                  </a:ext>
                </a:extLst>
              </a:tr>
              <a:tr h="26167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BP-01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正向流程</a:t>
                      </a:r>
                      <a:r>
                        <a:rPr lang="zh-CN" altLang="en-US" sz="1400" dirty="0">
                          <a:effectLst/>
                        </a:rPr>
                        <a:t>：菜品创建→查询→删除完整链路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/admin/employee/login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登录）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新增菜品）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GET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/admin/dish/page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按名称查询，提取菜品</a:t>
                      </a:r>
                      <a:r>
                        <a:rPr lang="en-US" sz="1400" dirty="0">
                          <a:effectLst/>
                        </a:rPr>
                        <a:t>ID）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DELETE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使用提取的</a:t>
                      </a:r>
                      <a:r>
                        <a:rPr lang="en-US" sz="1400" dirty="0">
                          <a:effectLst/>
                        </a:rPr>
                        <a:t>ID</a:t>
                      </a:r>
                      <a:r>
                        <a:rPr lang="zh-CN" altLang="en-US" sz="1400" dirty="0">
                          <a:effectLst/>
                        </a:rPr>
                        <a:t>删除菜品）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400" dirty="0">
                          <a:effectLst/>
                        </a:rPr>
                        <a:t>GET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/admin/dish/page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再次查询，验证已删除）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1→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2~5 </a:t>
                      </a:r>
                      <a:r>
                        <a:rPr lang="en-US" altLang="zh-CN" sz="1400" dirty="0">
                          <a:effectLst/>
                        </a:rPr>
                        <a:t>HTTP</a:t>
                      </a:r>
                      <a:r>
                        <a:rPr lang="zh-CN" altLang="en-US" sz="1400" dirty="0">
                          <a:effectLst/>
                        </a:rPr>
                        <a:t>信息头管理器传递 </a:t>
                      </a:r>
                      <a:r>
                        <a:rPr lang="en-US" altLang="zh-CN" sz="1400" dirty="0">
                          <a:effectLst/>
                        </a:rPr>
                        <a:t>token</a:t>
                      </a:r>
                    </a:p>
                    <a:p>
                      <a:pPr algn="ctr">
                        <a:buNone/>
                      </a:pPr>
                      <a:endParaRPr lang="en-US" altLang="zh-CN" sz="14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3→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4 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正则提取 </a:t>
                      </a:r>
                      <a:r>
                        <a:rPr lang="en-US" altLang="zh-CN" sz="1400" dirty="0" err="1">
                          <a:effectLst/>
                          <a:latin typeface="Courier New" panose="02070309020205020404" pitchFamily="49" charset="0"/>
                        </a:rPr>
                        <a:t>dishId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全部 </a:t>
                      </a:r>
                      <a:r>
                        <a:rPr lang="en-US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3</a:t>
                      </a:r>
                      <a:r>
                        <a:rPr lang="zh-CN" altLang="en-US" sz="1400" dirty="0">
                          <a:effectLst/>
                        </a:rPr>
                        <a:t>查询到新菜品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5 </a:t>
                      </a:r>
                      <a:r>
                        <a:rPr lang="en-US" sz="1400" dirty="0">
                          <a:effectLst/>
                        </a:rPr>
                        <a:t>total=0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全部 </a:t>
                      </a:r>
                      <a:r>
                        <a:rPr lang="en-US" altLang="zh-CN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3</a:t>
                      </a:r>
                      <a:r>
                        <a:rPr lang="zh-CN" altLang="en-US" sz="1400" dirty="0">
                          <a:effectLst/>
                        </a:rPr>
                        <a:t>查询到新菜品 </a:t>
                      </a:r>
                      <a:endParaRPr lang="en-US" altLang="zh-CN" sz="14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5 total=0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760704"/>
                  </a:ext>
                </a:extLst>
              </a:tr>
              <a:tr h="1349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BP-02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异常流程</a:t>
                      </a:r>
                      <a:r>
                        <a:rPr lang="zh-CN" altLang="en-US" sz="1400" dirty="0">
                          <a:effectLst/>
                        </a:rPr>
                        <a:t>：新增菜品与已有菜品同名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1. 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/admin/employee/login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登录） </a:t>
                      </a:r>
                      <a:r>
                        <a:rPr lang="en-US" altLang="zh-CN" sz="1400" dirty="0">
                          <a:effectLst/>
                        </a:rPr>
                        <a:t>2. </a:t>
                      </a:r>
                      <a:r>
                        <a:rPr lang="en-US" sz="1400" dirty="0">
                          <a:effectLst/>
                        </a:rPr>
                        <a:t>POST </a:t>
                      </a:r>
                      <a:r>
                        <a:rPr lang="en-US" sz="1400" dirty="0">
                          <a:effectLst/>
                          <a:latin typeface="Courier New" panose="02070309020205020404" pitchFamily="49" charset="0"/>
                        </a:rPr>
                        <a:t>/admin/dish</a:t>
                      </a:r>
                      <a:r>
                        <a:rPr lang="en-US" sz="1400" dirty="0">
                          <a:effectLst/>
                        </a:rPr>
                        <a:t>（</a:t>
                      </a:r>
                      <a:r>
                        <a:rPr lang="zh-CN" altLang="en-US" sz="1400" dirty="0">
                          <a:effectLst/>
                        </a:rPr>
                        <a:t>新增重名菜品）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1→</a:t>
                      </a:r>
                      <a:r>
                        <a:rPr lang="zh-CN" altLang="en-US" sz="1400" b="1" dirty="0">
                          <a:effectLst/>
                        </a:rPr>
                        <a:t>步骤</a:t>
                      </a:r>
                      <a:r>
                        <a:rPr lang="en-US" altLang="zh-CN" sz="1400" b="1" dirty="0">
                          <a:effectLst/>
                        </a:rPr>
                        <a:t>2</a:t>
                      </a:r>
                    </a:p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HTTP</a:t>
                      </a:r>
                      <a:r>
                        <a:rPr lang="zh-CN" altLang="en-US" sz="1400" dirty="0">
                          <a:effectLst/>
                        </a:rPr>
                        <a:t>信息头管理器传递 </a:t>
                      </a:r>
                      <a:r>
                        <a:rPr lang="en-US" altLang="zh-CN" sz="1400" dirty="0">
                          <a:effectLst/>
                        </a:rPr>
                        <a:t>token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1 </a:t>
                      </a:r>
                      <a:r>
                        <a:rPr lang="en-US" sz="1400" dirty="0">
                          <a:effectLst/>
                        </a:rPr>
                        <a:t>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2 </a:t>
                      </a:r>
                      <a:r>
                        <a:rPr lang="en-US" sz="1400" dirty="0">
                          <a:effectLst/>
                        </a:rPr>
                        <a:t>code=0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1 code=1 </a:t>
                      </a: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步骤</a:t>
                      </a:r>
                      <a:r>
                        <a:rPr lang="en-US" altLang="zh-CN" sz="1400" dirty="0">
                          <a:effectLst/>
                        </a:rPr>
                        <a:t>2 code=0</a:t>
                      </a:r>
                    </a:p>
                  </a:txBody>
                  <a:tcPr marL="60435" marR="60435" marT="30218" marB="30218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820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2EC0360B-4669-B7F9-176E-17E4737D3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8311" y="2643987"/>
            <a:ext cx="1678751" cy="10088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8FF26C7-4A8F-677F-D399-26C341A34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8311" y="4796094"/>
            <a:ext cx="1724025" cy="533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42376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EFBC-E1E1-DFB8-B46F-32C723A3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C4257A3-773D-1785-2387-4628CE670E69}"/>
              </a:ext>
            </a:extLst>
          </p:cNvPr>
          <p:cNvCxnSpPr/>
          <p:nvPr/>
        </p:nvCxnSpPr>
        <p:spPr>
          <a:xfrm>
            <a:off x="0" y="630904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0A917E5-7487-81B6-C718-BBC7E99BB99E}"/>
              </a:ext>
            </a:extLst>
          </p:cNvPr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03A522D-5D60-8C12-88D5-640B1D4D36A7}"/>
              </a:ext>
            </a:extLst>
          </p:cNvPr>
          <p:cNvSpPr txBox="1"/>
          <p:nvPr/>
        </p:nvSpPr>
        <p:spPr>
          <a:xfrm>
            <a:off x="4772569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功能测试总结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5F1D4E-D5E2-3139-A232-1E468B8F828E}"/>
              </a:ext>
            </a:extLst>
          </p:cNvPr>
          <p:cNvSpPr txBox="1"/>
          <p:nvPr/>
        </p:nvSpPr>
        <p:spPr>
          <a:xfrm>
            <a:off x="288823" y="626429"/>
            <a:ext cx="7880554" cy="382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一、测试执行统计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4369CB-1CA3-5479-1C67-09C201E72FB5}"/>
              </a:ext>
            </a:extLst>
          </p:cNvPr>
          <p:cNvSpPr txBox="1"/>
          <p:nvPr/>
        </p:nvSpPr>
        <p:spPr>
          <a:xfrm>
            <a:off x="391565" y="3287919"/>
            <a:ext cx="11546522" cy="329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/>
              <a:t>二、测试结论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        </a:t>
            </a:r>
            <a:r>
              <a:rPr lang="zh-CN" altLang="en-US" sz="1400" dirty="0"/>
              <a:t>经过本次功能测试与业务流程测试，苍穹外卖系统的核心业务功能</a:t>
            </a:r>
            <a:r>
              <a:rPr lang="zh-CN" altLang="en-US" sz="1400" b="1" dirty="0"/>
              <a:t>基本可满足管理端与用户端的日常使用需求</a:t>
            </a:r>
            <a:r>
              <a:rPr lang="zh-CN" altLang="en-US" sz="1400" dirty="0"/>
              <a:t>。系统采用 </a:t>
            </a:r>
            <a:r>
              <a:rPr lang="en-US" altLang="zh-CN" sz="1400" dirty="0"/>
              <a:t>JWT </a:t>
            </a:r>
            <a:r>
              <a:rPr lang="zh-CN" altLang="en-US" sz="1400" dirty="0"/>
              <a:t>双通道认证，前后端分离架构清晰，接口响应格式统一（</a:t>
            </a:r>
            <a:r>
              <a:rPr lang="en-US" altLang="zh-CN" sz="1400" dirty="0"/>
              <a:t>code=1 </a:t>
            </a:r>
            <a:r>
              <a:rPr lang="zh-CN" altLang="en-US" sz="1400" dirty="0"/>
              <a:t>成功 </a:t>
            </a:r>
            <a:r>
              <a:rPr lang="en-US" altLang="zh-CN" sz="1400" dirty="0"/>
              <a:t>/ code=0 </a:t>
            </a:r>
            <a:r>
              <a:rPr lang="zh-CN" altLang="en-US" sz="1400" dirty="0"/>
              <a:t>失败），</a:t>
            </a:r>
            <a:r>
              <a:rPr lang="zh-CN" altLang="en-US" sz="1400" b="1" dirty="0"/>
              <a:t>整体业务流程（登录→新增→查询→删除）也能够顺畅走通，说明数据在接口间的传递也较为可靠</a:t>
            </a:r>
            <a:r>
              <a:rPr lang="zh-CN" altLang="en-US" sz="14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但在测试过程中也暴露了一些</a:t>
            </a:r>
            <a:r>
              <a:rPr lang="zh-CN" altLang="en-US" sz="1400" b="1" dirty="0"/>
              <a:t>问题：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  </a:t>
            </a:r>
            <a:r>
              <a:rPr lang="en-US" altLang="zh-CN" sz="1400" b="1" dirty="0"/>
              <a:t>1. </a:t>
            </a:r>
            <a:r>
              <a:rPr lang="zh-CN" altLang="en-US" sz="1400" b="1" dirty="0"/>
              <a:t>管理端参数校验缺失较为严重。 </a:t>
            </a:r>
            <a:r>
              <a:rPr lang="zh-CN" altLang="en-US" sz="1400" dirty="0"/>
              <a:t>测试发现，新增菜品接口对</a:t>
            </a:r>
            <a:r>
              <a:rPr lang="en-US" altLang="zh-CN" sz="1400" dirty="0"/>
              <a:t>"</a:t>
            </a:r>
            <a:r>
              <a:rPr lang="zh-CN" altLang="en-US" sz="1400" dirty="0"/>
              <a:t>名称为空</a:t>
            </a:r>
            <a:r>
              <a:rPr lang="en-US" altLang="zh-CN" sz="1400" dirty="0"/>
              <a:t>""</a:t>
            </a:r>
            <a:r>
              <a:rPr lang="zh-CN" altLang="en-US" sz="1400" dirty="0"/>
              <a:t>价格为负数</a:t>
            </a:r>
            <a:r>
              <a:rPr lang="en-US" altLang="zh-CN" sz="1400" dirty="0"/>
              <a:t>""status </a:t>
            </a:r>
            <a:r>
              <a:rPr lang="zh-CN" altLang="en-US" sz="1400" dirty="0"/>
              <a:t>设为非法值</a:t>
            </a:r>
            <a:r>
              <a:rPr lang="en-US" altLang="zh-CN" sz="1400" dirty="0"/>
              <a:t>9"</a:t>
            </a:r>
            <a:r>
              <a:rPr lang="zh-CN" altLang="en-US" sz="1400" dirty="0"/>
              <a:t>三种异常输入均未拦截，非法数据可直接写入数据库。这反映出后端对管理员的输入缺乏基本的防御性校验，存在数据污染风险。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  </a:t>
            </a:r>
            <a:r>
              <a:rPr lang="en-US" altLang="zh-CN" sz="1400" b="1" dirty="0"/>
              <a:t>2. </a:t>
            </a:r>
            <a:r>
              <a:rPr lang="zh-CN" altLang="en-US" sz="1400" b="1" dirty="0"/>
              <a:t>用户端接口防御性校验不足。 </a:t>
            </a:r>
            <a:r>
              <a:rPr lang="zh-CN" altLang="en-US" sz="1400" dirty="0"/>
              <a:t>用户端菜品查询接口对 </a:t>
            </a:r>
            <a:r>
              <a:rPr lang="en-US" altLang="zh-CN" sz="1400" dirty="0" err="1"/>
              <a:t>categoryId</a:t>
            </a:r>
            <a:r>
              <a:rPr lang="zh-CN" altLang="en-US" sz="1400" dirty="0"/>
              <a:t>的负数、零值、极大值均未做校验，虽当前不影响业务（返回空列表），但攻击者可利用此类漏洞探测系统数据库范围，存在安全隐患。 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b="1" dirty="0"/>
              <a:t>        </a:t>
            </a:r>
            <a:r>
              <a:rPr lang="zh-CN" altLang="en-US" sz="1400" b="1" dirty="0"/>
              <a:t>故该系统尚需进一步打磨才能达到商用系统的健壮性标准。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AD872B8-D0E4-D0F7-8540-19F9C8C0B696}"/>
              </a:ext>
            </a:extLst>
          </p:cNvPr>
          <p:cNvGraphicFramePr>
            <a:graphicFrameLocks noGrp="1"/>
          </p:cNvGraphicFramePr>
          <p:nvPr/>
        </p:nvGraphicFramePr>
        <p:xfrm>
          <a:off x="667369" y="1132173"/>
          <a:ext cx="10994914" cy="1936438"/>
        </p:xfrm>
        <a:graphic>
          <a:graphicData uri="http://schemas.openxmlformats.org/drawingml/2006/table">
            <a:tbl>
              <a:tblPr/>
              <a:tblGrid>
                <a:gridCol w="1570702">
                  <a:extLst>
                    <a:ext uri="{9D8B030D-6E8A-4147-A177-3AD203B41FA5}">
                      <a16:colId xmlns:a16="http://schemas.microsoft.com/office/drawing/2014/main" val="2637163700"/>
                    </a:ext>
                  </a:extLst>
                </a:gridCol>
                <a:gridCol w="1570702">
                  <a:extLst>
                    <a:ext uri="{9D8B030D-6E8A-4147-A177-3AD203B41FA5}">
                      <a16:colId xmlns:a16="http://schemas.microsoft.com/office/drawing/2014/main" val="2557331740"/>
                    </a:ext>
                  </a:extLst>
                </a:gridCol>
                <a:gridCol w="1107356">
                  <a:extLst>
                    <a:ext uri="{9D8B030D-6E8A-4147-A177-3AD203B41FA5}">
                      <a16:colId xmlns:a16="http://schemas.microsoft.com/office/drawing/2014/main" val="95695906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269052530"/>
                    </a:ext>
                  </a:extLst>
                </a:gridCol>
                <a:gridCol w="1307690">
                  <a:extLst>
                    <a:ext uri="{9D8B030D-6E8A-4147-A177-3AD203B41FA5}">
                      <a16:colId xmlns:a16="http://schemas.microsoft.com/office/drawing/2014/main" val="844362238"/>
                    </a:ext>
                  </a:extLst>
                </a:gridCol>
                <a:gridCol w="1170039">
                  <a:extLst>
                    <a:ext uri="{9D8B030D-6E8A-4147-A177-3AD203B41FA5}">
                      <a16:colId xmlns:a16="http://schemas.microsoft.com/office/drawing/2014/main" val="4043394752"/>
                    </a:ext>
                  </a:extLst>
                </a:gridCol>
                <a:gridCol w="2980399">
                  <a:extLst>
                    <a:ext uri="{9D8B030D-6E8A-4147-A177-3AD203B41FA5}">
                      <a16:colId xmlns:a16="http://schemas.microsoft.com/office/drawing/2014/main" val="468610565"/>
                    </a:ext>
                  </a:extLst>
                </a:gridCol>
              </a:tblGrid>
              <a:tr h="173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测试类型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模块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>
                          <a:effectLst/>
                        </a:rPr>
                        <a:t>用例数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通过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预期不符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通过率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备注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36970"/>
                  </a:ext>
                </a:extLst>
              </a:tr>
              <a:tr h="173229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功能模块测试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员工登录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7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7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0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100%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全部符合预期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385500"/>
                  </a:ext>
                </a:extLst>
              </a:tr>
              <a:tr h="2948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新增菜品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8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6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100%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2</a:t>
                      </a:r>
                      <a:r>
                        <a:rPr lang="zh-CN" altLang="en-US" sz="1400" dirty="0">
                          <a:effectLst/>
                        </a:rPr>
                        <a:t>条缺陷已修复（缺少校验注解）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858927"/>
                  </a:ext>
                </a:extLst>
              </a:tr>
              <a:tr h="41637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</a:t>
                      </a:r>
                      <a:r>
                        <a:rPr lang="zh-CN" altLang="en-US" sz="1400" dirty="0">
                          <a:effectLst/>
                        </a:rPr>
                        <a:t>端菜品查询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5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3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100%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3</a:t>
                      </a:r>
                      <a:r>
                        <a:rPr lang="zh-CN" altLang="en-US" sz="1400" dirty="0">
                          <a:effectLst/>
                        </a:rPr>
                        <a:t>条为防御性编程缺失，不影响业务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222928"/>
                  </a:ext>
                </a:extLst>
              </a:tr>
              <a:tr h="29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业务流程测试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菜品全生命周期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0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effectLst/>
                        </a:rPr>
                        <a:t>100%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BP-01</a:t>
                      </a:r>
                      <a:r>
                        <a:rPr lang="zh-CN" altLang="en-US" sz="1400" dirty="0">
                          <a:effectLst/>
                        </a:rPr>
                        <a:t>正向 </a:t>
                      </a:r>
                      <a:r>
                        <a:rPr lang="en-US" altLang="zh-CN" sz="1400" dirty="0">
                          <a:effectLst/>
                        </a:rPr>
                        <a:t>+ </a:t>
                      </a:r>
                      <a:r>
                        <a:rPr lang="en-US" sz="1400" dirty="0">
                          <a:effectLst/>
                        </a:rPr>
                        <a:t>BP-02</a:t>
                      </a:r>
                      <a:r>
                        <a:rPr lang="zh-CN" altLang="en-US" sz="1400" dirty="0">
                          <a:effectLst/>
                        </a:rPr>
                        <a:t>异常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754753"/>
                  </a:ext>
                </a:extLst>
              </a:tr>
              <a:tr h="294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合计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effectLst/>
                        </a:rPr>
                        <a:t>3</a:t>
                      </a:r>
                      <a:r>
                        <a:rPr lang="zh-CN" altLang="en-US" sz="1400" b="1">
                          <a:effectLst/>
                        </a:rPr>
                        <a:t>模块 </a:t>
                      </a:r>
                      <a:r>
                        <a:rPr lang="en-US" altLang="zh-CN" sz="1400" b="1">
                          <a:effectLst/>
                        </a:rPr>
                        <a:t>+ 1</a:t>
                      </a:r>
                      <a:r>
                        <a:rPr lang="zh-CN" altLang="en-US" sz="1400" b="1">
                          <a:effectLst/>
                        </a:rPr>
                        <a:t>流程</a:t>
                      </a:r>
                      <a:endParaRPr lang="zh-CN" altLang="en-US" sz="140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effectLst/>
                        </a:rPr>
                        <a:t>22</a:t>
                      </a:r>
                      <a:endParaRPr lang="zh-CN" altLang="en-US" sz="140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effectLst/>
                        </a:rPr>
                        <a:t>17</a:t>
                      </a:r>
                      <a:endParaRPr lang="zh-CN" altLang="en-US" sz="140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effectLst/>
                        </a:rPr>
                        <a:t>5</a:t>
                      </a:r>
                      <a:endParaRPr lang="zh-CN" altLang="en-US" sz="140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100%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含已修复缺陷用例回归通过</a:t>
                      </a:r>
                    </a:p>
                  </a:txBody>
                  <a:tcPr marL="90653" marR="90653" marT="45326" marB="4532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64044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65548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V="1">
            <a:off x="-1099284" y="1444859"/>
            <a:ext cx="6166850" cy="3968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535886" y="-1743"/>
            <a:ext cx="2656115" cy="22028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 flipV="1">
            <a:off x="3899720" y="2151953"/>
            <a:ext cx="1015660" cy="653564"/>
          </a:xfrm>
          <a:prstGeom prst="triangl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3578217" y="4767072"/>
            <a:ext cx="1156115" cy="958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840859" y="1970902"/>
            <a:ext cx="2180405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PART 04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0859" y="3038719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prstClr val="black"/>
                </a:solidFill>
                <a:latin typeface="Agency FB" panose="020B0503020202020204" pitchFamily="34" charset="0"/>
                <a:ea typeface="微软雅黑" panose="020B0503020204020204" charset="-122"/>
              </a:rPr>
              <a:t>性能测试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859909" y="3731960"/>
            <a:ext cx="6258034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40" name="任意多边形 39"/>
          <p:cNvSpPr/>
          <p:nvPr/>
        </p:nvSpPr>
        <p:spPr>
          <a:xfrm>
            <a:off x="10445469" y="5500915"/>
            <a:ext cx="1746531" cy="1357086"/>
          </a:xfrm>
          <a:custGeom>
            <a:avLst/>
            <a:gdLst>
              <a:gd name="connsiteX0" fmla="*/ 1319464 w 1319464"/>
              <a:gd name="connsiteY0" fmla="*/ 0 h 1025247"/>
              <a:gd name="connsiteX1" fmla="*/ 1319464 w 1319464"/>
              <a:gd name="connsiteY1" fmla="*/ 1025247 h 1025247"/>
              <a:gd name="connsiteX2" fmla="*/ 0 w 1319464"/>
              <a:gd name="connsiteY2" fmla="*/ 1025247 h 102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9727812" y="6378594"/>
            <a:ext cx="578056" cy="4794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97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6" grpId="0"/>
      <p:bldP spid="37" grpId="0"/>
      <p:bldP spid="38" grpId="0"/>
      <p:bldP spid="4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性能测试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4157811" y="2445139"/>
            <a:ext cx="1701138" cy="1644861"/>
            <a:chOff x="1004890" y="2075502"/>
            <a:chExt cx="2264502" cy="2193351"/>
          </a:xfrm>
        </p:grpSpPr>
        <p:sp>
          <p:nvSpPr>
            <p:cNvPr id="105" name="ïṧḷïḓê-矩形: 圆角 2"/>
            <p:cNvSpPr/>
            <p:nvPr/>
          </p:nvSpPr>
          <p:spPr>
            <a:xfrm>
              <a:off x="1004890" y="2075502"/>
              <a:ext cx="2264502" cy="2193351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1495120" y="3330506"/>
              <a:ext cx="1515380" cy="51711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场景设计</a:t>
              </a: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6385049" y="2458782"/>
            <a:ext cx="2289060" cy="1617579"/>
            <a:chOff x="3609572" y="2075502"/>
            <a:chExt cx="2883209" cy="2188766"/>
          </a:xfrm>
        </p:grpSpPr>
        <p:sp>
          <p:nvSpPr>
            <p:cNvPr id="112" name="ïṧḷïḓê-矩形: 圆角 12"/>
            <p:cNvSpPr/>
            <p:nvPr/>
          </p:nvSpPr>
          <p:spPr>
            <a:xfrm>
              <a:off x="3609572" y="2075502"/>
              <a:ext cx="2344863" cy="2188766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4199806" y="3261092"/>
              <a:ext cx="2292975" cy="49029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结果分析</a:t>
              </a:r>
            </a:p>
          </p:txBody>
        </p:sp>
      </p:grpSp>
      <p:sp>
        <p:nvSpPr>
          <p:cNvPr id="121" name="椭圆 38"/>
          <p:cNvSpPr/>
          <p:nvPr/>
        </p:nvSpPr>
        <p:spPr>
          <a:xfrm>
            <a:off x="4595418" y="2884098"/>
            <a:ext cx="290739" cy="262842"/>
          </a:xfrm>
          <a:custGeom>
            <a:avLst/>
            <a:gdLst>
              <a:gd name="connsiteX0" fmla="*/ 303775 w 607639"/>
              <a:gd name="connsiteY0" fmla="*/ 525007 h 606722"/>
              <a:gd name="connsiteX1" fmla="*/ 315710 w 607639"/>
              <a:gd name="connsiteY1" fmla="*/ 536902 h 606722"/>
              <a:gd name="connsiteX2" fmla="*/ 315710 w 607639"/>
              <a:gd name="connsiteY2" fmla="*/ 552347 h 606722"/>
              <a:gd name="connsiteX3" fmla="*/ 303775 w 607639"/>
              <a:gd name="connsiteY3" fmla="*/ 564241 h 606722"/>
              <a:gd name="connsiteX4" fmla="*/ 291929 w 607639"/>
              <a:gd name="connsiteY4" fmla="*/ 552347 h 606722"/>
              <a:gd name="connsiteX5" fmla="*/ 291929 w 607639"/>
              <a:gd name="connsiteY5" fmla="*/ 536902 h 606722"/>
              <a:gd name="connsiteX6" fmla="*/ 303775 w 607639"/>
              <a:gd name="connsiteY6" fmla="*/ 525007 h 606722"/>
              <a:gd name="connsiteX7" fmla="*/ 429885 w 607639"/>
              <a:gd name="connsiteY7" fmla="*/ 509483 h 606722"/>
              <a:gd name="connsiteX8" fmla="*/ 441811 w 607639"/>
              <a:gd name="connsiteY8" fmla="*/ 521409 h 606722"/>
              <a:gd name="connsiteX9" fmla="*/ 429885 w 607639"/>
              <a:gd name="connsiteY9" fmla="*/ 533335 h 606722"/>
              <a:gd name="connsiteX10" fmla="*/ 417959 w 607639"/>
              <a:gd name="connsiteY10" fmla="*/ 521409 h 606722"/>
              <a:gd name="connsiteX11" fmla="*/ 429885 w 607639"/>
              <a:gd name="connsiteY11" fmla="*/ 509483 h 606722"/>
              <a:gd name="connsiteX12" fmla="*/ 177720 w 607639"/>
              <a:gd name="connsiteY12" fmla="*/ 509483 h 606722"/>
              <a:gd name="connsiteX13" fmla="*/ 189611 w 607639"/>
              <a:gd name="connsiteY13" fmla="*/ 521409 h 606722"/>
              <a:gd name="connsiteX14" fmla="*/ 177720 w 607639"/>
              <a:gd name="connsiteY14" fmla="*/ 533335 h 606722"/>
              <a:gd name="connsiteX15" fmla="*/ 165829 w 607639"/>
              <a:gd name="connsiteY15" fmla="*/ 521409 h 606722"/>
              <a:gd name="connsiteX16" fmla="*/ 177720 w 607639"/>
              <a:gd name="connsiteY16" fmla="*/ 509483 h 606722"/>
              <a:gd name="connsiteX17" fmla="*/ 522185 w 607639"/>
              <a:gd name="connsiteY17" fmla="*/ 417324 h 606722"/>
              <a:gd name="connsiteX18" fmla="*/ 534111 w 607639"/>
              <a:gd name="connsiteY18" fmla="*/ 429250 h 606722"/>
              <a:gd name="connsiteX19" fmla="*/ 522185 w 607639"/>
              <a:gd name="connsiteY19" fmla="*/ 441176 h 606722"/>
              <a:gd name="connsiteX20" fmla="*/ 510259 w 607639"/>
              <a:gd name="connsiteY20" fmla="*/ 429250 h 606722"/>
              <a:gd name="connsiteX21" fmla="*/ 522185 w 607639"/>
              <a:gd name="connsiteY21" fmla="*/ 417324 h 606722"/>
              <a:gd name="connsiteX22" fmla="*/ 85420 w 607639"/>
              <a:gd name="connsiteY22" fmla="*/ 417324 h 606722"/>
              <a:gd name="connsiteX23" fmla="*/ 97311 w 607639"/>
              <a:gd name="connsiteY23" fmla="*/ 429250 h 606722"/>
              <a:gd name="connsiteX24" fmla="*/ 85420 w 607639"/>
              <a:gd name="connsiteY24" fmla="*/ 441176 h 606722"/>
              <a:gd name="connsiteX25" fmla="*/ 73529 w 607639"/>
              <a:gd name="connsiteY25" fmla="*/ 429250 h 606722"/>
              <a:gd name="connsiteX26" fmla="*/ 85420 w 607639"/>
              <a:gd name="connsiteY26" fmla="*/ 417324 h 606722"/>
              <a:gd name="connsiteX27" fmla="*/ 537643 w 607639"/>
              <a:gd name="connsiteY27" fmla="*/ 291506 h 606722"/>
              <a:gd name="connsiteX28" fmla="*/ 555628 w 607639"/>
              <a:gd name="connsiteY28" fmla="*/ 291506 h 606722"/>
              <a:gd name="connsiteX29" fmla="*/ 567558 w 607639"/>
              <a:gd name="connsiteY29" fmla="*/ 303316 h 606722"/>
              <a:gd name="connsiteX30" fmla="*/ 555628 w 607639"/>
              <a:gd name="connsiteY30" fmla="*/ 315216 h 606722"/>
              <a:gd name="connsiteX31" fmla="*/ 537643 w 607639"/>
              <a:gd name="connsiteY31" fmla="*/ 315216 h 606722"/>
              <a:gd name="connsiteX32" fmla="*/ 525713 w 607639"/>
              <a:gd name="connsiteY32" fmla="*/ 303316 h 606722"/>
              <a:gd name="connsiteX33" fmla="*/ 537643 w 607639"/>
              <a:gd name="connsiteY33" fmla="*/ 291506 h 606722"/>
              <a:gd name="connsiteX34" fmla="*/ 51991 w 607639"/>
              <a:gd name="connsiteY34" fmla="*/ 291506 h 606722"/>
              <a:gd name="connsiteX35" fmla="*/ 69946 w 607639"/>
              <a:gd name="connsiteY35" fmla="*/ 291506 h 606722"/>
              <a:gd name="connsiteX36" fmla="*/ 81856 w 607639"/>
              <a:gd name="connsiteY36" fmla="*/ 303316 h 606722"/>
              <a:gd name="connsiteX37" fmla="*/ 69946 w 607639"/>
              <a:gd name="connsiteY37" fmla="*/ 315216 h 606722"/>
              <a:gd name="connsiteX38" fmla="*/ 51991 w 607639"/>
              <a:gd name="connsiteY38" fmla="*/ 315216 h 606722"/>
              <a:gd name="connsiteX39" fmla="*/ 40081 w 607639"/>
              <a:gd name="connsiteY39" fmla="*/ 303316 h 606722"/>
              <a:gd name="connsiteX40" fmla="*/ 51991 w 607639"/>
              <a:gd name="connsiteY40" fmla="*/ 291506 h 606722"/>
              <a:gd name="connsiteX41" fmla="*/ 412608 w 607639"/>
              <a:gd name="connsiteY41" fmla="*/ 222096 h 606722"/>
              <a:gd name="connsiteX42" fmla="*/ 345491 w 607639"/>
              <a:gd name="connsiteY42" fmla="*/ 334245 h 606722"/>
              <a:gd name="connsiteX43" fmla="*/ 412608 w 607639"/>
              <a:gd name="connsiteY43" fmla="*/ 334245 h 606722"/>
              <a:gd name="connsiteX44" fmla="*/ 427651 w 607639"/>
              <a:gd name="connsiteY44" fmla="*/ 167533 h 606722"/>
              <a:gd name="connsiteX45" fmla="*/ 436375 w 607639"/>
              <a:gd name="connsiteY45" fmla="*/ 178996 h 606722"/>
              <a:gd name="connsiteX46" fmla="*/ 436375 w 607639"/>
              <a:gd name="connsiteY46" fmla="*/ 334245 h 606722"/>
              <a:gd name="connsiteX47" fmla="*/ 469399 w 607639"/>
              <a:gd name="connsiteY47" fmla="*/ 334245 h 606722"/>
              <a:gd name="connsiteX48" fmla="*/ 481327 w 607639"/>
              <a:gd name="connsiteY48" fmla="*/ 346153 h 606722"/>
              <a:gd name="connsiteX49" fmla="*/ 469399 w 607639"/>
              <a:gd name="connsiteY49" fmla="*/ 357973 h 606722"/>
              <a:gd name="connsiteX50" fmla="*/ 436375 w 607639"/>
              <a:gd name="connsiteY50" fmla="*/ 357973 h 606722"/>
              <a:gd name="connsiteX51" fmla="*/ 436375 w 607639"/>
              <a:gd name="connsiteY51" fmla="*/ 427733 h 606722"/>
              <a:gd name="connsiteX52" fmla="*/ 424536 w 607639"/>
              <a:gd name="connsiteY52" fmla="*/ 439552 h 606722"/>
              <a:gd name="connsiteX53" fmla="*/ 412608 w 607639"/>
              <a:gd name="connsiteY53" fmla="*/ 427733 h 606722"/>
              <a:gd name="connsiteX54" fmla="*/ 412608 w 607639"/>
              <a:gd name="connsiteY54" fmla="*/ 357973 h 606722"/>
              <a:gd name="connsiteX55" fmla="*/ 324573 w 607639"/>
              <a:gd name="connsiteY55" fmla="*/ 357973 h 606722"/>
              <a:gd name="connsiteX56" fmla="*/ 314158 w 607639"/>
              <a:gd name="connsiteY56" fmla="*/ 352019 h 606722"/>
              <a:gd name="connsiteX57" fmla="*/ 314336 w 607639"/>
              <a:gd name="connsiteY57" fmla="*/ 340022 h 606722"/>
              <a:gd name="connsiteX58" fmla="*/ 414299 w 607639"/>
              <a:gd name="connsiteY58" fmla="*/ 172953 h 606722"/>
              <a:gd name="connsiteX59" fmla="*/ 427651 w 607639"/>
              <a:gd name="connsiteY59" fmla="*/ 167533 h 606722"/>
              <a:gd name="connsiteX60" fmla="*/ 216270 w 607639"/>
              <a:gd name="connsiteY60" fmla="*/ 167099 h 606722"/>
              <a:gd name="connsiteX61" fmla="*/ 290518 w 607639"/>
              <a:gd name="connsiteY61" fmla="*/ 241210 h 606722"/>
              <a:gd name="connsiteX62" fmla="*/ 242978 w 607639"/>
              <a:gd name="connsiteY62" fmla="*/ 355754 h 606722"/>
              <a:gd name="connsiteX63" fmla="*/ 182707 w 607639"/>
              <a:gd name="connsiteY63" fmla="*/ 415825 h 606722"/>
              <a:gd name="connsiteX64" fmla="*/ 278588 w 607639"/>
              <a:gd name="connsiteY64" fmla="*/ 415825 h 606722"/>
              <a:gd name="connsiteX65" fmla="*/ 290518 w 607639"/>
              <a:gd name="connsiteY65" fmla="*/ 427734 h 606722"/>
              <a:gd name="connsiteX66" fmla="*/ 278588 w 607639"/>
              <a:gd name="connsiteY66" fmla="*/ 439552 h 606722"/>
              <a:gd name="connsiteX67" fmla="*/ 154040 w 607639"/>
              <a:gd name="connsiteY67" fmla="*/ 439552 h 606722"/>
              <a:gd name="connsiteX68" fmla="*/ 143001 w 607639"/>
              <a:gd name="connsiteY68" fmla="*/ 432265 h 606722"/>
              <a:gd name="connsiteX69" fmla="*/ 145582 w 607639"/>
              <a:gd name="connsiteY69" fmla="*/ 419292 h 606722"/>
              <a:gd name="connsiteX70" fmla="*/ 226152 w 607639"/>
              <a:gd name="connsiteY70" fmla="*/ 338959 h 606722"/>
              <a:gd name="connsiteX71" fmla="*/ 266659 w 607639"/>
              <a:gd name="connsiteY71" fmla="*/ 241210 h 606722"/>
              <a:gd name="connsiteX72" fmla="*/ 216270 w 607639"/>
              <a:gd name="connsiteY72" fmla="*/ 190914 h 606722"/>
              <a:gd name="connsiteX73" fmla="*/ 165880 w 607639"/>
              <a:gd name="connsiteY73" fmla="*/ 241210 h 606722"/>
              <a:gd name="connsiteX74" fmla="*/ 154040 w 607639"/>
              <a:gd name="connsiteY74" fmla="*/ 253029 h 606722"/>
              <a:gd name="connsiteX75" fmla="*/ 142110 w 607639"/>
              <a:gd name="connsiteY75" fmla="*/ 241210 h 606722"/>
              <a:gd name="connsiteX76" fmla="*/ 216270 w 607639"/>
              <a:gd name="connsiteY76" fmla="*/ 167099 h 606722"/>
              <a:gd name="connsiteX77" fmla="*/ 522185 w 607639"/>
              <a:gd name="connsiteY77" fmla="*/ 165547 h 606722"/>
              <a:gd name="connsiteX78" fmla="*/ 534111 w 607639"/>
              <a:gd name="connsiteY78" fmla="*/ 177438 h 606722"/>
              <a:gd name="connsiteX79" fmla="*/ 522185 w 607639"/>
              <a:gd name="connsiteY79" fmla="*/ 189329 h 606722"/>
              <a:gd name="connsiteX80" fmla="*/ 510259 w 607639"/>
              <a:gd name="connsiteY80" fmla="*/ 177438 h 606722"/>
              <a:gd name="connsiteX81" fmla="*/ 522185 w 607639"/>
              <a:gd name="connsiteY81" fmla="*/ 165547 h 606722"/>
              <a:gd name="connsiteX82" fmla="*/ 85420 w 607639"/>
              <a:gd name="connsiteY82" fmla="*/ 165547 h 606722"/>
              <a:gd name="connsiteX83" fmla="*/ 97311 w 607639"/>
              <a:gd name="connsiteY83" fmla="*/ 177438 h 606722"/>
              <a:gd name="connsiteX84" fmla="*/ 85420 w 607639"/>
              <a:gd name="connsiteY84" fmla="*/ 189329 h 606722"/>
              <a:gd name="connsiteX85" fmla="*/ 73529 w 607639"/>
              <a:gd name="connsiteY85" fmla="*/ 177438 h 606722"/>
              <a:gd name="connsiteX86" fmla="*/ 85420 w 607639"/>
              <a:gd name="connsiteY86" fmla="*/ 165547 h 606722"/>
              <a:gd name="connsiteX87" fmla="*/ 429885 w 607639"/>
              <a:gd name="connsiteY87" fmla="*/ 73388 h 606722"/>
              <a:gd name="connsiteX88" fmla="*/ 441811 w 607639"/>
              <a:gd name="connsiteY88" fmla="*/ 85279 h 606722"/>
              <a:gd name="connsiteX89" fmla="*/ 429885 w 607639"/>
              <a:gd name="connsiteY89" fmla="*/ 97170 h 606722"/>
              <a:gd name="connsiteX90" fmla="*/ 417959 w 607639"/>
              <a:gd name="connsiteY90" fmla="*/ 85279 h 606722"/>
              <a:gd name="connsiteX91" fmla="*/ 429885 w 607639"/>
              <a:gd name="connsiteY91" fmla="*/ 73388 h 606722"/>
              <a:gd name="connsiteX92" fmla="*/ 177720 w 607639"/>
              <a:gd name="connsiteY92" fmla="*/ 73388 h 606722"/>
              <a:gd name="connsiteX93" fmla="*/ 189611 w 607639"/>
              <a:gd name="connsiteY93" fmla="*/ 85279 h 606722"/>
              <a:gd name="connsiteX94" fmla="*/ 177720 w 607639"/>
              <a:gd name="connsiteY94" fmla="*/ 97170 h 606722"/>
              <a:gd name="connsiteX95" fmla="*/ 165829 w 607639"/>
              <a:gd name="connsiteY95" fmla="*/ 85279 h 606722"/>
              <a:gd name="connsiteX96" fmla="*/ 177720 w 607639"/>
              <a:gd name="connsiteY96" fmla="*/ 73388 h 606722"/>
              <a:gd name="connsiteX97" fmla="*/ 303775 w 607639"/>
              <a:gd name="connsiteY97" fmla="*/ 42480 h 606722"/>
              <a:gd name="connsiteX98" fmla="*/ 315710 w 607639"/>
              <a:gd name="connsiteY98" fmla="*/ 54396 h 606722"/>
              <a:gd name="connsiteX99" fmla="*/ 315710 w 607639"/>
              <a:gd name="connsiteY99" fmla="*/ 69869 h 606722"/>
              <a:gd name="connsiteX100" fmla="*/ 303775 w 607639"/>
              <a:gd name="connsiteY100" fmla="*/ 81785 h 606722"/>
              <a:gd name="connsiteX101" fmla="*/ 291929 w 607639"/>
              <a:gd name="connsiteY101" fmla="*/ 69869 h 606722"/>
              <a:gd name="connsiteX102" fmla="*/ 291929 w 607639"/>
              <a:gd name="connsiteY102" fmla="*/ 54396 h 606722"/>
              <a:gd name="connsiteX103" fmla="*/ 303775 w 607639"/>
              <a:gd name="connsiteY103" fmla="*/ 42480 h 606722"/>
              <a:gd name="connsiteX104" fmla="*/ 303775 w 607639"/>
              <a:gd name="connsiteY104" fmla="*/ 0 h 606722"/>
              <a:gd name="connsiteX105" fmla="*/ 537058 w 607639"/>
              <a:gd name="connsiteY105" fmla="*/ 108956 h 606722"/>
              <a:gd name="connsiteX106" fmla="*/ 537058 w 607639"/>
              <a:gd name="connsiteY106" fmla="*/ 93048 h 606722"/>
              <a:gd name="connsiteX107" fmla="*/ 548895 w 607639"/>
              <a:gd name="connsiteY107" fmla="*/ 81139 h 606722"/>
              <a:gd name="connsiteX108" fmla="*/ 560822 w 607639"/>
              <a:gd name="connsiteY108" fmla="*/ 93048 h 606722"/>
              <a:gd name="connsiteX109" fmla="*/ 560822 w 607639"/>
              <a:gd name="connsiteY109" fmla="*/ 138994 h 606722"/>
              <a:gd name="connsiteX110" fmla="*/ 548895 w 607639"/>
              <a:gd name="connsiteY110" fmla="*/ 150903 h 606722"/>
              <a:gd name="connsiteX111" fmla="*/ 502880 w 607639"/>
              <a:gd name="connsiteY111" fmla="*/ 150903 h 606722"/>
              <a:gd name="connsiteX112" fmla="*/ 490953 w 607639"/>
              <a:gd name="connsiteY112" fmla="*/ 138994 h 606722"/>
              <a:gd name="connsiteX113" fmla="*/ 502880 w 607639"/>
              <a:gd name="connsiteY113" fmla="*/ 127174 h 606722"/>
              <a:gd name="connsiteX114" fmla="*/ 521126 w 607639"/>
              <a:gd name="connsiteY114" fmla="*/ 127174 h 606722"/>
              <a:gd name="connsiteX115" fmla="*/ 303775 w 607639"/>
              <a:gd name="connsiteY115" fmla="*/ 23728 h 606722"/>
              <a:gd name="connsiteX116" fmla="*/ 23764 w 607639"/>
              <a:gd name="connsiteY116" fmla="*/ 303316 h 606722"/>
              <a:gd name="connsiteX117" fmla="*/ 303775 w 607639"/>
              <a:gd name="connsiteY117" fmla="*/ 582905 h 606722"/>
              <a:gd name="connsiteX118" fmla="*/ 583786 w 607639"/>
              <a:gd name="connsiteY118" fmla="*/ 303316 h 606722"/>
              <a:gd name="connsiteX119" fmla="*/ 573906 w 607639"/>
              <a:gd name="connsiteY119" fmla="*/ 229376 h 606722"/>
              <a:gd name="connsiteX120" fmla="*/ 582273 w 607639"/>
              <a:gd name="connsiteY120" fmla="*/ 214801 h 606722"/>
              <a:gd name="connsiteX121" fmla="*/ 596869 w 607639"/>
              <a:gd name="connsiteY121" fmla="*/ 223066 h 606722"/>
              <a:gd name="connsiteX122" fmla="*/ 607639 w 607639"/>
              <a:gd name="connsiteY122" fmla="*/ 303316 h 606722"/>
              <a:gd name="connsiteX123" fmla="*/ 303775 w 607639"/>
              <a:gd name="connsiteY123" fmla="*/ 606722 h 606722"/>
              <a:gd name="connsiteX124" fmla="*/ 0 w 607639"/>
              <a:gd name="connsiteY124" fmla="*/ 303316 h 606722"/>
              <a:gd name="connsiteX125" fmla="*/ 303775 w 607639"/>
              <a:gd name="connsiteY125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607639" h="606722">
                <a:moveTo>
                  <a:pt x="303775" y="525007"/>
                </a:moveTo>
                <a:cubicBezTo>
                  <a:pt x="310366" y="525007"/>
                  <a:pt x="315710" y="530333"/>
                  <a:pt x="315710" y="536902"/>
                </a:cubicBezTo>
                <a:lnTo>
                  <a:pt x="315710" y="552347"/>
                </a:lnTo>
                <a:cubicBezTo>
                  <a:pt x="315710" y="558915"/>
                  <a:pt x="310366" y="564241"/>
                  <a:pt x="303775" y="564241"/>
                </a:cubicBezTo>
                <a:cubicBezTo>
                  <a:pt x="297184" y="564241"/>
                  <a:pt x="291929" y="558915"/>
                  <a:pt x="291929" y="552347"/>
                </a:cubicBezTo>
                <a:lnTo>
                  <a:pt x="291929" y="536902"/>
                </a:lnTo>
                <a:cubicBezTo>
                  <a:pt x="291929" y="530333"/>
                  <a:pt x="297184" y="525007"/>
                  <a:pt x="303775" y="525007"/>
                </a:cubicBezTo>
                <a:close/>
                <a:moveTo>
                  <a:pt x="429885" y="509483"/>
                </a:moveTo>
                <a:cubicBezTo>
                  <a:pt x="436472" y="509483"/>
                  <a:pt x="441811" y="514822"/>
                  <a:pt x="441811" y="521409"/>
                </a:cubicBezTo>
                <a:cubicBezTo>
                  <a:pt x="441811" y="527996"/>
                  <a:pt x="436472" y="533335"/>
                  <a:pt x="429885" y="533335"/>
                </a:cubicBezTo>
                <a:cubicBezTo>
                  <a:pt x="423298" y="533335"/>
                  <a:pt x="417959" y="527996"/>
                  <a:pt x="417959" y="521409"/>
                </a:cubicBezTo>
                <a:cubicBezTo>
                  <a:pt x="417959" y="514822"/>
                  <a:pt x="423298" y="509483"/>
                  <a:pt x="429885" y="509483"/>
                </a:cubicBezTo>
                <a:close/>
                <a:moveTo>
                  <a:pt x="177720" y="509483"/>
                </a:moveTo>
                <a:cubicBezTo>
                  <a:pt x="184287" y="509483"/>
                  <a:pt x="189611" y="514822"/>
                  <a:pt x="189611" y="521409"/>
                </a:cubicBezTo>
                <a:cubicBezTo>
                  <a:pt x="189611" y="527996"/>
                  <a:pt x="184287" y="533335"/>
                  <a:pt x="177720" y="533335"/>
                </a:cubicBezTo>
                <a:cubicBezTo>
                  <a:pt x="171153" y="533335"/>
                  <a:pt x="165829" y="527996"/>
                  <a:pt x="165829" y="521409"/>
                </a:cubicBezTo>
                <a:cubicBezTo>
                  <a:pt x="165829" y="514822"/>
                  <a:pt x="171153" y="509483"/>
                  <a:pt x="177720" y="509483"/>
                </a:cubicBezTo>
                <a:close/>
                <a:moveTo>
                  <a:pt x="522185" y="417324"/>
                </a:moveTo>
                <a:cubicBezTo>
                  <a:pt x="528772" y="417324"/>
                  <a:pt x="534111" y="422663"/>
                  <a:pt x="534111" y="429250"/>
                </a:cubicBezTo>
                <a:cubicBezTo>
                  <a:pt x="534111" y="435837"/>
                  <a:pt x="528772" y="441176"/>
                  <a:pt x="522185" y="441176"/>
                </a:cubicBezTo>
                <a:cubicBezTo>
                  <a:pt x="515598" y="441176"/>
                  <a:pt x="510259" y="435837"/>
                  <a:pt x="510259" y="429250"/>
                </a:cubicBezTo>
                <a:cubicBezTo>
                  <a:pt x="510259" y="422663"/>
                  <a:pt x="515598" y="417324"/>
                  <a:pt x="522185" y="417324"/>
                </a:cubicBezTo>
                <a:close/>
                <a:moveTo>
                  <a:pt x="85420" y="417324"/>
                </a:moveTo>
                <a:cubicBezTo>
                  <a:pt x="91987" y="417324"/>
                  <a:pt x="97311" y="422663"/>
                  <a:pt x="97311" y="429250"/>
                </a:cubicBezTo>
                <a:cubicBezTo>
                  <a:pt x="97311" y="435837"/>
                  <a:pt x="91987" y="441176"/>
                  <a:pt x="85420" y="441176"/>
                </a:cubicBezTo>
                <a:cubicBezTo>
                  <a:pt x="78853" y="441176"/>
                  <a:pt x="73529" y="435837"/>
                  <a:pt x="73529" y="429250"/>
                </a:cubicBezTo>
                <a:cubicBezTo>
                  <a:pt x="73529" y="422663"/>
                  <a:pt x="78853" y="417324"/>
                  <a:pt x="85420" y="417324"/>
                </a:cubicBezTo>
                <a:close/>
                <a:moveTo>
                  <a:pt x="537643" y="291506"/>
                </a:moveTo>
                <a:lnTo>
                  <a:pt x="555628" y="291506"/>
                </a:lnTo>
                <a:cubicBezTo>
                  <a:pt x="562216" y="291506"/>
                  <a:pt x="567558" y="296745"/>
                  <a:pt x="567558" y="303316"/>
                </a:cubicBezTo>
                <a:cubicBezTo>
                  <a:pt x="567558" y="309888"/>
                  <a:pt x="562216" y="315216"/>
                  <a:pt x="555628" y="315216"/>
                </a:cubicBezTo>
                <a:lnTo>
                  <a:pt x="537643" y="315216"/>
                </a:lnTo>
                <a:cubicBezTo>
                  <a:pt x="531055" y="315216"/>
                  <a:pt x="525713" y="309888"/>
                  <a:pt x="525713" y="303316"/>
                </a:cubicBezTo>
                <a:cubicBezTo>
                  <a:pt x="525713" y="296745"/>
                  <a:pt x="531055" y="291506"/>
                  <a:pt x="537643" y="291506"/>
                </a:cubicBezTo>
                <a:close/>
                <a:moveTo>
                  <a:pt x="51991" y="291506"/>
                </a:moveTo>
                <a:lnTo>
                  <a:pt x="69946" y="291506"/>
                </a:lnTo>
                <a:cubicBezTo>
                  <a:pt x="76523" y="291506"/>
                  <a:pt x="81856" y="296745"/>
                  <a:pt x="81856" y="303316"/>
                </a:cubicBezTo>
                <a:cubicBezTo>
                  <a:pt x="81856" y="309888"/>
                  <a:pt x="76523" y="315216"/>
                  <a:pt x="69946" y="315216"/>
                </a:cubicBezTo>
                <a:lnTo>
                  <a:pt x="51991" y="315216"/>
                </a:lnTo>
                <a:cubicBezTo>
                  <a:pt x="45414" y="315216"/>
                  <a:pt x="40081" y="309888"/>
                  <a:pt x="40081" y="303316"/>
                </a:cubicBezTo>
                <a:cubicBezTo>
                  <a:pt x="40081" y="296745"/>
                  <a:pt x="45414" y="291506"/>
                  <a:pt x="51991" y="291506"/>
                </a:cubicBezTo>
                <a:close/>
                <a:moveTo>
                  <a:pt x="412608" y="222096"/>
                </a:moveTo>
                <a:lnTo>
                  <a:pt x="345491" y="334245"/>
                </a:lnTo>
                <a:lnTo>
                  <a:pt x="412608" y="334245"/>
                </a:lnTo>
                <a:close/>
                <a:moveTo>
                  <a:pt x="427651" y="167533"/>
                </a:moveTo>
                <a:cubicBezTo>
                  <a:pt x="432814" y="168954"/>
                  <a:pt x="436375" y="173664"/>
                  <a:pt x="436375" y="178996"/>
                </a:cubicBezTo>
                <a:lnTo>
                  <a:pt x="436375" y="334245"/>
                </a:lnTo>
                <a:lnTo>
                  <a:pt x="469399" y="334245"/>
                </a:lnTo>
                <a:cubicBezTo>
                  <a:pt x="475986" y="334245"/>
                  <a:pt x="481327" y="339577"/>
                  <a:pt x="481327" y="346153"/>
                </a:cubicBezTo>
                <a:cubicBezTo>
                  <a:pt x="481327" y="352641"/>
                  <a:pt x="475986" y="357973"/>
                  <a:pt x="469399" y="357973"/>
                </a:cubicBezTo>
                <a:lnTo>
                  <a:pt x="436375" y="357973"/>
                </a:lnTo>
                <a:lnTo>
                  <a:pt x="436375" y="427733"/>
                </a:lnTo>
                <a:cubicBezTo>
                  <a:pt x="436375" y="434220"/>
                  <a:pt x="431123" y="439552"/>
                  <a:pt x="424536" y="439552"/>
                </a:cubicBezTo>
                <a:cubicBezTo>
                  <a:pt x="417949" y="439552"/>
                  <a:pt x="412608" y="434220"/>
                  <a:pt x="412608" y="427733"/>
                </a:cubicBezTo>
                <a:lnTo>
                  <a:pt x="412608" y="357973"/>
                </a:lnTo>
                <a:lnTo>
                  <a:pt x="324573" y="357973"/>
                </a:lnTo>
                <a:cubicBezTo>
                  <a:pt x="320300" y="357973"/>
                  <a:pt x="316295" y="355662"/>
                  <a:pt x="314158" y="352019"/>
                </a:cubicBezTo>
                <a:cubicBezTo>
                  <a:pt x="312111" y="348286"/>
                  <a:pt x="312111" y="343665"/>
                  <a:pt x="314336" y="340022"/>
                </a:cubicBezTo>
                <a:lnTo>
                  <a:pt x="414299" y="172953"/>
                </a:lnTo>
                <a:cubicBezTo>
                  <a:pt x="417059" y="168332"/>
                  <a:pt x="422489" y="166111"/>
                  <a:pt x="427651" y="167533"/>
                </a:cubicBezTo>
                <a:close/>
                <a:moveTo>
                  <a:pt x="216270" y="167099"/>
                </a:moveTo>
                <a:cubicBezTo>
                  <a:pt x="257222" y="167099"/>
                  <a:pt x="290518" y="200333"/>
                  <a:pt x="290518" y="241210"/>
                </a:cubicBezTo>
                <a:cubicBezTo>
                  <a:pt x="290518" y="284486"/>
                  <a:pt x="273603" y="325097"/>
                  <a:pt x="242978" y="355754"/>
                </a:cubicBezTo>
                <a:lnTo>
                  <a:pt x="182707" y="415825"/>
                </a:lnTo>
                <a:lnTo>
                  <a:pt x="278588" y="415825"/>
                </a:lnTo>
                <a:cubicBezTo>
                  <a:pt x="285176" y="415825"/>
                  <a:pt x="290518" y="421158"/>
                  <a:pt x="290518" y="427734"/>
                </a:cubicBezTo>
                <a:cubicBezTo>
                  <a:pt x="290518" y="434220"/>
                  <a:pt x="285176" y="439552"/>
                  <a:pt x="278588" y="439552"/>
                </a:cubicBezTo>
                <a:lnTo>
                  <a:pt x="154040" y="439552"/>
                </a:lnTo>
                <a:cubicBezTo>
                  <a:pt x="149232" y="439552"/>
                  <a:pt x="144870" y="436709"/>
                  <a:pt x="143001" y="432265"/>
                </a:cubicBezTo>
                <a:cubicBezTo>
                  <a:pt x="141131" y="427822"/>
                  <a:pt x="142199" y="422668"/>
                  <a:pt x="145582" y="419292"/>
                </a:cubicBezTo>
                <a:lnTo>
                  <a:pt x="226152" y="338959"/>
                </a:lnTo>
                <a:cubicBezTo>
                  <a:pt x="252236" y="312834"/>
                  <a:pt x="266659" y="278088"/>
                  <a:pt x="266659" y="241210"/>
                </a:cubicBezTo>
                <a:cubicBezTo>
                  <a:pt x="266659" y="213485"/>
                  <a:pt x="244046" y="190914"/>
                  <a:pt x="216270" y="190914"/>
                </a:cubicBezTo>
                <a:cubicBezTo>
                  <a:pt x="188493" y="190914"/>
                  <a:pt x="165880" y="213485"/>
                  <a:pt x="165880" y="241210"/>
                </a:cubicBezTo>
                <a:cubicBezTo>
                  <a:pt x="165880" y="247786"/>
                  <a:pt x="160539" y="253029"/>
                  <a:pt x="154040" y="253029"/>
                </a:cubicBezTo>
                <a:cubicBezTo>
                  <a:pt x="147452" y="253029"/>
                  <a:pt x="142110" y="247786"/>
                  <a:pt x="142110" y="241210"/>
                </a:cubicBezTo>
                <a:cubicBezTo>
                  <a:pt x="142110" y="200333"/>
                  <a:pt x="175406" y="167099"/>
                  <a:pt x="216270" y="167099"/>
                </a:cubicBezTo>
                <a:close/>
                <a:moveTo>
                  <a:pt x="522185" y="165547"/>
                </a:moveTo>
                <a:cubicBezTo>
                  <a:pt x="528772" y="165547"/>
                  <a:pt x="534111" y="170871"/>
                  <a:pt x="534111" y="177438"/>
                </a:cubicBezTo>
                <a:cubicBezTo>
                  <a:pt x="534111" y="184005"/>
                  <a:pt x="528772" y="189329"/>
                  <a:pt x="522185" y="189329"/>
                </a:cubicBezTo>
                <a:cubicBezTo>
                  <a:pt x="515598" y="189329"/>
                  <a:pt x="510259" y="184005"/>
                  <a:pt x="510259" y="177438"/>
                </a:cubicBezTo>
                <a:cubicBezTo>
                  <a:pt x="510259" y="170871"/>
                  <a:pt x="515598" y="165547"/>
                  <a:pt x="522185" y="165547"/>
                </a:cubicBezTo>
                <a:close/>
                <a:moveTo>
                  <a:pt x="85420" y="165547"/>
                </a:moveTo>
                <a:cubicBezTo>
                  <a:pt x="91987" y="165547"/>
                  <a:pt x="97311" y="170871"/>
                  <a:pt x="97311" y="177438"/>
                </a:cubicBezTo>
                <a:cubicBezTo>
                  <a:pt x="97311" y="184005"/>
                  <a:pt x="91987" y="189329"/>
                  <a:pt x="85420" y="189329"/>
                </a:cubicBezTo>
                <a:cubicBezTo>
                  <a:pt x="78853" y="189329"/>
                  <a:pt x="73529" y="184005"/>
                  <a:pt x="73529" y="177438"/>
                </a:cubicBezTo>
                <a:cubicBezTo>
                  <a:pt x="73529" y="170871"/>
                  <a:pt x="78853" y="165547"/>
                  <a:pt x="85420" y="165547"/>
                </a:cubicBezTo>
                <a:close/>
                <a:moveTo>
                  <a:pt x="429885" y="73388"/>
                </a:moveTo>
                <a:cubicBezTo>
                  <a:pt x="436472" y="73388"/>
                  <a:pt x="441811" y="78712"/>
                  <a:pt x="441811" y="85279"/>
                </a:cubicBezTo>
                <a:cubicBezTo>
                  <a:pt x="441811" y="91846"/>
                  <a:pt x="436472" y="97170"/>
                  <a:pt x="429885" y="97170"/>
                </a:cubicBezTo>
                <a:cubicBezTo>
                  <a:pt x="423298" y="97170"/>
                  <a:pt x="417959" y="91846"/>
                  <a:pt x="417959" y="85279"/>
                </a:cubicBezTo>
                <a:cubicBezTo>
                  <a:pt x="417959" y="78712"/>
                  <a:pt x="423298" y="73388"/>
                  <a:pt x="429885" y="73388"/>
                </a:cubicBezTo>
                <a:close/>
                <a:moveTo>
                  <a:pt x="177720" y="73388"/>
                </a:moveTo>
                <a:cubicBezTo>
                  <a:pt x="184287" y="73388"/>
                  <a:pt x="189611" y="78712"/>
                  <a:pt x="189611" y="85279"/>
                </a:cubicBezTo>
                <a:cubicBezTo>
                  <a:pt x="189611" y="91846"/>
                  <a:pt x="184287" y="97170"/>
                  <a:pt x="177720" y="97170"/>
                </a:cubicBezTo>
                <a:cubicBezTo>
                  <a:pt x="171153" y="97170"/>
                  <a:pt x="165829" y="91846"/>
                  <a:pt x="165829" y="85279"/>
                </a:cubicBezTo>
                <a:cubicBezTo>
                  <a:pt x="165829" y="78712"/>
                  <a:pt x="171153" y="73388"/>
                  <a:pt x="177720" y="73388"/>
                </a:cubicBezTo>
                <a:close/>
                <a:moveTo>
                  <a:pt x="303775" y="42480"/>
                </a:moveTo>
                <a:cubicBezTo>
                  <a:pt x="310366" y="42480"/>
                  <a:pt x="315710" y="47815"/>
                  <a:pt x="315710" y="54396"/>
                </a:cubicBezTo>
                <a:lnTo>
                  <a:pt x="315710" y="69869"/>
                </a:lnTo>
                <a:cubicBezTo>
                  <a:pt x="315710" y="76449"/>
                  <a:pt x="310366" y="81785"/>
                  <a:pt x="303775" y="81785"/>
                </a:cubicBezTo>
                <a:cubicBezTo>
                  <a:pt x="297184" y="81785"/>
                  <a:pt x="291929" y="76449"/>
                  <a:pt x="291929" y="69869"/>
                </a:cubicBezTo>
                <a:lnTo>
                  <a:pt x="291929" y="54396"/>
                </a:lnTo>
                <a:cubicBezTo>
                  <a:pt x="291929" y="47815"/>
                  <a:pt x="297184" y="42480"/>
                  <a:pt x="303775" y="42480"/>
                </a:cubicBezTo>
                <a:close/>
                <a:moveTo>
                  <a:pt x="303775" y="0"/>
                </a:moveTo>
                <a:cubicBezTo>
                  <a:pt x="394204" y="0"/>
                  <a:pt x="479560" y="40347"/>
                  <a:pt x="537058" y="108956"/>
                </a:cubicBezTo>
                <a:lnTo>
                  <a:pt x="537058" y="93048"/>
                </a:lnTo>
                <a:cubicBezTo>
                  <a:pt x="537058" y="86471"/>
                  <a:pt x="542309" y="81139"/>
                  <a:pt x="548895" y="81139"/>
                </a:cubicBezTo>
                <a:cubicBezTo>
                  <a:pt x="555482" y="81139"/>
                  <a:pt x="560822" y="86471"/>
                  <a:pt x="560822" y="93048"/>
                </a:cubicBezTo>
                <a:lnTo>
                  <a:pt x="560822" y="138994"/>
                </a:lnTo>
                <a:cubicBezTo>
                  <a:pt x="560822" y="145570"/>
                  <a:pt x="555482" y="150903"/>
                  <a:pt x="548895" y="150903"/>
                </a:cubicBezTo>
                <a:lnTo>
                  <a:pt x="502880" y="150903"/>
                </a:lnTo>
                <a:cubicBezTo>
                  <a:pt x="496293" y="150903"/>
                  <a:pt x="490953" y="145570"/>
                  <a:pt x="490953" y="138994"/>
                </a:cubicBezTo>
                <a:cubicBezTo>
                  <a:pt x="490953" y="132417"/>
                  <a:pt x="496293" y="127174"/>
                  <a:pt x="502880" y="127174"/>
                </a:cubicBezTo>
                <a:lnTo>
                  <a:pt x="521126" y="127174"/>
                </a:lnTo>
                <a:cubicBezTo>
                  <a:pt x="468168" y="62032"/>
                  <a:pt x="388419" y="23728"/>
                  <a:pt x="303775" y="23728"/>
                </a:cubicBezTo>
                <a:cubicBezTo>
                  <a:pt x="149440" y="23728"/>
                  <a:pt x="23764" y="149214"/>
                  <a:pt x="23764" y="303316"/>
                </a:cubicBezTo>
                <a:cubicBezTo>
                  <a:pt x="23764" y="457508"/>
                  <a:pt x="149440" y="582905"/>
                  <a:pt x="303775" y="582905"/>
                </a:cubicBezTo>
                <a:cubicBezTo>
                  <a:pt x="458199" y="582905"/>
                  <a:pt x="583786" y="457508"/>
                  <a:pt x="583786" y="303316"/>
                </a:cubicBezTo>
                <a:cubicBezTo>
                  <a:pt x="583786" y="278255"/>
                  <a:pt x="580492" y="253371"/>
                  <a:pt x="573906" y="229376"/>
                </a:cubicBezTo>
                <a:cubicBezTo>
                  <a:pt x="572126" y="223066"/>
                  <a:pt x="575864" y="216489"/>
                  <a:pt x="582273" y="214801"/>
                </a:cubicBezTo>
                <a:cubicBezTo>
                  <a:pt x="588592" y="213023"/>
                  <a:pt x="595089" y="216756"/>
                  <a:pt x="596869" y="223066"/>
                </a:cubicBezTo>
                <a:cubicBezTo>
                  <a:pt x="603990" y="249194"/>
                  <a:pt x="607639" y="276122"/>
                  <a:pt x="607639" y="303316"/>
                </a:cubicBezTo>
                <a:cubicBezTo>
                  <a:pt x="607639" y="470572"/>
                  <a:pt x="471283" y="606722"/>
                  <a:pt x="303775" y="606722"/>
                </a:cubicBezTo>
                <a:cubicBezTo>
                  <a:pt x="136267" y="606722"/>
                  <a:pt x="0" y="470572"/>
                  <a:pt x="0" y="303316"/>
                </a:cubicBezTo>
                <a:cubicBezTo>
                  <a:pt x="0" y="136061"/>
                  <a:pt x="136267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8671359" y="2496256"/>
            <a:ext cx="2361889" cy="1542629"/>
            <a:chOff x="6214253" y="2075503"/>
            <a:chExt cx="2759844" cy="1990854"/>
          </a:xfrm>
        </p:grpSpPr>
        <p:sp>
          <p:nvSpPr>
            <p:cNvPr id="32" name="ïṧḷïḓê-矩形: 圆角 13"/>
            <p:cNvSpPr/>
            <p:nvPr/>
          </p:nvSpPr>
          <p:spPr>
            <a:xfrm>
              <a:off x="6214253" y="2075503"/>
              <a:ext cx="2086257" cy="1990854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椭圆 32"/>
            <p:cNvSpPr/>
            <p:nvPr/>
          </p:nvSpPr>
          <p:spPr>
            <a:xfrm>
              <a:off x="6834104" y="2316803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8"/>
            <p:cNvSpPr/>
            <p:nvPr/>
          </p:nvSpPr>
          <p:spPr>
            <a:xfrm>
              <a:off x="7045241" y="2528196"/>
              <a:ext cx="339726" cy="339213"/>
            </a:xfrm>
            <a:custGeom>
              <a:avLst/>
              <a:gdLst>
                <a:gd name="connsiteX0" fmla="*/ 303775 w 607639"/>
                <a:gd name="connsiteY0" fmla="*/ 525007 h 606722"/>
                <a:gd name="connsiteX1" fmla="*/ 315710 w 607639"/>
                <a:gd name="connsiteY1" fmla="*/ 536902 h 606722"/>
                <a:gd name="connsiteX2" fmla="*/ 315710 w 607639"/>
                <a:gd name="connsiteY2" fmla="*/ 552347 h 606722"/>
                <a:gd name="connsiteX3" fmla="*/ 303775 w 607639"/>
                <a:gd name="connsiteY3" fmla="*/ 564241 h 606722"/>
                <a:gd name="connsiteX4" fmla="*/ 291929 w 607639"/>
                <a:gd name="connsiteY4" fmla="*/ 552347 h 606722"/>
                <a:gd name="connsiteX5" fmla="*/ 291929 w 607639"/>
                <a:gd name="connsiteY5" fmla="*/ 536902 h 606722"/>
                <a:gd name="connsiteX6" fmla="*/ 303775 w 607639"/>
                <a:gd name="connsiteY6" fmla="*/ 525007 h 606722"/>
                <a:gd name="connsiteX7" fmla="*/ 429885 w 607639"/>
                <a:gd name="connsiteY7" fmla="*/ 509483 h 606722"/>
                <a:gd name="connsiteX8" fmla="*/ 441811 w 607639"/>
                <a:gd name="connsiteY8" fmla="*/ 521409 h 606722"/>
                <a:gd name="connsiteX9" fmla="*/ 429885 w 607639"/>
                <a:gd name="connsiteY9" fmla="*/ 533335 h 606722"/>
                <a:gd name="connsiteX10" fmla="*/ 417959 w 607639"/>
                <a:gd name="connsiteY10" fmla="*/ 521409 h 606722"/>
                <a:gd name="connsiteX11" fmla="*/ 429885 w 607639"/>
                <a:gd name="connsiteY11" fmla="*/ 509483 h 606722"/>
                <a:gd name="connsiteX12" fmla="*/ 177720 w 607639"/>
                <a:gd name="connsiteY12" fmla="*/ 509483 h 606722"/>
                <a:gd name="connsiteX13" fmla="*/ 189611 w 607639"/>
                <a:gd name="connsiteY13" fmla="*/ 521409 h 606722"/>
                <a:gd name="connsiteX14" fmla="*/ 177720 w 607639"/>
                <a:gd name="connsiteY14" fmla="*/ 533335 h 606722"/>
                <a:gd name="connsiteX15" fmla="*/ 165829 w 607639"/>
                <a:gd name="connsiteY15" fmla="*/ 521409 h 606722"/>
                <a:gd name="connsiteX16" fmla="*/ 177720 w 607639"/>
                <a:gd name="connsiteY16" fmla="*/ 509483 h 606722"/>
                <a:gd name="connsiteX17" fmla="*/ 522185 w 607639"/>
                <a:gd name="connsiteY17" fmla="*/ 417324 h 606722"/>
                <a:gd name="connsiteX18" fmla="*/ 534111 w 607639"/>
                <a:gd name="connsiteY18" fmla="*/ 429250 h 606722"/>
                <a:gd name="connsiteX19" fmla="*/ 522185 w 607639"/>
                <a:gd name="connsiteY19" fmla="*/ 441176 h 606722"/>
                <a:gd name="connsiteX20" fmla="*/ 510259 w 607639"/>
                <a:gd name="connsiteY20" fmla="*/ 429250 h 606722"/>
                <a:gd name="connsiteX21" fmla="*/ 522185 w 607639"/>
                <a:gd name="connsiteY21" fmla="*/ 417324 h 606722"/>
                <a:gd name="connsiteX22" fmla="*/ 85420 w 607639"/>
                <a:gd name="connsiteY22" fmla="*/ 417324 h 606722"/>
                <a:gd name="connsiteX23" fmla="*/ 97311 w 607639"/>
                <a:gd name="connsiteY23" fmla="*/ 429250 h 606722"/>
                <a:gd name="connsiteX24" fmla="*/ 85420 w 607639"/>
                <a:gd name="connsiteY24" fmla="*/ 441176 h 606722"/>
                <a:gd name="connsiteX25" fmla="*/ 73529 w 607639"/>
                <a:gd name="connsiteY25" fmla="*/ 429250 h 606722"/>
                <a:gd name="connsiteX26" fmla="*/ 85420 w 607639"/>
                <a:gd name="connsiteY26" fmla="*/ 417324 h 606722"/>
                <a:gd name="connsiteX27" fmla="*/ 537643 w 607639"/>
                <a:gd name="connsiteY27" fmla="*/ 291506 h 606722"/>
                <a:gd name="connsiteX28" fmla="*/ 555628 w 607639"/>
                <a:gd name="connsiteY28" fmla="*/ 291506 h 606722"/>
                <a:gd name="connsiteX29" fmla="*/ 567558 w 607639"/>
                <a:gd name="connsiteY29" fmla="*/ 303316 h 606722"/>
                <a:gd name="connsiteX30" fmla="*/ 555628 w 607639"/>
                <a:gd name="connsiteY30" fmla="*/ 315216 h 606722"/>
                <a:gd name="connsiteX31" fmla="*/ 537643 w 607639"/>
                <a:gd name="connsiteY31" fmla="*/ 315216 h 606722"/>
                <a:gd name="connsiteX32" fmla="*/ 525713 w 607639"/>
                <a:gd name="connsiteY32" fmla="*/ 303316 h 606722"/>
                <a:gd name="connsiteX33" fmla="*/ 537643 w 607639"/>
                <a:gd name="connsiteY33" fmla="*/ 291506 h 606722"/>
                <a:gd name="connsiteX34" fmla="*/ 51991 w 607639"/>
                <a:gd name="connsiteY34" fmla="*/ 291506 h 606722"/>
                <a:gd name="connsiteX35" fmla="*/ 69946 w 607639"/>
                <a:gd name="connsiteY35" fmla="*/ 291506 h 606722"/>
                <a:gd name="connsiteX36" fmla="*/ 81856 w 607639"/>
                <a:gd name="connsiteY36" fmla="*/ 303316 h 606722"/>
                <a:gd name="connsiteX37" fmla="*/ 69946 w 607639"/>
                <a:gd name="connsiteY37" fmla="*/ 315216 h 606722"/>
                <a:gd name="connsiteX38" fmla="*/ 51991 w 607639"/>
                <a:gd name="connsiteY38" fmla="*/ 315216 h 606722"/>
                <a:gd name="connsiteX39" fmla="*/ 40081 w 607639"/>
                <a:gd name="connsiteY39" fmla="*/ 303316 h 606722"/>
                <a:gd name="connsiteX40" fmla="*/ 51991 w 607639"/>
                <a:gd name="connsiteY40" fmla="*/ 291506 h 606722"/>
                <a:gd name="connsiteX41" fmla="*/ 412608 w 607639"/>
                <a:gd name="connsiteY41" fmla="*/ 222096 h 606722"/>
                <a:gd name="connsiteX42" fmla="*/ 345491 w 607639"/>
                <a:gd name="connsiteY42" fmla="*/ 334245 h 606722"/>
                <a:gd name="connsiteX43" fmla="*/ 412608 w 607639"/>
                <a:gd name="connsiteY43" fmla="*/ 334245 h 606722"/>
                <a:gd name="connsiteX44" fmla="*/ 427651 w 607639"/>
                <a:gd name="connsiteY44" fmla="*/ 167533 h 606722"/>
                <a:gd name="connsiteX45" fmla="*/ 436375 w 607639"/>
                <a:gd name="connsiteY45" fmla="*/ 178996 h 606722"/>
                <a:gd name="connsiteX46" fmla="*/ 436375 w 607639"/>
                <a:gd name="connsiteY46" fmla="*/ 334245 h 606722"/>
                <a:gd name="connsiteX47" fmla="*/ 469399 w 607639"/>
                <a:gd name="connsiteY47" fmla="*/ 334245 h 606722"/>
                <a:gd name="connsiteX48" fmla="*/ 481327 w 607639"/>
                <a:gd name="connsiteY48" fmla="*/ 346153 h 606722"/>
                <a:gd name="connsiteX49" fmla="*/ 469399 w 607639"/>
                <a:gd name="connsiteY49" fmla="*/ 357973 h 606722"/>
                <a:gd name="connsiteX50" fmla="*/ 436375 w 607639"/>
                <a:gd name="connsiteY50" fmla="*/ 357973 h 606722"/>
                <a:gd name="connsiteX51" fmla="*/ 436375 w 607639"/>
                <a:gd name="connsiteY51" fmla="*/ 427733 h 606722"/>
                <a:gd name="connsiteX52" fmla="*/ 424536 w 607639"/>
                <a:gd name="connsiteY52" fmla="*/ 439552 h 606722"/>
                <a:gd name="connsiteX53" fmla="*/ 412608 w 607639"/>
                <a:gd name="connsiteY53" fmla="*/ 427733 h 606722"/>
                <a:gd name="connsiteX54" fmla="*/ 412608 w 607639"/>
                <a:gd name="connsiteY54" fmla="*/ 357973 h 606722"/>
                <a:gd name="connsiteX55" fmla="*/ 324573 w 607639"/>
                <a:gd name="connsiteY55" fmla="*/ 357973 h 606722"/>
                <a:gd name="connsiteX56" fmla="*/ 314158 w 607639"/>
                <a:gd name="connsiteY56" fmla="*/ 352019 h 606722"/>
                <a:gd name="connsiteX57" fmla="*/ 314336 w 607639"/>
                <a:gd name="connsiteY57" fmla="*/ 340022 h 606722"/>
                <a:gd name="connsiteX58" fmla="*/ 414299 w 607639"/>
                <a:gd name="connsiteY58" fmla="*/ 172953 h 606722"/>
                <a:gd name="connsiteX59" fmla="*/ 427651 w 607639"/>
                <a:gd name="connsiteY59" fmla="*/ 167533 h 606722"/>
                <a:gd name="connsiteX60" fmla="*/ 216270 w 607639"/>
                <a:gd name="connsiteY60" fmla="*/ 167099 h 606722"/>
                <a:gd name="connsiteX61" fmla="*/ 290518 w 607639"/>
                <a:gd name="connsiteY61" fmla="*/ 241210 h 606722"/>
                <a:gd name="connsiteX62" fmla="*/ 242978 w 607639"/>
                <a:gd name="connsiteY62" fmla="*/ 355754 h 606722"/>
                <a:gd name="connsiteX63" fmla="*/ 182707 w 607639"/>
                <a:gd name="connsiteY63" fmla="*/ 415825 h 606722"/>
                <a:gd name="connsiteX64" fmla="*/ 278588 w 607639"/>
                <a:gd name="connsiteY64" fmla="*/ 415825 h 606722"/>
                <a:gd name="connsiteX65" fmla="*/ 290518 w 607639"/>
                <a:gd name="connsiteY65" fmla="*/ 427734 h 606722"/>
                <a:gd name="connsiteX66" fmla="*/ 278588 w 607639"/>
                <a:gd name="connsiteY66" fmla="*/ 439552 h 606722"/>
                <a:gd name="connsiteX67" fmla="*/ 154040 w 607639"/>
                <a:gd name="connsiteY67" fmla="*/ 439552 h 606722"/>
                <a:gd name="connsiteX68" fmla="*/ 143001 w 607639"/>
                <a:gd name="connsiteY68" fmla="*/ 432265 h 606722"/>
                <a:gd name="connsiteX69" fmla="*/ 145582 w 607639"/>
                <a:gd name="connsiteY69" fmla="*/ 419292 h 606722"/>
                <a:gd name="connsiteX70" fmla="*/ 226152 w 607639"/>
                <a:gd name="connsiteY70" fmla="*/ 338959 h 606722"/>
                <a:gd name="connsiteX71" fmla="*/ 266659 w 607639"/>
                <a:gd name="connsiteY71" fmla="*/ 241210 h 606722"/>
                <a:gd name="connsiteX72" fmla="*/ 216270 w 607639"/>
                <a:gd name="connsiteY72" fmla="*/ 190914 h 606722"/>
                <a:gd name="connsiteX73" fmla="*/ 165880 w 607639"/>
                <a:gd name="connsiteY73" fmla="*/ 241210 h 606722"/>
                <a:gd name="connsiteX74" fmla="*/ 154040 w 607639"/>
                <a:gd name="connsiteY74" fmla="*/ 253029 h 606722"/>
                <a:gd name="connsiteX75" fmla="*/ 142110 w 607639"/>
                <a:gd name="connsiteY75" fmla="*/ 241210 h 606722"/>
                <a:gd name="connsiteX76" fmla="*/ 216270 w 607639"/>
                <a:gd name="connsiteY76" fmla="*/ 167099 h 606722"/>
                <a:gd name="connsiteX77" fmla="*/ 522185 w 607639"/>
                <a:gd name="connsiteY77" fmla="*/ 165547 h 606722"/>
                <a:gd name="connsiteX78" fmla="*/ 534111 w 607639"/>
                <a:gd name="connsiteY78" fmla="*/ 177438 h 606722"/>
                <a:gd name="connsiteX79" fmla="*/ 522185 w 607639"/>
                <a:gd name="connsiteY79" fmla="*/ 189329 h 606722"/>
                <a:gd name="connsiteX80" fmla="*/ 510259 w 607639"/>
                <a:gd name="connsiteY80" fmla="*/ 177438 h 606722"/>
                <a:gd name="connsiteX81" fmla="*/ 522185 w 607639"/>
                <a:gd name="connsiteY81" fmla="*/ 165547 h 606722"/>
                <a:gd name="connsiteX82" fmla="*/ 85420 w 607639"/>
                <a:gd name="connsiteY82" fmla="*/ 165547 h 606722"/>
                <a:gd name="connsiteX83" fmla="*/ 97311 w 607639"/>
                <a:gd name="connsiteY83" fmla="*/ 177438 h 606722"/>
                <a:gd name="connsiteX84" fmla="*/ 85420 w 607639"/>
                <a:gd name="connsiteY84" fmla="*/ 189329 h 606722"/>
                <a:gd name="connsiteX85" fmla="*/ 73529 w 607639"/>
                <a:gd name="connsiteY85" fmla="*/ 177438 h 606722"/>
                <a:gd name="connsiteX86" fmla="*/ 85420 w 607639"/>
                <a:gd name="connsiteY86" fmla="*/ 165547 h 606722"/>
                <a:gd name="connsiteX87" fmla="*/ 429885 w 607639"/>
                <a:gd name="connsiteY87" fmla="*/ 73388 h 606722"/>
                <a:gd name="connsiteX88" fmla="*/ 441811 w 607639"/>
                <a:gd name="connsiteY88" fmla="*/ 85279 h 606722"/>
                <a:gd name="connsiteX89" fmla="*/ 429885 w 607639"/>
                <a:gd name="connsiteY89" fmla="*/ 97170 h 606722"/>
                <a:gd name="connsiteX90" fmla="*/ 417959 w 607639"/>
                <a:gd name="connsiteY90" fmla="*/ 85279 h 606722"/>
                <a:gd name="connsiteX91" fmla="*/ 429885 w 607639"/>
                <a:gd name="connsiteY91" fmla="*/ 73388 h 606722"/>
                <a:gd name="connsiteX92" fmla="*/ 177720 w 607639"/>
                <a:gd name="connsiteY92" fmla="*/ 73388 h 606722"/>
                <a:gd name="connsiteX93" fmla="*/ 189611 w 607639"/>
                <a:gd name="connsiteY93" fmla="*/ 85279 h 606722"/>
                <a:gd name="connsiteX94" fmla="*/ 177720 w 607639"/>
                <a:gd name="connsiteY94" fmla="*/ 97170 h 606722"/>
                <a:gd name="connsiteX95" fmla="*/ 165829 w 607639"/>
                <a:gd name="connsiteY95" fmla="*/ 85279 h 606722"/>
                <a:gd name="connsiteX96" fmla="*/ 177720 w 607639"/>
                <a:gd name="connsiteY96" fmla="*/ 73388 h 606722"/>
                <a:gd name="connsiteX97" fmla="*/ 303775 w 607639"/>
                <a:gd name="connsiteY97" fmla="*/ 42480 h 606722"/>
                <a:gd name="connsiteX98" fmla="*/ 315710 w 607639"/>
                <a:gd name="connsiteY98" fmla="*/ 54396 h 606722"/>
                <a:gd name="connsiteX99" fmla="*/ 315710 w 607639"/>
                <a:gd name="connsiteY99" fmla="*/ 69869 h 606722"/>
                <a:gd name="connsiteX100" fmla="*/ 303775 w 607639"/>
                <a:gd name="connsiteY100" fmla="*/ 81785 h 606722"/>
                <a:gd name="connsiteX101" fmla="*/ 291929 w 607639"/>
                <a:gd name="connsiteY101" fmla="*/ 69869 h 606722"/>
                <a:gd name="connsiteX102" fmla="*/ 291929 w 607639"/>
                <a:gd name="connsiteY102" fmla="*/ 54396 h 606722"/>
                <a:gd name="connsiteX103" fmla="*/ 303775 w 607639"/>
                <a:gd name="connsiteY103" fmla="*/ 42480 h 606722"/>
                <a:gd name="connsiteX104" fmla="*/ 303775 w 607639"/>
                <a:gd name="connsiteY104" fmla="*/ 0 h 606722"/>
                <a:gd name="connsiteX105" fmla="*/ 537058 w 607639"/>
                <a:gd name="connsiteY105" fmla="*/ 108956 h 606722"/>
                <a:gd name="connsiteX106" fmla="*/ 537058 w 607639"/>
                <a:gd name="connsiteY106" fmla="*/ 93048 h 606722"/>
                <a:gd name="connsiteX107" fmla="*/ 548895 w 607639"/>
                <a:gd name="connsiteY107" fmla="*/ 81139 h 606722"/>
                <a:gd name="connsiteX108" fmla="*/ 560822 w 607639"/>
                <a:gd name="connsiteY108" fmla="*/ 93048 h 606722"/>
                <a:gd name="connsiteX109" fmla="*/ 560822 w 607639"/>
                <a:gd name="connsiteY109" fmla="*/ 138994 h 606722"/>
                <a:gd name="connsiteX110" fmla="*/ 548895 w 607639"/>
                <a:gd name="connsiteY110" fmla="*/ 150903 h 606722"/>
                <a:gd name="connsiteX111" fmla="*/ 502880 w 607639"/>
                <a:gd name="connsiteY111" fmla="*/ 150903 h 606722"/>
                <a:gd name="connsiteX112" fmla="*/ 490953 w 607639"/>
                <a:gd name="connsiteY112" fmla="*/ 138994 h 606722"/>
                <a:gd name="connsiteX113" fmla="*/ 502880 w 607639"/>
                <a:gd name="connsiteY113" fmla="*/ 127174 h 606722"/>
                <a:gd name="connsiteX114" fmla="*/ 521126 w 607639"/>
                <a:gd name="connsiteY114" fmla="*/ 127174 h 606722"/>
                <a:gd name="connsiteX115" fmla="*/ 303775 w 607639"/>
                <a:gd name="connsiteY115" fmla="*/ 23728 h 606722"/>
                <a:gd name="connsiteX116" fmla="*/ 23764 w 607639"/>
                <a:gd name="connsiteY116" fmla="*/ 303316 h 606722"/>
                <a:gd name="connsiteX117" fmla="*/ 303775 w 607639"/>
                <a:gd name="connsiteY117" fmla="*/ 582905 h 606722"/>
                <a:gd name="connsiteX118" fmla="*/ 583786 w 607639"/>
                <a:gd name="connsiteY118" fmla="*/ 303316 h 606722"/>
                <a:gd name="connsiteX119" fmla="*/ 573906 w 607639"/>
                <a:gd name="connsiteY119" fmla="*/ 229376 h 606722"/>
                <a:gd name="connsiteX120" fmla="*/ 582273 w 607639"/>
                <a:gd name="connsiteY120" fmla="*/ 214801 h 606722"/>
                <a:gd name="connsiteX121" fmla="*/ 596869 w 607639"/>
                <a:gd name="connsiteY121" fmla="*/ 223066 h 606722"/>
                <a:gd name="connsiteX122" fmla="*/ 607639 w 607639"/>
                <a:gd name="connsiteY122" fmla="*/ 303316 h 606722"/>
                <a:gd name="connsiteX123" fmla="*/ 303775 w 607639"/>
                <a:gd name="connsiteY123" fmla="*/ 606722 h 606722"/>
                <a:gd name="connsiteX124" fmla="*/ 0 w 607639"/>
                <a:gd name="connsiteY124" fmla="*/ 303316 h 606722"/>
                <a:gd name="connsiteX125" fmla="*/ 303775 w 607639"/>
                <a:gd name="connsiteY125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07639" h="606722">
                  <a:moveTo>
                    <a:pt x="303775" y="525007"/>
                  </a:moveTo>
                  <a:cubicBezTo>
                    <a:pt x="310366" y="525007"/>
                    <a:pt x="315710" y="530333"/>
                    <a:pt x="315710" y="536902"/>
                  </a:cubicBezTo>
                  <a:lnTo>
                    <a:pt x="315710" y="552347"/>
                  </a:lnTo>
                  <a:cubicBezTo>
                    <a:pt x="315710" y="558915"/>
                    <a:pt x="310366" y="564241"/>
                    <a:pt x="303775" y="564241"/>
                  </a:cubicBezTo>
                  <a:cubicBezTo>
                    <a:pt x="297184" y="564241"/>
                    <a:pt x="291929" y="558915"/>
                    <a:pt x="291929" y="552347"/>
                  </a:cubicBezTo>
                  <a:lnTo>
                    <a:pt x="291929" y="536902"/>
                  </a:lnTo>
                  <a:cubicBezTo>
                    <a:pt x="291929" y="530333"/>
                    <a:pt x="297184" y="525007"/>
                    <a:pt x="303775" y="525007"/>
                  </a:cubicBezTo>
                  <a:close/>
                  <a:moveTo>
                    <a:pt x="429885" y="509483"/>
                  </a:moveTo>
                  <a:cubicBezTo>
                    <a:pt x="436472" y="509483"/>
                    <a:pt x="441811" y="514822"/>
                    <a:pt x="441811" y="521409"/>
                  </a:cubicBezTo>
                  <a:cubicBezTo>
                    <a:pt x="441811" y="527996"/>
                    <a:pt x="436472" y="533335"/>
                    <a:pt x="429885" y="533335"/>
                  </a:cubicBezTo>
                  <a:cubicBezTo>
                    <a:pt x="423298" y="533335"/>
                    <a:pt x="417959" y="527996"/>
                    <a:pt x="417959" y="521409"/>
                  </a:cubicBezTo>
                  <a:cubicBezTo>
                    <a:pt x="417959" y="514822"/>
                    <a:pt x="423298" y="509483"/>
                    <a:pt x="429885" y="509483"/>
                  </a:cubicBezTo>
                  <a:close/>
                  <a:moveTo>
                    <a:pt x="177720" y="509483"/>
                  </a:moveTo>
                  <a:cubicBezTo>
                    <a:pt x="184287" y="509483"/>
                    <a:pt x="189611" y="514822"/>
                    <a:pt x="189611" y="521409"/>
                  </a:cubicBezTo>
                  <a:cubicBezTo>
                    <a:pt x="189611" y="527996"/>
                    <a:pt x="184287" y="533335"/>
                    <a:pt x="177720" y="533335"/>
                  </a:cubicBezTo>
                  <a:cubicBezTo>
                    <a:pt x="171153" y="533335"/>
                    <a:pt x="165829" y="527996"/>
                    <a:pt x="165829" y="521409"/>
                  </a:cubicBezTo>
                  <a:cubicBezTo>
                    <a:pt x="165829" y="514822"/>
                    <a:pt x="171153" y="509483"/>
                    <a:pt x="177720" y="509483"/>
                  </a:cubicBezTo>
                  <a:close/>
                  <a:moveTo>
                    <a:pt x="522185" y="417324"/>
                  </a:moveTo>
                  <a:cubicBezTo>
                    <a:pt x="528772" y="417324"/>
                    <a:pt x="534111" y="422663"/>
                    <a:pt x="534111" y="429250"/>
                  </a:cubicBezTo>
                  <a:cubicBezTo>
                    <a:pt x="534111" y="435837"/>
                    <a:pt x="528772" y="441176"/>
                    <a:pt x="522185" y="441176"/>
                  </a:cubicBezTo>
                  <a:cubicBezTo>
                    <a:pt x="515598" y="441176"/>
                    <a:pt x="510259" y="435837"/>
                    <a:pt x="510259" y="429250"/>
                  </a:cubicBezTo>
                  <a:cubicBezTo>
                    <a:pt x="510259" y="422663"/>
                    <a:pt x="515598" y="417324"/>
                    <a:pt x="522185" y="417324"/>
                  </a:cubicBezTo>
                  <a:close/>
                  <a:moveTo>
                    <a:pt x="85420" y="417324"/>
                  </a:moveTo>
                  <a:cubicBezTo>
                    <a:pt x="91987" y="417324"/>
                    <a:pt x="97311" y="422663"/>
                    <a:pt x="97311" y="429250"/>
                  </a:cubicBezTo>
                  <a:cubicBezTo>
                    <a:pt x="97311" y="435837"/>
                    <a:pt x="91987" y="441176"/>
                    <a:pt x="85420" y="441176"/>
                  </a:cubicBezTo>
                  <a:cubicBezTo>
                    <a:pt x="78853" y="441176"/>
                    <a:pt x="73529" y="435837"/>
                    <a:pt x="73529" y="429250"/>
                  </a:cubicBezTo>
                  <a:cubicBezTo>
                    <a:pt x="73529" y="422663"/>
                    <a:pt x="78853" y="417324"/>
                    <a:pt x="85420" y="417324"/>
                  </a:cubicBezTo>
                  <a:close/>
                  <a:moveTo>
                    <a:pt x="537643" y="291506"/>
                  </a:moveTo>
                  <a:lnTo>
                    <a:pt x="555628" y="291506"/>
                  </a:lnTo>
                  <a:cubicBezTo>
                    <a:pt x="562216" y="291506"/>
                    <a:pt x="567558" y="296745"/>
                    <a:pt x="567558" y="303316"/>
                  </a:cubicBezTo>
                  <a:cubicBezTo>
                    <a:pt x="567558" y="309888"/>
                    <a:pt x="562216" y="315216"/>
                    <a:pt x="555628" y="315216"/>
                  </a:cubicBezTo>
                  <a:lnTo>
                    <a:pt x="537643" y="315216"/>
                  </a:lnTo>
                  <a:cubicBezTo>
                    <a:pt x="531055" y="315216"/>
                    <a:pt x="525713" y="309888"/>
                    <a:pt x="525713" y="303316"/>
                  </a:cubicBezTo>
                  <a:cubicBezTo>
                    <a:pt x="525713" y="296745"/>
                    <a:pt x="531055" y="291506"/>
                    <a:pt x="537643" y="291506"/>
                  </a:cubicBezTo>
                  <a:close/>
                  <a:moveTo>
                    <a:pt x="51991" y="291506"/>
                  </a:moveTo>
                  <a:lnTo>
                    <a:pt x="69946" y="291506"/>
                  </a:lnTo>
                  <a:cubicBezTo>
                    <a:pt x="76523" y="291506"/>
                    <a:pt x="81856" y="296745"/>
                    <a:pt x="81856" y="303316"/>
                  </a:cubicBezTo>
                  <a:cubicBezTo>
                    <a:pt x="81856" y="309888"/>
                    <a:pt x="76523" y="315216"/>
                    <a:pt x="69946" y="315216"/>
                  </a:cubicBezTo>
                  <a:lnTo>
                    <a:pt x="51991" y="315216"/>
                  </a:lnTo>
                  <a:cubicBezTo>
                    <a:pt x="45414" y="315216"/>
                    <a:pt x="40081" y="309888"/>
                    <a:pt x="40081" y="303316"/>
                  </a:cubicBezTo>
                  <a:cubicBezTo>
                    <a:pt x="40081" y="296745"/>
                    <a:pt x="45414" y="291506"/>
                    <a:pt x="51991" y="291506"/>
                  </a:cubicBezTo>
                  <a:close/>
                  <a:moveTo>
                    <a:pt x="412608" y="222096"/>
                  </a:moveTo>
                  <a:lnTo>
                    <a:pt x="345491" y="334245"/>
                  </a:lnTo>
                  <a:lnTo>
                    <a:pt x="412608" y="334245"/>
                  </a:lnTo>
                  <a:close/>
                  <a:moveTo>
                    <a:pt x="427651" y="167533"/>
                  </a:moveTo>
                  <a:cubicBezTo>
                    <a:pt x="432814" y="168954"/>
                    <a:pt x="436375" y="173664"/>
                    <a:pt x="436375" y="178996"/>
                  </a:cubicBezTo>
                  <a:lnTo>
                    <a:pt x="436375" y="334245"/>
                  </a:lnTo>
                  <a:lnTo>
                    <a:pt x="469399" y="334245"/>
                  </a:lnTo>
                  <a:cubicBezTo>
                    <a:pt x="475986" y="334245"/>
                    <a:pt x="481327" y="339577"/>
                    <a:pt x="481327" y="346153"/>
                  </a:cubicBezTo>
                  <a:cubicBezTo>
                    <a:pt x="481327" y="352641"/>
                    <a:pt x="475986" y="357973"/>
                    <a:pt x="469399" y="357973"/>
                  </a:cubicBezTo>
                  <a:lnTo>
                    <a:pt x="436375" y="357973"/>
                  </a:lnTo>
                  <a:lnTo>
                    <a:pt x="436375" y="427733"/>
                  </a:lnTo>
                  <a:cubicBezTo>
                    <a:pt x="436375" y="434220"/>
                    <a:pt x="431123" y="439552"/>
                    <a:pt x="424536" y="439552"/>
                  </a:cubicBezTo>
                  <a:cubicBezTo>
                    <a:pt x="417949" y="439552"/>
                    <a:pt x="412608" y="434220"/>
                    <a:pt x="412608" y="427733"/>
                  </a:cubicBezTo>
                  <a:lnTo>
                    <a:pt x="412608" y="357973"/>
                  </a:lnTo>
                  <a:lnTo>
                    <a:pt x="324573" y="357973"/>
                  </a:lnTo>
                  <a:cubicBezTo>
                    <a:pt x="320300" y="357973"/>
                    <a:pt x="316295" y="355662"/>
                    <a:pt x="314158" y="352019"/>
                  </a:cubicBezTo>
                  <a:cubicBezTo>
                    <a:pt x="312111" y="348286"/>
                    <a:pt x="312111" y="343665"/>
                    <a:pt x="314336" y="340022"/>
                  </a:cubicBezTo>
                  <a:lnTo>
                    <a:pt x="414299" y="172953"/>
                  </a:lnTo>
                  <a:cubicBezTo>
                    <a:pt x="417059" y="168332"/>
                    <a:pt x="422489" y="166111"/>
                    <a:pt x="427651" y="167533"/>
                  </a:cubicBezTo>
                  <a:close/>
                  <a:moveTo>
                    <a:pt x="216270" y="167099"/>
                  </a:moveTo>
                  <a:cubicBezTo>
                    <a:pt x="257222" y="167099"/>
                    <a:pt x="290518" y="200333"/>
                    <a:pt x="290518" y="241210"/>
                  </a:cubicBezTo>
                  <a:cubicBezTo>
                    <a:pt x="290518" y="284486"/>
                    <a:pt x="273603" y="325097"/>
                    <a:pt x="242978" y="355754"/>
                  </a:cubicBezTo>
                  <a:lnTo>
                    <a:pt x="182707" y="415825"/>
                  </a:lnTo>
                  <a:lnTo>
                    <a:pt x="278588" y="415825"/>
                  </a:lnTo>
                  <a:cubicBezTo>
                    <a:pt x="285176" y="415825"/>
                    <a:pt x="290518" y="421158"/>
                    <a:pt x="290518" y="427734"/>
                  </a:cubicBezTo>
                  <a:cubicBezTo>
                    <a:pt x="290518" y="434220"/>
                    <a:pt x="285176" y="439552"/>
                    <a:pt x="278588" y="439552"/>
                  </a:cubicBezTo>
                  <a:lnTo>
                    <a:pt x="154040" y="439552"/>
                  </a:lnTo>
                  <a:cubicBezTo>
                    <a:pt x="149232" y="439552"/>
                    <a:pt x="144870" y="436709"/>
                    <a:pt x="143001" y="432265"/>
                  </a:cubicBezTo>
                  <a:cubicBezTo>
                    <a:pt x="141131" y="427822"/>
                    <a:pt x="142199" y="422668"/>
                    <a:pt x="145582" y="419292"/>
                  </a:cubicBezTo>
                  <a:lnTo>
                    <a:pt x="226152" y="338959"/>
                  </a:lnTo>
                  <a:cubicBezTo>
                    <a:pt x="252236" y="312834"/>
                    <a:pt x="266659" y="278088"/>
                    <a:pt x="266659" y="241210"/>
                  </a:cubicBezTo>
                  <a:cubicBezTo>
                    <a:pt x="266659" y="213485"/>
                    <a:pt x="244046" y="190914"/>
                    <a:pt x="216270" y="190914"/>
                  </a:cubicBezTo>
                  <a:cubicBezTo>
                    <a:pt x="188493" y="190914"/>
                    <a:pt x="165880" y="213485"/>
                    <a:pt x="165880" y="241210"/>
                  </a:cubicBezTo>
                  <a:cubicBezTo>
                    <a:pt x="165880" y="247786"/>
                    <a:pt x="160539" y="253029"/>
                    <a:pt x="154040" y="253029"/>
                  </a:cubicBezTo>
                  <a:cubicBezTo>
                    <a:pt x="147452" y="253029"/>
                    <a:pt x="142110" y="247786"/>
                    <a:pt x="142110" y="241210"/>
                  </a:cubicBezTo>
                  <a:cubicBezTo>
                    <a:pt x="142110" y="200333"/>
                    <a:pt x="175406" y="167099"/>
                    <a:pt x="216270" y="167099"/>
                  </a:cubicBezTo>
                  <a:close/>
                  <a:moveTo>
                    <a:pt x="522185" y="165547"/>
                  </a:moveTo>
                  <a:cubicBezTo>
                    <a:pt x="528772" y="165547"/>
                    <a:pt x="534111" y="170871"/>
                    <a:pt x="534111" y="177438"/>
                  </a:cubicBezTo>
                  <a:cubicBezTo>
                    <a:pt x="534111" y="184005"/>
                    <a:pt x="528772" y="189329"/>
                    <a:pt x="522185" y="189329"/>
                  </a:cubicBezTo>
                  <a:cubicBezTo>
                    <a:pt x="515598" y="189329"/>
                    <a:pt x="510259" y="184005"/>
                    <a:pt x="510259" y="177438"/>
                  </a:cubicBezTo>
                  <a:cubicBezTo>
                    <a:pt x="510259" y="170871"/>
                    <a:pt x="515598" y="165547"/>
                    <a:pt x="522185" y="165547"/>
                  </a:cubicBezTo>
                  <a:close/>
                  <a:moveTo>
                    <a:pt x="85420" y="165547"/>
                  </a:moveTo>
                  <a:cubicBezTo>
                    <a:pt x="91987" y="165547"/>
                    <a:pt x="97311" y="170871"/>
                    <a:pt x="97311" y="177438"/>
                  </a:cubicBezTo>
                  <a:cubicBezTo>
                    <a:pt x="97311" y="184005"/>
                    <a:pt x="91987" y="189329"/>
                    <a:pt x="85420" y="189329"/>
                  </a:cubicBezTo>
                  <a:cubicBezTo>
                    <a:pt x="78853" y="189329"/>
                    <a:pt x="73529" y="184005"/>
                    <a:pt x="73529" y="177438"/>
                  </a:cubicBezTo>
                  <a:cubicBezTo>
                    <a:pt x="73529" y="170871"/>
                    <a:pt x="78853" y="165547"/>
                    <a:pt x="85420" y="165547"/>
                  </a:cubicBezTo>
                  <a:close/>
                  <a:moveTo>
                    <a:pt x="429885" y="73388"/>
                  </a:moveTo>
                  <a:cubicBezTo>
                    <a:pt x="436472" y="73388"/>
                    <a:pt x="441811" y="78712"/>
                    <a:pt x="441811" y="85279"/>
                  </a:cubicBezTo>
                  <a:cubicBezTo>
                    <a:pt x="441811" y="91846"/>
                    <a:pt x="436472" y="97170"/>
                    <a:pt x="429885" y="97170"/>
                  </a:cubicBezTo>
                  <a:cubicBezTo>
                    <a:pt x="423298" y="97170"/>
                    <a:pt x="417959" y="91846"/>
                    <a:pt x="417959" y="85279"/>
                  </a:cubicBezTo>
                  <a:cubicBezTo>
                    <a:pt x="417959" y="78712"/>
                    <a:pt x="423298" y="73388"/>
                    <a:pt x="429885" y="73388"/>
                  </a:cubicBezTo>
                  <a:close/>
                  <a:moveTo>
                    <a:pt x="177720" y="73388"/>
                  </a:moveTo>
                  <a:cubicBezTo>
                    <a:pt x="184287" y="73388"/>
                    <a:pt x="189611" y="78712"/>
                    <a:pt x="189611" y="85279"/>
                  </a:cubicBezTo>
                  <a:cubicBezTo>
                    <a:pt x="189611" y="91846"/>
                    <a:pt x="184287" y="97170"/>
                    <a:pt x="177720" y="97170"/>
                  </a:cubicBezTo>
                  <a:cubicBezTo>
                    <a:pt x="171153" y="97170"/>
                    <a:pt x="165829" y="91846"/>
                    <a:pt x="165829" y="85279"/>
                  </a:cubicBezTo>
                  <a:cubicBezTo>
                    <a:pt x="165829" y="78712"/>
                    <a:pt x="171153" y="73388"/>
                    <a:pt x="177720" y="73388"/>
                  </a:cubicBezTo>
                  <a:close/>
                  <a:moveTo>
                    <a:pt x="303775" y="42480"/>
                  </a:moveTo>
                  <a:cubicBezTo>
                    <a:pt x="310366" y="42480"/>
                    <a:pt x="315710" y="47815"/>
                    <a:pt x="315710" y="54396"/>
                  </a:cubicBezTo>
                  <a:lnTo>
                    <a:pt x="315710" y="69869"/>
                  </a:lnTo>
                  <a:cubicBezTo>
                    <a:pt x="315710" y="76449"/>
                    <a:pt x="310366" y="81785"/>
                    <a:pt x="303775" y="81785"/>
                  </a:cubicBezTo>
                  <a:cubicBezTo>
                    <a:pt x="297184" y="81785"/>
                    <a:pt x="291929" y="76449"/>
                    <a:pt x="291929" y="69869"/>
                  </a:cubicBezTo>
                  <a:lnTo>
                    <a:pt x="291929" y="54396"/>
                  </a:lnTo>
                  <a:cubicBezTo>
                    <a:pt x="291929" y="47815"/>
                    <a:pt x="297184" y="42480"/>
                    <a:pt x="303775" y="42480"/>
                  </a:cubicBezTo>
                  <a:close/>
                  <a:moveTo>
                    <a:pt x="303775" y="0"/>
                  </a:moveTo>
                  <a:cubicBezTo>
                    <a:pt x="394204" y="0"/>
                    <a:pt x="479560" y="40347"/>
                    <a:pt x="537058" y="108956"/>
                  </a:cubicBezTo>
                  <a:lnTo>
                    <a:pt x="537058" y="93048"/>
                  </a:lnTo>
                  <a:cubicBezTo>
                    <a:pt x="537058" y="86471"/>
                    <a:pt x="542309" y="81139"/>
                    <a:pt x="548895" y="81139"/>
                  </a:cubicBezTo>
                  <a:cubicBezTo>
                    <a:pt x="555482" y="81139"/>
                    <a:pt x="560822" y="86471"/>
                    <a:pt x="560822" y="93048"/>
                  </a:cubicBezTo>
                  <a:lnTo>
                    <a:pt x="560822" y="138994"/>
                  </a:lnTo>
                  <a:cubicBezTo>
                    <a:pt x="560822" y="145570"/>
                    <a:pt x="555482" y="150903"/>
                    <a:pt x="548895" y="150903"/>
                  </a:cubicBezTo>
                  <a:lnTo>
                    <a:pt x="502880" y="150903"/>
                  </a:lnTo>
                  <a:cubicBezTo>
                    <a:pt x="496293" y="150903"/>
                    <a:pt x="490953" y="145570"/>
                    <a:pt x="490953" y="138994"/>
                  </a:cubicBezTo>
                  <a:cubicBezTo>
                    <a:pt x="490953" y="132417"/>
                    <a:pt x="496293" y="127174"/>
                    <a:pt x="502880" y="127174"/>
                  </a:cubicBezTo>
                  <a:lnTo>
                    <a:pt x="521126" y="127174"/>
                  </a:lnTo>
                  <a:cubicBezTo>
                    <a:pt x="468168" y="62032"/>
                    <a:pt x="388419" y="23728"/>
                    <a:pt x="303775" y="23728"/>
                  </a:cubicBezTo>
                  <a:cubicBezTo>
                    <a:pt x="149440" y="23728"/>
                    <a:pt x="23764" y="149214"/>
                    <a:pt x="23764" y="303316"/>
                  </a:cubicBezTo>
                  <a:cubicBezTo>
                    <a:pt x="23764" y="457508"/>
                    <a:pt x="149440" y="582905"/>
                    <a:pt x="303775" y="582905"/>
                  </a:cubicBezTo>
                  <a:cubicBezTo>
                    <a:pt x="458199" y="582905"/>
                    <a:pt x="583786" y="457508"/>
                    <a:pt x="583786" y="303316"/>
                  </a:cubicBezTo>
                  <a:cubicBezTo>
                    <a:pt x="583786" y="278255"/>
                    <a:pt x="580492" y="253371"/>
                    <a:pt x="573906" y="229376"/>
                  </a:cubicBezTo>
                  <a:cubicBezTo>
                    <a:pt x="572126" y="223066"/>
                    <a:pt x="575864" y="216489"/>
                    <a:pt x="582273" y="214801"/>
                  </a:cubicBezTo>
                  <a:cubicBezTo>
                    <a:pt x="588592" y="213023"/>
                    <a:pt x="595089" y="216756"/>
                    <a:pt x="596869" y="223066"/>
                  </a:cubicBezTo>
                  <a:cubicBezTo>
                    <a:pt x="603990" y="249194"/>
                    <a:pt x="607639" y="276122"/>
                    <a:pt x="607639" y="303316"/>
                  </a:cubicBezTo>
                  <a:cubicBezTo>
                    <a:pt x="607639" y="470572"/>
                    <a:pt x="471283" y="606722"/>
                    <a:pt x="303775" y="606722"/>
                  </a:cubicBezTo>
                  <a:cubicBezTo>
                    <a:pt x="136267" y="606722"/>
                    <a:pt x="0" y="470572"/>
                    <a:pt x="0" y="303316"/>
                  </a:cubicBezTo>
                  <a:cubicBezTo>
                    <a:pt x="0" y="136061"/>
                    <a:pt x="136267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6889711" y="3147009"/>
              <a:ext cx="2084386" cy="46539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总结</a:t>
              </a: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1969910" y="2458782"/>
            <a:ext cx="1880886" cy="1630488"/>
            <a:chOff x="1004890" y="2075502"/>
            <a:chExt cx="2575306" cy="2508303"/>
          </a:xfrm>
        </p:grpSpPr>
        <p:sp>
          <p:nvSpPr>
            <p:cNvPr id="140" name="ïṧḷïḓê-矩形: 圆角 2"/>
            <p:cNvSpPr/>
            <p:nvPr/>
          </p:nvSpPr>
          <p:spPr>
            <a:xfrm>
              <a:off x="1004890" y="2075502"/>
              <a:ext cx="2240571" cy="250830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44"/>
            <p:cNvSpPr/>
            <p:nvPr/>
          </p:nvSpPr>
          <p:spPr>
            <a:xfrm>
              <a:off x="1495809" y="3502775"/>
              <a:ext cx="2084387" cy="59393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测试环境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0729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1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测试环境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9270" y="1909445"/>
            <a:ext cx="50800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200" b="1" dirty="0"/>
              <a:t>1. </a:t>
            </a:r>
            <a:r>
              <a:rPr lang="zh-CN" altLang="en-US" sz="2200" b="1" dirty="0"/>
              <a:t>压测工具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 dirty="0"/>
              <a:t>工具：</a:t>
            </a:r>
            <a:r>
              <a:rPr lang="en-US" altLang="zh-CN" sz="1600" dirty="0"/>
              <a:t>Apache JMeter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 dirty="0"/>
              <a:t>版本：</a:t>
            </a:r>
            <a:r>
              <a:rPr lang="en-US" altLang="zh-CN" sz="1600" dirty="0"/>
              <a:t>5.6.3</a:t>
            </a:r>
            <a:r>
              <a:rPr lang="zh-CN" altLang="en-US" sz="1600" dirty="0"/>
              <a:t>（稳定版）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 dirty="0"/>
              <a:t>插件：</a:t>
            </a:r>
            <a:r>
              <a:rPr lang="en-US" altLang="zh-CN" sz="1600" dirty="0"/>
              <a:t>JMeter Plugins Manager</a:t>
            </a:r>
            <a:r>
              <a:rPr lang="zh-CN" altLang="en-US" sz="1600" dirty="0"/>
              <a:t>、</a:t>
            </a:r>
            <a:r>
              <a:rPr lang="en-US" altLang="zh-CN" sz="1600" dirty="0"/>
              <a:t>Stepping Thread Group</a:t>
            </a:r>
            <a:r>
              <a:rPr lang="zh-CN" altLang="en-US" sz="1600" dirty="0"/>
              <a:t>、</a:t>
            </a:r>
            <a:r>
              <a:rPr lang="en-US" altLang="zh-CN" sz="1600" dirty="0"/>
              <a:t>Active Threads Over Time</a:t>
            </a:r>
            <a:r>
              <a:rPr lang="zh-CN" altLang="en-US" sz="1600" dirty="0"/>
              <a:t>、</a:t>
            </a:r>
            <a:r>
              <a:rPr lang="en-US" altLang="zh-CN" sz="1600" dirty="0"/>
              <a:t>Response Times Over Time</a:t>
            </a:r>
            <a:r>
              <a:rPr lang="zh-CN" altLang="en-US" sz="1600" dirty="0"/>
              <a:t>、</a:t>
            </a:r>
            <a:r>
              <a:rPr lang="en-US" altLang="zh-CN" sz="1600" dirty="0"/>
              <a:t>Transactions per Second</a:t>
            </a:r>
          </a:p>
          <a:p>
            <a:pPr indent="0">
              <a:buFont typeface="Arial" panose="020B0604020202020204"/>
              <a:buNone/>
            </a:pPr>
            <a:endParaRPr lang="en-US" altLang="zh-CN" sz="1600" dirty="0"/>
          </a:p>
          <a:p>
            <a:pPr>
              <a:spcAft>
                <a:spcPct val="60000"/>
              </a:spcAft>
            </a:pPr>
            <a:r>
              <a:rPr lang="en-US" altLang="zh-CN" sz="2200" b="1" dirty="0"/>
              <a:t>2. </a:t>
            </a:r>
            <a:r>
              <a:rPr lang="zh-CN" altLang="en-US" sz="2200" b="1" dirty="0"/>
              <a:t>运行环境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 dirty="0"/>
              <a:t>操作系统：</a:t>
            </a:r>
            <a:r>
              <a:rPr lang="en-US" altLang="zh-CN" sz="1600" dirty="0"/>
              <a:t>Windows 11</a:t>
            </a:r>
            <a:endParaRPr lang="zh-CN" altLang="en-US" sz="1600" dirty="0"/>
          </a:p>
          <a:p>
            <a:pPr>
              <a:buFont typeface="Arial" panose="020B0604020202020204"/>
              <a:buChar char="•"/>
            </a:pPr>
            <a:r>
              <a:rPr lang="en-US" altLang="zh-CN" sz="1600" dirty="0"/>
              <a:t>JDK </a:t>
            </a:r>
            <a:r>
              <a:rPr lang="zh-CN" altLang="en-US" sz="1600" dirty="0"/>
              <a:t>版本：</a:t>
            </a:r>
            <a:r>
              <a:rPr lang="en-US" altLang="zh-CN" sz="1600" dirty="0"/>
              <a:t>JDK 8 / JDK 11</a:t>
            </a:r>
            <a:r>
              <a:rPr lang="zh-CN" altLang="en-US" sz="1600" dirty="0"/>
              <a:t>（</a:t>
            </a:r>
            <a:r>
              <a:rPr lang="en-US" altLang="zh-CN" sz="1600" dirty="0"/>
              <a:t>JMeter </a:t>
            </a:r>
            <a:r>
              <a:rPr lang="zh-CN" altLang="en-US" sz="1600" dirty="0"/>
              <a:t>兼容版本）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 dirty="0"/>
              <a:t>压测机配置：</a:t>
            </a:r>
            <a:r>
              <a:rPr lang="en-US" altLang="zh-CN" sz="1600" dirty="0"/>
              <a:t>CPU i7</a:t>
            </a:r>
            <a:r>
              <a:rPr lang="zh-CN" altLang="en-US" sz="1600" dirty="0"/>
              <a:t>，内存 </a:t>
            </a:r>
            <a:r>
              <a:rPr lang="en-US" altLang="zh-CN" sz="1600" dirty="0"/>
              <a:t>16GB</a:t>
            </a:r>
          </a:p>
          <a:p>
            <a:pPr>
              <a:spcAft>
                <a:spcPct val="60000"/>
              </a:spcAft>
            </a:pPr>
            <a:endParaRPr lang="en-US" altLang="zh-CN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6096000" y="1971040"/>
            <a:ext cx="6096000" cy="3211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ct val="60000"/>
              </a:spcAft>
            </a:pPr>
            <a:r>
              <a:rPr lang="en-US" altLang="zh-CN" sz="2200" b="1">
                <a:sym typeface="+mn-ea"/>
              </a:rPr>
              <a:t>3. </a:t>
            </a:r>
            <a:r>
              <a:rPr lang="zh-CN" altLang="en-US" sz="2200" b="1">
                <a:sym typeface="+mn-ea"/>
              </a:rPr>
              <a:t>被测服务环境</a:t>
            </a:r>
            <a:endParaRPr lang="zh-CN" altLang="en-US" sz="2200" b="1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协议：</a:t>
            </a:r>
            <a:r>
              <a:rPr lang="en-US" altLang="zh-CN" sz="1600">
                <a:sym typeface="+mn-ea"/>
              </a:rPr>
              <a:t>HTTP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服务地址：</a:t>
            </a:r>
            <a:r>
              <a:rPr lang="en-US" altLang="zh-CN" sz="1600">
                <a:sym typeface="+mn-ea"/>
                <a:hlinkClick r:id="rId4"/>
              </a:rPr>
              <a:t>localhost:8080</a:t>
            </a:r>
            <a:endParaRPr lang="en-US" altLang="zh-CN" sz="1600">
              <a:hlinkClick r:id="rId4"/>
            </a:endParaRPr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数据库：</a:t>
            </a:r>
            <a:r>
              <a:rPr lang="en-US" altLang="zh-CN" sz="1600">
                <a:sym typeface="+mn-ea"/>
              </a:rPr>
              <a:t>MySQL</a:t>
            </a:r>
          </a:p>
          <a:p>
            <a:pPr>
              <a:spcAft>
                <a:spcPct val="60000"/>
              </a:spcAft>
            </a:pPr>
            <a:endParaRPr lang="en-US" altLang="zh-CN" sz="1600" b="1">
              <a:sym typeface="+mn-ea"/>
            </a:endParaRPr>
          </a:p>
          <a:p>
            <a:pPr>
              <a:spcAft>
                <a:spcPct val="60000"/>
              </a:spcAft>
            </a:pPr>
            <a:r>
              <a:rPr lang="en-US" altLang="zh-CN" sz="2200" b="1">
                <a:sym typeface="+mn-ea"/>
              </a:rPr>
              <a:t>4. </a:t>
            </a:r>
            <a:r>
              <a:rPr lang="zh-CN" altLang="en-US" sz="2200" b="1">
                <a:sym typeface="+mn-ea"/>
              </a:rPr>
              <a:t>核心组件</a:t>
            </a:r>
            <a:endParaRPr lang="zh-CN" altLang="en-US" sz="2200" b="1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线程组：</a:t>
            </a:r>
            <a:r>
              <a:rPr lang="en-US" altLang="zh-CN" sz="1600">
                <a:sym typeface="+mn-ea"/>
              </a:rPr>
              <a:t>jp@gc - Stepping Thread Group</a:t>
            </a:r>
            <a:r>
              <a:rPr lang="zh-CN" altLang="en-US" sz="1600">
                <a:sym typeface="+mn-ea"/>
              </a:rPr>
              <a:t>（阶梯式）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后置处理器：</a:t>
            </a:r>
            <a:r>
              <a:rPr lang="en-US" altLang="zh-CN" sz="1600">
                <a:sym typeface="+mn-ea"/>
              </a:rPr>
              <a:t>JSON </a:t>
            </a:r>
            <a:r>
              <a:rPr lang="zh-CN" altLang="en-US" sz="1600">
                <a:sym typeface="+mn-ea"/>
              </a:rPr>
              <a:t>提取器（提取 </a:t>
            </a:r>
            <a:r>
              <a:rPr lang="en-US" altLang="zh-CN" sz="1600">
                <a:sym typeface="+mn-ea"/>
              </a:rPr>
              <a:t>token</a:t>
            </a:r>
            <a:r>
              <a:rPr lang="zh-CN" altLang="en-US" sz="1600">
                <a:sym typeface="+mn-ea"/>
              </a:rPr>
              <a:t>）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>
                <a:sym typeface="+mn-ea"/>
              </a:rPr>
              <a:t>请求类型：</a:t>
            </a:r>
            <a:r>
              <a:rPr lang="en-US" altLang="zh-CN" sz="1600">
                <a:sym typeface="+mn-ea"/>
              </a:rPr>
              <a:t>HTTP GET/POST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588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64673" y="1607127"/>
            <a:ext cx="749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员工查询配置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673" y="2125099"/>
            <a:ext cx="9359900" cy="41021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881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182929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68968" y="1683655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登录请求配置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968" y="2120034"/>
            <a:ext cx="9264650" cy="41973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533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1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675" y="2034248"/>
            <a:ext cx="9544050" cy="3136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36675" y="1625466"/>
            <a:ext cx="78001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Json</a:t>
            </a:r>
            <a:r>
              <a:rPr lang="zh-CN" altLang="en-US" dirty="0"/>
              <a:t>提取器，提取登录接口的</a:t>
            </a:r>
            <a:r>
              <a:rPr lang="en-US" altLang="zh-CN" dirty="0"/>
              <a:t>token</a:t>
            </a:r>
            <a:r>
              <a:rPr lang="zh-CN" altLang="en-US" dirty="0"/>
              <a:t>信息提供员工查询接口调用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216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4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场景设计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2449" y="1209279"/>
            <a:ext cx="412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阶梯式线程组（压测负载模型）配置图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48" y="1835075"/>
            <a:ext cx="41234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本次压测的负载模型配置，采用阶梯式（步阶）线程组，计划总用户数为 </a:t>
            </a:r>
            <a:r>
              <a:rPr lang="en-US" altLang="zh-CN" dirty="0"/>
              <a:t>100 </a:t>
            </a:r>
            <a:r>
              <a:rPr lang="zh-CN" altLang="en-US" dirty="0"/>
              <a:t>个。具体策略为：初始启动 </a:t>
            </a:r>
            <a:r>
              <a:rPr lang="en-US" altLang="zh-CN" dirty="0"/>
              <a:t>10 </a:t>
            </a:r>
            <a:r>
              <a:rPr lang="zh-CN" altLang="en-US" dirty="0"/>
              <a:t>个用户，之后每 </a:t>
            </a:r>
            <a:r>
              <a:rPr lang="en-US" altLang="zh-CN" dirty="0"/>
              <a:t>30 </a:t>
            </a:r>
            <a:r>
              <a:rPr lang="zh-CN" altLang="en-US" dirty="0"/>
              <a:t>秒增加 </a:t>
            </a:r>
            <a:r>
              <a:rPr lang="en-US" altLang="zh-CN" dirty="0"/>
              <a:t>10 </a:t>
            </a:r>
            <a:r>
              <a:rPr lang="zh-CN" altLang="en-US" dirty="0"/>
              <a:t>个用户，每次增加过程用 </a:t>
            </a:r>
            <a:r>
              <a:rPr lang="en-US" altLang="zh-CN" dirty="0"/>
              <a:t>5 </a:t>
            </a:r>
            <a:r>
              <a:rPr lang="zh-CN" altLang="en-US" dirty="0"/>
              <a:t>秒完成，达到 </a:t>
            </a:r>
            <a:r>
              <a:rPr lang="en-US" altLang="zh-CN" dirty="0"/>
              <a:t>100 </a:t>
            </a:r>
            <a:r>
              <a:rPr lang="zh-CN" altLang="en-US" dirty="0"/>
              <a:t>用户后持续压测 </a:t>
            </a:r>
            <a:r>
              <a:rPr lang="en-US" altLang="zh-CN" dirty="0"/>
              <a:t>60 </a:t>
            </a:r>
            <a:r>
              <a:rPr lang="zh-CN" altLang="en-US" dirty="0"/>
              <a:t>秒，最后逐步退出。它定义了整个压测的用户增长节奏和负载模型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409" y="1287567"/>
            <a:ext cx="5990282" cy="45049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910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91761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81108" y="1393946"/>
            <a:ext cx="2085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用户并发数随时间变化曲线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290" y="1502074"/>
            <a:ext cx="6873073" cy="510056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360" y="2040255"/>
            <a:ext cx="4859020" cy="20440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200" dirty="0"/>
              <a:t>1.</a:t>
            </a:r>
            <a:r>
              <a:rPr lang="zh-CN" altLang="en-US" sz="1200" dirty="0"/>
              <a:t>用户并发数随时间变化曲线</a:t>
            </a:r>
          </a:p>
          <a:p>
            <a:r>
              <a:rPr lang="zh-CN" altLang="en-US" sz="1200" dirty="0"/>
              <a:t>展示了整个压测过程中，系统并发用户数（活跃线程数）的变化情况。</a:t>
            </a:r>
            <a:endParaRPr lang="en-US" altLang="zh-CN" sz="1200" dirty="0"/>
          </a:p>
          <a:p>
            <a:r>
              <a:rPr lang="zh-CN" altLang="en-US" sz="1200" dirty="0"/>
              <a:t>线程按阶梯式逐步增加，从初始的 </a:t>
            </a:r>
            <a:r>
              <a:rPr lang="en-US" altLang="zh-CN" sz="1200" dirty="0"/>
              <a:t>10 </a:t>
            </a:r>
            <a:r>
              <a:rPr lang="zh-CN" altLang="en-US" sz="1200" dirty="0"/>
              <a:t>个用户，每 </a:t>
            </a:r>
            <a:r>
              <a:rPr lang="en-US" altLang="zh-CN" sz="1200" dirty="0"/>
              <a:t>30 </a:t>
            </a:r>
            <a:r>
              <a:rPr lang="zh-CN" altLang="en-US" sz="1200" dirty="0"/>
              <a:t>秒增加 </a:t>
            </a:r>
            <a:r>
              <a:rPr lang="en-US" altLang="zh-CN" sz="1200" dirty="0"/>
              <a:t>10 </a:t>
            </a:r>
            <a:r>
              <a:rPr lang="zh-CN" altLang="en-US" sz="1200" dirty="0"/>
              <a:t>个用户，</a:t>
            </a:r>
            <a:endParaRPr lang="en-US" altLang="zh-CN" sz="1200" dirty="0"/>
          </a:p>
          <a:p>
            <a:r>
              <a:rPr lang="zh-CN" altLang="en-US" sz="1200" dirty="0"/>
              <a:t>直到达到 </a:t>
            </a:r>
            <a:r>
              <a:rPr lang="en-US" altLang="zh-CN" sz="1200" dirty="0"/>
              <a:t>100 </a:t>
            </a:r>
            <a:r>
              <a:rPr lang="zh-CN" altLang="en-US" sz="1200" dirty="0"/>
              <a:t>个用户的峰值并稳定压测，最后再按梯度退出。</a:t>
            </a:r>
            <a:endParaRPr lang="en-US" altLang="zh-CN" sz="1200" dirty="0"/>
          </a:p>
          <a:p>
            <a:r>
              <a:rPr lang="zh-CN" altLang="en-US" sz="1200" dirty="0"/>
              <a:t>它直观反映了压测的负载施加节奏，和线程组的配置是完全匹配的</a:t>
            </a:r>
            <a:r>
              <a:rPr lang="zh-CN" altLang="en-US" sz="1600" dirty="0"/>
              <a:t>。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763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82930" y="345292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15208" y="1701363"/>
            <a:ext cx="30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响应时间随时间变化曲线：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744" y="1290259"/>
            <a:ext cx="6943437" cy="529478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1228" y="2488109"/>
            <a:ext cx="41078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记录了 “登录请求” 和 “员工查询” 两个核心接口，在整个压测过程中响应时间的变化趋势。可以看到，随着并发用户数的增加，接口响应时间整体呈上升趋势，在高并发阶段（</a:t>
            </a:r>
            <a:r>
              <a:rPr lang="en-US" altLang="zh-CN" dirty="0"/>
              <a:t>100 </a:t>
            </a:r>
            <a:r>
              <a:rPr lang="zh-CN" altLang="en-US" dirty="0"/>
              <a:t>用户）响应时间出现了明显波动，最高达到约 </a:t>
            </a:r>
            <a:r>
              <a:rPr lang="en-US" altLang="zh-CN" dirty="0"/>
              <a:t>400ms</a:t>
            </a:r>
            <a:r>
              <a:rPr lang="zh-CN" altLang="en-US" dirty="0"/>
              <a:t>，说明系统在高负载下性能压力明显，响应延迟显著增加</a:t>
            </a: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265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174918" y="345292"/>
            <a:ext cx="1842172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2450" y="1209280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每秒事务数（</a:t>
            </a:r>
            <a:r>
              <a:rPr lang="en-US" altLang="zh-CN" dirty="0"/>
              <a:t>TPS</a:t>
            </a:r>
            <a:r>
              <a:rPr lang="zh-CN" altLang="en-US" dirty="0"/>
              <a:t>）随时间变化曲线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2450" y="1802095"/>
            <a:ext cx="37054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反映了系统每秒能处理的请求数（</a:t>
            </a:r>
            <a:r>
              <a:rPr lang="en-US" altLang="zh-CN" dirty="0"/>
              <a:t>TPS</a:t>
            </a:r>
            <a:r>
              <a:rPr lang="zh-CN" altLang="en-US" dirty="0"/>
              <a:t>）变化。可以看到，在压测前期，系统 </a:t>
            </a:r>
            <a:r>
              <a:rPr lang="en-US" altLang="zh-CN" dirty="0"/>
              <a:t>TPS </a:t>
            </a:r>
            <a:r>
              <a:rPr lang="zh-CN" altLang="en-US" dirty="0"/>
              <a:t>能随用户数增加而上升，峰值 </a:t>
            </a:r>
            <a:r>
              <a:rPr lang="en-US" altLang="zh-CN" dirty="0"/>
              <a:t>TPS </a:t>
            </a:r>
            <a:r>
              <a:rPr lang="zh-CN" altLang="en-US" dirty="0"/>
              <a:t>接近 </a:t>
            </a:r>
            <a:r>
              <a:rPr lang="en-US" altLang="zh-CN" dirty="0"/>
              <a:t>1800</a:t>
            </a:r>
            <a:r>
              <a:rPr lang="zh-CN" altLang="en-US" dirty="0"/>
              <a:t>；但随着负载持续，系统出现了大量失败请求（蓝色 </a:t>
            </a:r>
            <a:r>
              <a:rPr lang="en-US" altLang="zh-CN" dirty="0"/>
              <a:t>/ </a:t>
            </a:r>
            <a:r>
              <a:rPr lang="zh-CN" altLang="en-US" dirty="0"/>
              <a:t>棕色线），成功请求的 </a:t>
            </a:r>
            <a:r>
              <a:rPr lang="en-US" altLang="zh-CN" dirty="0"/>
              <a:t>TPS </a:t>
            </a:r>
            <a:r>
              <a:rPr lang="zh-CN" altLang="en-US" dirty="0"/>
              <a:t>极不稳定，失败率居高不下，说明系统在高并发下出现了明显的服务降级或接口报错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231" y="1276917"/>
            <a:ext cx="6237005" cy="47051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799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191760" y="34529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结果分析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76241" y="161438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请求报错截图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072" y="1460749"/>
            <a:ext cx="8171434" cy="49351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692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593299" y="34529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总结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64673" y="4504698"/>
            <a:ext cx="9698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本次压测的核心数据汇总表，包含两个接口的关键性能指标。从数据来看，登录请求和员工查询的平均响应时间分别为 </a:t>
            </a:r>
            <a:r>
              <a:rPr lang="en-US" altLang="zh-CN" dirty="0"/>
              <a:t>83ms </a:t>
            </a:r>
            <a:r>
              <a:rPr lang="zh-CN" altLang="en-US" dirty="0"/>
              <a:t>和 </a:t>
            </a:r>
            <a:r>
              <a:rPr lang="en-US" altLang="zh-CN" dirty="0"/>
              <a:t>71ms</a:t>
            </a:r>
            <a:r>
              <a:rPr lang="zh-CN" altLang="en-US" dirty="0"/>
              <a:t>，但异常率高达 </a:t>
            </a:r>
            <a:r>
              <a:rPr lang="en-US" altLang="zh-CN" dirty="0"/>
              <a:t>58% </a:t>
            </a:r>
            <a:r>
              <a:rPr lang="zh-CN" altLang="en-US" dirty="0"/>
              <a:t>以上，说明超过一半的请求都失败了；整体系统吞吐量为 </a:t>
            </a:r>
            <a:r>
              <a:rPr lang="en-US" altLang="zh-CN" dirty="0"/>
              <a:t>722.2 </a:t>
            </a:r>
            <a:r>
              <a:rPr lang="zh-CN" altLang="en-US" dirty="0"/>
              <a:t>次 </a:t>
            </a:r>
            <a:r>
              <a:rPr lang="en-US" altLang="zh-CN" dirty="0"/>
              <a:t>/ </a:t>
            </a:r>
            <a:r>
              <a:rPr lang="zh-CN" altLang="en-US" dirty="0"/>
              <a:t>秒，远低于预期，且最大响应时间达到了 </a:t>
            </a:r>
            <a:r>
              <a:rPr lang="en-US" altLang="zh-CN" dirty="0"/>
              <a:t>4510ms</a:t>
            </a:r>
            <a:r>
              <a:rPr lang="zh-CN" altLang="en-US" dirty="0"/>
              <a:t>，表明系统在高并发下稳定性极差，存在严重的性能瓶颈。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5" y="1866482"/>
            <a:ext cx="9455150" cy="23177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658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593299" y="34529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总结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35330" y="1855470"/>
            <a:ext cx="10959465" cy="306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本次性能测试采用阶梯式线程组模型，计划模拟 </a:t>
            </a:r>
            <a:r>
              <a:rPr lang="en-US" altLang="zh-CN" dirty="0"/>
              <a:t>100 </a:t>
            </a:r>
            <a:r>
              <a:rPr lang="zh-CN" altLang="en-US" dirty="0"/>
              <a:t>个并发用户，线程按梯度逐步增加，每 </a:t>
            </a:r>
            <a:r>
              <a:rPr lang="en-US" altLang="zh-CN" dirty="0"/>
              <a:t>30 </a:t>
            </a:r>
            <a:r>
              <a:rPr lang="zh-CN" altLang="en-US" dirty="0"/>
              <a:t>秒新增 </a:t>
            </a:r>
            <a:r>
              <a:rPr lang="en-US" altLang="zh-CN" dirty="0"/>
              <a:t>10 </a:t>
            </a:r>
            <a:r>
              <a:rPr lang="zh-CN" altLang="en-US" dirty="0"/>
              <a:t>个用户，达到峰值后持续压测，完整的用户增长模型与活跃线程数变化如所示。随着用户数增加，两个核心接口的响应时间整体呈上升趋势，在 </a:t>
            </a:r>
            <a:r>
              <a:rPr lang="en-US" altLang="zh-CN" dirty="0"/>
              <a:t>100 </a:t>
            </a:r>
            <a:r>
              <a:rPr lang="zh-CN" altLang="en-US" dirty="0"/>
              <a:t>用户峰值阶段出现明显波动，最大响应时间超过 </a:t>
            </a:r>
            <a:r>
              <a:rPr lang="en-US" altLang="zh-CN" dirty="0"/>
              <a:t>400ms</a:t>
            </a:r>
            <a:r>
              <a:rPr lang="zh-CN" altLang="en-US" dirty="0"/>
              <a:t>。系统吞吐量在压测前期虽能短暂达到较高水平，但后续大量请求失败，导致整体 </a:t>
            </a:r>
            <a:r>
              <a:rPr lang="en-US" altLang="zh-CN" dirty="0"/>
              <a:t>TPS </a:t>
            </a:r>
            <a:r>
              <a:rPr lang="zh-CN" altLang="en-US" dirty="0"/>
              <a:t>极不稳定。从最终聚合报告来看，两个接口的请求异常率均超过 </a:t>
            </a:r>
            <a:r>
              <a:rPr lang="en-US" altLang="zh-CN" dirty="0"/>
              <a:t>58%</a:t>
            </a:r>
            <a:r>
              <a:rPr lang="zh-CN" altLang="en-US" dirty="0"/>
              <a:t>，说明系统在 </a:t>
            </a:r>
            <a:r>
              <a:rPr lang="en-US" altLang="zh-CN" dirty="0"/>
              <a:t>100 </a:t>
            </a:r>
            <a:r>
              <a:rPr lang="zh-CN" altLang="en-US" dirty="0"/>
              <a:t>并发场景下无法稳定处理请求，存在明显的性能瓶颈与稳定性问题。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702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/>
          <p:cNvSpPr/>
          <p:nvPr/>
        </p:nvSpPr>
        <p:spPr>
          <a:xfrm flipV="1">
            <a:off x="0" y="0"/>
            <a:ext cx="4961528" cy="41148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等腰三角形 5"/>
          <p:cNvSpPr/>
          <p:nvPr/>
        </p:nvSpPr>
        <p:spPr>
          <a:xfrm rot="10800000" flipV="1">
            <a:off x="10055786" y="5086350"/>
            <a:ext cx="2136213" cy="1771650"/>
          </a:xfrm>
          <a:prstGeom prst="triangle">
            <a:avLst>
              <a:gd name="adj" fmla="val 0"/>
            </a:avLst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622774" y="3045418"/>
            <a:ext cx="1146506" cy="95084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" y="4456560"/>
            <a:ext cx="2895599" cy="24014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4961528" y="0"/>
            <a:ext cx="2429874" cy="201519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097447" y="3131519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感谢您的观看指导</a:t>
            </a: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11569700" y="4310556"/>
            <a:ext cx="622300" cy="5161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0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ce02f6d-e5cd-4546-9067-9c516b8d309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ad16b59c-c7c1-4f8a-adca-69ff34436f2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ed1754b-4077-4e8e-adb3-51bd0c33cd6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44c1112-77b0-44fd-b649-ab1d9e70d73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444c1112-77b0-44fd-b649-ab1d9e70d73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97d3ba61-682d-434a-87f9-9a01dafa746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第一PPT，www.1ppt.com">
  <a:themeElements>
    <a:clrScheme name="自定义 10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8CC5"/>
      </a:accent1>
      <a:accent2>
        <a:srgbClr val="4C4676"/>
      </a:accent2>
      <a:accent3>
        <a:srgbClr val="298CC5"/>
      </a:accent3>
      <a:accent4>
        <a:srgbClr val="4C4676"/>
      </a:accent4>
      <a:accent5>
        <a:srgbClr val="298CC5"/>
      </a:accent5>
      <a:accent6>
        <a:srgbClr val="4C467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5289</Words>
  <Application>Microsoft Office PowerPoint</Application>
  <PresentationFormat>宽屏</PresentationFormat>
  <Paragraphs>627</Paragraphs>
  <Slides>52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4" baseType="lpstr">
      <vt:lpstr>等线</vt:lpstr>
      <vt:lpstr>等线 Light</vt:lpstr>
      <vt:lpstr>华文宋体</vt:lpstr>
      <vt:lpstr>思源宋体 Light</vt:lpstr>
      <vt:lpstr>宋体</vt:lpstr>
      <vt:lpstr>微软雅黑</vt:lpstr>
      <vt:lpstr>Agency FB</vt:lpstr>
      <vt:lpstr>Arial</vt:lpstr>
      <vt:lpstr>Courier New</vt:lpstr>
      <vt:lpstr>Wingdings</vt:lpstr>
      <vt:lpstr>Office 主题​​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7</cp:revision>
  <dcterms:created xsi:type="dcterms:W3CDTF">2026-05-26T07:13:12Z</dcterms:created>
  <dcterms:modified xsi:type="dcterms:W3CDTF">2026-05-27T03:24:27Z</dcterms:modified>
</cp:coreProperties>
</file>