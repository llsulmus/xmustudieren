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0" r:id="rId2"/>
    <p:sldId id="321" r:id="rId3"/>
    <p:sldId id="362" r:id="rId4"/>
    <p:sldId id="328" r:id="rId5"/>
    <p:sldId id="366" r:id="rId6"/>
    <p:sldId id="364" r:id="rId7"/>
    <p:sldId id="365" r:id="rId8"/>
    <p:sldId id="322" r:id="rId9"/>
    <p:sldId id="325" r:id="rId10"/>
    <p:sldId id="327" r:id="rId11"/>
    <p:sldId id="367" r:id="rId12"/>
    <p:sldId id="329" r:id="rId13"/>
    <p:sldId id="363" r:id="rId14"/>
    <p:sldId id="263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676"/>
    <a:srgbClr val="298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0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AF21E-AA1D-4678-9985-583FF147C86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E13EF-56DF-477F-9799-2CC6E8A63D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685124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182274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679425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1293017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1"/>
          </p:nvPr>
        </p:nvSpPr>
        <p:spPr>
          <a:xfrm>
            <a:off x="3230786" y="2427901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2"/>
          </p:nvPr>
        </p:nvSpPr>
        <p:spPr>
          <a:xfrm>
            <a:off x="5168555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3"/>
          </p:nvPr>
        </p:nvSpPr>
        <p:spPr>
          <a:xfrm>
            <a:off x="7167864" y="2427901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9131445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038226" y="1866901"/>
            <a:ext cx="3143250" cy="3946525"/>
          </a:xfrm>
          <a:custGeom>
            <a:avLst/>
            <a:gdLst>
              <a:gd name="connsiteX0" fmla="*/ 0 w 3143250"/>
              <a:gd name="connsiteY0" fmla="*/ 0 h 3946525"/>
              <a:gd name="connsiteX1" fmla="*/ 3143250 w 3143250"/>
              <a:gd name="connsiteY1" fmla="*/ 0 h 3946525"/>
              <a:gd name="connsiteX2" fmla="*/ 3143250 w 3143250"/>
              <a:gd name="connsiteY2" fmla="*/ 3946525 h 3946525"/>
              <a:gd name="connsiteX3" fmla="*/ 0 w 3143250"/>
              <a:gd name="connsiteY3" fmla="*/ 3946525 h 394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0" h="3946525">
                <a:moveTo>
                  <a:pt x="0" y="0"/>
                </a:moveTo>
                <a:lnTo>
                  <a:pt x="3143250" y="0"/>
                </a:lnTo>
                <a:lnTo>
                  <a:pt x="3143250" y="3946525"/>
                </a:lnTo>
                <a:lnTo>
                  <a:pt x="0" y="39465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6905625" y="1866901"/>
            <a:ext cx="4248150" cy="1910119"/>
          </a:xfrm>
          <a:custGeom>
            <a:avLst/>
            <a:gdLst>
              <a:gd name="connsiteX0" fmla="*/ 0 w 4248150"/>
              <a:gd name="connsiteY0" fmla="*/ 0 h 1910119"/>
              <a:gd name="connsiteX1" fmla="*/ 4248150 w 4248150"/>
              <a:gd name="connsiteY1" fmla="*/ 0 h 1910119"/>
              <a:gd name="connsiteX2" fmla="*/ 4248150 w 4248150"/>
              <a:gd name="connsiteY2" fmla="*/ 1910119 h 1910119"/>
              <a:gd name="connsiteX3" fmla="*/ 0 w 4248150"/>
              <a:gd name="connsiteY3" fmla="*/ 1910119 h 19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8150" h="1910119">
                <a:moveTo>
                  <a:pt x="0" y="0"/>
                </a:moveTo>
                <a:lnTo>
                  <a:pt x="4248150" y="0"/>
                </a:lnTo>
                <a:lnTo>
                  <a:pt x="4248150" y="1910119"/>
                </a:lnTo>
                <a:lnTo>
                  <a:pt x="0" y="19101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6905625" y="3903307"/>
            <a:ext cx="4248150" cy="1910119"/>
          </a:xfrm>
          <a:custGeom>
            <a:avLst/>
            <a:gdLst>
              <a:gd name="connsiteX0" fmla="*/ 0 w 4248150"/>
              <a:gd name="connsiteY0" fmla="*/ 0 h 1910119"/>
              <a:gd name="connsiteX1" fmla="*/ 4248150 w 4248150"/>
              <a:gd name="connsiteY1" fmla="*/ 0 h 1910119"/>
              <a:gd name="connsiteX2" fmla="*/ 4248150 w 4248150"/>
              <a:gd name="connsiteY2" fmla="*/ 1910119 h 1910119"/>
              <a:gd name="connsiteX3" fmla="*/ 0 w 4248150"/>
              <a:gd name="connsiteY3" fmla="*/ 1910119 h 19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8150" h="1910119">
                <a:moveTo>
                  <a:pt x="0" y="0"/>
                </a:moveTo>
                <a:lnTo>
                  <a:pt x="4248150" y="0"/>
                </a:lnTo>
                <a:lnTo>
                  <a:pt x="4248150" y="1910119"/>
                </a:lnTo>
                <a:lnTo>
                  <a:pt x="0" y="19101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904224" y="1683655"/>
            <a:ext cx="7583462" cy="4287616"/>
          </a:xfrm>
          <a:custGeom>
            <a:avLst/>
            <a:gdLst>
              <a:gd name="connsiteX0" fmla="*/ 0 w 7583462"/>
              <a:gd name="connsiteY0" fmla="*/ 0 h 4287616"/>
              <a:gd name="connsiteX1" fmla="*/ 7583462 w 7583462"/>
              <a:gd name="connsiteY1" fmla="*/ 0 h 4287616"/>
              <a:gd name="connsiteX2" fmla="*/ 7583462 w 7583462"/>
              <a:gd name="connsiteY2" fmla="*/ 4287616 h 4287616"/>
              <a:gd name="connsiteX3" fmla="*/ 0 w 7583462"/>
              <a:gd name="connsiteY3" fmla="*/ 4287616 h 428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3462" h="4287616">
                <a:moveTo>
                  <a:pt x="0" y="0"/>
                </a:moveTo>
                <a:lnTo>
                  <a:pt x="7583462" y="0"/>
                </a:lnTo>
                <a:lnTo>
                  <a:pt x="7583462" y="4287616"/>
                </a:lnTo>
                <a:lnTo>
                  <a:pt x="0" y="42876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52500" y="1574801"/>
            <a:ext cx="5168900" cy="2214563"/>
          </a:xfrm>
          <a:custGeom>
            <a:avLst/>
            <a:gdLst>
              <a:gd name="connsiteX0" fmla="*/ 0 w 5168900"/>
              <a:gd name="connsiteY0" fmla="*/ 0 h 2214563"/>
              <a:gd name="connsiteX1" fmla="*/ 5168900 w 5168900"/>
              <a:gd name="connsiteY1" fmla="*/ 0 h 2214563"/>
              <a:gd name="connsiteX2" fmla="*/ 5168900 w 5168900"/>
              <a:gd name="connsiteY2" fmla="*/ 2214563 h 2214563"/>
              <a:gd name="connsiteX3" fmla="*/ 0 w 5168900"/>
              <a:gd name="connsiteY3" fmla="*/ 2214563 h 22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8900" h="2214563">
                <a:moveTo>
                  <a:pt x="0" y="0"/>
                </a:moveTo>
                <a:lnTo>
                  <a:pt x="5168900" y="0"/>
                </a:lnTo>
                <a:lnTo>
                  <a:pt x="5168900" y="2214563"/>
                </a:lnTo>
                <a:lnTo>
                  <a:pt x="0" y="2214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527800" y="3910167"/>
            <a:ext cx="4687888" cy="2100107"/>
          </a:xfrm>
          <a:custGeom>
            <a:avLst/>
            <a:gdLst>
              <a:gd name="connsiteX0" fmla="*/ 0 w 4687888"/>
              <a:gd name="connsiteY0" fmla="*/ 0 h 2100107"/>
              <a:gd name="connsiteX1" fmla="*/ 4687888 w 4687888"/>
              <a:gd name="connsiteY1" fmla="*/ 0 h 2100107"/>
              <a:gd name="connsiteX2" fmla="*/ 4687888 w 4687888"/>
              <a:gd name="connsiteY2" fmla="*/ 2100107 h 2100107"/>
              <a:gd name="connsiteX3" fmla="*/ 0 w 4687888"/>
              <a:gd name="connsiteY3" fmla="*/ 2100107 h 210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7888" h="2100107">
                <a:moveTo>
                  <a:pt x="0" y="0"/>
                </a:moveTo>
                <a:lnTo>
                  <a:pt x="4687888" y="0"/>
                </a:lnTo>
                <a:lnTo>
                  <a:pt x="4687888" y="2100107"/>
                </a:lnTo>
                <a:lnTo>
                  <a:pt x="0" y="21001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3432175" y="1"/>
            <a:ext cx="8759827" cy="7893048"/>
          </a:xfrm>
          <a:custGeom>
            <a:avLst/>
            <a:gdLst>
              <a:gd name="connsiteX0" fmla="*/ 7838282 w 8759827"/>
              <a:gd name="connsiteY0" fmla="*/ 3101973 h 7893048"/>
              <a:gd name="connsiteX1" fmla="*/ 8759827 w 8759827"/>
              <a:gd name="connsiteY1" fmla="*/ 4025048 h 7893048"/>
              <a:gd name="connsiteX2" fmla="*/ 8759827 w 8759827"/>
              <a:gd name="connsiteY2" fmla="*/ 6969974 h 7893048"/>
              <a:gd name="connsiteX3" fmla="*/ 7838282 w 8759827"/>
              <a:gd name="connsiteY3" fmla="*/ 7893048 h 7893048"/>
              <a:gd name="connsiteX4" fmla="*/ 5446713 w 8759827"/>
              <a:gd name="connsiteY4" fmla="*/ 5497511 h 7893048"/>
              <a:gd name="connsiteX5" fmla="*/ 5087145 w 8759827"/>
              <a:gd name="connsiteY5" fmla="*/ 352424 h 7893048"/>
              <a:gd name="connsiteX6" fmla="*/ 7478714 w 8759827"/>
              <a:gd name="connsiteY6" fmla="*/ 2747962 h 7893048"/>
              <a:gd name="connsiteX7" fmla="*/ 5087145 w 8759827"/>
              <a:gd name="connsiteY7" fmla="*/ 5143499 h 7893048"/>
              <a:gd name="connsiteX8" fmla="*/ 2695578 w 8759827"/>
              <a:gd name="connsiteY8" fmla="*/ 2747962 h 7893048"/>
              <a:gd name="connsiteX9" fmla="*/ 5459391 w 8759827"/>
              <a:gd name="connsiteY9" fmla="*/ 0 h 7893048"/>
              <a:gd name="connsiteX10" fmla="*/ 8759827 w 8759827"/>
              <a:gd name="connsiteY10" fmla="*/ 0 h 7893048"/>
              <a:gd name="connsiteX11" fmla="*/ 8759827 w 8759827"/>
              <a:gd name="connsiteY11" fmla="*/ 1485162 h 7893048"/>
              <a:gd name="connsiteX12" fmla="*/ 7838282 w 8759827"/>
              <a:gd name="connsiteY12" fmla="*/ 2408236 h 7893048"/>
              <a:gd name="connsiteX13" fmla="*/ 5446713 w 8759827"/>
              <a:gd name="connsiteY13" fmla="*/ 12699 h 7893048"/>
              <a:gd name="connsiteX14" fmla="*/ 12678 w 8759827"/>
              <a:gd name="connsiteY14" fmla="*/ 0 h 7893048"/>
              <a:gd name="connsiteX15" fmla="*/ 4770461 w 8759827"/>
              <a:gd name="connsiteY15" fmla="*/ 0 h 7893048"/>
              <a:gd name="connsiteX16" fmla="*/ 4783139 w 8759827"/>
              <a:gd name="connsiteY16" fmla="*/ 12699 h 7893048"/>
              <a:gd name="connsiteX17" fmla="*/ 2391571 w 8759827"/>
              <a:gd name="connsiteY17" fmla="*/ 2408236 h 7893048"/>
              <a:gd name="connsiteX18" fmla="*/ 0 w 8759827"/>
              <a:gd name="connsiteY18" fmla="*/ 12699 h 789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759827" h="7893048">
                <a:moveTo>
                  <a:pt x="7838282" y="3101973"/>
                </a:moveTo>
                <a:lnTo>
                  <a:pt x="8759827" y="4025048"/>
                </a:lnTo>
                <a:lnTo>
                  <a:pt x="8759827" y="6969974"/>
                </a:lnTo>
                <a:lnTo>
                  <a:pt x="7838282" y="7893048"/>
                </a:lnTo>
                <a:lnTo>
                  <a:pt x="5446713" y="5497511"/>
                </a:lnTo>
                <a:close/>
                <a:moveTo>
                  <a:pt x="5087145" y="352424"/>
                </a:moveTo>
                <a:lnTo>
                  <a:pt x="7478714" y="2747962"/>
                </a:lnTo>
                <a:lnTo>
                  <a:pt x="5087145" y="5143499"/>
                </a:lnTo>
                <a:lnTo>
                  <a:pt x="2695578" y="2747962"/>
                </a:lnTo>
                <a:close/>
                <a:moveTo>
                  <a:pt x="5459391" y="0"/>
                </a:moveTo>
                <a:lnTo>
                  <a:pt x="8759827" y="0"/>
                </a:lnTo>
                <a:lnTo>
                  <a:pt x="8759827" y="1485162"/>
                </a:lnTo>
                <a:lnTo>
                  <a:pt x="7838282" y="2408236"/>
                </a:lnTo>
                <a:lnTo>
                  <a:pt x="5446713" y="12699"/>
                </a:lnTo>
                <a:close/>
                <a:moveTo>
                  <a:pt x="12678" y="0"/>
                </a:moveTo>
                <a:lnTo>
                  <a:pt x="4770461" y="0"/>
                </a:lnTo>
                <a:lnTo>
                  <a:pt x="4783139" y="12699"/>
                </a:lnTo>
                <a:lnTo>
                  <a:pt x="2391571" y="2408236"/>
                </a:lnTo>
                <a:lnTo>
                  <a:pt x="0" y="126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hyperlink" Target="http://localhost:808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180405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04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prstClr val="black"/>
                </a:solidFill>
                <a:latin typeface="Agency FB" panose="020B0503020202020204" pitchFamily="34" charset="0"/>
                <a:ea typeface="微软雅黑" panose="020B0503020204020204" charset="-122"/>
              </a:rPr>
              <a:t>性能测试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859909" y="3731960"/>
            <a:ext cx="625803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38" grpId="0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性能测试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2130224" y="2445564"/>
            <a:ext cx="1701138" cy="1644861"/>
            <a:chOff x="1004890" y="2075502"/>
            <a:chExt cx="2264502" cy="2193351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264502" cy="2193351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1495120" y="3330506"/>
              <a:ext cx="1515380" cy="5171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场景设计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385049" y="2458782"/>
            <a:ext cx="2289060" cy="1617579"/>
            <a:chOff x="3609572" y="2075502"/>
            <a:chExt cx="2883209" cy="2188766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2" y="2075502"/>
              <a:ext cx="2344863" cy="2188766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99806" y="3261092"/>
              <a:ext cx="2292975" cy="4902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结果分析</a:t>
              </a:r>
            </a:p>
          </p:txBody>
        </p:sp>
      </p:grpSp>
      <p:sp>
        <p:nvSpPr>
          <p:cNvPr id="121" name="椭圆 38"/>
          <p:cNvSpPr/>
          <p:nvPr/>
        </p:nvSpPr>
        <p:spPr>
          <a:xfrm>
            <a:off x="4595418" y="2884098"/>
            <a:ext cx="290739" cy="262842"/>
          </a:xfrm>
          <a:custGeom>
            <a:avLst/>
            <a:gdLst>
              <a:gd name="connsiteX0" fmla="*/ 303775 w 607639"/>
              <a:gd name="connsiteY0" fmla="*/ 525007 h 606722"/>
              <a:gd name="connsiteX1" fmla="*/ 315710 w 607639"/>
              <a:gd name="connsiteY1" fmla="*/ 536902 h 606722"/>
              <a:gd name="connsiteX2" fmla="*/ 315710 w 607639"/>
              <a:gd name="connsiteY2" fmla="*/ 552347 h 606722"/>
              <a:gd name="connsiteX3" fmla="*/ 303775 w 607639"/>
              <a:gd name="connsiteY3" fmla="*/ 564241 h 606722"/>
              <a:gd name="connsiteX4" fmla="*/ 291929 w 607639"/>
              <a:gd name="connsiteY4" fmla="*/ 552347 h 606722"/>
              <a:gd name="connsiteX5" fmla="*/ 291929 w 607639"/>
              <a:gd name="connsiteY5" fmla="*/ 536902 h 606722"/>
              <a:gd name="connsiteX6" fmla="*/ 303775 w 607639"/>
              <a:gd name="connsiteY6" fmla="*/ 525007 h 606722"/>
              <a:gd name="connsiteX7" fmla="*/ 429885 w 607639"/>
              <a:gd name="connsiteY7" fmla="*/ 509483 h 606722"/>
              <a:gd name="connsiteX8" fmla="*/ 441811 w 607639"/>
              <a:gd name="connsiteY8" fmla="*/ 521409 h 606722"/>
              <a:gd name="connsiteX9" fmla="*/ 429885 w 607639"/>
              <a:gd name="connsiteY9" fmla="*/ 533335 h 606722"/>
              <a:gd name="connsiteX10" fmla="*/ 417959 w 607639"/>
              <a:gd name="connsiteY10" fmla="*/ 521409 h 606722"/>
              <a:gd name="connsiteX11" fmla="*/ 429885 w 607639"/>
              <a:gd name="connsiteY11" fmla="*/ 509483 h 606722"/>
              <a:gd name="connsiteX12" fmla="*/ 177720 w 607639"/>
              <a:gd name="connsiteY12" fmla="*/ 509483 h 606722"/>
              <a:gd name="connsiteX13" fmla="*/ 189611 w 607639"/>
              <a:gd name="connsiteY13" fmla="*/ 521409 h 606722"/>
              <a:gd name="connsiteX14" fmla="*/ 177720 w 607639"/>
              <a:gd name="connsiteY14" fmla="*/ 533335 h 606722"/>
              <a:gd name="connsiteX15" fmla="*/ 165829 w 607639"/>
              <a:gd name="connsiteY15" fmla="*/ 521409 h 606722"/>
              <a:gd name="connsiteX16" fmla="*/ 177720 w 607639"/>
              <a:gd name="connsiteY16" fmla="*/ 509483 h 606722"/>
              <a:gd name="connsiteX17" fmla="*/ 522185 w 607639"/>
              <a:gd name="connsiteY17" fmla="*/ 417324 h 606722"/>
              <a:gd name="connsiteX18" fmla="*/ 534111 w 607639"/>
              <a:gd name="connsiteY18" fmla="*/ 429250 h 606722"/>
              <a:gd name="connsiteX19" fmla="*/ 522185 w 607639"/>
              <a:gd name="connsiteY19" fmla="*/ 441176 h 606722"/>
              <a:gd name="connsiteX20" fmla="*/ 510259 w 607639"/>
              <a:gd name="connsiteY20" fmla="*/ 429250 h 606722"/>
              <a:gd name="connsiteX21" fmla="*/ 522185 w 607639"/>
              <a:gd name="connsiteY21" fmla="*/ 417324 h 606722"/>
              <a:gd name="connsiteX22" fmla="*/ 85420 w 607639"/>
              <a:gd name="connsiteY22" fmla="*/ 417324 h 606722"/>
              <a:gd name="connsiteX23" fmla="*/ 97311 w 607639"/>
              <a:gd name="connsiteY23" fmla="*/ 429250 h 606722"/>
              <a:gd name="connsiteX24" fmla="*/ 85420 w 607639"/>
              <a:gd name="connsiteY24" fmla="*/ 441176 h 606722"/>
              <a:gd name="connsiteX25" fmla="*/ 73529 w 607639"/>
              <a:gd name="connsiteY25" fmla="*/ 429250 h 606722"/>
              <a:gd name="connsiteX26" fmla="*/ 85420 w 607639"/>
              <a:gd name="connsiteY26" fmla="*/ 417324 h 606722"/>
              <a:gd name="connsiteX27" fmla="*/ 537643 w 607639"/>
              <a:gd name="connsiteY27" fmla="*/ 291506 h 606722"/>
              <a:gd name="connsiteX28" fmla="*/ 555628 w 607639"/>
              <a:gd name="connsiteY28" fmla="*/ 291506 h 606722"/>
              <a:gd name="connsiteX29" fmla="*/ 567558 w 607639"/>
              <a:gd name="connsiteY29" fmla="*/ 303316 h 606722"/>
              <a:gd name="connsiteX30" fmla="*/ 555628 w 607639"/>
              <a:gd name="connsiteY30" fmla="*/ 315216 h 606722"/>
              <a:gd name="connsiteX31" fmla="*/ 537643 w 607639"/>
              <a:gd name="connsiteY31" fmla="*/ 315216 h 606722"/>
              <a:gd name="connsiteX32" fmla="*/ 525713 w 607639"/>
              <a:gd name="connsiteY32" fmla="*/ 303316 h 606722"/>
              <a:gd name="connsiteX33" fmla="*/ 537643 w 607639"/>
              <a:gd name="connsiteY33" fmla="*/ 291506 h 606722"/>
              <a:gd name="connsiteX34" fmla="*/ 51991 w 607639"/>
              <a:gd name="connsiteY34" fmla="*/ 291506 h 606722"/>
              <a:gd name="connsiteX35" fmla="*/ 69946 w 607639"/>
              <a:gd name="connsiteY35" fmla="*/ 291506 h 606722"/>
              <a:gd name="connsiteX36" fmla="*/ 81856 w 607639"/>
              <a:gd name="connsiteY36" fmla="*/ 303316 h 606722"/>
              <a:gd name="connsiteX37" fmla="*/ 69946 w 607639"/>
              <a:gd name="connsiteY37" fmla="*/ 315216 h 606722"/>
              <a:gd name="connsiteX38" fmla="*/ 51991 w 607639"/>
              <a:gd name="connsiteY38" fmla="*/ 315216 h 606722"/>
              <a:gd name="connsiteX39" fmla="*/ 40081 w 607639"/>
              <a:gd name="connsiteY39" fmla="*/ 303316 h 606722"/>
              <a:gd name="connsiteX40" fmla="*/ 51991 w 607639"/>
              <a:gd name="connsiteY40" fmla="*/ 291506 h 606722"/>
              <a:gd name="connsiteX41" fmla="*/ 412608 w 607639"/>
              <a:gd name="connsiteY41" fmla="*/ 222096 h 606722"/>
              <a:gd name="connsiteX42" fmla="*/ 345491 w 607639"/>
              <a:gd name="connsiteY42" fmla="*/ 334245 h 606722"/>
              <a:gd name="connsiteX43" fmla="*/ 412608 w 607639"/>
              <a:gd name="connsiteY43" fmla="*/ 334245 h 606722"/>
              <a:gd name="connsiteX44" fmla="*/ 427651 w 607639"/>
              <a:gd name="connsiteY44" fmla="*/ 167533 h 606722"/>
              <a:gd name="connsiteX45" fmla="*/ 436375 w 607639"/>
              <a:gd name="connsiteY45" fmla="*/ 178996 h 606722"/>
              <a:gd name="connsiteX46" fmla="*/ 436375 w 607639"/>
              <a:gd name="connsiteY46" fmla="*/ 334245 h 606722"/>
              <a:gd name="connsiteX47" fmla="*/ 469399 w 607639"/>
              <a:gd name="connsiteY47" fmla="*/ 334245 h 606722"/>
              <a:gd name="connsiteX48" fmla="*/ 481327 w 607639"/>
              <a:gd name="connsiteY48" fmla="*/ 346153 h 606722"/>
              <a:gd name="connsiteX49" fmla="*/ 469399 w 607639"/>
              <a:gd name="connsiteY49" fmla="*/ 357973 h 606722"/>
              <a:gd name="connsiteX50" fmla="*/ 436375 w 607639"/>
              <a:gd name="connsiteY50" fmla="*/ 357973 h 606722"/>
              <a:gd name="connsiteX51" fmla="*/ 436375 w 607639"/>
              <a:gd name="connsiteY51" fmla="*/ 427733 h 606722"/>
              <a:gd name="connsiteX52" fmla="*/ 424536 w 607639"/>
              <a:gd name="connsiteY52" fmla="*/ 439552 h 606722"/>
              <a:gd name="connsiteX53" fmla="*/ 412608 w 607639"/>
              <a:gd name="connsiteY53" fmla="*/ 427733 h 606722"/>
              <a:gd name="connsiteX54" fmla="*/ 412608 w 607639"/>
              <a:gd name="connsiteY54" fmla="*/ 357973 h 606722"/>
              <a:gd name="connsiteX55" fmla="*/ 324573 w 607639"/>
              <a:gd name="connsiteY55" fmla="*/ 357973 h 606722"/>
              <a:gd name="connsiteX56" fmla="*/ 314158 w 607639"/>
              <a:gd name="connsiteY56" fmla="*/ 352019 h 606722"/>
              <a:gd name="connsiteX57" fmla="*/ 314336 w 607639"/>
              <a:gd name="connsiteY57" fmla="*/ 340022 h 606722"/>
              <a:gd name="connsiteX58" fmla="*/ 414299 w 607639"/>
              <a:gd name="connsiteY58" fmla="*/ 172953 h 606722"/>
              <a:gd name="connsiteX59" fmla="*/ 427651 w 607639"/>
              <a:gd name="connsiteY59" fmla="*/ 167533 h 606722"/>
              <a:gd name="connsiteX60" fmla="*/ 216270 w 607639"/>
              <a:gd name="connsiteY60" fmla="*/ 167099 h 606722"/>
              <a:gd name="connsiteX61" fmla="*/ 290518 w 607639"/>
              <a:gd name="connsiteY61" fmla="*/ 241210 h 606722"/>
              <a:gd name="connsiteX62" fmla="*/ 242978 w 607639"/>
              <a:gd name="connsiteY62" fmla="*/ 355754 h 606722"/>
              <a:gd name="connsiteX63" fmla="*/ 182707 w 607639"/>
              <a:gd name="connsiteY63" fmla="*/ 415825 h 606722"/>
              <a:gd name="connsiteX64" fmla="*/ 278588 w 607639"/>
              <a:gd name="connsiteY64" fmla="*/ 415825 h 606722"/>
              <a:gd name="connsiteX65" fmla="*/ 290518 w 607639"/>
              <a:gd name="connsiteY65" fmla="*/ 427734 h 606722"/>
              <a:gd name="connsiteX66" fmla="*/ 278588 w 607639"/>
              <a:gd name="connsiteY66" fmla="*/ 439552 h 606722"/>
              <a:gd name="connsiteX67" fmla="*/ 154040 w 607639"/>
              <a:gd name="connsiteY67" fmla="*/ 439552 h 606722"/>
              <a:gd name="connsiteX68" fmla="*/ 143001 w 607639"/>
              <a:gd name="connsiteY68" fmla="*/ 432265 h 606722"/>
              <a:gd name="connsiteX69" fmla="*/ 145582 w 607639"/>
              <a:gd name="connsiteY69" fmla="*/ 419292 h 606722"/>
              <a:gd name="connsiteX70" fmla="*/ 226152 w 607639"/>
              <a:gd name="connsiteY70" fmla="*/ 338959 h 606722"/>
              <a:gd name="connsiteX71" fmla="*/ 266659 w 607639"/>
              <a:gd name="connsiteY71" fmla="*/ 241210 h 606722"/>
              <a:gd name="connsiteX72" fmla="*/ 216270 w 607639"/>
              <a:gd name="connsiteY72" fmla="*/ 190914 h 606722"/>
              <a:gd name="connsiteX73" fmla="*/ 165880 w 607639"/>
              <a:gd name="connsiteY73" fmla="*/ 241210 h 606722"/>
              <a:gd name="connsiteX74" fmla="*/ 154040 w 607639"/>
              <a:gd name="connsiteY74" fmla="*/ 253029 h 606722"/>
              <a:gd name="connsiteX75" fmla="*/ 142110 w 607639"/>
              <a:gd name="connsiteY75" fmla="*/ 241210 h 606722"/>
              <a:gd name="connsiteX76" fmla="*/ 216270 w 607639"/>
              <a:gd name="connsiteY76" fmla="*/ 167099 h 606722"/>
              <a:gd name="connsiteX77" fmla="*/ 522185 w 607639"/>
              <a:gd name="connsiteY77" fmla="*/ 165547 h 606722"/>
              <a:gd name="connsiteX78" fmla="*/ 534111 w 607639"/>
              <a:gd name="connsiteY78" fmla="*/ 177438 h 606722"/>
              <a:gd name="connsiteX79" fmla="*/ 522185 w 607639"/>
              <a:gd name="connsiteY79" fmla="*/ 189329 h 606722"/>
              <a:gd name="connsiteX80" fmla="*/ 510259 w 607639"/>
              <a:gd name="connsiteY80" fmla="*/ 177438 h 606722"/>
              <a:gd name="connsiteX81" fmla="*/ 522185 w 607639"/>
              <a:gd name="connsiteY81" fmla="*/ 165547 h 606722"/>
              <a:gd name="connsiteX82" fmla="*/ 85420 w 607639"/>
              <a:gd name="connsiteY82" fmla="*/ 165547 h 606722"/>
              <a:gd name="connsiteX83" fmla="*/ 97311 w 607639"/>
              <a:gd name="connsiteY83" fmla="*/ 177438 h 606722"/>
              <a:gd name="connsiteX84" fmla="*/ 85420 w 607639"/>
              <a:gd name="connsiteY84" fmla="*/ 189329 h 606722"/>
              <a:gd name="connsiteX85" fmla="*/ 73529 w 607639"/>
              <a:gd name="connsiteY85" fmla="*/ 177438 h 606722"/>
              <a:gd name="connsiteX86" fmla="*/ 85420 w 607639"/>
              <a:gd name="connsiteY86" fmla="*/ 165547 h 606722"/>
              <a:gd name="connsiteX87" fmla="*/ 429885 w 607639"/>
              <a:gd name="connsiteY87" fmla="*/ 73388 h 606722"/>
              <a:gd name="connsiteX88" fmla="*/ 441811 w 607639"/>
              <a:gd name="connsiteY88" fmla="*/ 85279 h 606722"/>
              <a:gd name="connsiteX89" fmla="*/ 429885 w 607639"/>
              <a:gd name="connsiteY89" fmla="*/ 97170 h 606722"/>
              <a:gd name="connsiteX90" fmla="*/ 417959 w 607639"/>
              <a:gd name="connsiteY90" fmla="*/ 85279 h 606722"/>
              <a:gd name="connsiteX91" fmla="*/ 429885 w 607639"/>
              <a:gd name="connsiteY91" fmla="*/ 73388 h 606722"/>
              <a:gd name="connsiteX92" fmla="*/ 177720 w 607639"/>
              <a:gd name="connsiteY92" fmla="*/ 73388 h 606722"/>
              <a:gd name="connsiteX93" fmla="*/ 189611 w 607639"/>
              <a:gd name="connsiteY93" fmla="*/ 85279 h 606722"/>
              <a:gd name="connsiteX94" fmla="*/ 177720 w 607639"/>
              <a:gd name="connsiteY94" fmla="*/ 97170 h 606722"/>
              <a:gd name="connsiteX95" fmla="*/ 165829 w 607639"/>
              <a:gd name="connsiteY95" fmla="*/ 85279 h 606722"/>
              <a:gd name="connsiteX96" fmla="*/ 177720 w 607639"/>
              <a:gd name="connsiteY96" fmla="*/ 73388 h 606722"/>
              <a:gd name="connsiteX97" fmla="*/ 303775 w 607639"/>
              <a:gd name="connsiteY97" fmla="*/ 42480 h 606722"/>
              <a:gd name="connsiteX98" fmla="*/ 315710 w 607639"/>
              <a:gd name="connsiteY98" fmla="*/ 54396 h 606722"/>
              <a:gd name="connsiteX99" fmla="*/ 315710 w 607639"/>
              <a:gd name="connsiteY99" fmla="*/ 69869 h 606722"/>
              <a:gd name="connsiteX100" fmla="*/ 303775 w 607639"/>
              <a:gd name="connsiteY100" fmla="*/ 81785 h 606722"/>
              <a:gd name="connsiteX101" fmla="*/ 291929 w 607639"/>
              <a:gd name="connsiteY101" fmla="*/ 69869 h 606722"/>
              <a:gd name="connsiteX102" fmla="*/ 291929 w 607639"/>
              <a:gd name="connsiteY102" fmla="*/ 54396 h 606722"/>
              <a:gd name="connsiteX103" fmla="*/ 303775 w 607639"/>
              <a:gd name="connsiteY103" fmla="*/ 42480 h 606722"/>
              <a:gd name="connsiteX104" fmla="*/ 303775 w 607639"/>
              <a:gd name="connsiteY104" fmla="*/ 0 h 606722"/>
              <a:gd name="connsiteX105" fmla="*/ 537058 w 607639"/>
              <a:gd name="connsiteY105" fmla="*/ 108956 h 606722"/>
              <a:gd name="connsiteX106" fmla="*/ 537058 w 607639"/>
              <a:gd name="connsiteY106" fmla="*/ 93048 h 606722"/>
              <a:gd name="connsiteX107" fmla="*/ 548895 w 607639"/>
              <a:gd name="connsiteY107" fmla="*/ 81139 h 606722"/>
              <a:gd name="connsiteX108" fmla="*/ 560822 w 607639"/>
              <a:gd name="connsiteY108" fmla="*/ 93048 h 606722"/>
              <a:gd name="connsiteX109" fmla="*/ 560822 w 607639"/>
              <a:gd name="connsiteY109" fmla="*/ 138994 h 606722"/>
              <a:gd name="connsiteX110" fmla="*/ 548895 w 607639"/>
              <a:gd name="connsiteY110" fmla="*/ 150903 h 606722"/>
              <a:gd name="connsiteX111" fmla="*/ 502880 w 607639"/>
              <a:gd name="connsiteY111" fmla="*/ 150903 h 606722"/>
              <a:gd name="connsiteX112" fmla="*/ 490953 w 607639"/>
              <a:gd name="connsiteY112" fmla="*/ 138994 h 606722"/>
              <a:gd name="connsiteX113" fmla="*/ 502880 w 607639"/>
              <a:gd name="connsiteY113" fmla="*/ 127174 h 606722"/>
              <a:gd name="connsiteX114" fmla="*/ 521126 w 607639"/>
              <a:gd name="connsiteY114" fmla="*/ 127174 h 606722"/>
              <a:gd name="connsiteX115" fmla="*/ 303775 w 607639"/>
              <a:gd name="connsiteY115" fmla="*/ 23728 h 606722"/>
              <a:gd name="connsiteX116" fmla="*/ 23764 w 607639"/>
              <a:gd name="connsiteY116" fmla="*/ 303316 h 606722"/>
              <a:gd name="connsiteX117" fmla="*/ 303775 w 607639"/>
              <a:gd name="connsiteY117" fmla="*/ 582905 h 606722"/>
              <a:gd name="connsiteX118" fmla="*/ 583786 w 607639"/>
              <a:gd name="connsiteY118" fmla="*/ 303316 h 606722"/>
              <a:gd name="connsiteX119" fmla="*/ 573906 w 607639"/>
              <a:gd name="connsiteY119" fmla="*/ 229376 h 606722"/>
              <a:gd name="connsiteX120" fmla="*/ 582273 w 607639"/>
              <a:gd name="connsiteY120" fmla="*/ 214801 h 606722"/>
              <a:gd name="connsiteX121" fmla="*/ 596869 w 607639"/>
              <a:gd name="connsiteY121" fmla="*/ 223066 h 606722"/>
              <a:gd name="connsiteX122" fmla="*/ 607639 w 607639"/>
              <a:gd name="connsiteY122" fmla="*/ 303316 h 606722"/>
              <a:gd name="connsiteX123" fmla="*/ 303775 w 607639"/>
              <a:gd name="connsiteY123" fmla="*/ 606722 h 606722"/>
              <a:gd name="connsiteX124" fmla="*/ 0 w 607639"/>
              <a:gd name="connsiteY124" fmla="*/ 303316 h 606722"/>
              <a:gd name="connsiteX125" fmla="*/ 303775 w 607639"/>
              <a:gd name="connsiteY125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07639" h="606722">
                <a:moveTo>
                  <a:pt x="303775" y="525007"/>
                </a:moveTo>
                <a:cubicBezTo>
                  <a:pt x="310366" y="525007"/>
                  <a:pt x="315710" y="530333"/>
                  <a:pt x="315710" y="536902"/>
                </a:cubicBezTo>
                <a:lnTo>
                  <a:pt x="315710" y="552347"/>
                </a:lnTo>
                <a:cubicBezTo>
                  <a:pt x="315710" y="558915"/>
                  <a:pt x="310366" y="564241"/>
                  <a:pt x="303775" y="564241"/>
                </a:cubicBezTo>
                <a:cubicBezTo>
                  <a:pt x="297184" y="564241"/>
                  <a:pt x="291929" y="558915"/>
                  <a:pt x="291929" y="552347"/>
                </a:cubicBezTo>
                <a:lnTo>
                  <a:pt x="291929" y="536902"/>
                </a:lnTo>
                <a:cubicBezTo>
                  <a:pt x="291929" y="530333"/>
                  <a:pt x="297184" y="525007"/>
                  <a:pt x="303775" y="525007"/>
                </a:cubicBezTo>
                <a:close/>
                <a:moveTo>
                  <a:pt x="429885" y="509483"/>
                </a:moveTo>
                <a:cubicBezTo>
                  <a:pt x="436472" y="509483"/>
                  <a:pt x="441811" y="514822"/>
                  <a:pt x="441811" y="521409"/>
                </a:cubicBezTo>
                <a:cubicBezTo>
                  <a:pt x="441811" y="527996"/>
                  <a:pt x="436472" y="533335"/>
                  <a:pt x="429885" y="533335"/>
                </a:cubicBezTo>
                <a:cubicBezTo>
                  <a:pt x="423298" y="533335"/>
                  <a:pt x="417959" y="527996"/>
                  <a:pt x="417959" y="521409"/>
                </a:cubicBezTo>
                <a:cubicBezTo>
                  <a:pt x="417959" y="514822"/>
                  <a:pt x="423298" y="509483"/>
                  <a:pt x="429885" y="509483"/>
                </a:cubicBezTo>
                <a:close/>
                <a:moveTo>
                  <a:pt x="177720" y="509483"/>
                </a:moveTo>
                <a:cubicBezTo>
                  <a:pt x="184287" y="509483"/>
                  <a:pt x="189611" y="514822"/>
                  <a:pt x="189611" y="521409"/>
                </a:cubicBezTo>
                <a:cubicBezTo>
                  <a:pt x="189611" y="527996"/>
                  <a:pt x="184287" y="533335"/>
                  <a:pt x="177720" y="533335"/>
                </a:cubicBezTo>
                <a:cubicBezTo>
                  <a:pt x="171153" y="533335"/>
                  <a:pt x="165829" y="527996"/>
                  <a:pt x="165829" y="521409"/>
                </a:cubicBezTo>
                <a:cubicBezTo>
                  <a:pt x="165829" y="514822"/>
                  <a:pt x="171153" y="509483"/>
                  <a:pt x="177720" y="509483"/>
                </a:cubicBezTo>
                <a:close/>
                <a:moveTo>
                  <a:pt x="522185" y="417324"/>
                </a:moveTo>
                <a:cubicBezTo>
                  <a:pt x="528772" y="417324"/>
                  <a:pt x="534111" y="422663"/>
                  <a:pt x="534111" y="429250"/>
                </a:cubicBezTo>
                <a:cubicBezTo>
                  <a:pt x="534111" y="435837"/>
                  <a:pt x="528772" y="441176"/>
                  <a:pt x="522185" y="441176"/>
                </a:cubicBezTo>
                <a:cubicBezTo>
                  <a:pt x="515598" y="441176"/>
                  <a:pt x="510259" y="435837"/>
                  <a:pt x="510259" y="429250"/>
                </a:cubicBezTo>
                <a:cubicBezTo>
                  <a:pt x="510259" y="422663"/>
                  <a:pt x="515598" y="417324"/>
                  <a:pt x="522185" y="417324"/>
                </a:cubicBezTo>
                <a:close/>
                <a:moveTo>
                  <a:pt x="85420" y="417324"/>
                </a:moveTo>
                <a:cubicBezTo>
                  <a:pt x="91987" y="417324"/>
                  <a:pt x="97311" y="422663"/>
                  <a:pt x="97311" y="429250"/>
                </a:cubicBezTo>
                <a:cubicBezTo>
                  <a:pt x="97311" y="435837"/>
                  <a:pt x="91987" y="441176"/>
                  <a:pt x="85420" y="441176"/>
                </a:cubicBezTo>
                <a:cubicBezTo>
                  <a:pt x="78853" y="441176"/>
                  <a:pt x="73529" y="435837"/>
                  <a:pt x="73529" y="429250"/>
                </a:cubicBezTo>
                <a:cubicBezTo>
                  <a:pt x="73529" y="422663"/>
                  <a:pt x="78853" y="417324"/>
                  <a:pt x="85420" y="417324"/>
                </a:cubicBezTo>
                <a:close/>
                <a:moveTo>
                  <a:pt x="537643" y="291506"/>
                </a:moveTo>
                <a:lnTo>
                  <a:pt x="555628" y="291506"/>
                </a:lnTo>
                <a:cubicBezTo>
                  <a:pt x="562216" y="291506"/>
                  <a:pt x="567558" y="296745"/>
                  <a:pt x="567558" y="303316"/>
                </a:cubicBezTo>
                <a:cubicBezTo>
                  <a:pt x="567558" y="309888"/>
                  <a:pt x="562216" y="315216"/>
                  <a:pt x="555628" y="315216"/>
                </a:cubicBezTo>
                <a:lnTo>
                  <a:pt x="537643" y="315216"/>
                </a:lnTo>
                <a:cubicBezTo>
                  <a:pt x="531055" y="315216"/>
                  <a:pt x="525713" y="309888"/>
                  <a:pt x="525713" y="303316"/>
                </a:cubicBezTo>
                <a:cubicBezTo>
                  <a:pt x="525713" y="296745"/>
                  <a:pt x="531055" y="291506"/>
                  <a:pt x="537643" y="291506"/>
                </a:cubicBezTo>
                <a:close/>
                <a:moveTo>
                  <a:pt x="51991" y="291506"/>
                </a:moveTo>
                <a:lnTo>
                  <a:pt x="69946" y="291506"/>
                </a:lnTo>
                <a:cubicBezTo>
                  <a:pt x="76523" y="291506"/>
                  <a:pt x="81856" y="296745"/>
                  <a:pt x="81856" y="303316"/>
                </a:cubicBezTo>
                <a:cubicBezTo>
                  <a:pt x="81856" y="309888"/>
                  <a:pt x="76523" y="315216"/>
                  <a:pt x="69946" y="315216"/>
                </a:cubicBezTo>
                <a:lnTo>
                  <a:pt x="51991" y="315216"/>
                </a:lnTo>
                <a:cubicBezTo>
                  <a:pt x="45414" y="315216"/>
                  <a:pt x="40081" y="309888"/>
                  <a:pt x="40081" y="303316"/>
                </a:cubicBezTo>
                <a:cubicBezTo>
                  <a:pt x="40081" y="296745"/>
                  <a:pt x="45414" y="291506"/>
                  <a:pt x="51991" y="291506"/>
                </a:cubicBezTo>
                <a:close/>
                <a:moveTo>
                  <a:pt x="412608" y="222096"/>
                </a:moveTo>
                <a:lnTo>
                  <a:pt x="345491" y="334245"/>
                </a:lnTo>
                <a:lnTo>
                  <a:pt x="412608" y="334245"/>
                </a:lnTo>
                <a:close/>
                <a:moveTo>
                  <a:pt x="427651" y="167533"/>
                </a:moveTo>
                <a:cubicBezTo>
                  <a:pt x="432814" y="168954"/>
                  <a:pt x="436375" y="173664"/>
                  <a:pt x="436375" y="178996"/>
                </a:cubicBezTo>
                <a:lnTo>
                  <a:pt x="436375" y="334245"/>
                </a:lnTo>
                <a:lnTo>
                  <a:pt x="469399" y="334245"/>
                </a:lnTo>
                <a:cubicBezTo>
                  <a:pt x="475986" y="334245"/>
                  <a:pt x="481327" y="339577"/>
                  <a:pt x="481327" y="346153"/>
                </a:cubicBezTo>
                <a:cubicBezTo>
                  <a:pt x="481327" y="352641"/>
                  <a:pt x="475986" y="357973"/>
                  <a:pt x="469399" y="357973"/>
                </a:cubicBezTo>
                <a:lnTo>
                  <a:pt x="436375" y="357973"/>
                </a:lnTo>
                <a:lnTo>
                  <a:pt x="436375" y="427733"/>
                </a:lnTo>
                <a:cubicBezTo>
                  <a:pt x="436375" y="434220"/>
                  <a:pt x="431123" y="439552"/>
                  <a:pt x="424536" y="439552"/>
                </a:cubicBezTo>
                <a:cubicBezTo>
                  <a:pt x="417949" y="439552"/>
                  <a:pt x="412608" y="434220"/>
                  <a:pt x="412608" y="427733"/>
                </a:cubicBezTo>
                <a:lnTo>
                  <a:pt x="412608" y="357973"/>
                </a:lnTo>
                <a:lnTo>
                  <a:pt x="324573" y="357973"/>
                </a:lnTo>
                <a:cubicBezTo>
                  <a:pt x="320300" y="357973"/>
                  <a:pt x="316295" y="355662"/>
                  <a:pt x="314158" y="352019"/>
                </a:cubicBezTo>
                <a:cubicBezTo>
                  <a:pt x="312111" y="348286"/>
                  <a:pt x="312111" y="343665"/>
                  <a:pt x="314336" y="340022"/>
                </a:cubicBezTo>
                <a:lnTo>
                  <a:pt x="414299" y="172953"/>
                </a:lnTo>
                <a:cubicBezTo>
                  <a:pt x="417059" y="168332"/>
                  <a:pt x="422489" y="166111"/>
                  <a:pt x="427651" y="167533"/>
                </a:cubicBezTo>
                <a:close/>
                <a:moveTo>
                  <a:pt x="216270" y="167099"/>
                </a:moveTo>
                <a:cubicBezTo>
                  <a:pt x="257222" y="167099"/>
                  <a:pt x="290518" y="200333"/>
                  <a:pt x="290518" y="241210"/>
                </a:cubicBezTo>
                <a:cubicBezTo>
                  <a:pt x="290518" y="284486"/>
                  <a:pt x="273603" y="325097"/>
                  <a:pt x="242978" y="355754"/>
                </a:cubicBezTo>
                <a:lnTo>
                  <a:pt x="182707" y="415825"/>
                </a:lnTo>
                <a:lnTo>
                  <a:pt x="278588" y="415825"/>
                </a:lnTo>
                <a:cubicBezTo>
                  <a:pt x="285176" y="415825"/>
                  <a:pt x="290518" y="421158"/>
                  <a:pt x="290518" y="427734"/>
                </a:cubicBezTo>
                <a:cubicBezTo>
                  <a:pt x="290518" y="434220"/>
                  <a:pt x="285176" y="439552"/>
                  <a:pt x="278588" y="439552"/>
                </a:cubicBezTo>
                <a:lnTo>
                  <a:pt x="154040" y="439552"/>
                </a:lnTo>
                <a:cubicBezTo>
                  <a:pt x="149232" y="439552"/>
                  <a:pt x="144870" y="436709"/>
                  <a:pt x="143001" y="432265"/>
                </a:cubicBezTo>
                <a:cubicBezTo>
                  <a:pt x="141131" y="427822"/>
                  <a:pt x="142199" y="422668"/>
                  <a:pt x="145582" y="419292"/>
                </a:cubicBezTo>
                <a:lnTo>
                  <a:pt x="226152" y="338959"/>
                </a:lnTo>
                <a:cubicBezTo>
                  <a:pt x="252236" y="312834"/>
                  <a:pt x="266659" y="278088"/>
                  <a:pt x="266659" y="241210"/>
                </a:cubicBezTo>
                <a:cubicBezTo>
                  <a:pt x="266659" y="213485"/>
                  <a:pt x="244046" y="190914"/>
                  <a:pt x="216270" y="190914"/>
                </a:cubicBezTo>
                <a:cubicBezTo>
                  <a:pt x="188493" y="190914"/>
                  <a:pt x="165880" y="213485"/>
                  <a:pt x="165880" y="241210"/>
                </a:cubicBezTo>
                <a:cubicBezTo>
                  <a:pt x="165880" y="247786"/>
                  <a:pt x="160539" y="253029"/>
                  <a:pt x="154040" y="253029"/>
                </a:cubicBezTo>
                <a:cubicBezTo>
                  <a:pt x="147452" y="253029"/>
                  <a:pt x="142110" y="247786"/>
                  <a:pt x="142110" y="241210"/>
                </a:cubicBezTo>
                <a:cubicBezTo>
                  <a:pt x="142110" y="200333"/>
                  <a:pt x="175406" y="167099"/>
                  <a:pt x="216270" y="167099"/>
                </a:cubicBezTo>
                <a:close/>
                <a:moveTo>
                  <a:pt x="522185" y="165547"/>
                </a:moveTo>
                <a:cubicBezTo>
                  <a:pt x="528772" y="165547"/>
                  <a:pt x="534111" y="170871"/>
                  <a:pt x="534111" y="177438"/>
                </a:cubicBezTo>
                <a:cubicBezTo>
                  <a:pt x="534111" y="184005"/>
                  <a:pt x="528772" y="189329"/>
                  <a:pt x="522185" y="189329"/>
                </a:cubicBezTo>
                <a:cubicBezTo>
                  <a:pt x="515598" y="189329"/>
                  <a:pt x="510259" y="184005"/>
                  <a:pt x="510259" y="177438"/>
                </a:cubicBezTo>
                <a:cubicBezTo>
                  <a:pt x="510259" y="170871"/>
                  <a:pt x="515598" y="165547"/>
                  <a:pt x="522185" y="165547"/>
                </a:cubicBezTo>
                <a:close/>
                <a:moveTo>
                  <a:pt x="85420" y="165547"/>
                </a:moveTo>
                <a:cubicBezTo>
                  <a:pt x="91987" y="165547"/>
                  <a:pt x="97311" y="170871"/>
                  <a:pt x="97311" y="177438"/>
                </a:cubicBezTo>
                <a:cubicBezTo>
                  <a:pt x="97311" y="184005"/>
                  <a:pt x="91987" y="189329"/>
                  <a:pt x="85420" y="189329"/>
                </a:cubicBezTo>
                <a:cubicBezTo>
                  <a:pt x="78853" y="189329"/>
                  <a:pt x="73529" y="184005"/>
                  <a:pt x="73529" y="177438"/>
                </a:cubicBezTo>
                <a:cubicBezTo>
                  <a:pt x="73529" y="170871"/>
                  <a:pt x="78853" y="165547"/>
                  <a:pt x="85420" y="165547"/>
                </a:cubicBezTo>
                <a:close/>
                <a:moveTo>
                  <a:pt x="429885" y="73388"/>
                </a:moveTo>
                <a:cubicBezTo>
                  <a:pt x="436472" y="73388"/>
                  <a:pt x="441811" y="78712"/>
                  <a:pt x="441811" y="85279"/>
                </a:cubicBezTo>
                <a:cubicBezTo>
                  <a:pt x="441811" y="91846"/>
                  <a:pt x="436472" y="97170"/>
                  <a:pt x="429885" y="97170"/>
                </a:cubicBezTo>
                <a:cubicBezTo>
                  <a:pt x="423298" y="97170"/>
                  <a:pt x="417959" y="91846"/>
                  <a:pt x="417959" y="85279"/>
                </a:cubicBezTo>
                <a:cubicBezTo>
                  <a:pt x="417959" y="78712"/>
                  <a:pt x="423298" y="73388"/>
                  <a:pt x="429885" y="73388"/>
                </a:cubicBezTo>
                <a:close/>
                <a:moveTo>
                  <a:pt x="177720" y="73388"/>
                </a:moveTo>
                <a:cubicBezTo>
                  <a:pt x="184287" y="73388"/>
                  <a:pt x="189611" y="78712"/>
                  <a:pt x="189611" y="85279"/>
                </a:cubicBezTo>
                <a:cubicBezTo>
                  <a:pt x="189611" y="91846"/>
                  <a:pt x="184287" y="97170"/>
                  <a:pt x="177720" y="97170"/>
                </a:cubicBezTo>
                <a:cubicBezTo>
                  <a:pt x="171153" y="97170"/>
                  <a:pt x="165829" y="91846"/>
                  <a:pt x="165829" y="85279"/>
                </a:cubicBezTo>
                <a:cubicBezTo>
                  <a:pt x="165829" y="78712"/>
                  <a:pt x="171153" y="73388"/>
                  <a:pt x="177720" y="73388"/>
                </a:cubicBezTo>
                <a:close/>
                <a:moveTo>
                  <a:pt x="303775" y="42480"/>
                </a:moveTo>
                <a:cubicBezTo>
                  <a:pt x="310366" y="42480"/>
                  <a:pt x="315710" y="47815"/>
                  <a:pt x="315710" y="54396"/>
                </a:cubicBezTo>
                <a:lnTo>
                  <a:pt x="315710" y="69869"/>
                </a:lnTo>
                <a:cubicBezTo>
                  <a:pt x="315710" y="76449"/>
                  <a:pt x="310366" y="81785"/>
                  <a:pt x="303775" y="81785"/>
                </a:cubicBezTo>
                <a:cubicBezTo>
                  <a:pt x="297184" y="81785"/>
                  <a:pt x="291929" y="76449"/>
                  <a:pt x="291929" y="69869"/>
                </a:cubicBezTo>
                <a:lnTo>
                  <a:pt x="291929" y="54396"/>
                </a:lnTo>
                <a:cubicBezTo>
                  <a:pt x="291929" y="47815"/>
                  <a:pt x="297184" y="42480"/>
                  <a:pt x="303775" y="42480"/>
                </a:cubicBezTo>
                <a:close/>
                <a:moveTo>
                  <a:pt x="303775" y="0"/>
                </a:moveTo>
                <a:cubicBezTo>
                  <a:pt x="394204" y="0"/>
                  <a:pt x="479560" y="40347"/>
                  <a:pt x="537058" y="108956"/>
                </a:cubicBezTo>
                <a:lnTo>
                  <a:pt x="537058" y="93048"/>
                </a:lnTo>
                <a:cubicBezTo>
                  <a:pt x="537058" y="86471"/>
                  <a:pt x="542309" y="81139"/>
                  <a:pt x="548895" y="81139"/>
                </a:cubicBezTo>
                <a:cubicBezTo>
                  <a:pt x="555482" y="81139"/>
                  <a:pt x="560822" y="86471"/>
                  <a:pt x="560822" y="93048"/>
                </a:cubicBezTo>
                <a:lnTo>
                  <a:pt x="560822" y="138994"/>
                </a:lnTo>
                <a:cubicBezTo>
                  <a:pt x="560822" y="145570"/>
                  <a:pt x="555482" y="150903"/>
                  <a:pt x="548895" y="150903"/>
                </a:cubicBezTo>
                <a:lnTo>
                  <a:pt x="502880" y="150903"/>
                </a:lnTo>
                <a:cubicBezTo>
                  <a:pt x="496293" y="150903"/>
                  <a:pt x="490953" y="145570"/>
                  <a:pt x="490953" y="138994"/>
                </a:cubicBezTo>
                <a:cubicBezTo>
                  <a:pt x="490953" y="132417"/>
                  <a:pt x="496293" y="127174"/>
                  <a:pt x="502880" y="127174"/>
                </a:cubicBezTo>
                <a:lnTo>
                  <a:pt x="521126" y="127174"/>
                </a:lnTo>
                <a:cubicBezTo>
                  <a:pt x="468168" y="62032"/>
                  <a:pt x="388419" y="23728"/>
                  <a:pt x="303775" y="23728"/>
                </a:cubicBezTo>
                <a:cubicBezTo>
                  <a:pt x="149440" y="23728"/>
                  <a:pt x="23764" y="149214"/>
                  <a:pt x="23764" y="303316"/>
                </a:cubicBezTo>
                <a:cubicBezTo>
                  <a:pt x="23764" y="457508"/>
                  <a:pt x="149440" y="582905"/>
                  <a:pt x="303775" y="582905"/>
                </a:cubicBezTo>
                <a:cubicBezTo>
                  <a:pt x="458199" y="582905"/>
                  <a:pt x="583786" y="457508"/>
                  <a:pt x="583786" y="303316"/>
                </a:cubicBezTo>
                <a:cubicBezTo>
                  <a:pt x="583786" y="278255"/>
                  <a:pt x="580492" y="253371"/>
                  <a:pt x="573906" y="229376"/>
                </a:cubicBezTo>
                <a:cubicBezTo>
                  <a:pt x="572126" y="223066"/>
                  <a:pt x="575864" y="216489"/>
                  <a:pt x="582273" y="214801"/>
                </a:cubicBezTo>
                <a:cubicBezTo>
                  <a:pt x="588592" y="213023"/>
                  <a:pt x="595089" y="216756"/>
                  <a:pt x="596869" y="223066"/>
                </a:cubicBezTo>
                <a:cubicBezTo>
                  <a:pt x="603990" y="249194"/>
                  <a:pt x="607639" y="276122"/>
                  <a:pt x="607639" y="303316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6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8671359" y="2496256"/>
            <a:ext cx="2361889" cy="1542629"/>
            <a:chOff x="6214253" y="2075503"/>
            <a:chExt cx="2759844" cy="1990854"/>
          </a:xfrm>
        </p:grpSpPr>
        <p:sp>
          <p:nvSpPr>
            <p:cNvPr id="32" name="ïṧḷïḓê-矩形: 圆角 13"/>
            <p:cNvSpPr/>
            <p:nvPr/>
          </p:nvSpPr>
          <p:spPr>
            <a:xfrm>
              <a:off x="6214253" y="2075503"/>
              <a:ext cx="2086257" cy="1990854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椭圆 32"/>
            <p:cNvSpPr/>
            <p:nvPr/>
          </p:nvSpPr>
          <p:spPr>
            <a:xfrm>
              <a:off x="6834104" y="2316803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8"/>
            <p:cNvSpPr/>
            <p:nvPr/>
          </p:nvSpPr>
          <p:spPr>
            <a:xfrm>
              <a:off x="7045241" y="2528196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6889711" y="3147009"/>
              <a:ext cx="2084386" cy="4653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总结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4323980" y="2459325"/>
            <a:ext cx="1880886" cy="1630488"/>
            <a:chOff x="1004890" y="2075502"/>
            <a:chExt cx="2575306" cy="2508303"/>
          </a:xfrm>
        </p:grpSpPr>
        <p:sp>
          <p:nvSpPr>
            <p:cNvPr id="140" name="ïṧḷïḓê-矩形: 圆角 2"/>
            <p:cNvSpPr/>
            <p:nvPr/>
          </p:nvSpPr>
          <p:spPr>
            <a:xfrm>
              <a:off x="1004890" y="2075502"/>
              <a:ext cx="2240571" cy="250830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44"/>
            <p:cNvSpPr/>
            <p:nvPr/>
          </p:nvSpPr>
          <p:spPr>
            <a:xfrm>
              <a:off x="1495809" y="3502775"/>
              <a:ext cx="2084387" cy="59393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测试环境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测试环境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9270" y="1909445"/>
            <a:ext cx="5080000" cy="37858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/>
              <a:t>1. </a:t>
            </a:r>
            <a:r>
              <a:rPr lang="zh-CN" altLang="en-US" sz="2200" b="1"/>
              <a:t>压测工具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工具：</a:t>
            </a:r>
            <a:r>
              <a:rPr lang="en-US" altLang="zh-CN" sz="1600"/>
              <a:t>Apache JMeter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版本：</a:t>
            </a:r>
            <a:r>
              <a:rPr lang="en-US" altLang="zh-CN" sz="1600"/>
              <a:t>5.6.3</a:t>
            </a:r>
            <a:r>
              <a:rPr lang="zh-CN" altLang="en-US" sz="1600"/>
              <a:t>（稳定版）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插件：</a:t>
            </a:r>
            <a:r>
              <a:rPr lang="en-US" altLang="zh-CN" sz="1600"/>
              <a:t>JMeter Plugins Manager</a:t>
            </a:r>
            <a:r>
              <a:rPr lang="zh-CN" altLang="en-US" sz="1600"/>
              <a:t>、</a:t>
            </a:r>
            <a:r>
              <a:rPr lang="en-US" altLang="zh-CN" sz="1600"/>
              <a:t>Stepping Thread Group</a:t>
            </a:r>
            <a:r>
              <a:rPr lang="zh-CN" altLang="en-US" sz="1600"/>
              <a:t>、</a:t>
            </a:r>
            <a:r>
              <a:rPr lang="en-US" altLang="zh-CN" sz="1600"/>
              <a:t>Active Threads Over Time</a:t>
            </a:r>
            <a:r>
              <a:rPr lang="zh-CN" altLang="en-US" sz="1600"/>
              <a:t>、</a:t>
            </a:r>
            <a:r>
              <a:rPr lang="en-US" altLang="zh-CN" sz="1600"/>
              <a:t>Response Times Over Time</a:t>
            </a:r>
            <a:r>
              <a:rPr lang="zh-CN" altLang="en-US" sz="1600"/>
              <a:t>、</a:t>
            </a:r>
            <a:r>
              <a:rPr lang="en-US" altLang="zh-CN" sz="1600"/>
              <a:t>Transactions per Second</a:t>
            </a:r>
          </a:p>
          <a:p>
            <a:pPr indent="0">
              <a:buFont typeface="Arial" panose="020B0604020202020204"/>
              <a:buNone/>
            </a:pPr>
            <a:endParaRPr lang="en-US" altLang="zh-CN" sz="1600"/>
          </a:p>
          <a:p>
            <a:pPr>
              <a:spcAft>
                <a:spcPct val="60000"/>
              </a:spcAft>
            </a:pPr>
            <a:r>
              <a:rPr lang="en-US" altLang="zh-CN" sz="2200" b="1"/>
              <a:t>2. </a:t>
            </a:r>
            <a:r>
              <a:rPr lang="zh-CN" altLang="en-US" sz="2200" b="1"/>
              <a:t>运行环境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操作系统：</a:t>
            </a:r>
            <a:r>
              <a:rPr lang="en-US" altLang="zh-CN" sz="1600"/>
              <a:t>Windows 10 </a:t>
            </a:r>
            <a:r>
              <a:rPr lang="zh-CN" altLang="en-US" sz="1600"/>
              <a:t>专业版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JDK </a:t>
            </a:r>
            <a:r>
              <a:rPr lang="zh-CN" altLang="en-US" sz="1600"/>
              <a:t>版本：</a:t>
            </a:r>
            <a:r>
              <a:rPr lang="en-US" altLang="zh-CN" sz="1600"/>
              <a:t>JDK 8 / JDK 11</a:t>
            </a:r>
            <a:r>
              <a:rPr lang="zh-CN" altLang="en-US" sz="1600"/>
              <a:t>（</a:t>
            </a:r>
            <a:r>
              <a:rPr lang="en-US" altLang="zh-CN" sz="1600"/>
              <a:t>JMeter </a:t>
            </a:r>
            <a:r>
              <a:rPr lang="zh-CN" altLang="en-US" sz="1600"/>
              <a:t>兼容版本）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压测机配置：</a:t>
            </a:r>
            <a:r>
              <a:rPr lang="en-US" altLang="zh-CN" sz="1600"/>
              <a:t>CPU i7</a:t>
            </a:r>
            <a:r>
              <a:rPr lang="zh-CN" altLang="en-US" sz="1600"/>
              <a:t>，内存 </a:t>
            </a:r>
            <a:r>
              <a:rPr lang="en-US" altLang="zh-CN" sz="1600"/>
              <a:t>16GB</a:t>
            </a:r>
          </a:p>
          <a:p>
            <a:pPr>
              <a:spcAft>
                <a:spcPct val="60000"/>
              </a:spcAft>
            </a:pPr>
            <a:endParaRPr lang="en-US" altLang="zh-CN" sz="1600"/>
          </a:p>
        </p:txBody>
      </p:sp>
      <p:sp>
        <p:nvSpPr>
          <p:cNvPr id="4" name="文本框 3"/>
          <p:cNvSpPr txBox="1"/>
          <p:nvPr/>
        </p:nvSpPr>
        <p:spPr>
          <a:xfrm>
            <a:off x="6096000" y="1971040"/>
            <a:ext cx="6096000" cy="3211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>
                <a:sym typeface="+mn-ea"/>
              </a:rPr>
              <a:t>3. </a:t>
            </a:r>
            <a:r>
              <a:rPr lang="zh-CN" altLang="en-US" sz="2200" b="1">
                <a:sym typeface="+mn-ea"/>
              </a:rPr>
              <a:t>被测服务环境</a:t>
            </a:r>
            <a:endParaRPr lang="zh-CN" altLang="en-US" sz="2200" b="1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协议：</a:t>
            </a:r>
            <a:r>
              <a:rPr lang="en-US" altLang="zh-CN" sz="1600">
                <a:sym typeface="+mn-ea"/>
              </a:rPr>
              <a:t>HTTP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服务地址：</a:t>
            </a:r>
            <a:r>
              <a:rPr lang="en-US" altLang="zh-CN" sz="1600">
                <a:sym typeface="+mn-ea"/>
                <a:hlinkClick r:id="rId4"/>
              </a:rPr>
              <a:t>localhost:8080</a:t>
            </a:r>
            <a:endParaRPr lang="en-US" altLang="zh-CN" sz="1600">
              <a:hlinkClick r:id="rId4"/>
            </a:endParaRPr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数据库：</a:t>
            </a:r>
            <a:r>
              <a:rPr lang="en-US" altLang="zh-CN" sz="1600">
                <a:sym typeface="+mn-ea"/>
              </a:rPr>
              <a:t>MySQL</a:t>
            </a:r>
          </a:p>
          <a:p>
            <a:pPr>
              <a:spcAft>
                <a:spcPct val="60000"/>
              </a:spcAft>
            </a:pPr>
            <a:endParaRPr lang="en-US" altLang="zh-CN" sz="1600" b="1">
              <a:sym typeface="+mn-ea"/>
            </a:endParaRPr>
          </a:p>
          <a:p>
            <a:pPr>
              <a:spcAft>
                <a:spcPct val="60000"/>
              </a:spcAft>
            </a:pPr>
            <a:r>
              <a:rPr lang="en-US" altLang="zh-CN" sz="2200" b="1">
                <a:sym typeface="+mn-ea"/>
              </a:rPr>
              <a:t>4. </a:t>
            </a:r>
            <a:r>
              <a:rPr lang="zh-CN" altLang="en-US" sz="2200" b="1">
                <a:sym typeface="+mn-ea"/>
              </a:rPr>
              <a:t>核心组件</a:t>
            </a:r>
            <a:endParaRPr lang="zh-CN" altLang="en-US" sz="2200" b="1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线程组：</a:t>
            </a:r>
            <a:r>
              <a:rPr lang="en-US" altLang="zh-CN" sz="1600">
                <a:sym typeface="+mn-ea"/>
              </a:rPr>
              <a:t>jp@gc - Stepping Thread Group</a:t>
            </a:r>
            <a:r>
              <a:rPr lang="zh-CN" altLang="en-US" sz="1600">
                <a:sym typeface="+mn-ea"/>
              </a:rPr>
              <a:t>（阶梯式）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后置处理器：</a:t>
            </a:r>
            <a:r>
              <a:rPr lang="en-US" altLang="zh-CN" sz="1600">
                <a:sym typeface="+mn-ea"/>
              </a:rPr>
              <a:t>JSON </a:t>
            </a:r>
            <a:r>
              <a:rPr lang="zh-CN" altLang="en-US" sz="1600">
                <a:sym typeface="+mn-ea"/>
              </a:rPr>
              <a:t>提取器（提取 </a:t>
            </a:r>
            <a:r>
              <a:rPr lang="en-US" altLang="zh-CN" sz="1600">
                <a:sym typeface="+mn-ea"/>
              </a:rPr>
              <a:t>token</a:t>
            </a:r>
            <a:r>
              <a:rPr lang="zh-CN" altLang="en-US" sz="1600">
                <a:sym typeface="+mn-ea"/>
              </a:rPr>
              <a:t>）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请求类型：</a:t>
            </a:r>
            <a:r>
              <a:rPr lang="en-US" altLang="zh-CN" sz="1600">
                <a:sym typeface="+mn-ea"/>
              </a:rPr>
              <a:t>HTTP GET/POST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4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2449" y="1209279"/>
            <a:ext cx="412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阶梯式线程组（压测负载模型）配置图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48" y="1835075"/>
            <a:ext cx="41234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本次压测的负载模型配置，采用阶梯式（步阶）线程组，计划总用户数为 </a:t>
            </a:r>
            <a:r>
              <a:rPr lang="en-US" altLang="zh-CN" dirty="0"/>
              <a:t>100 </a:t>
            </a:r>
            <a:r>
              <a:rPr lang="zh-CN" altLang="en-US" dirty="0"/>
              <a:t>个。具体策略为：初始启动 </a:t>
            </a:r>
            <a:r>
              <a:rPr lang="en-US" altLang="zh-CN" dirty="0"/>
              <a:t>10 </a:t>
            </a:r>
            <a:r>
              <a:rPr lang="zh-CN" altLang="en-US" dirty="0"/>
              <a:t>个用户，之后每 </a:t>
            </a:r>
            <a:r>
              <a:rPr lang="en-US" altLang="zh-CN" dirty="0"/>
              <a:t>30 </a:t>
            </a:r>
            <a:r>
              <a:rPr lang="zh-CN" altLang="en-US" dirty="0"/>
              <a:t>秒增加 </a:t>
            </a:r>
            <a:r>
              <a:rPr lang="en-US" altLang="zh-CN" dirty="0"/>
              <a:t>10 </a:t>
            </a:r>
            <a:r>
              <a:rPr lang="zh-CN" altLang="en-US" dirty="0"/>
              <a:t>个用户，每次增加过程用 </a:t>
            </a:r>
            <a:r>
              <a:rPr lang="en-US" altLang="zh-CN" dirty="0"/>
              <a:t>5 </a:t>
            </a:r>
            <a:r>
              <a:rPr lang="zh-CN" altLang="en-US" dirty="0"/>
              <a:t>秒完成，达到 </a:t>
            </a:r>
            <a:r>
              <a:rPr lang="en-US" altLang="zh-CN" dirty="0"/>
              <a:t>100 </a:t>
            </a:r>
            <a:r>
              <a:rPr lang="zh-CN" altLang="en-US" dirty="0"/>
              <a:t>用户后持续压测 </a:t>
            </a:r>
            <a:r>
              <a:rPr lang="en-US" altLang="zh-CN" dirty="0"/>
              <a:t>60 </a:t>
            </a:r>
            <a:r>
              <a:rPr lang="zh-CN" altLang="en-US" dirty="0"/>
              <a:t>秒，最后逐步退出。它定义了整个压测的用户增长节奏和负载模型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409" y="1287567"/>
            <a:ext cx="5990282" cy="450495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64673" y="1607127"/>
            <a:ext cx="749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员工查询配置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73" y="2125099"/>
            <a:ext cx="9359900" cy="4102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82929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68968" y="1683655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登录请求配置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968" y="2120034"/>
            <a:ext cx="9264650" cy="41973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75" y="2034248"/>
            <a:ext cx="9544050" cy="3136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36675" y="1625466"/>
            <a:ext cx="78001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r>
              <a:rPr lang="zh-CN" altLang="en-US" dirty="0"/>
              <a:t>提取器，提取登录接口的</a:t>
            </a:r>
            <a:r>
              <a:rPr lang="en-US" altLang="zh-CN" dirty="0"/>
              <a:t>token</a:t>
            </a:r>
            <a:r>
              <a:rPr lang="zh-CN" altLang="en-US" dirty="0"/>
              <a:t>信息提供员工查询接口调用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81108" y="1393946"/>
            <a:ext cx="208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用户并发数随时间变化曲线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290" y="1502074"/>
            <a:ext cx="6873073" cy="510056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360" y="2040255"/>
            <a:ext cx="4859020" cy="2044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用户并发数随时间变化曲线</a:t>
            </a:r>
          </a:p>
          <a:p>
            <a:r>
              <a:rPr lang="zh-CN" altLang="en-US" sz="1200" dirty="0"/>
              <a:t>展示了整个压测过程中，系统并发用户数（活跃线程数）的变化情况。</a:t>
            </a:r>
            <a:endParaRPr lang="en-US" altLang="zh-CN" sz="1200" dirty="0"/>
          </a:p>
          <a:p>
            <a:r>
              <a:rPr lang="zh-CN" altLang="en-US" sz="1200" dirty="0"/>
              <a:t>线程按阶梯式逐步增加，从初始的 </a:t>
            </a:r>
            <a:r>
              <a:rPr lang="en-US" altLang="zh-CN" sz="1200" dirty="0"/>
              <a:t>10 </a:t>
            </a:r>
            <a:r>
              <a:rPr lang="zh-CN" altLang="en-US" sz="1200" dirty="0"/>
              <a:t>个用户，每 </a:t>
            </a:r>
            <a:r>
              <a:rPr lang="en-US" altLang="zh-CN" sz="1200" dirty="0"/>
              <a:t>30 </a:t>
            </a:r>
            <a:r>
              <a:rPr lang="zh-CN" altLang="en-US" sz="1200" dirty="0"/>
              <a:t>秒增加 </a:t>
            </a:r>
            <a:r>
              <a:rPr lang="en-US" altLang="zh-CN" sz="1200" dirty="0"/>
              <a:t>10 </a:t>
            </a:r>
            <a:r>
              <a:rPr lang="zh-CN" altLang="en-US" sz="1200" dirty="0"/>
              <a:t>个用户，</a:t>
            </a:r>
            <a:endParaRPr lang="en-US" altLang="zh-CN" sz="1200" dirty="0"/>
          </a:p>
          <a:p>
            <a:r>
              <a:rPr lang="zh-CN" altLang="en-US" sz="1200" dirty="0"/>
              <a:t>直到达到 </a:t>
            </a:r>
            <a:r>
              <a:rPr lang="en-US" altLang="zh-CN" sz="1200" dirty="0"/>
              <a:t>100 </a:t>
            </a:r>
            <a:r>
              <a:rPr lang="zh-CN" altLang="en-US" sz="1200" dirty="0"/>
              <a:t>个用户的峰值并稳定压测，最后再按梯度退出。</a:t>
            </a:r>
            <a:endParaRPr lang="en-US" altLang="zh-CN" sz="1200" dirty="0"/>
          </a:p>
          <a:p>
            <a:r>
              <a:rPr lang="zh-CN" altLang="en-US" sz="1200" dirty="0"/>
              <a:t>它直观反映了压测的负载施加节奏，和线程组的配置是完全匹配的</a:t>
            </a:r>
            <a:r>
              <a:rPr lang="zh-CN" altLang="en-US" sz="1600" dirty="0"/>
              <a:t>。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0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5208" y="1701363"/>
            <a:ext cx="30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响应时间随时间变化曲线：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744" y="1290259"/>
            <a:ext cx="6943437" cy="529478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1228" y="2488109"/>
            <a:ext cx="41078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记录了 “登录请求” 和 “员工查询” 两个核心接口，在整个压测过程中响应时间的变化趋势。可以看到，随着并发用户数的增加，接口响应时间整体呈上升趋势，在高并发阶段（</a:t>
            </a:r>
            <a:r>
              <a:rPr lang="en-US" altLang="zh-CN" dirty="0"/>
              <a:t>100 </a:t>
            </a:r>
            <a:r>
              <a:rPr lang="zh-CN" altLang="en-US" dirty="0"/>
              <a:t>用户）响应时间出现了明显波动，最高达到约 </a:t>
            </a:r>
            <a:r>
              <a:rPr lang="en-US" altLang="zh-CN" dirty="0"/>
              <a:t>400ms</a:t>
            </a:r>
            <a:r>
              <a:rPr lang="zh-CN" altLang="en-US" dirty="0"/>
              <a:t>，说明系统在高负载下性能压力明显，响应延迟显著增加</a:t>
            </a: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74918" y="345292"/>
            <a:ext cx="184217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2450" y="1209280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每秒事务数（</a:t>
            </a:r>
            <a:r>
              <a:rPr lang="en-US" altLang="zh-CN" dirty="0"/>
              <a:t>TPS</a:t>
            </a:r>
            <a:r>
              <a:rPr lang="zh-CN" altLang="en-US" dirty="0"/>
              <a:t>）随时间变化曲线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802095"/>
            <a:ext cx="37054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反映了系统每秒能处理的请求数（</a:t>
            </a:r>
            <a:r>
              <a:rPr lang="en-US" altLang="zh-CN" dirty="0"/>
              <a:t>TPS</a:t>
            </a:r>
            <a:r>
              <a:rPr lang="zh-CN" altLang="en-US" dirty="0"/>
              <a:t>）变化。可以看到，在压测前期，系统 </a:t>
            </a:r>
            <a:r>
              <a:rPr lang="en-US" altLang="zh-CN" dirty="0"/>
              <a:t>TPS </a:t>
            </a:r>
            <a:r>
              <a:rPr lang="zh-CN" altLang="en-US" dirty="0"/>
              <a:t>能随用户数增加而上升，峰值 </a:t>
            </a:r>
            <a:r>
              <a:rPr lang="en-US" altLang="zh-CN" dirty="0"/>
              <a:t>TPS </a:t>
            </a:r>
            <a:r>
              <a:rPr lang="zh-CN" altLang="en-US" dirty="0"/>
              <a:t>接近 </a:t>
            </a:r>
            <a:r>
              <a:rPr lang="en-US" altLang="zh-CN" dirty="0"/>
              <a:t>1800</a:t>
            </a:r>
            <a:r>
              <a:rPr lang="zh-CN" altLang="en-US" dirty="0"/>
              <a:t>；但随着负载持续，系统出现了大量失败请求（蓝色 </a:t>
            </a:r>
            <a:r>
              <a:rPr lang="en-US" altLang="zh-CN" dirty="0"/>
              <a:t>/ </a:t>
            </a:r>
            <a:r>
              <a:rPr lang="zh-CN" altLang="en-US" dirty="0"/>
              <a:t>棕色线），成功请求的 </a:t>
            </a:r>
            <a:r>
              <a:rPr lang="en-US" altLang="zh-CN" dirty="0"/>
              <a:t>TPS </a:t>
            </a:r>
            <a:r>
              <a:rPr lang="zh-CN" altLang="en-US" dirty="0"/>
              <a:t>极不稳定，失败率居高不下，说明系统在高并发下出现了明显的服务降级或接口报错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231" y="1276917"/>
            <a:ext cx="6237005" cy="47051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91760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6241" y="16143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请求报错截图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72" y="1460749"/>
            <a:ext cx="8171434" cy="49351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93299" y="34529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总结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64673" y="4504698"/>
            <a:ext cx="9698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本次压测的核心数据汇总表，包含两个接口的关键性能指标。从数据来看，登录请求和员工查询的平均响应时间分别为 </a:t>
            </a:r>
            <a:r>
              <a:rPr lang="en-US" altLang="zh-CN" dirty="0"/>
              <a:t>83ms </a:t>
            </a:r>
            <a:r>
              <a:rPr lang="zh-CN" altLang="en-US" dirty="0"/>
              <a:t>和 </a:t>
            </a:r>
            <a:r>
              <a:rPr lang="en-US" altLang="zh-CN" dirty="0"/>
              <a:t>71ms</a:t>
            </a:r>
            <a:r>
              <a:rPr lang="zh-CN" altLang="en-US" dirty="0"/>
              <a:t>，但异常率高达 </a:t>
            </a:r>
            <a:r>
              <a:rPr lang="en-US" altLang="zh-CN" dirty="0"/>
              <a:t>58% </a:t>
            </a:r>
            <a:r>
              <a:rPr lang="zh-CN" altLang="en-US" dirty="0"/>
              <a:t>以上，说明超过一半的请求都失败了；整体系统吞吐量为 </a:t>
            </a:r>
            <a:r>
              <a:rPr lang="en-US" altLang="zh-CN" dirty="0"/>
              <a:t>722.2 </a:t>
            </a:r>
            <a:r>
              <a:rPr lang="zh-CN" altLang="en-US" dirty="0"/>
              <a:t>次 </a:t>
            </a:r>
            <a:r>
              <a:rPr lang="en-US" altLang="zh-CN" dirty="0"/>
              <a:t>/ </a:t>
            </a:r>
            <a:r>
              <a:rPr lang="zh-CN" altLang="en-US" dirty="0"/>
              <a:t>秒，远低于预期，且最大响应时间达到了 </a:t>
            </a:r>
            <a:r>
              <a:rPr lang="en-US" altLang="zh-CN" dirty="0"/>
              <a:t>4510ms</a:t>
            </a:r>
            <a:r>
              <a:rPr lang="zh-CN" altLang="en-US" dirty="0"/>
              <a:t>，表明系统在高并发下稳定性极差，存在严重的性能瓶颈。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1866482"/>
            <a:ext cx="9455150" cy="2317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93299" y="34529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总结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35330" y="1855470"/>
            <a:ext cx="10959465" cy="306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本次性能测试采用阶梯式线程组模型，计划模拟 </a:t>
            </a:r>
            <a:r>
              <a:rPr lang="en-US" altLang="zh-CN" dirty="0"/>
              <a:t>100 </a:t>
            </a:r>
            <a:r>
              <a:rPr lang="zh-CN" altLang="en-US" dirty="0"/>
              <a:t>个并发用户，线程按梯度逐步增加，每 </a:t>
            </a:r>
            <a:r>
              <a:rPr lang="en-US" altLang="zh-CN" dirty="0"/>
              <a:t>30 </a:t>
            </a:r>
            <a:r>
              <a:rPr lang="zh-CN" altLang="en-US" dirty="0"/>
              <a:t>秒新增 </a:t>
            </a:r>
            <a:r>
              <a:rPr lang="en-US" altLang="zh-CN" dirty="0"/>
              <a:t>10 </a:t>
            </a:r>
            <a:r>
              <a:rPr lang="zh-CN" altLang="en-US" dirty="0"/>
              <a:t>个用户，达到峰值后持续压测，完整的用户增长模型与活跃线程数变化如所示。随着用户数增加，两个核心接口的响应时间整体呈上升趋势，在 </a:t>
            </a:r>
            <a:r>
              <a:rPr lang="en-US" altLang="zh-CN" dirty="0"/>
              <a:t>100 </a:t>
            </a:r>
            <a:r>
              <a:rPr lang="zh-CN" altLang="en-US" dirty="0"/>
              <a:t>用户峰值阶段出现明显波动，最大响应时间超过 </a:t>
            </a:r>
            <a:r>
              <a:rPr lang="en-US" altLang="zh-CN" dirty="0"/>
              <a:t>400ms</a:t>
            </a:r>
            <a:r>
              <a:rPr lang="zh-CN" altLang="en-US" dirty="0"/>
              <a:t>。系统吞吐量在压测前期虽能短暂达到较高水平，但后续大量请求失败，导致整体 </a:t>
            </a:r>
            <a:r>
              <a:rPr lang="en-US" altLang="zh-CN" dirty="0"/>
              <a:t>TPS </a:t>
            </a:r>
            <a:r>
              <a:rPr lang="zh-CN" altLang="en-US" dirty="0"/>
              <a:t>极不稳定。从最终聚合报告来看，两个接口的请求异常率均超过 </a:t>
            </a:r>
            <a:r>
              <a:rPr lang="en-US" altLang="zh-CN" dirty="0"/>
              <a:t>58%</a:t>
            </a:r>
            <a:r>
              <a:rPr lang="zh-CN" altLang="en-US" dirty="0"/>
              <a:t>，说明系统在 </a:t>
            </a:r>
            <a:r>
              <a:rPr lang="en-US" altLang="zh-CN" dirty="0"/>
              <a:t>100 </a:t>
            </a:r>
            <a:r>
              <a:rPr lang="zh-CN" altLang="en-US" dirty="0"/>
              <a:t>并发场景下无法稳定处理请求，存在明显的性能瓶颈与稳定性问题。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/>
        </p:nvSpPr>
        <p:spPr>
          <a:xfrm flipV="1">
            <a:off x="0" y="0"/>
            <a:ext cx="4961528" cy="41148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10800000" flipV="1">
            <a:off x="10055786" y="5086350"/>
            <a:ext cx="2136213" cy="1771650"/>
          </a:xfrm>
          <a:prstGeom prst="triangle">
            <a:avLst>
              <a:gd name="adj" fmla="val 0"/>
            </a:avLst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622774" y="3045418"/>
            <a:ext cx="1146506" cy="95084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" y="4456560"/>
            <a:ext cx="2895599" cy="24014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961528" y="0"/>
            <a:ext cx="2429874" cy="201519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097447" y="3131519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感谢您的观看指导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1569700" y="4310556"/>
            <a:ext cx="622300" cy="5161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heme/theme1.xml><?xml version="1.0" encoding="utf-8"?>
<a:theme xmlns:a="http://schemas.openxmlformats.org/drawingml/2006/main" name="第一PPT，www.1ppt.com">
  <a:themeElements>
    <a:clrScheme name="自定义 1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8CC5"/>
      </a:accent1>
      <a:accent2>
        <a:srgbClr val="4C4676"/>
      </a:accent2>
      <a:accent3>
        <a:srgbClr val="298CC5"/>
      </a:accent3>
      <a:accent4>
        <a:srgbClr val="4C4676"/>
      </a:accent4>
      <a:accent5>
        <a:srgbClr val="298CC5"/>
      </a:accent5>
      <a:accent6>
        <a:srgbClr val="4C467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1143</Words>
  <Application>Microsoft Office PowerPoint</Application>
  <PresentationFormat>宽屏</PresentationFormat>
  <Paragraphs>82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Agency FB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</dc:creator>
  <cp:keywords>www.1ppt.com</cp:keywords>
  <dc:description>www.1ppt.com</dc:description>
  <cp:lastModifiedBy>Ulmus Lls</cp:lastModifiedBy>
  <cp:revision>90</cp:revision>
  <dcterms:created xsi:type="dcterms:W3CDTF">2017-08-08T02:58:00Z</dcterms:created>
  <dcterms:modified xsi:type="dcterms:W3CDTF">2026-05-26T15:24:31Z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E44A79BEE90D4EE38A74BE51E907B7FC_13</vt:lpwstr>
  </property>
</Properties>
</file>