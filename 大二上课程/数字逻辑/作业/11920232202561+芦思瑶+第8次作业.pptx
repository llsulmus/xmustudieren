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31F7A-F656-72A1-9DB2-DF125F4D3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8080C4-7A0B-E36B-73F5-C4BD68BAB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24481-0DCF-1DA6-CB5A-BC67C936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C4C90D-6A33-130E-0095-8887C01F7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283A37-F817-7209-4B45-C0003883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59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206A0-9C83-735E-6227-DA00F7E32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1A6526-A886-4667-25E3-1392BCD1D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94914E-A021-F4DE-ED5E-FAD06D98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C161A4-A4D9-8D3D-13AE-07F2CF9C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B4B048-9518-C854-AD95-6511F3003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890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324F9-9465-41CA-06FB-3787944E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EF6DC0-A466-EA70-3078-D2D388237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620E21-AEDF-EBAA-9ADC-74FB12F8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FB084-507A-71DB-2FDC-AB8BCA423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C8E86-D65A-3E15-900C-D9465C73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22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064FF-7E66-E4F7-0A18-ACD7257B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83FE87-2C96-1EFB-D613-53666C9F7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70E206-2B8E-AB8D-E9C0-E6DF2C960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737358-00E7-04F4-FF0B-03569873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C22BB1-D281-7B42-6041-66C80394A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5920D5-BC19-92CF-925A-52199AF1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24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31050-903A-779D-EAB4-A67654C9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062B64-71FA-B91B-3F91-14FCE23B1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680EE8-535C-9A64-6BA3-70DCB1973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5745F7-B5BF-9123-9428-440D3476B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A203AD-D69E-F152-C659-7E9745A33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572581-12A4-BB55-7F60-6E453C72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DA0225-1925-41FE-332B-1501F4460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2AA6D7-CCBE-4574-FC0C-4A09EB438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96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6D7A-82D2-2DE9-41F2-E9C0B7DD5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50E135-2B09-F7E4-DEAB-CE1A55C9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F8833D-1056-79C0-B515-7C0AAA7D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695B7F-CBFA-1F7D-CB47-B4732E2F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58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185BA8-9D7F-4BF4-DC1E-AEE002F35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2519DF-800A-121D-B95A-BA01AB5D2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538E21-4454-BF61-FF68-4F4F2CF2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13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0A41E-CCA8-F92C-60D0-3F07ADF20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E6098C-E495-7671-FF16-07AE03263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EC0E24-D083-C6C0-9F84-9C4561305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582D92-1B02-F022-D23A-AFBFAA618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AB0444-D1CC-2A7F-ECC6-D8556685D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E46587-1970-FD8F-1B27-8CB07FF3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89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41658-BE04-A825-74AC-D1D6E085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6268C2-A6A7-00E3-7600-37F1F61CC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5FD671-E16D-EDE8-293B-6D6EF7172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90EF23-B72F-C2E4-1A42-0A0B3E91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BE5085-27D6-FAC1-A19D-B8FE1800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B7F625-54C6-AC49-8DD6-FD4006F7B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127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C6CAB-2968-C7FD-595E-3E7D6294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8D5A9D-E4CE-401D-4058-A34C88CF2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3BD493-AE27-89BB-BC61-BA069912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8B728-C4B9-895B-3BE8-4CA93257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BE7569-E520-2893-5331-C8D0A558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243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0A75BB-C6E3-9290-9F27-07E2173BE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035F74-0E6F-309B-9715-9F8DC1CC7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165A8E-7230-77E0-6AA7-9CABAB54E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FC217B-A1C3-66CC-6ABF-6DD82BFB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5719F-EC5F-6642-AC48-AAF2447D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44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E6ECA3-CFC7-B3B0-46B2-07733BC86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D36C24-F7AD-7A24-C918-0EA621DE4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9266C-13A4-6CC8-D298-D297DD5FE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EBB41-4E88-4879-8F81-EFCA3FBB44A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8B5515-28B0-86CA-61A7-87F30EEE2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350EDD-46B4-0958-504D-DC8DB5D68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3DEE4-EF38-42D8-9AD1-29D25038D5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92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56777-701A-3BE7-1BA2-2C9C55C26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009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244D89F-9307-0E57-DF56-3F1F0081C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32" y="463007"/>
            <a:ext cx="7277445" cy="466243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D1F5A00-D992-E1F9-401E-50F0CDFF6159}"/>
              </a:ext>
            </a:extLst>
          </p:cNvPr>
          <p:cNvSpPr txBox="1"/>
          <p:nvPr/>
        </p:nvSpPr>
        <p:spPr>
          <a:xfrm>
            <a:off x="789140" y="1402915"/>
            <a:ext cx="946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r>
              <a:rPr lang="en-US" altLang="zh-CN" dirty="0"/>
              <a:t>LPLD: PROM;PLA;PAL;GAL</a:t>
            </a:r>
          </a:p>
        </p:txBody>
      </p:sp>
    </p:spTree>
    <p:extLst>
      <p:ext uri="{BB962C8B-B14F-4D97-AF65-F5344CB8AC3E}">
        <p14:creationId xmlns:p14="http://schemas.microsoft.com/office/powerpoint/2010/main" val="377062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CAD0E9-2B2E-6DE1-1992-5DCEDAF27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7855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F7A4EE-362D-5EE1-7135-E0ABEF8EB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87" y="365125"/>
            <a:ext cx="6779303" cy="467855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969D3B4-5573-3CE1-7368-8A3F5D952B76}"/>
              </a:ext>
            </a:extLst>
          </p:cNvPr>
          <p:cNvSpPr txBox="1"/>
          <p:nvPr/>
        </p:nvSpPr>
        <p:spPr>
          <a:xfrm>
            <a:off x="582460" y="1164921"/>
            <a:ext cx="10835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r>
              <a:rPr lang="en-US" altLang="zh-CN" dirty="0"/>
              <a:t>PROM</a:t>
            </a:r>
            <a:r>
              <a:rPr lang="zh-CN" altLang="en-US" dirty="0"/>
              <a:t>是可编程的</a:t>
            </a:r>
            <a:r>
              <a:rPr lang="en-US" altLang="zh-CN" dirty="0"/>
              <a:t>ROM</a:t>
            </a:r>
            <a:r>
              <a:rPr lang="zh-CN" altLang="en-US" dirty="0"/>
              <a:t>，只能改写一次，内容为永久性。</a:t>
            </a:r>
            <a:endParaRPr lang="en-US" altLang="zh-CN" dirty="0"/>
          </a:p>
          <a:p>
            <a:r>
              <a:rPr lang="en-US" altLang="zh-CN" dirty="0"/>
              <a:t>       EPROM</a:t>
            </a:r>
            <a:r>
              <a:rPr lang="zh-CN" altLang="en-US" dirty="0"/>
              <a:t>是可擦除的</a:t>
            </a:r>
            <a:r>
              <a:rPr lang="en-US" altLang="zh-CN" dirty="0"/>
              <a:t>PROM, </a:t>
            </a:r>
            <a:r>
              <a:rPr lang="zh-CN" altLang="en-US" dirty="0"/>
              <a:t>可进行多次编程。</a:t>
            </a:r>
            <a:endParaRPr lang="en-US" altLang="zh-CN" dirty="0"/>
          </a:p>
          <a:p>
            <a:r>
              <a:rPr lang="en-US" altLang="zh-CN" dirty="0"/>
              <a:t>       E</a:t>
            </a:r>
            <a:r>
              <a:rPr lang="en-US" altLang="zh-CN" baseline="30000" dirty="0"/>
              <a:t>2</a:t>
            </a:r>
            <a:r>
              <a:rPr lang="en-US" altLang="zh-CN" dirty="0"/>
              <a:t>PROM</a:t>
            </a:r>
            <a:r>
              <a:rPr lang="zh-CN" altLang="en-US" dirty="0"/>
              <a:t>是用电信号擦除的</a:t>
            </a:r>
            <a:r>
              <a:rPr lang="en-US" altLang="zh-CN" dirty="0"/>
              <a:t>EPROM</a:t>
            </a:r>
            <a:r>
              <a:rPr lang="zh-CN" altLang="en-US" dirty="0"/>
              <a:t>。</a:t>
            </a:r>
            <a:endParaRPr lang="en-US" altLang="zh-CN" baseline="30000" dirty="0"/>
          </a:p>
        </p:txBody>
      </p:sp>
    </p:spTree>
    <p:extLst>
      <p:ext uri="{BB962C8B-B14F-4D97-AF65-F5344CB8AC3E}">
        <p14:creationId xmlns:p14="http://schemas.microsoft.com/office/powerpoint/2010/main" val="2289629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8AAEC-D46F-307C-A9DA-A998A1C8C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49BFC-7155-9AB4-4154-19808C580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220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F06D38F-26AB-0539-82F4-6512E6A3C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8" y="365126"/>
            <a:ext cx="8598342" cy="552478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2573C1E-A861-5149-E991-2EE834EA9DA0}"/>
              </a:ext>
            </a:extLst>
          </p:cNvPr>
          <p:cNvSpPr txBox="1"/>
          <p:nvPr/>
        </p:nvSpPr>
        <p:spPr>
          <a:xfrm>
            <a:off x="582460" y="1164921"/>
            <a:ext cx="1083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答：地址线位数</a:t>
            </a:r>
            <a:r>
              <a:rPr lang="en-US" altLang="zh-CN" dirty="0"/>
              <a:t>:10</a:t>
            </a:r>
            <a:r>
              <a:rPr lang="zh-CN" altLang="en-US" dirty="0"/>
              <a:t>；数据线位数：</a:t>
            </a:r>
            <a:r>
              <a:rPr lang="en-US" altLang="zh-CN" dirty="0"/>
              <a:t>8</a:t>
            </a:r>
            <a:r>
              <a:rPr lang="zh-CN" altLang="en-US" dirty="0"/>
              <a:t>；存储元</a:t>
            </a:r>
            <a:r>
              <a:rPr lang="en-US" altLang="zh-CN" dirty="0"/>
              <a:t>1024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798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29D7D-B6BC-7167-71BA-644F6C96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10430-17ED-92A2-97C1-5579986E8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220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C9027D0-A840-A87B-646B-8C00D10AB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72" y="456745"/>
            <a:ext cx="6179745" cy="459981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43E53D1-314E-B34C-C0E5-3C57DF101C00}"/>
              </a:ext>
            </a:extLst>
          </p:cNvPr>
          <p:cNvSpPr txBox="1"/>
          <p:nvPr/>
        </p:nvSpPr>
        <p:spPr>
          <a:xfrm>
            <a:off x="582460" y="1164921"/>
            <a:ext cx="1083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r>
              <a:rPr lang="en-US" altLang="zh-CN" dirty="0"/>
              <a:t>HDPLD:</a:t>
            </a:r>
            <a:r>
              <a:rPr lang="zh-CN" altLang="en-US" dirty="0"/>
              <a:t> </a:t>
            </a:r>
            <a:r>
              <a:rPr lang="en-US" altLang="zh-CN" dirty="0"/>
              <a:t>CPLD; FPGA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39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6AAD-F468-689B-FB77-CE570DBB6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D2D50-566A-9DAB-0C45-5020FA43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433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2015989-C0C5-53B4-50B5-ABEB91AD1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81" y="423217"/>
            <a:ext cx="9043251" cy="389249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5F4FB18-50CB-FDD3-3741-08D8382BA762}"/>
              </a:ext>
            </a:extLst>
          </p:cNvPr>
          <p:cNvSpPr txBox="1"/>
          <p:nvPr/>
        </p:nvSpPr>
        <p:spPr>
          <a:xfrm>
            <a:off x="563671" y="1171184"/>
            <a:ext cx="108350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常用的</a:t>
            </a:r>
            <a:r>
              <a:rPr lang="en-US" altLang="zh-CN" dirty="0"/>
              <a:t>CPLD</a:t>
            </a:r>
            <a:r>
              <a:rPr lang="zh-CN" altLang="en-US" dirty="0"/>
              <a:t>有</a:t>
            </a:r>
            <a:r>
              <a:rPr lang="en-US" altLang="zh-CN" dirty="0"/>
              <a:t>Altera</a:t>
            </a:r>
            <a:r>
              <a:rPr lang="zh-CN" altLang="en-US" dirty="0"/>
              <a:t>公司生产的</a:t>
            </a:r>
            <a:r>
              <a:rPr lang="en-US" altLang="zh-CN" dirty="0"/>
              <a:t>FLEX 10K</a:t>
            </a:r>
            <a:r>
              <a:rPr lang="zh-CN" altLang="en-US" dirty="0"/>
              <a:t>系列器件。</a:t>
            </a:r>
            <a:r>
              <a:rPr lang="en-US" altLang="zh-CN" dirty="0"/>
              <a:t>FLEX 10K</a:t>
            </a:r>
            <a:r>
              <a:rPr lang="zh-CN" altLang="en-US" dirty="0"/>
              <a:t>采用灵活逻辑单</a:t>
            </a:r>
          </a:p>
          <a:p>
            <a:r>
              <a:rPr lang="zh-CN" altLang="en-US" dirty="0"/>
              <a:t>元阵列（</a:t>
            </a:r>
            <a:r>
              <a:rPr lang="en-US" altLang="zh-CN" dirty="0"/>
              <a:t>Flexible Logic Element Matrix</a:t>
            </a:r>
            <a:r>
              <a:rPr lang="zh-CN" altLang="en-US" dirty="0"/>
              <a:t>，</a:t>
            </a:r>
            <a:r>
              <a:rPr lang="en-US" altLang="zh-CN" dirty="0"/>
              <a:t>FLEX</a:t>
            </a:r>
            <a:r>
              <a:rPr lang="zh-CN" altLang="en-US" dirty="0"/>
              <a:t>）结构和重复可构造的</a:t>
            </a:r>
            <a:r>
              <a:rPr lang="en-US" altLang="zh-CN" dirty="0"/>
              <a:t>CMOS</a:t>
            </a:r>
          </a:p>
          <a:p>
            <a:r>
              <a:rPr lang="en-US" altLang="zh-CN" dirty="0"/>
              <a:t>SRAM</a:t>
            </a:r>
            <a:r>
              <a:rPr lang="zh-CN" altLang="en-US" dirty="0"/>
              <a:t>工艺，具有高密度、低成本、低功耗等特点。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        二：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CPLD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由逻辑块、可编程互连通道和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I/O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块三部分构成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1538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7BAE-0794-6D12-BA80-D1888CA62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26A2D-71CA-9C33-BD47-4C3088F53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220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6F4355D-6EED-75F4-4555-BB0373DE0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02" y="431694"/>
            <a:ext cx="6464760" cy="510084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FDC013F-E127-0A29-193B-932024B17327}"/>
              </a:ext>
            </a:extLst>
          </p:cNvPr>
          <p:cNvSpPr txBox="1"/>
          <p:nvPr/>
        </p:nvSpPr>
        <p:spPr>
          <a:xfrm>
            <a:off x="582460" y="1164921"/>
            <a:ext cx="10835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答：是一个由若干逻辑块构成的阵列，一般由可编程 配置逻辑块（</a:t>
            </a:r>
            <a:r>
              <a:rPr lang="en-US" altLang="zh-CN" dirty="0"/>
              <a:t>CLB</a:t>
            </a:r>
            <a:r>
              <a:rPr lang="zh-CN" altLang="en-US" dirty="0"/>
              <a:t>）、可编程输入</a:t>
            </a:r>
            <a:r>
              <a:rPr lang="en-US" altLang="zh-CN" dirty="0"/>
              <a:t>/</a:t>
            </a:r>
            <a:r>
              <a:rPr lang="zh-CN" altLang="en-US" dirty="0"/>
              <a:t>输出块（</a:t>
            </a:r>
            <a:r>
              <a:rPr lang="en-US" altLang="zh-CN" dirty="0"/>
              <a:t>IOB</a:t>
            </a:r>
            <a:r>
              <a:rPr lang="zh-CN" altLang="en-US" dirty="0"/>
              <a:t>）和可编程互连资源（</a:t>
            </a:r>
            <a:r>
              <a:rPr lang="en-US" altLang="zh-CN" dirty="0"/>
              <a:t>IR</a:t>
            </a:r>
            <a:r>
              <a:rPr lang="zh-CN" altLang="en-US" dirty="0"/>
              <a:t>）组 成。</a:t>
            </a:r>
            <a:r>
              <a:rPr lang="en-US" altLang="zh-CN" dirty="0"/>
              <a:t>CLB</a:t>
            </a:r>
            <a:r>
              <a:rPr lang="zh-CN" altLang="en-US" dirty="0"/>
              <a:t>（可编程配置逻辑块）是</a:t>
            </a:r>
            <a:r>
              <a:rPr lang="en-US" altLang="zh-CN" dirty="0"/>
              <a:t>FPGA</a:t>
            </a:r>
            <a:r>
              <a:rPr lang="zh-CN" altLang="en-US" dirty="0"/>
              <a:t>内的基本逻辑单元。每个</a:t>
            </a:r>
            <a:r>
              <a:rPr lang="en-US" altLang="zh-CN" dirty="0"/>
              <a:t>CLB</a:t>
            </a:r>
            <a:r>
              <a:rPr lang="zh-CN" altLang="en-US" dirty="0"/>
              <a:t>模块不仅 可以用于实现组合逻辑、时序逻辑，还可以配置为分布式</a:t>
            </a:r>
            <a:r>
              <a:rPr lang="en-US" altLang="zh-CN" dirty="0"/>
              <a:t>RAM</a:t>
            </a:r>
            <a:r>
              <a:rPr lang="zh-CN" altLang="en-US" dirty="0"/>
              <a:t>和分布式</a:t>
            </a:r>
            <a:r>
              <a:rPr lang="en-US" altLang="zh-CN" dirty="0"/>
              <a:t>ROM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6180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654D-7774-4135-D3F5-59822FFA9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6FFB9-ADD9-66F3-344D-A8F94FBE1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220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101F251-1167-BCF3-D801-2F132A15C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10" y="493837"/>
            <a:ext cx="9952836" cy="41430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94520DD-B72D-A4CE-8194-F595AC4B37CC}"/>
              </a:ext>
            </a:extLst>
          </p:cNvPr>
          <p:cNvSpPr txBox="1"/>
          <p:nvPr/>
        </p:nvSpPr>
        <p:spPr>
          <a:xfrm>
            <a:off x="582460" y="1164921"/>
            <a:ext cx="10835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答：由可编辑逻辑块</a:t>
            </a:r>
            <a:r>
              <a:rPr lang="en-US" altLang="zh-CN" dirty="0"/>
              <a:t>CLB</a:t>
            </a:r>
            <a:r>
              <a:rPr lang="zh-CN" altLang="en-US" dirty="0"/>
              <a:t>，</a:t>
            </a:r>
            <a:r>
              <a:rPr lang="en-US" altLang="zh-CN" dirty="0"/>
              <a:t>SRAM</a:t>
            </a:r>
            <a:r>
              <a:rPr lang="zh-CN" altLang="en-US" dirty="0"/>
              <a:t>，</a:t>
            </a:r>
            <a:r>
              <a:rPr lang="en-US" altLang="zh-CN" dirty="0"/>
              <a:t>IOB</a:t>
            </a:r>
            <a:r>
              <a:rPr lang="zh-CN" altLang="en-US" dirty="0"/>
              <a:t>以及可编程内部连线</a:t>
            </a:r>
            <a:r>
              <a:rPr lang="en-US" altLang="zh-CN" dirty="0"/>
              <a:t>PI</a:t>
            </a:r>
            <a:r>
              <a:rPr lang="zh-CN" altLang="en-US" dirty="0"/>
              <a:t>组成。</a:t>
            </a:r>
            <a:endParaRPr lang="en-US" altLang="zh-CN" dirty="0"/>
          </a:p>
          <a:p>
            <a:r>
              <a:rPr lang="en-US" altLang="zh-CN" dirty="0"/>
              <a:t>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7737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07DCA-03E2-F068-4925-7EA479BFE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2FB88-273A-B365-9E5B-F780410D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22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xx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8A5879E-ADAF-0A51-A31F-60052B5DC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87" y="458435"/>
            <a:ext cx="9463072" cy="456602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41DA648-C4CF-9355-8BD5-BFE26A68D528}"/>
              </a:ext>
            </a:extLst>
          </p:cNvPr>
          <p:cNvSpPr txBox="1"/>
          <p:nvPr/>
        </p:nvSpPr>
        <p:spPr>
          <a:xfrm>
            <a:off x="582460" y="1164921"/>
            <a:ext cx="1083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答：网表优化、功率优化、布局设计、物理优化、布线设计</a:t>
            </a:r>
          </a:p>
        </p:txBody>
      </p:sp>
    </p:spTree>
    <p:extLst>
      <p:ext uri="{BB962C8B-B14F-4D97-AF65-F5344CB8AC3E}">
        <p14:creationId xmlns:p14="http://schemas.microsoft.com/office/powerpoint/2010/main" val="144817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04B90-9779-ECB0-CE0D-54035E82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E52D4-0F55-72B0-E801-390268CA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220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4753FFD-5742-D511-8AF4-AD88E1D76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2902"/>
            <a:ext cx="6567686" cy="46766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861E530-706C-2F71-380B-283D2CE91B30}"/>
              </a:ext>
            </a:extLst>
          </p:cNvPr>
          <p:cNvSpPr txBox="1"/>
          <p:nvPr/>
        </p:nvSpPr>
        <p:spPr>
          <a:xfrm>
            <a:off x="582460" y="1164921"/>
            <a:ext cx="108350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CPLD</a:t>
            </a:r>
            <a:r>
              <a:rPr lang="zh-CN" altLang="en-US" dirty="0"/>
              <a:t>属于逻辑块级编程，并且其逻辑块之间的互连是集总式的，其连续式布线结构决</a:t>
            </a:r>
          </a:p>
          <a:p>
            <a:r>
              <a:rPr lang="zh-CN" altLang="en-US" dirty="0"/>
              <a:t>定了它的内部延迟与器件结构和连线无关，各模块之间提供了具有固定延迟的快速互</a:t>
            </a:r>
          </a:p>
          <a:p>
            <a:r>
              <a:rPr lang="zh-CN" altLang="en-US" dirty="0"/>
              <a:t>连通道，使得延时是均匀且可预测的，因此容易消除竞争和险象。</a:t>
            </a:r>
          </a:p>
          <a:p>
            <a:r>
              <a:rPr lang="en-US" altLang="zh-CN" dirty="0"/>
              <a:t>– FPGA</a:t>
            </a:r>
            <a:r>
              <a:rPr lang="zh-CN" altLang="en-US" dirty="0"/>
              <a:t>属于门级编程，逻辑资源和布线资源在结构上分开，其</a:t>
            </a:r>
            <a:r>
              <a:rPr lang="en-US" altLang="zh-CN" dirty="0"/>
              <a:t>CLB</a:t>
            </a:r>
            <a:r>
              <a:rPr lang="zh-CN" altLang="en-US" dirty="0"/>
              <a:t>（可编程逻辑块）之</a:t>
            </a:r>
          </a:p>
          <a:p>
            <a:r>
              <a:rPr lang="zh-CN" altLang="en-US" dirty="0"/>
              <a:t>间采用分布式互连，布线相当灵活，但这种分布式布线结构决定了其速度慢、延迟不</a:t>
            </a:r>
          </a:p>
          <a:p>
            <a:r>
              <a:rPr lang="zh-CN" altLang="en-US" dirty="0"/>
              <a:t>可预测。</a:t>
            </a:r>
          </a:p>
          <a:p>
            <a:r>
              <a:rPr lang="en-US" altLang="zh-CN" dirty="0"/>
              <a:t>– </a:t>
            </a:r>
            <a:r>
              <a:rPr lang="zh-CN" altLang="en-US" dirty="0"/>
              <a:t>在编程上</a:t>
            </a:r>
            <a:r>
              <a:rPr lang="en-US" altLang="zh-CN" dirty="0"/>
              <a:t>FPGA</a:t>
            </a:r>
            <a:r>
              <a:rPr lang="zh-CN" altLang="en-US" dirty="0"/>
              <a:t>比</a:t>
            </a:r>
            <a:r>
              <a:rPr lang="en-US" altLang="zh-CN" dirty="0"/>
              <a:t>CPLD</a:t>
            </a:r>
            <a:r>
              <a:rPr lang="zh-CN" altLang="en-US" dirty="0"/>
              <a:t>具有更大的灵活性。</a:t>
            </a:r>
          </a:p>
          <a:p>
            <a:r>
              <a:rPr lang="en-US" altLang="zh-CN" dirty="0"/>
              <a:t>– CPLD</a:t>
            </a:r>
            <a:r>
              <a:rPr lang="zh-CN" altLang="en-US" dirty="0"/>
              <a:t>的功耗要比</a:t>
            </a:r>
            <a:r>
              <a:rPr lang="en-US" altLang="zh-CN" dirty="0"/>
              <a:t>FPGA</a:t>
            </a:r>
            <a:r>
              <a:rPr lang="zh-CN" altLang="en-US" dirty="0"/>
              <a:t>大，且集成度越高越明显。</a:t>
            </a:r>
          </a:p>
          <a:p>
            <a:r>
              <a:rPr lang="en-US" altLang="zh-CN" dirty="0"/>
              <a:t>– CPLD</a:t>
            </a:r>
            <a:r>
              <a:rPr lang="zh-CN" altLang="en-US" dirty="0"/>
              <a:t>适合完成各种算法和组合逻辑（适合于触发器有限而乘积项丰富的电路结构）。</a:t>
            </a:r>
          </a:p>
          <a:p>
            <a:r>
              <a:rPr lang="en-US" altLang="zh-CN" dirty="0"/>
              <a:t>– FPGA</a:t>
            </a:r>
            <a:r>
              <a:rPr lang="zh-CN" altLang="en-US" dirty="0"/>
              <a:t>更适合完成时序逻辑（适合复杂的布线结构和逻辑电路）。</a:t>
            </a:r>
          </a:p>
          <a:p>
            <a:r>
              <a:rPr lang="en-US" altLang="zh-CN" dirty="0"/>
              <a:t>– </a:t>
            </a:r>
            <a:r>
              <a:rPr lang="zh-CN" altLang="en-US" dirty="0"/>
              <a:t>总之，</a:t>
            </a:r>
            <a:r>
              <a:rPr lang="en-US" altLang="zh-CN" dirty="0"/>
              <a:t>CPLD</a:t>
            </a:r>
            <a:r>
              <a:rPr lang="zh-CN" altLang="en-US" dirty="0"/>
              <a:t>的速度快、保密性好、使用方便，</a:t>
            </a:r>
            <a:r>
              <a:rPr lang="en-US" altLang="zh-CN" dirty="0"/>
              <a:t>FPGA</a:t>
            </a:r>
            <a:r>
              <a:rPr lang="zh-CN" altLang="en-US" dirty="0"/>
              <a:t>的集成度高、功耗低、编程灵活</a:t>
            </a:r>
          </a:p>
          <a:p>
            <a:r>
              <a:rPr lang="zh-CN" altLang="en-US" dirty="0"/>
              <a:t>度大。</a:t>
            </a:r>
          </a:p>
        </p:txBody>
      </p:sp>
    </p:spTree>
    <p:extLst>
      <p:ext uri="{BB962C8B-B14F-4D97-AF65-F5344CB8AC3E}">
        <p14:creationId xmlns:p14="http://schemas.microsoft.com/office/powerpoint/2010/main" val="3631529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473</Words>
  <Application>Microsoft Office PowerPoint</Application>
  <PresentationFormat>宽屏</PresentationFormat>
  <Paragraphs>29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-apple-system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xx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Ulmus Lls</dc:creator>
  <cp:lastModifiedBy>Ulmus Lls</cp:lastModifiedBy>
  <cp:revision>3</cp:revision>
  <dcterms:created xsi:type="dcterms:W3CDTF">2024-12-02T06:33:00Z</dcterms:created>
  <dcterms:modified xsi:type="dcterms:W3CDTF">2024-12-02T07:31:10Z</dcterms:modified>
</cp:coreProperties>
</file>