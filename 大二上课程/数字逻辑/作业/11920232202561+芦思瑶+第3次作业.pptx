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8" r:id="rId7"/>
    <p:sldId id="262" r:id="rId8"/>
    <p:sldId id="263" r:id="rId9"/>
    <p:sldId id="264" r:id="rId10"/>
    <p:sldId id="265" r:id="rId11"/>
    <p:sldId id="266" r:id="rId12"/>
    <p:sldId id="269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6EE6A-CBD6-FDF2-D6D3-F66E1CFAC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821306-5D39-36E3-4DDE-DF2C1C815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9E2D86-3DF1-D45C-FD80-C4F732DE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599363-1029-488F-9003-8EA06DC3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C01217-619A-6A96-54E6-0DAD8E20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63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5CFF1-5AF1-468C-7D49-C256B6FC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7B2C4-0E54-817C-0BDB-555D3D838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56AF44-D33A-4112-B258-59B6942AB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21FBE-DB51-E2F3-10D6-9FE523670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797E6A-07B7-F900-542D-F8AFE2BD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24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CEC5A-71B3-F2E9-725F-B997F4A35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B4CD3E-4E6F-3924-C015-64F4EC319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3D5C55-A894-DDE1-0CBA-CC7C0248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DB3DD8-8655-7DE7-A20B-66700860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6148E-33A2-552E-B2A2-DFE452D6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51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D8C00D-8948-E3B6-A259-71F45E30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E2FE05-36BF-C279-4B29-18880F7F4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82609C-CF04-1D42-C36B-C0E0BD904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9D1011-9CC5-0E51-FCEA-D1B7DDEE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925810-280C-F460-E558-31BEAA931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1183C0-F9E4-4601-31CB-CB6B87FF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60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1C033-6AA1-C0DD-C5BB-7955863D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95C852-35FD-D98D-3B0A-93CC75059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17981E-5D64-A00C-F084-DD679DC39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839BDE-840E-8097-E135-1AC9DD904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F4D813-9189-3C7A-0933-4515EB5C0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7E4916-F538-6A9B-348A-B267508A8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F5B351-F8DA-774F-BBF9-F10D074F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ECCBF5-D359-4CC4-5797-A925DD50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62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03C0A-45D7-B738-AC0D-FCAD4B0B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945B7D-961D-D5C8-11AF-E5A6EB53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20D5FA-85DD-37AD-58BE-10305BCF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663AA6-2457-3C7C-E612-F1632B7D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830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A46A65-C499-EC48-3F40-C2A2C7E02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06C54B-D0C2-B5C3-8682-B4DDC551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C56CAA-09B7-7930-8ED8-306A1FC9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7CFFF-1FAF-DEA8-7256-A72B4224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14F5D1-1732-86B1-0259-9ED5B8CC3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C2F239-0281-57E7-EA2A-6EC545FAB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FC83DC-4381-5A44-06C4-F679C630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EFADFC-E176-4BFF-2C37-A857E156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5F574E-7466-555A-1C1A-F9A3E7CB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316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2ED80-39BC-5F30-9514-B4B59FE3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4BB362-076B-F9E9-50E3-2BF14D4F7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153B8C-F6DB-9CE9-B5F5-AA71817F6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ECD6B-BA50-02A5-FB6A-623BAD02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1A84AE-A762-13BE-3F5F-F81CE6C7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29E28A-3625-51D1-E020-B4BB66D1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09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C9A73-FF9A-4BC9-CBCE-1C92326D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C479D1-DF4E-86FC-0E37-E75C6429F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6947D1-95B6-FB27-E80C-69C370AF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9CBA6B-8CD5-2008-2C72-B1444EE07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C24366-26BD-2CA2-A8B6-71D1BD6B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351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9A1970-E3F9-331E-2B1D-BFC6D3E85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EFE4BC-00E6-6104-1983-9399B9478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97C0E-D3BC-5E40-ACB2-40ABD69B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F368A4-A986-0F6B-75B3-21FAF4488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3817A2-0661-96B4-4A24-094F8AD1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10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ABCD6C-4FB9-20B2-BEDF-71E61E63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2F399B-6589-1B17-104C-A0B578CBC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081000-0A43-7602-A745-61D8D9AB6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7BB5F-3287-4C74-9E1D-75632572E44F}" type="datetimeFigureOut">
              <a:rPr lang="zh-CN" altLang="en-US" smtClean="0"/>
              <a:t>2024/10/7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86B544-9BE7-BEC4-1AB1-BCF9CC24F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DC1C0-BA1F-4C12-C000-4FA68CA28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CEB7-6244-4A14-AB38-7EE223B1D1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383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DAE61-0680-AC31-58BA-55C26A82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218" y="23625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3.1 </a:t>
            </a:r>
            <a:r>
              <a:rPr lang="zh-CN" altLang="en-US" sz="3200" dirty="0"/>
              <a:t>根据所采用的半导体器件不同，集成电路可分为哪两大类？各自的主要优缺点是什么？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1E8488-BE51-4563-B2D5-4CF0CA152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218" y="1561813"/>
            <a:ext cx="10828582" cy="4615150"/>
          </a:xfrm>
        </p:spPr>
        <p:txBody>
          <a:bodyPr/>
          <a:lstStyle/>
          <a:p>
            <a:r>
              <a:rPr lang="zh-CN" altLang="en-US" dirty="0"/>
              <a:t>答：</a:t>
            </a:r>
            <a:r>
              <a:rPr lang="en-US" altLang="zh-CN" dirty="0"/>
              <a:t>1.</a:t>
            </a:r>
            <a:r>
              <a:rPr lang="zh-CN" altLang="en-US" dirty="0"/>
              <a:t>一类是双极型集成电路，另一类是</a:t>
            </a:r>
            <a:r>
              <a:rPr lang="en-US" altLang="zh-CN" dirty="0"/>
              <a:t>MOS</a:t>
            </a:r>
            <a:r>
              <a:rPr lang="zh-CN" altLang="en-US" dirty="0"/>
              <a:t>型集成电路。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双极型优点：速度快，负载能力强；缺点：功耗较大，结构较复杂，集成规模受到一定限制。</a:t>
            </a:r>
            <a:endParaRPr lang="en-US" altLang="zh-CN" dirty="0"/>
          </a:p>
          <a:p>
            <a:r>
              <a:rPr lang="en-US" altLang="zh-CN" dirty="0"/>
              <a:t>   MOS</a:t>
            </a:r>
            <a:r>
              <a:rPr lang="zh-CN" altLang="en-US" dirty="0"/>
              <a:t>型优点：结构简单、制造方便、集成度高、功耗低；缺点：速度一般比双极型集成电路稍慢。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3934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C0052-8C9C-37BA-49E5-C48157CF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819" y="358988"/>
            <a:ext cx="10515600" cy="96658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3.4 </a:t>
            </a:r>
            <a:r>
              <a:rPr lang="zh-CN" altLang="en-US" sz="3600" dirty="0"/>
              <a:t>数字电路中，晶体三极管一般工作在什么状态下？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BF829D-69FB-C19E-5C85-981F1FA5C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19" y="1417627"/>
            <a:ext cx="10711981" cy="4759336"/>
          </a:xfrm>
        </p:spPr>
        <p:txBody>
          <a:bodyPr/>
          <a:lstStyle/>
          <a:p>
            <a:r>
              <a:rPr lang="zh-CN" altLang="en-US" dirty="0"/>
              <a:t>答：一般工作在截止状态和饱和状态。</a:t>
            </a:r>
          </a:p>
        </p:txBody>
      </p:sp>
    </p:spTree>
    <p:extLst>
      <p:ext uri="{BB962C8B-B14F-4D97-AF65-F5344CB8AC3E}">
        <p14:creationId xmlns:p14="http://schemas.microsoft.com/office/powerpoint/2010/main" val="3413000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9034F-D196-0BDA-ED7D-98C0A078D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531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3.6 TTL</a:t>
            </a:r>
            <a:r>
              <a:rPr lang="zh-CN" altLang="en-US" sz="3600" dirty="0"/>
              <a:t>与非门有哪些主要性能参数？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67790D-3937-C3DB-1920-522CF6C81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08" y="1325573"/>
            <a:ext cx="10654192" cy="4851390"/>
          </a:xfrm>
        </p:spPr>
        <p:txBody>
          <a:bodyPr/>
          <a:lstStyle/>
          <a:p>
            <a:r>
              <a:rPr lang="zh-CN" altLang="en-US" dirty="0"/>
              <a:t>答：有输出逻辑电平、开门电平、关门电平、扇入系数、扇出系数、平均传输时延和空载功耗等。</a:t>
            </a:r>
          </a:p>
        </p:txBody>
      </p:sp>
    </p:spTree>
    <p:extLst>
      <p:ext uri="{BB962C8B-B14F-4D97-AF65-F5344CB8AC3E}">
        <p14:creationId xmlns:p14="http://schemas.microsoft.com/office/powerpoint/2010/main" val="1253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EFB0C-28A6-BD1F-327E-4B568417A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324" y="217838"/>
            <a:ext cx="10515600" cy="1095461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3.7 OC</a:t>
            </a:r>
            <a:r>
              <a:rPr lang="zh-CN" altLang="en-US" sz="2800" dirty="0"/>
              <a:t>门和</a:t>
            </a:r>
            <a:r>
              <a:rPr lang="en-US" altLang="zh-CN" sz="2800" dirty="0"/>
              <a:t>TS</a:t>
            </a:r>
            <a:r>
              <a:rPr lang="zh-CN" altLang="en-US" sz="2800" dirty="0"/>
              <a:t>门的结构与一般</a:t>
            </a:r>
            <a:r>
              <a:rPr lang="en-US" altLang="zh-CN" sz="2800" dirty="0"/>
              <a:t>TTL</a:t>
            </a:r>
            <a:r>
              <a:rPr lang="zh-CN" altLang="en-US" sz="2800" dirty="0"/>
              <a:t>与非门有何不同？各有何主要应用？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449EC-FD32-1E34-BF77-61797CEB1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324" y="1454448"/>
            <a:ext cx="10644476" cy="4722515"/>
          </a:xfrm>
        </p:spPr>
        <p:txBody>
          <a:bodyPr/>
          <a:lstStyle/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(1.)OC</a:t>
            </a:r>
            <a:r>
              <a:rPr lang="zh-CN" altLang="en-US" dirty="0"/>
              <a:t>门将门电路输出引线连接实现与逻辑的功能，为线与逻辑。</a:t>
            </a:r>
            <a:r>
              <a:rPr lang="en-US" altLang="zh-CN" dirty="0"/>
              <a:t>TTL</a:t>
            </a:r>
            <a:r>
              <a:rPr lang="zh-CN" altLang="en-US" dirty="0"/>
              <a:t>则不能直接将两个门的输出端直接并接使用。</a:t>
            </a:r>
            <a:endParaRPr lang="en-US" altLang="zh-CN" sz="2400" dirty="0"/>
          </a:p>
          <a:p>
            <a:pPr lvl="1"/>
            <a:r>
              <a:rPr lang="en-US" altLang="zh-CN" sz="2800" dirty="0"/>
              <a:t>TS</a:t>
            </a:r>
            <a:r>
              <a:rPr lang="zh-CN" altLang="en-US" sz="2800" dirty="0"/>
              <a:t>门在一般与非门的基础上增加了一个二极管和一个使能控制端。</a:t>
            </a:r>
            <a:endParaRPr lang="en-US" altLang="zh-CN" sz="2800" dirty="0"/>
          </a:p>
          <a:p>
            <a:r>
              <a:rPr lang="en-US" altLang="zh-CN" dirty="0"/>
              <a:t>(2.)OC</a:t>
            </a:r>
            <a:r>
              <a:rPr lang="zh-CN" altLang="en-US" dirty="0"/>
              <a:t>门可以方便地实现线与逻辑、电平转换以及直接驱动发光二极管、干簧继电器等。</a:t>
            </a:r>
            <a:endParaRPr lang="en-US" altLang="zh-CN" dirty="0"/>
          </a:p>
          <a:p>
            <a:pPr lvl="1"/>
            <a:r>
              <a:rPr lang="en-US" altLang="zh-CN" sz="2800" dirty="0"/>
              <a:t>TS</a:t>
            </a:r>
            <a:r>
              <a:rPr lang="zh-CN" altLang="en-US" sz="2800" dirty="0"/>
              <a:t>门不仅可以实现线与，而且被广泛地应用于总线传输，既可以用于单项数据传送，也可以用于双向。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32416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847EE-6933-61EB-8A9E-A1480629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078" y="365125"/>
            <a:ext cx="10991722" cy="1193651"/>
          </a:xfrm>
        </p:spPr>
        <p:txBody>
          <a:bodyPr>
            <a:normAutofit fontScale="90000"/>
          </a:bodyPr>
          <a:lstStyle/>
          <a:p>
            <a:r>
              <a:rPr lang="en-US" altLang="zh-CN" sz="2800" dirty="0"/>
              <a:t>3.8 </a:t>
            </a:r>
            <a:r>
              <a:rPr lang="zh-CN" altLang="en-US" sz="2800" dirty="0"/>
              <a:t>图</a:t>
            </a:r>
            <a:r>
              <a:rPr lang="en-US" altLang="zh-CN" sz="2800" dirty="0"/>
              <a:t>3.60(a)</a:t>
            </a:r>
            <a:r>
              <a:rPr lang="zh-CN" altLang="en-US" sz="2800" dirty="0"/>
              <a:t>所示为三态门组成的总线换向开关电路，其中，</a:t>
            </a:r>
            <a:r>
              <a:rPr lang="en-US" altLang="zh-CN" sz="2800" dirty="0"/>
              <a:t>A</a:t>
            </a:r>
            <a:r>
              <a:rPr lang="zh-CN" altLang="en-US" sz="2800" dirty="0"/>
              <a:t>、</a:t>
            </a:r>
            <a:r>
              <a:rPr lang="en-US" altLang="zh-CN" sz="2800" dirty="0"/>
              <a:t>B</a:t>
            </a:r>
            <a:r>
              <a:rPr lang="zh-CN" altLang="en-US" sz="2800" dirty="0"/>
              <a:t>为信号输入端，分别送两个频率不同的信号；</a:t>
            </a:r>
            <a:r>
              <a:rPr lang="en-US" altLang="zh-CN" sz="2800" dirty="0"/>
              <a:t>EN</a:t>
            </a:r>
            <a:r>
              <a:rPr lang="zh-CN" altLang="en-US" sz="2800" dirty="0"/>
              <a:t>为换向控制端，输入信号和控制电平波形如图</a:t>
            </a:r>
            <a:r>
              <a:rPr lang="en-US" altLang="zh-CN" sz="2800" dirty="0"/>
              <a:t>(b)</a:t>
            </a:r>
            <a:r>
              <a:rPr lang="zh-CN" altLang="en-US" sz="2800" dirty="0"/>
              <a:t>所示。试画出</a:t>
            </a:r>
            <a:r>
              <a:rPr lang="en-US" altLang="zh-CN" sz="2800" dirty="0"/>
              <a:t>Y1</a:t>
            </a:r>
            <a:r>
              <a:rPr lang="zh-CN" altLang="en-US" sz="2800" dirty="0"/>
              <a:t>、</a:t>
            </a:r>
            <a:r>
              <a:rPr lang="en-US" altLang="zh-CN" sz="2800" dirty="0"/>
              <a:t>Y2</a:t>
            </a:r>
            <a:r>
              <a:rPr lang="zh-CN" altLang="en-US" sz="2800" dirty="0"/>
              <a:t>的波形。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C654887-3C9C-7DFF-BDF4-771BCC516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69" y="1604695"/>
            <a:ext cx="7895919" cy="4351338"/>
          </a:xfrm>
        </p:spPr>
      </p:pic>
    </p:spTree>
    <p:extLst>
      <p:ext uri="{BB962C8B-B14F-4D97-AF65-F5344CB8AC3E}">
        <p14:creationId xmlns:p14="http://schemas.microsoft.com/office/powerpoint/2010/main" val="390904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709193-124B-38E6-A0E0-1E559F20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92" y="372646"/>
            <a:ext cx="10515600" cy="61678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3.8 </a:t>
            </a:r>
            <a:r>
              <a:rPr lang="zh-CN" altLang="en-US" dirty="0"/>
              <a:t>答：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FE8CEC0-9312-E385-358A-770F67222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54" y="1331913"/>
            <a:ext cx="10311030" cy="4845050"/>
          </a:xfrm>
        </p:spPr>
      </p:pic>
    </p:spTree>
    <p:extLst>
      <p:ext uri="{BB962C8B-B14F-4D97-AF65-F5344CB8AC3E}">
        <p14:creationId xmlns:p14="http://schemas.microsoft.com/office/powerpoint/2010/main" val="268414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BD87D-C71A-ACE8-C8FD-768D2CBC1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31A5A4F1-4FA3-AC1B-E780-4A61B5C51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19" y="285345"/>
            <a:ext cx="9138256" cy="2090541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FB7D812-3958-9AAD-0FFE-B9EED4793DE3}"/>
              </a:ext>
            </a:extLst>
          </p:cNvPr>
          <p:cNvSpPr txBox="1"/>
          <p:nvPr/>
        </p:nvSpPr>
        <p:spPr>
          <a:xfrm>
            <a:off x="533519" y="2239973"/>
            <a:ext cx="112984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答：开门电平的大小反映了输入高电平时的抗干扰能力，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ON</a:t>
            </a:r>
            <a:r>
              <a:rPr lang="zh-CN" altLang="en-US" sz="2400" dirty="0"/>
              <a:t>愈小，在输入高电平时的抗干扰能力愈强。而关门电平反映了输入低电平时的抗干扰能力，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OFF</a:t>
            </a:r>
            <a:r>
              <a:rPr lang="zh-CN" altLang="en-US" sz="2400" dirty="0"/>
              <a:t>愈大，抗干扰能力愈强。</a:t>
            </a:r>
            <a:endParaRPr lang="en-US" altLang="zh-CN" sz="2400" baseline="-25000" dirty="0"/>
          </a:p>
          <a:p>
            <a:r>
              <a:rPr lang="en-US" altLang="zh-CN" sz="2400" dirty="0"/>
              <a:t>       </a:t>
            </a:r>
            <a:r>
              <a:rPr lang="zh-CN" altLang="en-US" sz="2400" dirty="0"/>
              <a:t>综上，输入相同高电平时，甲抗干扰能力强；输入相同低电平时，甲的抗干扰能力强。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34757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55E08-28C5-AC7B-9728-95A1275E1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B7509EF-BF7B-6833-9ECA-1F37736BB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64" y="125785"/>
            <a:ext cx="7673698" cy="2695577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6C15C40-9B51-B3E9-128F-8773A784A3CC}"/>
              </a:ext>
            </a:extLst>
          </p:cNvPr>
          <p:cNvSpPr txBox="1"/>
          <p:nvPr/>
        </p:nvSpPr>
        <p:spPr>
          <a:xfrm>
            <a:off x="527774" y="2730926"/>
            <a:ext cx="11402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答</a:t>
            </a:r>
            <a:r>
              <a:rPr lang="zh-CN" altLang="en-US" sz="2800" dirty="0">
                <a:sym typeface="Wingdings" panose="05000000000000000000" pitchFamily="2" charset="2"/>
              </a:rPr>
              <a:t>：（</a:t>
            </a:r>
            <a:r>
              <a:rPr lang="en-US" altLang="zh-CN" sz="2800" dirty="0">
                <a:sym typeface="Wingdings" panose="05000000000000000000" pitchFamily="2" charset="2"/>
              </a:rPr>
              <a:t>1</a:t>
            </a:r>
            <a:r>
              <a:rPr lang="zh-CN" altLang="en-US" sz="2800" dirty="0">
                <a:sym typeface="Wingdings" panose="05000000000000000000" pitchFamily="2" charset="2"/>
              </a:rPr>
              <a:t>）可以实现线与逻辑，可以输出并联使用；</a:t>
            </a:r>
            <a:r>
              <a:rPr lang="en-US" altLang="zh-CN" sz="2800" dirty="0">
                <a:sym typeface="Wingdings" panose="05000000000000000000" pitchFamily="2" charset="2"/>
              </a:rPr>
              <a:t>(3)(5)</a:t>
            </a:r>
            <a:r>
              <a:rPr lang="zh-CN" altLang="en-US" sz="2800" dirty="0">
                <a:sym typeface="Wingdings" panose="05000000000000000000" pitchFamily="2" charset="2"/>
              </a:rPr>
              <a:t>三态门输出端有三种状态，可以实现线与。应用于总线传输，输出可以并联使用。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5265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D2053-30F7-7961-BC42-5C30765E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F34C81D-E902-900E-EB3A-F9418265C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30" y="365125"/>
            <a:ext cx="10515600" cy="1070499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66A6778-AFB3-C90C-CB59-45B5AFE797F3}"/>
              </a:ext>
            </a:extLst>
          </p:cNvPr>
          <p:cNvSpPr txBox="1"/>
          <p:nvPr/>
        </p:nvSpPr>
        <p:spPr>
          <a:xfrm>
            <a:off x="459246" y="1543051"/>
            <a:ext cx="112735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答：逻辑功能可用功能表、状态表、状态图、次态方程和激励表等进行描述，</a:t>
            </a:r>
            <a:endParaRPr lang="en-US" altLang="zh-CN" sz="2800" dirty="0"/>
          </a:p>
          <a:p>
            <a:r>
              <a:rPr lang="zh-CN" altLang="en-US" sz="2800" dirty="0"/>
              <a:t>与非门构成的基本</a:t>
            </a:r>
            <a:r>
              <a:rPr lang="en-US" altLang="zh-CN" sz="2800" dirty="0"/>
              <a:t>RS</a:t>
            </a:r>
            <a:r>
              <a:rPr lang="zh-CN" altLang="en-US" sz="2800" dirty="0"/>
              <a:t>触发器的次态方程为</a:t>
            </a:r>
            <a:r>
              <a:rPr lang="en-US" altLang="zh-CN" sz="2800" dirty="0"/>
              <a:t>Q</a:t>
            </a:r>
            <a:r>
              <a:rPr lang="en-US" altLang="zh-CN" sz="2800" baseline="30000" dirty="0"/>
              <a:t>n+1</a:t>
            </a:r>
            <a:r>
              <a:rPr lang="en-US" altLang="zh-CN" sz="2800" dirty="0"/>
              <a:t>=/S+R·Q</a:t>
            </a:r>
            <a:r>
              <a:rPr lang="zh-CN" altLang="en-US" sz="2800" dirty="0"/>
              <a:t>，约束方程为</a:t>
            </a:r>
            <a:r>
              <a:rPr lang="en-US" altLang="zh-CN" sz="2800" dirty="0"/>
              <a:t>R+S=1;</a:t>
            </a:r>
          </a:p>
          <a:p>
            <a:r>
              <a:rPr lang="zh-CN" altLang="en-US" sz="2800" dirty="0"/>
              <a:t>或非门构成的基本</a:t>
            </a:r>
            <a:r>
              <a:rPr lang="en-US" altLang="zh-CN" sz="2800" dirty="0"/>
              <a:t>RS</a:t>
            </a:r>
            <a:r>
              <a:rPr lang="zh-CN" altLang="en-US" sz="2800" dirty="0"/>
              <a:t>触发器的次态方程为</a:t>
            </a:r>
            <a:r>
              <a:rPr lang="en-US" altLang="zh-CN" sz="2800" dirty="0"/>
              <a:t>Q</a:t>
            </a:r>
            <a:r>
              <a:rPr lang="en-US" altLang="zh-CN" sz="2800" baseline="30000" dirty="0"/>
              <a:t>n+1</a:t>
            </a:r>
            <a:r>
              <a:rPr lang="en-US" altLang="zh-CN" sz="2800" dirty="0"/>
              <a:t>=S+/RQ</a:t>
            </a:r>
            <a:r>
              <a:rPr lang="zh-CN" altLang="en-US" sz="2800" dirty="0"/>
              <a:t>，约束方程为</a:t>
            </a:r>
            <a:r>
              <a:rPr lang="en-US" altLang="zh-CN" sz="2800" dirty="0"/>
              <a:t>R·S=1</a:t>
            </a:r>
            <a:r>
              <a:rPr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77430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512D9-D088-F83F-AA23-D6D997AC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94B2DD0-0813-EC21-A456-F800F5168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6" y="365125"/>
            <a:ext cx="10005725" cy="3467802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8367224-0573-A6B2-5E9B-289C0B2677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962" y="3832927"/>
            <a:ext cx="5044542" cy="27969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C341DB1-57E6-4F54-AC68-EC5C1FFF845F}"/>
              </a:ext>
            </a:extLst>
          </p:cNvPr>
          <p:cNvSpPr txBox="1"/>
          <p:nvPr/>
        </p:nvSpPr>
        <p:spPr>
          <a:xfrm>
            <a:off x="905706" y="3896940"/>
            <a:ext cx="18436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答：</a:t>
            </a:r>
            <a:r>
              <a:rPr lang="en-US" altLang="zh-CN" dirty="0"/>
              <a:t>CP=1</a:t>
            </a:r>
            <a:r>
              <a:rPr lang="zh-CN" altLang="en-US" dirty="0"/>
              <a:t>时，触发器状态的变化仅取决于输入信号</a:t>
            </a:r>
            <a:r>
              <a:rPr lang="en-US" altLang="zh-CN" dirty="0"/>
              <a:t>D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62885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27E74-12D1-BEF9-D303-1DF43720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F478244-E930-C514-06A6-3AAFDCD12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34" y="151647"/>
            <a:ext cx="9188304" cy="4601925"/>
          </a:xfrm>
        </p:spPr>
      </p:pic>
    </p:spTree>
    <p:extLst>
      <p:ext uri="{BB962C8B-B14F-4D97-AF65-F5344CB8AC3E}">
        <p14:creationId xmlns:p14="http://schemas.microsoft.com/office/powerpoint/2010/main" val="2918613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BA26A-6FB6-F25A-B931-DEFA6F9F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039" y="322168"/>
            <a:ext cx="10515600" cy="770204"/>
          </a:xfrm>
        </p:spPr>
        <p:txBody>
          <a:bodyPr/>
          <a:lstStyle/>
          <a:p>
            <a:r>
              <a:rPr lang="en-US" altLang="zh-CN" dirty="0"/>
              <a:t>3.14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605F6DB-3F6F-72C8-C486-918879B3E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43" y="2142485"/>
            <a:ext cx="6510508" cy="27724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C9229D-3A55-9363-872D-4B5EB0578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173" y="1258068"/>
            <a:ext cx="5368955" cy="502613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7B556E8-5D71-6A46-7DEE-5E7BCEAFB79F}"/>
              </a:ext>
            </a:extLst>
          </p:cNvPr>
          <p:cNvSpPr txBox="1"/>
          <p:nvPr/>
        </p:nvSpPr>
        <p:spPr>
          <a:xfrm>
            <a:off x="184107" y="1307162"/>
            <a:ext cx="3479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答：</a:t>
            </a:r>
          </a:p>
        </p:txBody>
      </p:sp>
    </p:spTree>
    <p:extLst>
      <p:ext uri="{BB962C8B-B14F-4D97-AF65-F5344CB8AC3E}">
        <p14:creationId xmlns:p14="http://schemas.microsoft.com/office/powerpoint/2010/main" val="3795516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31D03-80E8-D04B-33F4-00C3BC909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59D2E37-5C50-FD3F-BCE3-C9F15C621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44" y="368167"/>
            <a:ext cx="9490217" cy="3381487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1DB1912-E593-C6B8-20EC-A81C270D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009" y="3190006"/>
            <a:ext cx="6497699" cy="338148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E39FCAE-54D6-7E2F-FA43-431D7180FDB4}"/>
              </a:ext>
            </a:extLst>
          </p:cNvPr>
          <p:cNvSpPr txBox="1"/>
          <p:nvPr/>
        </p:nvSpPr>
        <p:spPr>
          <a:xfrm>
            <a:off x="282298" y="3013224"/>
            <a:ext cx="1963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答：</a:t>
            </a:r>
          </a:p>
        </p:txBody>
      </p:sp>
    </p:spTree>
    <p:extLst>
      <p:ext uri="{BB962C8B-B14F-4D97-AF65-F5344CB8AC3E}">
        <p14:creationId xmlns:p14="http://schemas.microsoft.com/office/powerpoint/2010/main" val="1699586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578</Words>
  <Application>Microsoft Office PowerPoint</Application>
  <PresentationFormat>宽屏</PresentationFormat>
  <Paragraphs>26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Wingdings</vt:lpstr>
      <vt:lpstr>Office 主题​​</vt:lpstr>
      <vt:lpstr>3.1 根据所采用的半导体器件不同，集成电路可分为哪两大类？各自的主要优缺点是什么？</vt:lpstr>
      <vt:lpstr>3.4 数字电路中，晶体三极管一般工作在什么状态下？</vt:lpstr>
      <vt:lpstr>3.6 TTL与非门有哪些主要性能参数？</vt:lpstr>
      <vt:lpstr>3.7 OC门和TS门的结构与一般TTL与非门有何不同？各有何主要应用？</vt:lpstr>
      <vt:lpstr>3.8 图3.60(a)所示为三态门组成的总线换向开关电路，其中，A、B为信号输入端，分别送两个频率不同的信号；EN为换向控制端，输入信号和控制电平波形如图(b)所示。试画出Y1、Y2的波形。</vt:lpstr>
      <vt:lpstr>3.8 答：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3.14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Ulmus Lls</dc:creator>
  <cp:lastModifiedBy>Ulmus Lls</cp:lastModifiedBy>
  <cp:revision>6</cp:revision>
  <dcterms:created xsi:type="dcterms:W3CDTF">2024-10-06T07:48:05Z</dcterms:created>
  <dcterms:modified xsi:type="dcterms:W3CDTF">2024-10-07T06:08:04Z</dcterms:modified>
</cp:coreProperties>
</file>