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75" r:id="rId5"/>
    <p:sldId id="260" r:id="rId6"/>
    <p:sldId id="277" r:id="rId7"/>
    <p:sldId id="261" r:id="rId8"/>
    <p:sldId id="262" r:id="rId9"/>
    <p:sldId id="276" r:id="rId10"/>
    <p:sldId id="263" r:id="rId11"/>
    <p:sldId id="264" r:id="rId12"/>
    <p:sldId id="278" r:id="rId13"/>
    <p:sldId id="265" r:id="rId14"/>
    <p:sldId id="279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3A4AA-B452-4E1B-838B-240194765CFA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150D1-ED59-44F0-8E21-B700B0E4A7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05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6DE57-B65A-9E3B-1D3B-9470CB7EA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80773D-6D9F-6F54-6A81-9BDB98801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C407F-4395-4304-6782-3D54D915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AB026-1063-DFDC-DD2E-38831EF8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08E15-A105-157E-C4F7-C2CB8EEF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1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2CDCC-5B32-E1B1-A253-0CD95215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93D6C3-426A-CA2F-7644-71449E6A2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E3CEC-D67F-B944-1505-53B381B2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8D37E-F967-07D7-F54F-7C07F069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3B9A0-0D6F-584A-9526-D1D85B49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91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2528A-918B-B1A5-9B80-5E05C950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15D769-C1FA-F1FB-717A-DDE798245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6B91F-BC08-BBE4-B671-F1D4F415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1A989-B64C-1CF6-BC03-DA533DAA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5917EB-1F5F-2E00-AD6E-9D850F46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30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3B349-0065-B3F0-52BD-6C6B7464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9D48CB-939B-6A70-1688-91C3C323B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C01ABA-4D72-17A9-60A5-685284B5A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832335-C8A2-9B09-34F5-52F7288D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CD83B6-DE4A-D6B0-8341-4523DE14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9057B5-D0E4-4A16-BD49-E532A871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81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26256-1EB3-27DB-59BC-0F66499A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F39047-A220-FBDA-A0CA-E4C61D2FB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0059A0-EC5D-487C-C742-173F79103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4DC91D-68CB-9F6D-5D1E-E8B96376D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AF660F-344F-94D4-16DF-F3C7E283D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0F0230-8E92-A727-6BB8-8F067C85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809C29-A7A2-C9B6-0FEF-D2721ED8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74A7C1-1961-CBA0-7FD3-D0EB542B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5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7692D-14A9-1E3B-CB25-5EA62611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1596CB-67FD-A0A1-CF7B-22EDB0EB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B27E07-05BC-91CD-7434-82C00FCF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0E4B3-6F3F-8512-5D65-D688391D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84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9A64B4-27E1-7AC4-2986-C9A6F2CB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E29B52-EB41-386D-B552-18770214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14514-B8D0-E926-9DC4-5897F0B9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91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FEC5C-DA86-423A-6AF1-161369A7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73E2A-1E95-87D3-F6B0-1DD77A268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5DEC61-2BA4-2572-403B-4A39B0F18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BB41B-71AE-AC06-FA3C-9E9D0341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500091-942C-37E5-00A4-1C6AC89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35009-F529-F9EE-8E91-1A723A67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6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B6C3C-434D-5333-D5F3-6A0B680F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0404C0-1A88-95A6-6765-65DFC4C34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D0841B-4EBA-36BC-BE21-F49A2C453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10E52-231F-56EA-86DB-989EA6D3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8283EE-C927-0B54-5C42-482D1027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D2A18-5F85-1222-B9B4-BD0BD9FD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41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732A1-63F0-9F20-3FF0-C19B169C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C7CEED-9DC8-54A8-F9D2-4592F4255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83BF4-54D3-B58D-9C48-D7CA0B4A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6E5FA-132E-DD26-1782-32ECBE59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15897-52D3-6DB5-A1B2-B2B218E0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81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4B97AA-C12B-85DD-A996-2290FDEAF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92EC5-9D9C-09A1-B5B0-D5EC5E5DC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9347C-CF82-E23B-32C0-E9B201C8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F0165-5C89-EEB7-AF69-B58E80AA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484089-34A3-4354-A252-FB9E303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5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B0C180-E352-772F-26E9-61DD8AE7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35DD24-0EA4-6210-D62D-762FC69C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3EE63-B22C-7B15-CDBC-DE1A3F268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27AB-EEEB-407A-A50C-3F7EBCACAD80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FAFDA-07C7-B6DA-667D-1B950F32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B59C66-5D38-61A0-B937-0DEBF4964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12A1E-AADC-445F-8823-73D05D394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43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18B56D-A064-0627-97D2-A16A0BD82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42" y="565380"/>
            <a:ext cx="8293526" cy="387370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2A753FA-B15D-633E-AF83-99C59078A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13" y="1648753"/>
            <a:ext cx="7069512" cy="334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0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9F51AF-9061-BDF8-01ED-CEABAC60A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93" y="706659"/>
            <a:ext cx="7950609" cy="266714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F825826-FE18-A9AE-5D02-3D811EDA8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40" y="1338971"/>
            <a:ext cx="9087633" cy="48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3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F2C4A97-7CCC-963D-9578-213A351C7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22" y="569543"/>
            <a:ext cx="8268125" cy="400071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1C92E7F-D167-078F-5EEC-9580A783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0" y="1478072"/>
            <a:ext cx="6850112" cy="481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1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9A549-4F50-D404-F85A-BABC4FDD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981"/>
            <a:ext cx="10515600" cy="712112"/>
          </a:xfrm>
        </p:spPr>
        <p:txBody>
          <a:bodyPr/>
          <a:lstStyle/>
          <a:p>
            <a:r>
              <a:rPr lang="en-US" altLang="zh-CN" dirty="0"/>
              <a:t>7.3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E7C8E91-DEE6-2E59-D0AA-16E36B421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938" y="1397000"/>
            <a:ext cx="4990124" cy="4779963"/>
          </a:xfrm>
        </p:spPr>
      </p:pic>
    </p:spTree>
    <p:extLst>
      <p:ext uri="{BB962C8B-B14F-4D97-AF65-F5344CB8AC3E}">
        <p14:creationId xmlns:p14="http://schemas.microsoft.com/office/powerpoint/2010/main" val="321771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F65AF-D862-5038-91B9-C8153451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2CBA509-53F8-DA02-245F-5DD3089CA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3763"/>
            <a:ext cx="7906156" cy="1466925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9B00D91-A234-619D-55F2-BC397DD3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96239"/>
            <a:ext cx="5365824" cy="390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4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B5E5C-9289-7982-8685-E6EBAD5C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079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7.4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0EF1B2-B6D2-2EBF-8FD8-B8A45122A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87" y="1439863"/>
            <a:ext cx="6433825" cy="4737100"/>
          </a:xfrm>
        </p:spPr>
      </p:pic>
    </p:spTree>
    <p:extLst>
      <p:ext uri="{BB962C8B-B14F-4D97-AF65-F5344CB8AC3E}">
        <p14:creationId xmlns:p14="http://schemas.microsoft.com/office/powerpoint/2010/main" val="268508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CBD4F89-3B73-A3F6-F950-3C720B15A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54" y="439449"/>
            <a:ext cx="8503087" cy="647733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84F4C16-6BD2-5915-B119-EC7FEBBA1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54" y="2053089"/>
            <a:ext cx="7326713" cy="303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5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B36293D-7E92-0598-2110-23429CC97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60" y="540443"/>
            <a:ext cx="8122067" cy="533427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CEC98D4-F738-4EFD-26D9-85B832FFE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16" y="1177446"/>
            <a:ext cx="8199211" cy="522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7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A1729-5D54-892D-C1B1-435C7AD8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322"/>
          </a:xfrm>
        </p:spPr>
        <p:txBody>
          <a:bodyPr/>
          <a:lstStyle/>
          <a:p>
            <a:r>
              <a:rPr lang="en-US" altLang="zh-CN" dirty="0"/>
              <a:t>7.7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C027154-7F79-A18C-A5F2-7081C1A2B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62" y="1601672"/>
            <a:ext cx="8274475" cy="4502381"/>
          </a:xfrm>
        </p:spPr>
      </p:pic>
    </p:spTree>
    <p:extLst>
      <p:ext uri="{BB962C8B-B14F-4D97-AF65-F5344CB8AC3E}">
        <p14:creationId xmlns:p14="http://schemas.microsoft.com/office/powerpoint/2010/main" val="1313543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F52827-A78E-2828-40B2-6C09E7D59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89" y="499341"/>
            <a:ext cx="8407832" cy="590580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C40C431-79FB-5E27-3B01-03B6EB8DB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88" y="1597412"/>
            <a:ext cx="8260915" cy="33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7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0788A3-AF81-5873-E323-0E4E0C1CA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28" y="485386"/>
            <a:ext cx="8649145" cy="342918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170245-456E-CC4B-420C-54B57E20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52" y="1281489"/>
            <a:ext cx="8668255" cy="42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55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FFCB2-EF96-D2D1-8C8B-56CEDCDE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6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7.9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C46EBF7-3A15-0879-1BAD-B3632B2F7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951" y="1227138"/>
            <a:ext cx="7112098" cy="4949825"/>
          </a:xfrm>
        </p:spPr>
      </p:pic>
    </p:spTree>
    <p:extLst>
      <p:ext uri="{BB962C8B-B14F-4D97-AF65-F5344CB8AC3E}">
        <p14:creationId xmlns:p14="http://schemas.microsoft.com/office/powerpoint/2010/main" val="427403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6CD8CB6-D03A-7B0B-3097-47286E016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895" y="486667"/>
            <a:ext cx="8522138" cy="381020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07F924-64D9-0C39-4F17-8A23DA46C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96" y="1672225"/>
            <a:ext cx="6071799" cy="41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5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33C4E-0460-4DC1-1924-1220C31E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902"/>
          </a:xfrm>
        </p:spPr>
        <p:txBody>
          <a:bodyPr/>
          <a:lstStyle/>
          <a:p>
            <a:r>
              <a:rPr lang="en-US" altLang="zh-CN" dirty="0"/>
              <a:t>7.10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B7F0903-49A3-E007-70DA-B76600897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655" y="1825625"/>
            <a:ext cx="4816689" cy="4351338"/>
          </a:xfrm>
        </p:spPr>
      </p:pic>
    </p:spTree>
    <p:extLst>
      <p:ext uri="{BB962C8B-B14F-4D97-AF65-F5344CB8AC3E}">
        <p14:creationId xmlns:p14="http://schemas.microsoft.com/office/powerpoint/2010/main" val="2657610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A319C-C3D4-62AD-691F-7D3FE127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D098F21-4601-2B18-8366-54FBF697B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4105"/>
            <a:ext cx="7322507" cy="3211054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554DA4-60C4-71F5-7A61-502F1D7CF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76179"/>
            <a:ext cx="7597036" cy="297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28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918C2F2A-3CA2-E3D1-F2D8-18A081659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85" y="409792"/>
            <a:ext cx="8839654" cy="406421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A67F282-B08A-8A66-E1D9-AA7DF00DA72D}"/>
              </a:ext>
            </a:extLst>
          </p:cNvPr>
          <p:cNvSpPr txBox="1"/>
          <p:nvPr/>
        </p:nvSpPr>
        <p:spPr>
          <a:xfrm>
            <a:off x="839244" y="1528175"/>
            <a:ext cx="106471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主要参数：</a:t>
            </a:r>
          </a:p>
          <a:p>
            <a:r>
              <a:rPr lang="en-US" altLang="zh-CN"/>
              <a:t>(1) </a:t>
            </a:r>
            <a:r>
              <a:rPr lang="zh-CN" altLang="en-US"/>
              <a:t>分辨率：分辨率是指最小模拟量输出与最大模拟量输出之比。</a:t>
            </a:r>
            <a:r>
              <a:rPr lang="en-US" altLang="zh-CN"/>
              <a:t>(2) </a:t>
            </a:r>
            <a:r>
              <a:rPr lang="zh-CN" altLang="en-US"/>
              <a:t>非线性误差：具有理想转换特性的</a:t>
            </a:r>
            <a:r>
              <a:rPr lang="en-US" altLang="zh-CN"/>
              <a:t>D/A</a:t>
            </a:r>
            <a:r>
              <a:rPr lang="zh-CN" altLang="en-US"/>
              <a:t>转换器，每两个相邻数字量对应的模拟量之差都为 </a:t>
            </a:r>
            <a:r>
              <a:rPr lang="en-US" altLang="zh-CN"/>
              <a:t>ALSB </a:t>
            </a:r>
            <a:r>
              <a:rPr lang="zh-CN" altLang="en-US"/>
              <a:t>。在满刻度范围内偏离理想转换特性的最大值，称为非线性误差。</a:t>
            </a:r>
          </a:p>
          <a:p>
            <a:r>
              <a:rPr lang="en-US" altLang="zh-CN"/>
              <a:t>(3) </a:t>
            </a:r>
            <a:r>
              <a:rPr lang="zh-CN" altLang="en-US"/>
              <a:t>绝对精度：绝对精度是指在输入端加对应满刻度数字量时，输出的实际值与理想值之差 。</a:t>
            </a:r>
          </a:p>
          <a:p>
            <a:r>
              <a:rPr lang="en-US" altLang="zh-CN"/>
              <a:t>(4) </a:t>
            </a:r>
            <a:r>
              <a:rPr lang="zh-CN" altLang="en-US"/>
              <a:t>建立时间：建立时间是指从送入数字信号起，到输出模拟量达到稳定值止所需要的时间。它反映了电路的转换速度。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489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B1A383-5A6C-D583-2945-7B36DBD4F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48" y="438631"/>
            <a:ext cx="8598342" cy="311166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072862F-3E13-AC1B-00E0-0C0DE45AEBFC}"/>
              </a:ext>
            </a:extLst>
          </p:cNvPr>
          <p:cNvSpPr txBox="1"/>
          <p:nvPr/>
        </p:nvSpPr>
        <p:spPr>
          <a:xfrm>
            <a:off x="757825" y="1321496"/>
            <a:ext cx="10753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A8D0B8-8C5F-B488-E326-19E127BAE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7" y="1916572"/>
            <a:ext cx="9131474" cy="262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49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AFC48F-7BD4-FB70-9CA1-D7F352CE8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22" y="365125"/>
            <a:ext cx="8636444" cy="381020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0B47885-B41B-0B2C-92F6-F46A49BBFC10}"/>
              </a:ext>
            </a:extLst>
          </p:cNvPr>
          <p:cNvSpPr txBox="1"/>
          <p:nvPr/>
        </p:nvSpPr>
        <p:spPr>
          <a:xfrm>
            <a:off x="739036" y="1158658"/>
            <a:ext cx="110980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zh-CN" altLang="en-US" dirty="0"/>
              <a:t>一：</a:t>
            </a:r>
            <a:endParaRPr lang="en-US" altLang="zh-CN" dirty="0"/>
          </a:p>
          <a:p>
            <a:r>
              <a:rPr lang="zh-CN" altLang="en-US" dirty="0"/>
              <a:t>输入锁存器：用于暂存来自微处理器或其它数字电路的数字信号。</a:t>
            </a:r>
          </a:p>
          <a:p>
            <a:r>
              <a:rPr lang="en-US" altLang="zh-CN" dirty="0"/>
              <a:t>DAC</a:t>
            </a:r>
            <a:r>
              <a:rPr lang="zh-CN" altLang="en-US" dirty="0"/>
              <a:t>寄存器：用于存储最终要转换为模拟信号的数据。</a:t>
            </a:r>
          </a:p>
          <a:p>
            <a:r>
              <a:rPr lang="en-US" altLang="zh-CN" dirty="0"/>
              <a:t>D/A</a:t>
            </a:r>
            <a:r>
              <a:rPr lang="zh-CN" altLang="en-US" dirty="0"/>
              <a:t>转换电路：实际执行数字到模拟转换的部分。</a:t>
            </a:r>
          </a:p>
          <a:p>
            <a:r>
              <a:rPr lang="zh-CN" altLang="en-US" dirty="0"/>
              <a:t>控制逻辑：用于管理数据流和执行芯片功能的控制。</a:t>
            </a:r>
          </a:p>
          <a:p>
            <a:r>
              <a:rPr lang="zh-CN" altLang="en-US" dirty="0"/>
              <a:t>电流输出：</a:t>
            </a:r>
            <a:r>
              <a:rPr lang="en-US" altLang="zh-CN" dirty="0"/>
              <a:t>DAC0832</a:t>
            </a:r>
            <a:r>
              <a:rPr lang="zh-CN" altLang="en-US" dirty="0"/>
              <a:t>以电流形式输出模拟信号，可以通过外部运算放大器转换为电压信号。</a:t>
            </a:r>
            <a:endParaRPr lang="en-US" altLang="zh-CN" dirty="0"/>
          </a:p>
          <a:p>
            <a:r>
              <a:rPr lang="zh-CN" altLang="en-US" dirty="0"/>
              <a:t>二：</a:t>
            </a:r>
            <a:endParaRPr lang="en-US" altLang="zh-CN" dirty="0"/>
          </a:p>
          <a:p>
            <a:r>
              <a:rPr lang="zh-CN" altLang="en-US" dirty="0"/>
              <a:t>直通方式，通常将</a:t>
            </a:r>
            <a:r>
              <a:rPr lang="en-US" altLang="zh-CN" dirty="0"/>
              <a:t>CS</a:t>
            </a:r>
            <a:r>
              <a:rPr lang="zh-CN" altLang="en-US" dirty="0"/>
              <a:t>（片选信号）、</a:t>
            </a:r>
            <a:r>
              <a:rPr lang="en-US" altLang="zh-CN" dirty="0"/>
              <a:t>XFER</a:t>
            </a:r>
            <a:r>
              <a:rPr lang="zh-CN" altLang="en-US" dirty="0"/>
              <a:t>（数据传输控制信号）、</a:t>
            </a:r>
            <a:r>
              <a:rPr lang="en-US" altLang="zh-CN" dirty="0"/>
              <a:t>WR1</a:t>
            </a:r>
            <a:r>
              <a:rPr lang="zh-CN" altLang="en-US" dirty="0"/>
              <a:t>（写信号</a:t>
            </a:r>
            <a:r>
              <a:rPr lang="en-US" altLang="zh-CN" dirty="0"/>
              <a:t>1</a:t>
            </a:r>
            <a:r>
              <a:rPr lang="zh-CN" altLang="en-US" dirty="0"/>
              <a:t>）、</a:t>
            </a:r>
            <a:r>
              <a:rPr lang="en-US" altLang="zh-CN" dirty="0"/>
              <a:t>WR2</a:t>
            </a:r>
            <a:r>
              <a:rPr lang="zh-CN" altLang="en-US" dirty="0"/>
              <a:t>（写信号</a:t>
            </a:r>
            <a:r>
              <a:rPr lang="en-US" altLang="zh-CN" dirty="0"/>
              <a:t>2</a:t>
            </a:r>
            <a:r>
              <a:rPr lang="zh-CN" altLang="en-US" dirty="0"/>
              <a:t>）均接地，而</a:t>
            </a:r>
            <a:r>
              <a:rPr lang="en-US" altLang="zh-CN" dirty="0"/>
              <a:t>ILE</a:t>
            </a:r>
            <a:r>
              <a:rPr lang="zh-CN" altLang="en-US" dirty="0"/>
              <a:t>（输入锁存允许信号）接高电平。</a:t>
            </a:r>
          </a:p>
          <a:p>
            <a:r>
              <a:rPr lang="zh-CN" altLang="en-US" dirty="0"/>
              <a:t>单缓冲方式，可以通过控制</a:t>
            </a:r>
            <a:r>
              <a:rPr lang="en-US" altLang="zh-CN" dirty="0"/>
              <a:t>ILE</a:t>
            </a:r>
            <a:r>
              <a:rPr lang="zh-CN" altLang="en-US" dirty="0"/>
              <a:t>、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WR1</a:t>
            </a:r>
            <a:r>
              <a:rPr lang="zh-CN" altLang="en-US" dirty="0"/>
              <a:t>来实现数据的锁存，然后通过</a:t>
            </a:r>
            <a:r>
              <a:rPr lang="en-US" altLang="zh-CN" dirty="0"/>
              <a:t>WR2</a:t>
            </a:r>
            <a:r>
              <a:rPr lang="zh-CN" altLang="en-US" dirty="0"/>
              <a:t>和</a:t>
            </a:r>
            <a:r>
              <a:rPr lang="en-US" altLang="zh-CN" dirty="0"/>
              <a:t>XFER</a:t>
            </a:r>
            <a:r>
              <a:rPr lang="zh-CN" altLang="en-US" dirty="0"/>
              <a:t>来控制数据传输到</a:t>
            </a:r>
            <a:r>
              <a:rPr lang="en-US" altLang="zh-CN" dirty="0"/>
              <a:t>DAC</a:t>
            </a:r>
            <a:r>
              <a:rPr lang="zh-CN" altLang="en-US" dirty="0"/>
              <a:t>寄存器并开始转换。</a:t>
            </a:r>
          </a:p>
          <a:p>
            <a:r>
              <a:rPr lang="zh-CN" altLang="en-US" dirty="0"/>
              <a:t>双缓冲方式，首先需要通过</a:t>
            </a:r>
            <a:r>
              <a:rPr lang="en-US" altLang="zh-CN" dirty="0"/>
              <a:t>ILE</a:t>
            </a:r>
            <a:r>
              <a:rPr lang="zh-CN" altLang="en-US" dirty="0"/>
              <a:t>、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WR1</a:t>
            </a:r>
            <a:r>
              <a:rPr lang="zh-CN" altLang="en-US" dirty="0"/>
              <a:t>来锁存输入数据到输入寄存器，之后通过</a:t>
            </a:r>
            <a:r>
              <a:rPr lang="en-US" altLang="zh-CN" dirty="0"/>
              <a:t>WR2</a:t>
            </a:r>
            <a:r>
              <a:rPr lang="zh-CN" altLang="en-US" dirty="0"/>
              <a:t>和</a:t>
            </a:r>
            <a:r>
              <a:rPr lang="en-US" altLang="zh-CN" dirty="0"/>
              <a:t>XFER</a:t>
            </a:r>
            <a:r>
              <a:rPr lang="zh-CN" altLang="en-US" dirty="0"/>
              <a:t>来触发</a:t>
            </a:r>
            <a:r>
              <a:rPr lang="en-US" altLang="zh-CN" dirty="0"/>
              <a:t>DAC</a:t>
            </a:r>
            <a:r>
              <a:rPr lang="zh-CN" altLang="en-US" dirty="0"/>
              <a:t>寄存器的数据更新和转换过程。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9556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DAC32D-A621-F1A7-8BAD-4D0404EA8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7333"/>
            <a:ext cx="8687246" cy="323867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3091333-88FD-CB2E-3770-EC331D13E078}"/>
              </a:ext>
            </a:extLst>
          </p:cNvPr>
          <p:cNvSpPr txBox="1"/>
          <p:nvPr/>
        </p:nvSpPr>
        <p:spPr>
          <a:xfrm>
            <a:off x="838200" y="1334022"/>
            <a:ext cx="105041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并行比较型</a:t>
            </a:r>
            <a:r>
              <a:rPr lang="en-US" altLang="zh-CN" dirty="0"/>
              <a:t>A/D</a:t>
            </a:r>
            <a:r>
              <a:rPr lang="zh-CN" altLang="en-US" dirty="0"/>
              <a:t>转换器：</a:t>
            </a:r>
          </a:p>
          <a:p>
            <a:r>
              <a:rPr lang="zh-CN" altLang="en-US" dirty="0"/>
              <a:t>特点：转换速度快，因为所有比较是并行进行的。但随着分辨率的提高，所需的元件数量（电压比较器和触发器等）会急剧增加，导致电路复杂度上升。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逐次逼近型</a:t>
            </a:r>
            <a:r>
              <a:rPr lang="en-US" altLang="zh-CN" dirty="0"/>
              <a:t>A/D</a:t>
            </a:r>
            <a:r>
              <a:rPr lang="zh-CN" altLang="en-US" dirty="0"/>
              <a:t>转换器：</a:t>
            </a:r>
          </a:p>
          <a:p>
            <a:r>
              <a:rPr lang="zh-CN" altLang="en-US" dirty="0"/>
              <a:t>特点：转换速度较快，转换精度较高。与双积分型</a:t>
            </a:r>
            <a:r>
              <a:rPr lang="en-US" altLang="zh-CN" dirty="0"/>
              <a:t>A/D</a:t>
            </a:r>
            <a:r>
              <a:rPr lang="zh-CN" altLang="en-US" dirty="0"/>
              <a:t>转换器相比，抗干扰能力较差，但价格相对较高。这种类型的</a:t>
            </a:r>
            <a:r>
              <a:rPr lang="en-US" altLang="zh-CN" dirty="0"/>
              <a:t>A/D</a:t>
            </a:r>
            <a:r>
              <a:rPr lang="zh-CN" altLang="en-US" dirty="0"/>
              <a:t>转换器是目前集成</a:t>
            </a:r>
            <a:r>
              <a:rPr lang="en-US" altLang="zh-CN" dirty="0"/>
              <a:t>A/D</a:t>
            </a:r>
            <a:r>
              <a:rPr lang="zh-CN" altLang="en-US" dirty="0"/>
              <a:t>转换器产品中使用最多的一种。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双积分型</a:t>
            </a:r>
            <a:r>
              <a:rPr lang="en-US" altLang="zh-CN" dirty="0"/>
              <a:t>A/D</a:t>
            </a:r>
            <a:r>
              <a:rPr lang="zh-CN" altLang="en-US" dirty="0"/>
              <a:t>转换器：</a:t>
            </a:r>
          </a:p>
          <a:p>
            <a:r>
              <a:rPr lang="zh-CN" altLang="en-US" dirty="0"/>
              <a:t>特点：具有高转换精度和强抗干扰能力，但转换速度较慢。适用于对转换速度要求不高的场合。</a:t>
            </a:r>
          </a:p>
          <a:p>
            <a:r>
              <a:rPr lang="en-US" altLang="zh-CN" dirty="0"/>
              <a:t>4.Σ-Δ</a:t>
            </a:r>
            <a:r>
              <a:rPr lang="zh-CN" altLang="en-US" dirty="0"/>
              <a:t>（</a:t>
            </a:r>
            <a:r>
              <a:rPr lang="en-US" altLang="zh-CN" dirty="0"/>
              <a:t>Sigma-Delta</a:t>
            </a:r>
            <a:r>
              <a:rPr lang="zh-CN" altLang="en-US" dirty="0"/>
              <a:t>）型</a:t>
            </a:r>
            <a:r>
              <a:rPr lang="en-US" altLang="zh-CN" dirty="0"/>
              <a:t>A/D</a:t>
            </a:r>
            <a:r>
              <a:rPr lang="zh-CN" altLang="en-US" dirty="0"/>
              <a:t>转换器：</a:t>
            </a:r>
          </a:p>
          <a:p>
            <a:r>
              <a:rPr lang="zh-CN" altLang="en-US" dirty="0"/>
              <a:t>特点：对工业现场的串模干扰具有较强的抑制能力，转换速度比双积分型</a:t>
            </a:r>
            <a:r>
              <a:rPr lang="en-US" altLang="zh-CN" dirty="0"/>
              <a:t>ADC</a:t>
            </a:r>
            <a:r>
              <a:rPr lang="zh-CN" altLang="en-US" dirty="0"/>
              <a:t>高，与逐次比较型</a:t>
            </a:r>
            <a:r>
              <a:rPr lang="en-US" altLang="zh-CN" dirty="0"/>
              <a:t>ADC</a:t>
            </a:r>
            <a:r>
              <a:rPr lang="zh-CN" altLang="en-US" dirty="0"/>
              <a:t>相比，有更高的信噪比和分辨率。</a:t>
            </a:r>
          </a:p>
          <a:p>
            <a:r>
              <a:rPr lang="en-US" altLang="zh-CN" dirty="0"/>
              <a:t>5.V-F</a:t>
            </a:r>
            <a:r>
              <a:rPr lang="zh-CN" altLang="en-US" dirty="0"/>
              <a:t>（电压</a:t>
            </a:r>
            <a:r>
              <a:rPr lang="en-US" altLang="zh-CN" dirty="0"/>
              <a:t>-</a:t>
            </a:r>
            <a:r>
              <a:rPr lang="zh-CN" altLang="en-US" dirty="0"/>
              <a:t>频率）变换型</a:t>
            </a:r>
            <a:r>
              <a:rPr lang="en-US" altLang="zh-CN" dirty="0"/>
              <a:t>A/D</a:t>
            </a:r>
            <a:r>
              <a:rPr lang="zh-CN" altLang="en-US" dirty="0"/>
              <a:t>转换器：</a:t>
            </a:r>
          </a:p>
          <a:p>
            <a:r>
              <a:rPr lang="zh-CN" altLang="en-US" dirty="0"/>
              <a:t>特点：首先将输入的模拟电压信号转换成与之成正比的频率信号，然后在一个固定的时间间隔里对得到的频率信号计数，所得到的结果就是正比于输入模拟电压的数字量。</a:t>
            </a:r>
          </a:p>
        </p:txBody>
      </p:sp>
    </p:spTree>
    <p:extLst>
      <p:ext uri="{BB962C8B-B14F-4D97-AF65-F5344CB8AC3E}">
        <p14:creationId xmlns:p14="http://schemas.microsoft.com/office/powerpoint/2010/main" val="3102922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C953B11-65C3-42C5-B4B0-A76CB3B51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8275"/>
            <a:ext cx="8363380" cy="609631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FD7D61B-D7C8-4460-D394-BF4489EFDF9C}"/>
              </a:ext>
            </a:extLst>
          </p:cNvPr>
          <p:cNvSpPr txBox="1"/>
          <p:nvPr/>
        </p:nvSpPr>
        <p:spPr>
          <a:xfrm>
            <a:off x="838200" y="1628384"/>
            <a:ext cx="107233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ADC0809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路模拟开关：用于选通</a:t>
            </a:r>
            <a:r>
              <a:rPr lang="en-US" altLang="zh-CN" dirty="0"/>
              <a:t>8</a:t>
            </a:r>
            <a:r>
              <a:rPr lang="zh-CN" altLang="en-US" dirty="0"/>
              <a:t>个模拟通道，允许</a:t>
            </a:r>
            <a:r>
              <a:rPr lang="en-US" altLang="zh-CN" dirty="0"/>
              <a:t>8</a:t>
            </a:r>
            <a:r>
              <a:rPr lang="zh-CN" altLang="en-US" dirty="0"/>
              <a:t>路模拟量分时输入，共用一个</a:t>
            </a:r>
            <a:r>
              <a:rPr lang="en-US" altLang="zh-CN" dirty="0"/>
              <a:t>A/D</a:t>
            </a:r>
            <a:r>
              <a:rPr lang="zh-CN" altLang="en-US" dirty="0"/>
              <a:t>转换器进行转换。</a:t>
            </a:r>
          </a:p>
          <a:p>
            <a:r>
              <a:rPr lang="zh-CN" altLang="en-US" dirty="0"/>
              <a:t>地址锁存与译码器：用于控制多路模拟开关进行切换。</a:t>
            </a:r>
          </a:p>
          <a:p>
            <a:r>
              <a:rPr lang="zh-CN" altLang="en-US" dirty="0"/>
              <a:t>逐次逼近型</a:t>
            </a:r>
            <a:r>
              <a:rPr lang="en-US" altLang="zh-CN" dirty="0"/>
              <a:t>A/D</a:t>
            </a:r>
            <a:r>
              <a:rPr lang="zh-CN" altLang="en-US" dirty="0"/>
              <a:t>转换核心：</a:t>
            </a:r>
            <a:r>
              <a:rPr lang="en-US" altLang="zh-CN" dirty="0"/>
              <a:t>A/D</a:t>
            </a:r>
            <a:r>
              <a:rPr lang="zh-CN" altLang="en-US" dirty="0"/>
              <a:t>转换的核心模块。</a:t>
            </a:r>
          </a:p>
          <a:p>
            <a:r>
              <a:rPr lang="zh-CN" altLang="en-US" dirty="0"/>
              <a:t>三态输出锁存器：锁存</a:t>
            </a:r>
            <a:r>
              <a:rPr lang="en-US" altLang="zh-CN" dirty="0"/>
              <a:t>A/D</a:t>
            </a:r>
            <a:r>
              <a:rPr lang="zh-CN" altLang="en-US" dirty="0"/>
              <a:t>转换完成的数字量，当</a:t>
            </a:r>
            <a:r>
              <a:rPr lang="en-US" altLang="zh-CN" dirty="0"/>
              <a:t>OE</a:t>
            </a:r>
            <a:r>
              <a:rPr lang="zh-CN" altLang="en-US" dirty="0"/>
              <a:t>端为高电平时，可以从三态输出锁存器取走转换完的数据。</a:t>
            </a:r>
          </a:p>
          <a:p>
            <a:endParaRPr lang="zh-CN" altLang="en-US" dirty="0"/>
          </a:p>
          <a:p>
            <a:r>
              <a:rPr lang="zh-CN" altLang="en-US" dirty="0"/>
              <a:t>工作方式及控制：</a:t>
            </a:r>
          </a:p>
          <a:p>
            <a:r>
              <a:rPr lang="zh-CN" altLang="en-US" dirty="0"/>
              <a:t>	单缓冲方式：输入寄存器处于直通状态（</a:t>
            </a:r>
            <a:r>
              <a:rPr lang="en-US" altLang="zh-CN" dirty="0"/>
              <a:t>ILE=1</a:t>
            </a:r>
            <a:r>
              <a:rPr lang="zh-CN" altLang="en-US" dirty="0"/>
              <a:t>，</a:t>
            </a:r>
            <a:r>
              <a:rPr lang="en-US" altLang="zh-CN" dirty="0"/>
              <a:t>CS=0</a:t>
            </a:r>
            <a:r>
              <a:rPr lang="zh-CN" altLang="en-US" dirty="0"/>
              <a:t>，</a:t>
            </a:r>
            <a:r>
              <a:rPr lang="en-US" altLang="zh-CN" dirty="0"/>
              <a:t>WR1=0</a:t>
            </a:r>
            <a:r>
              <a:rPr lang="zh-CN" altLang="en-US" dirty="0"/>
              <a:t>），输入数据在控制信号（</a:t>
            </a:r>
            <a:r>
              <a:rPr lang="en-US" altLang="zh-CN" dirty="0"/>
              <a:t>XFER</a:t>
            </a:r>
            <a:r>
              <a:rPr lang="zh-CN" altLang="en-US" dirty="0"/>
              <a:t>，</a:t>
            </a:r>
            <a:r>
              <a:rPr lang="en-US" altLang="zh-CN" dirty="0"/>
              <a:t>WR2</a:t>
            </a:r>
            <a:r>
              <a:rPr lang="zh-CN" altLang="en-US" dirty="0"/>
              <a:t>）作用下直接送</a:t>
            </a:r>
            <a:r>
              <a:rPr lang="en-US" altLang="zh-CN" dirty="0"/>
              <a:t>DAC</a:t>
            </a:r>
            <a:r>
              <a:rPr lang="zh-CN" altLang="en-US" dirty="0"/>
              <a:t>寄存器，然后送</a:t>
            </a:r>
            <a:r>
              <a:rPr lang="en-US" altLang="zh-CN" dirty="0"/>
              <a:t>D/A</a:t>
            </a:r>
            <a:r>
              <a:rPr lang="zh-CN" altLang="en-US" dirty="0"/>
              <a:t>转换器。</a:t>
            </a:r>
          </a:p>
          <a:p>
            <a:r>
              <a:rPr lang="zh-CN" altLang="en-US" dirty="0"/>
              <a:t>	双缓冲方式：首先在</a:t>
            </a:r>
            <a:r>
              <a:rPr lang="en-US" altLang="zh-CN" dirty="0"/>
              <a:t>ILE</a:t>
            </a:r>
            <a:r>
              <a:rPr lang="zh-CN" altLang="en-US" dirty="0"/>
              <a:t>、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WR1</a:t>
            </a:r>
            <a:r>
              <a:rPr lang="zh-CN" altLang="en-US" dirty="0"/>
              <a:t>控制下，将输入数据锁存到输入寄存器；然后在</a:t>
            </a:r>
            <a:r>
              <a:rPr lang="en-US" altLang="zh-CN" dirty="0"/>
              <a:t>XFER</a:t>
            </a:r>
            <a:r>
              <a:rPr lang="zh-CN" altLang="en-US" dirty="0"/>
              <a:t>、</a:t>
            </a:r>
            <a:r>
              <a:rPr lang="en-US" altLang="zh-CN" dirty="0"/>
              <a:t>WR2</a:t>
            </a:r>
            <a:r>
              <a:rPr lang="zh-CN" altLang="en-US" dirty="0"/>
              <a:t>控制下，将输入寄存器中的数据锁存到</a:t>
            </a:r>
            <a:r>
              <a:rPr lang="en-US" altLang="zh-CN" dirty="0"/>
              <a:t>DAC</a:t>
            </a:r>
            <a:r>
              <a:rPr lang="zh-CN" altLang="en-US" dirty="0"/>
              <a:t>寄存器，再送</a:t>
            </a:r>
            <a:r>
              <a:rPr lang="en-US" altLang="zh-CN" dirty="0"/>
              <a:t>D/A</a:t>
            </a:r>
            <a:r>
              <a:rPr lang="zh-CN" altLang="en-US" dirty="0"/>
              <a:t>转换器。此时输入寄存器可以接收新的数据。</a:t>
            </a:r>
          </a:p>
          <a:p>
            <a:r>
              <a:rPr lang="zh-CN" altLang="en-US" dirty="0"/>
              <a:t>	直通方式：输入寄存器和</a:t>
            </a:r>
            <a:r>
              <a:rPr lang="en-US" altLang="zh-CN" dirty="0"/>
              <a:t>D/A</a:t>
            </a:r>
            <a:r>
              <a:rPr lang="zh-CN" altLang="en-US" dirty="0"/>
              <a:t>寄存器都处于直通状态（</a:t>
            </a:r>
            <a:r>
              <a:rPr lang="en-US" altLang="zh-CN" dirty="0"/>
              <a:t>ILE=1</a:t>
            </a:r>
            <a:r>
              <a:rPr lang="zh-CN" altLang="en-US" dirty="0"/>
              <a:t>，</a:t>
            </a:r>
            <a:r>
              <a:rPr lang="en-US" altLang="zh-CN" dirty="0"/>
              <a:t>CS=0</a:t>
            </a:r>
            <a:r>
              <a:rPr lang="zh-CN" altLang="en-US" dirty="0"/>
              <a:t>，</a:t>
            </a:r>
            <a:r>
              <a:rPr lang="en-US" altLang="zh-CN" dirty="0"/>
              <a:t>WR1=0</a:t>
            </a:r>
            <a:r>
              <a:rPr lang="zh-CN" altLang="en-US" dirty="0"/>
              <a:t>；</a:t>
            </a:r>
            <a:r>
              <a:rPr lang="en-US" altLang="zh-CN" dirty="0"/>
              <a:t>XFER=0</a:t>
            </a:r>
            <a:r>
              <a:rPr lang="zh-CN" altLang="en-US" dirty="0"/>
              <a:t>，</a:t>
            </a:r>
            <a:r>
              <a:rPr lang="en-US" altLang="zh-CN" dirty="0"/>
              <a:t>WR2=0</a:t>
            </a:r>
            <a:r>
              <a:rPr lang="zh-CN" altLang="en-US" dirty="0"/>
              <a:t>），输入数据直接送</a:t>
            </a:r>
            <a:r>
              <a:rPr lang="en-US" altLang="zh-CN" dirty="0"/>
              <a:t>D/A</a:t>
            </a:r>
            <a:r>
              <a:rPr lang="zh-CN" altLang="en-US" dirty="0"/>
              <a:t>转换器</a:t>
            </a:r>
          </a:p>
        </p:txBody>
      </p:sp>
    </p:spTree>
    <p:extLst>
      <p:ext uri="{BB962C8B-B14F-4D97-AF65-F5344CB8AC3E}">
        <p14:creationId xmlns:p14="http://schemas.microsoft.com/office/powerpoint/2010/main" val="429192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845</Words>
  <Application>Microsoft Office PowerPoint</Application>
  <PresentationFormat>宽屏</PresentationFormat>
  <Paragraphs>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7.3</vt:lpstr>
      <vt:lpstr>PowerPoint 演示文稿</vt:lpstr>
      <vt:lpstr>7.4</vt:lpstr>
      <vt:lpstr>PowerPoint 演示文稿</vt:lpstr>
      <vt:lpstr>PowerPoint 演示文稿</vt:lpstr>
      <vt:lpstr>7.7</vt:lpstr>
      <vt:lpstr>PowerPoint 演示文稿</vt:lpstr>
      <vt:lpstr>PowerPoint 演示文稿</vt:lpstr>
      <vt:lpstr>7.9</vt:lpstr>
      <vt:lpstr>PowerPoint 演示文稿</vt:lpstr>
      <vt:lpstr>7.10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5</cp:revision>
  <dcterms:created xsi:type="dcterms:W3CDTF">2024-11-18T07:40:00Z</dcterms:created>
  <dcterms:modified xsi:type="dcterms:W3CDTF">2024-12-01T10:38:51Z</dcterms:modified>
</cp:coreProperties>
</file>