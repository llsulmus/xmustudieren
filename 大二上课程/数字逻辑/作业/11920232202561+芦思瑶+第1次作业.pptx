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D10EB-BC16-4058-83F1-7C6304749AE7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7534E-F366-4729-82A2-C19984041F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97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7534E-F366-4729-82A2-C19984041F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68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A8935-E56E-6D45-A081-EA93210A2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48A4E7-3840-0BE2-1042-5A0EC4D71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BCCE9F-0BD3-924C-5E4C-8396A2D2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7D6D0-58E1-A873-7FE3-8CDA6CB3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AE3A7-193E-47CF-17BE-07F11739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44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90EE5-BBB5-606B-D564-5F56E11D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F5A4D-2B8B-3B25-F8C1-04848F32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D9BF1-D53F-1DEF-DDBA-08D51D3F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1216E8-7EA3-5607-7675-1C43FBB7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B26A14-A84C-C51C-19D3-F5F2B858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1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314B0-F556-7932-A3BC-85A887DA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0B6AFE-6934-0D5E-C7FD-89411163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DA8D32-778C-BF5A-D137-308A817B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E0060-AAE0-D8FC-8029-6CD9E9DE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2BA10-07A9-4E07-0A57-FA01BF01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95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D8972-ADCB-8F14-C120-6F114E03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7AED0-9B8D-92CE-1BE3-66964438C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9BC112-BFFB-786D-7C9C-774017770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A01C04-BA46-8F36-1D8D-306B6C42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7FA68F-B9DA-F322-31CC-4DC55C61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711148-15F3-20DA-71A9-EE2A3D79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70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AD635-FE46-6592-4E62-AD6BEB29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81B803-E837-BBBD-BDED-FD258416C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696119-F2B6-1BDD-C853-9759F34BD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6F905C-5517-E622-1DA0-540795F0F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B4EF1C-5426-8770-0BBB-5A0D880E6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2FBDC9-31B4-7366-21B0-2A8385F2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AC132A4-7262-3165-6A4D-166100C6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51A58B-EF49-C0FA-BDB1-6C69D7E3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17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03178-6CCC-7D12-40D8-97D3417E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A5F0CB-63DE-539D-84CF-C74FF8E7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7EE2E-03E1-038B-EBFF-1F33EBC25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A609E0-332A-9229-1916-DCD3B8C7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2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4D2D78-4024-8EAA-0D40-1EDC43BB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365190-AB24-622B-59BF-F35542D5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ADB6F6-AC4B-8856-7DEC-C56ECD61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B747B-E58F-A81D-76A0-EBBD765F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385BAB-2B84-4E04-E15E-83F4F0EE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E8E296-9C5B-5148-D577-DD2D7D4D0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84F8E7-ED96-410E-298D-2442F331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B8C37F-4F2B-1ED2-F6D9-BB50DB0F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19C4D3-E489-CEBE-608B-F56051DA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40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31D64-1AB3-5749-0028-77195ED4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8AFFC0-6727-8FF1-9EE1-471C593BE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BF60D8-BCFE-8164-7366-6876A54A7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3959D0-772F-D73A-9B79-2D2D2942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2BA1C3-0A8E-D242-9754-935F0445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C8B631-7FE4-7411-B725-A1193AF78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8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C94CC-BB34-859A-AF4D-9A4853FD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717505-C961-958B-9FA2-5B26351F3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DBB0E-DD5E-30C8-D781-E81CF25E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F97BD-F9CE-2B9B-F863-137D3625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FCB9D-8B44-6E07-CB22-0F47C8733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8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90E9FE-F1C8-3A5B-317E-5B1C9701D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58F2E0-0D6E-8252-85B3-ADD50864C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2B7FA4-7A61-CAD2-8B12-413CB59B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55544-777A-31CA-C34D-3D27AFC5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F6902-47BF-D603-8F63-017E17D5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1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023A04-F7D7-C52C-3230-F6258CE2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9CF066-9328-B048-27C8-7E23207D0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2ABB6-E95B-E655-F056-CCAA8F1FF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8D701-9556-4FDD-A007-CD77F39558A4}" type="datetimeFigureOut">
              <a:rPr lang="zh-CN" altLang="en-US" smtClean="0"/>
              <a:t>2024/9/7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E85B0-B354-24CD-2352-E0DDAA0FE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C71C5D-602A-18CC-06E4-41D8711CB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53353-BA00-4A0D-835D-8369E2F2DA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39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9902C-FF07-F167-6ED1-25F4AB12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5" y="434715"/>
            <a:ext cx="11325067" cy="5861154"/>
          </a:xfrm>
        </p:spPr>
        <p:txBody>
          <a:bodyPr/>
          <a:lstStyle/>
          <a:p>
            <a:r>
              <a:rPr lang="zh-CN" altLang="en-US" dirty="0"/>
              <a:t>习题一</a:t>
            </a:r>
            <a:endParaRPr lang="en-US" altLang="zh-CN" dirty="0"/>
          </a:p>
          <a:p>
            <a:r>
              <a:rPr lang="en-US" altLang="zh-CN" sz="2400" dirty="0"/>
              <a:t>1.1</a:t>
            </a:r>
          </a:p>
          <a:p>
            <a:r>
              <a:rPr lang="zh-CN" altLang="en-US" sz="2400" dirty="0"/>
              <a:t>答：表示模拟量的信号称为模拟信号。例：无线电广播；表示数字量的信号称为数字信号。例：高低电平信号。</a:t>
            </a:r>
            <a:endParaRPr lang="en-US" altLang="zh-CN" sz="2400" dirty="0"/>
          </a:p>
          <a:p>
            <a:r>
              <a:rPr lang="en-US" altLang="zh-CN" sz="2400" dirty="0"/>
              <a:t>1.2</a:t>
            </a:r>
          </a:p>
          <a:p>
            <a:r>
              <a:rPr lang="zh-CN" altLang="en-US" sz="2400" dirty="0"/>
              <a:t>答：</a:t>
            </a:r>
            <a:r>
              <a:rPr lang="en-US" altLang="zh-CN" sz="2400" dirty="0"/>
              <a:t>1.</a:t>
            </a:r>
            <a:r>
              <a:rPr lang="zh-CN" altLang="en-US" sz="2400" dirty="0"/>
              <a:t>电路的基本工作信号是二值信号。</a:t>
            </a:r>
            <a:r>
              <a:rPr lang="en-US" altLang="zh-CN" sz="2400" dirty="0"/>
              <a:t>2.</a:t>
            </a:r>
            <a:r>
              <a:rPr lang="zh-CN" altLang="en-US" sz="2400" dirty="0"/>
              <a:t>电路中的半导体器件一般都工作在开、关状态。</a:t>
            </a:r>
            <a:r>
              <a:rPr lang="en-US" altLang="zh-CN" sz="2400" dirty="0"/>
              <a:t>3.</a:t>
            </a:r>
            <a:r>
              <a:rPr lang="zh-CN" altLang="en-US" sz="2400" dirty="0"/>
              <a:t>电路结构简单、功耗低、便于集成制造和系列化生产。</a:t>
            </a:r>
            <a:r>
              <a:rPr lang="en-US" altLang="zh-CN" sz="2400" dirty="0"/>
              <a:t>4.</a:t>
            </a:r>
            <a:r>
              <a:rPr lang="zh-CN" altLang="en-US" sz="2400" dirty="0"/>
              <a:t>由数字逻辑电路构成的数字系统工作速度快、精度高、功能强、可靠性好。</a:t>
            </a:r>
            <a:endParaRPr lang="en-US" altLang="zh-CN" sz="2400" dirty="0"/>
          </a:p>
          <a:p>
            <a:r>
              <a:rPr lang="en-US" altLang="zh-CN" sz="2400" dirty="0"/>
              <a:t>1.3</a:t>
            </a:r>
          </a:p>
          <a:p>
            <a:r>
              <a:rPr lang="zh-CN" altLang="en-US" sz="2400" dirty="0"/>
              <a:t>答：数字逻辑电路可以分为组合逻辑电路和时序逻辑电路。主要区别是与电路过去的输出有无关联。组合逻辑电路在任何时刻的稳定输出仅取决于该时刻的输入，时序逻辑电路还与过去的输入相关。</a:t>
            </a:r>
            <a:endParaRPr lang="en-US" altLang="zh-CN" sz="2400" dirty="0"/>
          </a:p>
          <a:p>
            <a:r>
              <a:rPr lang="en-US" altLang="zh-CN" sz="2400" dirty="0"/>
              <a:t>1.4</a:t>
            </a:r>
          </a:p>
          <a:p>
            <a:r>
              <a:rPr lang="zh-CN" altLang="en-US" sz="2400" dirty="0"/>
              <a:t>答：不一定。最佳方案应满足全面的性能指标和实际应用要求。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3893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5043CF-B9C8-5327-3C88-DF00B17E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96" y="437083"/>
            <a:ext cx="11506808" cy="5983833"/>
          </a:xfrm>
        </p:spPr>
        <p:txBody>
          <a:bodyPr/>
          <a:lstStyle/>
          <a:p>
            <a:r>
              <a:rPr lang="en-US" altLang="zh-CN" dirty="0"/>
              <a:t>1.5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(1). (4517.239)</a:t>
            </a:r>
            <a:r>
              <a:rPr lang="en-US" altLang="zh-CN" baseline="-25000" dirty="0"/>
              <a:t>10</a:t>
            </a:r>
            <a:r>
              <a:rPr lang="en-US" altLang="zh-CN" dirty="0"/>
              <a:t>=4*10</a:t>
            </a:r>
            <a:r>
              <a:rPr lang="en-US" altLang="zh-CN" baseline="30000" dirty="0"/>
              <a:t>3</a:t>
            </a:r>
            <a:r>
              <a:rPr lang="en-US" altLang="zh-CN" dirty="0"/>
              <a:t>+5*10</a:t>
            </a:r>
            <a:r>
              <a:rPr lang="en-US" altLang="zh-CN" baseline="30000" dirty="0"/>
              <a:t>2</a:t>
            </a:r>
            <a:r>
              <a:rPr lang="en-US" altLang="zh-CN" dirty="0"/>
              <a:t>+1*10</a:t>
            </a:r>
            <a:r>
              <a:rPr lang="en-US" altLang="zh-CN" baseline="30000" dirty="0"/>
              <a:t>1</a:t>
            </a:r>
            <a:r>
              <a:rPr lang="en-US" altLang="zh-CN" dirty="0"/>
              <a:t>+7*10</a:t>
            </a:r>
            <a:r>
              <a:rPr lang="en-US" altLang="zh-CN" baseline="30000" dirty="0"/>
              <a:t>0</a:t>
            </a:r>
            <a:r>
              <a:rPr lang="en-US" altLang="zh-CN" dirty="0"/>
              <a:t>+2*10</a:t>
            </a:r>
            <a:r>
              <a:rPr lang="en-US" altLang="zh-CN" baseline="30000" dirty="0"/>
              <a:t>-1</a:t>
            </a:r>
            <a:r>
              <a:rPr lang="en-US" altLang="zh-CN" dirty="0"/>
              <a:t>+3*10</a:t>
            </a:r>
            <a:r>
              <a:rPr lang="en-US" altLang="zh-CN" baseline="30000" dirty="0"/>
              <a:t>-2</a:t>
            </a:r>
            <a:r>
              <a:rPr lang="en-US" altLang="zh-CN" dirty="0"/>
              <a:t>+9*10</a:t>
            </a:r>
            <a:r>
              <a:rPr lang="en-US" altLang="zh-CN" baseline="30000" dirty="0"/>
              <a:t>-3</a:t>
            </a:r>
          </a:p>
          <a:p>
            <a:r>
              <a:rPr lang="en-US" altLang="zh-CN" dirty="0"/>
              <a:t>(2). (10110.0101)</a:t>
            </a:r>
            <a:r>
              <a:rPr lang="en-US" altLang="zh-CN" baseline="-25000" dirty="0"/>
              <a:t>2</a:t>
            </a:r>
            <a:r>
              <a:rPr lang="en-US" altLang="zh-CN" dirty="0"/>
              <a:t>=1*2</a:t>
            </a:r>
            <a:r>
              <a:rPr lang="en-US" altLang="zh-CN" baseline="30000" dirty="0"/>
              <a:t>4</a:t>
            </a:r>
            <a:r>
              <a:rPr lang="en-US" altLang="zh-CN" dirty="0"/>
              <a:t>+0*2</a:t>
            </a:r>
            <a:r>
              <a:rPr lang="en-US" altLang="zh-CN" baseline="30000" dirty="0"/>
              <a:t>3</a:t>
            </a:r>
            <a:r>
              <a:rPr lang="en-US" altLang="zh-CN" dirty="0"/>
              <a:t>+1*2</a:t>
            </a:r>
            <a:r>
              <a:rPr lang="en-US" altLang="zh-CN" baseline="30000" dirty="0"/>
              <a:t>2</a:t>
            </a:r>
            <a:r>
              <a:rPr lang="en-US" altLang="zh-CN" dirty="0"/>
              <a:t>+1*2</a:t>
            </a:r>
            <a:r>
              <a:rPr lang="en-US" altLang="zh-CN" baseline="30000" dirty="0"/>
              <a:t>1</a:t>
            </a:r>
            <a:r>
              <a:rPr lang="en-US" altLang="zh-CN" dirty="0"/>
              <a:t>+0*2</a:t>
            </a:r>
            <a:r>
              <a:rPr lang="en-US" altLang="zh-CN" baseline="30000" dirty="0"/>
              <a:t>0</a:t>
            </a:r>
            <a:r>
              <a:rPr lang="en-US" altLang="zh-CN" dirty="0"/>
              <a:t>+0*2</a:t>
            </a:r>
            <a:r>
              <a:rPr lang="en-US" altLang="zh-CN" baseline="30000" dirty="0"/>
              <a:t>-1</a:t>
            </a:r>
            <a:r>
              <a:rPr lang="en-US" altLang="zh-CN" dirty="0"/>
              <a:t>+1*2</a:t>
            </a:r>
            <a:r>
              <a:rPr lang="en-US" altLang="zh-CN" baseline="30000" dirty="0"/>
              <a:t>-2</a:t>
            </a:r>
            <a:r>
              <a:rPr lang="en-US" altLang="zh-CN" dirty="0"/>
              <a:t>+0*2</a:t>
            </a:r>
            <a:r>
              <a:rPr lang="en-US" altLang="zh-CN" baseline="30000" dirty="0"/>
              <a:t>-3</a:t>
            </a:r>
            <a:r>
              <a:rPr lang="en-US" altLang="zh-CN" dirty="0"/>
              <a:t>+1*2</a:t>
            </a:r>
            <a:r>
              <a:rPr lang="en-US" altLang="zh-CN" baseline="30000" dirty="0"/>
              <a:t>-4</a:t>
            </a:r>
          </a:p>
          <a:p>
            <a:r>
              <a:rPr lang="en-US" altLang="zh-CN" dirty="0"/>
              <a:t>(3). (325.744)</a:t>
            </a:r>
            <a:r>
              <a:rPr lang="en-US" altLang="zh-CN" baseline="-25000" dirty="0"/>
              <a:t>8</a:t>
            </a:r>
            <a:r>
              <a:rPr lang="en-US" altLang="zh-CN" dirty="0"/>
              <a:t>=3*8</a:t>
            </a:r>
            <a:r>
              <a:rPr lang="en-US" altLang="zh-CN" baseline="30000" dirty="0"/>
              <a:t>2</a:t>
            </a:r>
            <a:r>
              <a:rPr lang="en-US" altLang="zh-CN" dirty="0"/>
              <a:t>+2*8</a:t>
            </a:r>
            <a:r>
              <a:rPr lang="en-US" altLang="zh-CN" baseline="30000" dirty="0"/>
              <a:t>1</a:t>
            </a:r>
            <a:r>
              <a:rPr lang="en-US" altLang="zh-CN" dirty="0"/>
              <a:t>+5*8</a:t>
            </a:r>
            <a:r>
              <a:rPr lang="en-US" altLang="zh-CN" baseline="30000" dirty="0"/>
              <a:t>0</a:t>
            </a:r>
            <a:r>
              <a:rPr lang="en-US" altLang="zh-CN" dirty="0"/>
              <a:t>+7*8</a:t>
            </a:r>
            <a:r>
              <a:rPr lang="en-US" altLang="zh-CN" baseline="30000" dirty="0"/>
              <a:t>-1</a:t>
            </a:r>
            <a:r>
              <a:rPr lang="en-US" altLang="zh-CN" dirty="0"/>
              <a:t>+4*8</a:t>
            </a:r>
            <a:r>
              <a:rPr lang="en-US" altLang="zh-CN" baseline="30000" dirty="0"/>
              <a:t>-2</a:t>
            </a:r>
            <a:r>
              <a:rPr lang="en-US" altLang="zh-CN" dirty="0"/>
              <a:t>+4*8</a:t>
            </a:r>
            <a:r>
              <a:rPr lang="en-US" altLang="zh-CN" baseline="30000" dirty="0"/>
              <a:t>-3</a:t>
            </a:r>
          </a:p>
          <a:p>
            <a:r>
              <a:rPr lang="en-US" altLang="zh-CN" dirty="0"/>
              <a:t>(4). (785.4AF)</a:t>
            </a:r>
            <a:r>
              <a:rPr lang="en-US" altLang="zh-CN" baseline="-25000" dirty="0"/>
              <a:t>16</a:t>
            </a:r>
            <a:r>
              <a:rPr lang="en-US" altLang="zh-CN" dirty="0"/>
              <a:t>=7*16</a:t>
            </a:r>
            <a:r>
              <a:rPr lang="en-US" altLang="zh-CN" baseline="30000" dirty="0"/>
              <a:t>2</a:t>
            </a:r>
            <a:r>
              <a:rPr lang="en-US" altLang="zh-CN" dirty="0"/>
              <a:t>+8*16</a:t>
            </a:r>
            <a:r>
              <a:rPr lang="en-US" altLang="zh-CN" baseline="30000" dirty="0"/>
              <a:t>1</a:t>
            </a:r>
            <a:r>
              <a:rPr lang="en-US" altLang="zh-CN" dirty="0"/>
              <a:t>+5*16</a:t>
            </a:r>
            <a:r>
              <a:rPr lang="en-US" altLang="zh-CN" baseline="30000" dirty="0"/>
              <a:t>0</a:t>
            </a:r>
            <a:r>
              <a:rPr lang="en-US" altLang="zh-CN" dirty="0"/>
              <a:t>+4*16</a:t>
            </a:r>
            <a:r>
              <a:rPr lang="en-US" altLang="zh-CN" baseline="30000" dirty="0"/>
              <a:t>-1</a:t>
            </a:r>
            <a:r>
              <a:rPr lang="en-US" altLang="zh-CN" dirty="0"/>
              <a:t>+A*16</a:t>
            </a:r>
            <a:r>
              <a:rPr lang="en-US" altLang="zh-CN" baseline="30000" dirty="0"/>
              <a:t>-2</a:t>
            </a:r>
            <a:r>
              <a:rPr lang="en-US" altLang="zh-CN" dirty="0"/>
              <a:t>+F*16</a:t>
            </a:r>
            <a:r>
              <a:rPr lang="en-US" altLang="zh-CN" baseline="30000" dirty="0"/>
              <a:t>-3</a:t>
            </a:r>
          </a:p>
          <a:p>
            <a:endParaRPr lang="en-US" altLang="zh-CN" baseline="30000" dirty="0"/>
          </a:p>
          <a:p>
            <a:r>
              <a:rPr lang="en-US" altLang="zh-CN" dirty="0"/>
              <a:t>1.6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(1). (1110101)</a:t>
            </a:r>
            <a:r>
              <a:rPr lang="en-US" altLang="zh-CN" baseline="-25000" dirty="0"/>
              <a:t>2</a:t>
            </a:r>
            <a:r>
              <a:rPr lang="en-US" altLang="zh-CN" dirty="0"/>
              <a:t>=(117)</a:t>
            </a:r>
            <a:r>
              <a:rPr lang="en-US" altLang="zh-CN" baseline="-25000" dirty="0"/>
              <a:t>10</a:t>
            </a:r>
            <a:r>
              <a:rPr lang="en-US" altLang="zh-CN" dirty="0"/>
              <a:t>=(165)</a:t>
            </a:r>
            <a:r>
              <a:rPr lang="en-US" altLang="zh-CN" baseline="-25000" dirty="0"/>
              <a:t>8</a:t>
            </a:r>
            <a:r>
              <a:rPr lang="en-US" altLang="zh-CN" dirty="0"/>
              <a:t>=(75)</a:t>
            </a:r>
            <a:r>
              <a:rPr lang="en-US" altLang="zh-CN" baseline="-25000" dirty="0"/>
              <a:t>16</a:t>
            </a:r>
          </a:p>
          <a:p>
            <a:r>
              <a:rPr lang="en-US" altLang="zh-CN" dirty="0"/>
              <a:t>(2). (0.110101)</a:t>
            </a:r>
            <a:r>
              <a:rPr lang="en-US" altLang="zh-CN" baseline="-25000" dirty="0"/>
              <a:t>2</a:t>
            </a:r>
            <a:r>
              <a:rPr lang="en-US" altLang="zh-CN" dirty="0"/>
              <a:t>=(0.828125)</a:t>
            </a:r>
            <a:r>
              <a:rPr lang="en-US" altLang="zh-CN" baseline="-25000" dirty="0"/>
              <a:t>10</a:t>
            </a:r>
            <a:r>
              <a:rPr lang="en-US" altLang="zh-CN" dirty="0"/>
              <a:t>=(0.65)</a:t>
            </a:r>
            <a:r>
              <a:rPr lang="en-US" altLang="zh-CN" baseline="-25000" dirty="0"/>
              <a:t>8</a:t>
            </a:r>
            <a:r>
              <a:rPr lang="en-US" altLang="zh-CN" dirty="0"/>
              <a:t>=(0.D4)</a:t>
            </a:r>
            <a:r>
              <a:rPr lang="en-US" altLang="zh-CN" baseline="-25000" dirty="0"/>
              <a:t>16</a:t>
            </a:r>
          </a:p>
          <a:p>
            <a:r>
              <a:rPr lang="en-US" altLang="zh-CN" dirty="0"/>
              <a:t>(3). (10111.01)</a:t>
            </a:r>
            <a:r>
              <a:rPr lang="en-US" altLang="zh-CN" baseline="-25000" dirty="0"/>
              <a:t>2</a:t>
            </a:r>
            <a:r>
              <a:rPr lang="en-US" altLang="zh-CN" dirty="0"/>
              <a:t>=(23.25)</a:t>
            </a:r>
            <a:r>
              <a:rPr lang="en-US" altLang="zh-CN" baseline="-25000" dirty="0"/>
              <a:t>10</a:t>
            </a:r>
            <a:r>
              <a:rPr lang="en-US" altLang="zh-CN" dirty="0"/>
              <a:t>=(27.2)</a:t>
            </a:r>
            <a:r>
              <a:rPr lang="en-US" altLang="zh-CN" baseline="-25000" dirty="0"/>
              <a:t>8</a:t>
            </a:r>
            <a:r>
              <a:rPr lang="en-US" altLang="zh-CN" dirty="0"/>
              <a:t>=(17.4)</a:t>
            </a:r>
            <a:r>
              <a:rPr lang="en-US" altLang="zh-CN" baseline="-25000" dirty="0"/>
              <a:t>16</a:t>
            </a: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7041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0ACBFB-2C3E-E872-741A-C23DE24DF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03" y="477316"/>
            <a:ext cx="11073993" cy="6047842"/>
          </a:xfrm>
        </p:spPr>
        <p:txBody>
          <a:bodyPr/>
          <a:lstStyle/>
          <a:p>
            <a:r>
              <a:rPr lang="en-US" altLang="zh-CN" dirty="0"/>
              <a:t>1.7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(1). (29)</a:t>
            </a:r>
            <a:r>
              <a:rPr lang="en-US" altLang="zh-CN" baseline="-25000" dirty="0"/>
              <a:t>10</a:t>
            </a:r>
            <a:r>
              <a:rPr lang="en-US" altLang="zh-CN" dirty="0"/>
              <a:t>=(11101)</a:t>
            </a:r>
            <a:r>
              <a:rPr lang="en-US" altLang="zh-CN" baseline="-25000" dirty="0"/>
              <a:t>2</a:t>
            </a:r>
            <a:r>
              <a:rPr lang="en-US" altLang="zh-CN" dirty="0"/>
              <a:t>=(35)</a:t>
            </a:r>
            <a:r>
              <a:rPr lang="en-US" altLang="zh-CN" baseline="-25000" dirty="0"/>
              <a:t>8</a:t>
            </a:r>
            <a:r>
              <a:rPr lang="en-US" altLang="zh-CN" dirty="0"/>
              <a:t>=(1D)</a:t>
            </a:r>
            <a:r>
              <a:rPr lang="en-US" altLang="zh-CN" baseline="-25000" dirty="0"/>
              <a:t>16</a:t>
            </a:r>
          </a:p>
          <a:p>
            <a:r>
              <a:rPr lang="en-US" altLang="zh-CN" dirty="0"/>
              <a:t>(2). (0.27)</a:t>
            </a:r>
            <a:r>
              <a:rPr lang="en-US" altLang="zh-CN" baseline="-25000" dirty="0"/>
              <a:t>10</a:t>
            </a:r>
            <a:r>
              <a:rPr lang="en-US" altLang="zh-CN" dirty="0"/>
              <a:t>=(0.0100)</a:t>
            </a:r>
            <a:r>
              <a:rPr lang="en-US" altLang="zh-CN" baseline="-25000" dirty="0"/>
              <a:t>2</a:t>
            </a:r>
            <a:r>
              <a:rPr lang="en-US" altLang="zh-CN" dirty="0"/>
              <a:t>=(0.2)</a:t>
            </a:r>
            <a:r>
              <a:rPr lang="en-US" altLang="zh-CN" baseline="-25000" dirty="0"/>
              <a:t>8</a:t>
            </a:r>
            <a:r>
              <a:rPr lang="en-US" altLang="zh-CN" dirty="0"/>
              <a:t>=(0.4)</a:t>
            </a:r>
            <a:r>
              <a:rPr lang="en-US" altLang="zh-CN" baseline="-25000" dirty="0"/>
              <a:t>16</a:t>
            </a:r>
            <a:endParaRPr lang="zh-CN" altLang="en-US" baseline="-25000" dirty="0"/>
          </a:p>
          <a:p>
            <a:r>
              <a:rPr lang="en-US" altLang="zh-CN" dirty="0"/>
              <a:t>(3). (33.33)</a:t>
            </a:r>
            <a:r>
              <a:rPr lang="en-US" altLang="zh-CN" baseline="-25000" dirty="0"/>
              <a:t>10</a:t>
            </a:r>
            <a:r>
              <a:rPr lang="en-US" altLang="zh-CN" dirty="0"/>
              <a:t>=(100001.0101)</a:t>
            </a:r>
            <a:r>
              <a:rPr lang="en-US" altLang="zh-CN" baseline="-25000" dirty="0"/>
              <a:t>2</a:t>
            </a:r>
            <a:r>
              <a:rPr lang="en-US" altLang="zh-CN" dirty="0"/>
              <a:t>=(41.24)</a:t>
            </a:r>
            <a:r>
              <a:rPr lang="en-US" altLang="zh-CN" baseline="-25000" dirty="0"/>
              <a:t>8</a:t>
            </a:r>
            <a:r>
              <a:rPr lang="en-US" altLang="zh-CN" dirty="0"/>
              <a:t>=(21.5)</a:t>
            </a:r>
            <a:r>
              <a:rPr lang="en-US" altLang="zh-CN" baseline="-25000" dirty="0"/>
              <a:t>16</a:t>
            </a:r>
            <a:endParaRPr lang="zh-CN" altLang="en-US" baseline="-25000" dirty="0"/>
          </a:p>
          <a:p>
            <a:r>
              <a:rPr lang="en-US" altLang="zh-CN" dirty="0"/>
              <a:t>1.8</a:t>
            </a:r>
          </a:p>
          <a:p>
            <a:r>
              <a:rPr lang="zh-CN" altLang="en-US" dirty="0"/>
              <a:t>答：将</a:t>
            </a:r>
            <a:r>
              <a:rPr lang="en-US" altLang="zh-CN" dirty="0"/>
              <a:t>B</a:t>
            </a:r>
            <a:r>
              <a:rPr lang="zh-CN" altLang="en-US" dirty="0"/>
              <a:t>按权展开得到十进制的</a:t>
            </a:r>
            <a:r>
              <a:rPr lang="en-US" altLang="zh-CN" dirty="0"/>
              <a:t>B</a:t>
            </a:r>
            <a:r>
              <a:rPr lang="zh-CN" altLang="en-US" dirty="0"/>
              <a:t>并且除以</a:t>
            </a:r>
            <a:r>
              <a:rPr lang="en-US" altLang="zh-CN" dirty="0"/>
              <a:t>4</a:t>
            </a:r>
            <a:r>
              <a:rPr lang="zh-CN" altLang="en-US" dirty="0"/>
              <a:t>，化简得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r>
              <a:rPr lang="en-US" altLang="zh-CN" dirty="0"/>
              <a:t>*(1/4)+b</a:t>
            </a:r>
            <a:r>
              <a:rPr lang="en-US" altLang="zh-CN" baseline="-25000" dirty="0"/>
              <a:t>1</a:t>
            </a:r>
            <a:r>
              <a:rPr lang="en-US" altLang="zh-CN" dirty="0"/>
              <a:t>*(1/2)+b2+2b3</a:t>
            </a:r>
            <a:r>
              <a:rPr lang="zh-CN" altLang="en-US" dirty="0"/>
              <a:t>，由此可得只要</a:t>
            </a:r>
            <a:r>
              <a:rPr lang="en-US" altLang="zh-CN" dirty="0"/>
              <a:t>b</a:t>
            </a:r>
            <a:r>
              <a:rPr lang="en-US" altLang="zh-CN" baseline="-25000" dirty="0"/>
              <a:t>0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即可被十进制的</a:t>
            </a:r>
            <a:r>
              <a:rPr lang="en-US" altLang="zh-CN" dirty="0"/>
              <a:t>4</a:t>
            </a:r>
            <a:r>
              <a:rPr lang="zh-CN" altLang="en-US" dirty="0"/>
              <a:t>整除。</a:t>
            </a:r>
            <a:endParaRPr lang="en-US" altLang="zh-CN" dirty="0"/>
          </a:p>
          <a:p>
            <a:r>
              <a:rPr lang="en-US" altLang="zh-CN" dirty="0"/>
              <a:t>1.9</a:t>
            </a:r>
          </a:p>
          <a:p>
            <a:r>
              <a:rPr lang="zh-CN" altLang="en-US" dirty="0"/>
              <a:t>答：</a:t>
            </a:r>
            <a:endParaRPr lang="en-US" altLang="zh-CN" dirty="0"/>
          </a:p>
          <a:p>
            <a:r>
              <a:rPr lang="en-US" altLang="zh-CN" dirty="0"/>
              <a:t>(1).0.1011:</a:t>
            </a:r>
            <a:r>
              <a:rPr lang="zh-CN" altLang="en-US" dirty="0"/>
              <a:t>原码</a:t>
            </a:r>
            <a:r>
              <a:rPr lang="en-US" altLang="zh-CN" dirty="0"/>
              <a:t>=</a:t>
            </a:r>
            <a:r>
              <a:rPr lang="zh-CN" altLang="en-US" dirty="0"/>
              <a:t>反码</a:t>
            </a:r>
            <a:r>
              <a:rPr lang="en-US" altLang="zh-CN" dirty="0"/>
              <a:t>=</a:t>
            </a:r>
            <a:r>
              <a:rPr lang="zh-CN" altLang="en-US" dirty="0"/>
              <a:t>补码</a:t>
            </a:r>
            <a:r>
              <a:rPr lang="en-US" altLang="zh-CN" dirty="0"/>
              <a:t>=0.1011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927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BAD07-B1D6-CF28-B739-5320E593A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83" y="508768"/>
            <a:ext cx="10936834" cy="584046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(2).-10110:</a:t>
            </a:r>
            <a:r>
              <a:rPr lang="zh-CN" altLang="en-US" sz="2400" dirty="0"/>
              <a:t>原码</a:t>
            </a:r>
            <a:r>
              <a:rPr lang="en-US" altLang="zh-CN" sz="2400" dirty="0"/>
              <a:t>:110110 </a:t>
            </a:r>
            <a:r>
              <a:rPr lang="zh-CN" altLang="en-US" sz="2400" dirty="0"/>
              <a:t>反码</a:t>
            </a:r>
            <a:r>
              <a:rPr lang="en-US" altLang="zh-CN" sz="2400" dirty="0"/>
              <a:t>:101001 </a:t>
            </a:r>
            <a:r>
              <a:rPr lang="zh-CN" altLang="en-US" sz="2400" dirty="0"/>
              <a:t>补码</a:t>
            </a:r>
            <a:r>
              <a:rPr lang="en-US" altLang="zh-CN" sz="2400" dirty="0"/>
              <a:t>:101010</a:t>
            </a:r>
          </a:p>
          <a:p>
            <a:r>
              <a:rPr lang="en-US" altLang="zh-CN" sz="2400" dirty="0"/>
              <a:t>1.10</a:t>
            </a:r>
          </a:p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r>
              <a:rPr lang="en-US" altLang="zh-CN" sz="2400" dirty="0"/>
              <a:t>[N]</a:t>
            </a:r>
            <a:r>
              <a:rPr lang="zh-CN" altLang="en-US" sz="2400" baseline="-25000" dirty="0"/>
              <a:t>反</a:t>
            </a:r>
            <a:r>
              <a:rPr lang="en-US" altLang="zh-CN" sz="2400" dirty="0"/>
              <a:t>=1.0101 [N]</a:t>
            </a:r>
            <a:r>
              <a:rPr lang="zh-CN" altLang="en-US" sz="2400" baseline="-25000" dirty="0"/>
              <a:t>原</a:t>
            </a:r>
            <a:r>
              <a:rPr lang="en-US" altLang="zh-CN" sz="2400" dirty="0"/>
              <a:t>=1.1010 N=-0.1010</a:t>
            </a:r>
          </a:p>
          <a:p>
            <a:r>
              <a:rPr lang="en-US" altLang="zh-CN" sz="2400" dirty="0"/>
              <a:t>1.11</a:t>
            </a:r>
          </a:p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r>
              <a:rPr lang="en-US" altLang="zh-CN" sz="2400" dirty="0"/>
              <a:t>(1). (011010000011)</a:t>
            </a:r>
            <a:r>
              <a:rPr lang="zh-CN" altLang="en-US" sz="2400" baseline="-25000" dirty="0"/>
              <a:t>余</a:t>
            </a:r>
            <a:r>
              <a:rPr lang="en-US" altLang="zh-CN" sz="2400" baseline="-25000" dirty="0"/>
              <a:t>3</a:t>
            </a:r>
            <a:r>
              <a:rPr lang="zh-CN" altLang="en-US" sz="2400" baseline="-25000" dirty="0"/>
              <a:t>码</a:t>
            </a:r>
            <a:r>
              <a:rPr lang="en-US" altLang="zh-CN" sz="2400" dirty="0"/>
              <a:t>=(350)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=(001110110000)</a:t>
            </a:r>
            <a:r>
              <a:rPr lang="en-US" altLang="zh-CN" sz="2400" baseline="-25000" dirty="0"/>
              <a:t>2421BCD</a:t>
            </a:r>
          </a:p>
          <a:p>
            <a:r>
              <a:rPr lang="en-US" altLang="zh-CN" sz="2400" dirty="0"/>
              <a:t>(2). (01000101.1001)</a:t>
            </a:r>
            <a:r>
              <a:rPr lang="zh-CN" altLang="en-US" sz="2400" baseline="-25000" dirty="0"/>
              <a:t>余</a:t>
            </a:r>
            <a:r>
              <a:rPr lang="en-US" altLang="zh-CN" sz="2400" baseline="-25000" dirty="0"/>
              <a:t>3</a:t>
            </a:r>
            <a:r>
              <a:rPr lang="zh-CN" altLang="en-US" sz="2400" baseline="-25000" dirty="0"/>
              <a:t>码</a:t>
            </a:r>
            <a:r>
              <a:rPr lang="en-US" altLang="zh-CN" sz="2400" dirty="0"/>
              <a:t>=(12.6)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=(00010010.1100)</a:t>
            </a:r>
            <a:r>
              <a:rPr lang="en-US" altLang="zh-CN" sz="2400" baseline="-25000" dirty="0"/>
              <a:t>2421BCD</a:t>
            </a:r>
          </a:p>
          <a:p>
            <a:r>
              <a:rPr lang="en-US" altLang="zh-CN" sz="2400" dirty="0"/>
              <a:t>1.12</a:t>
            </a:r>
          </a:p>
          <a:p>
            <a:r>
              <a:rPr lang="zh-CN" altLang="en-US" sz="2400" dirty="0"/>
              <a:t>答：</a:t>
            </a:r>
            <a:endParaRPr lang="en-US" altLang="zh-CN" sz="2400" dirty="0"/>
          </a:p>
          <a:p>
            <a:r>
              <a:rPr lang="en-US" altLang="zh-CN" sz="2400" dirty="0"/>
              <a:t>(1).(111110)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=(01100010)</a:t>
            </a:r>
            <a:r>
              <a:rPr lang="en-US" altLang="zh-CN" sz="2400" baseline="-25000" dirty="0"/>
              <a:t>8421BCD</a:t>
            </a:r>
            <a:r>
              <a:rPr lang="en-US" altLang="zh-CN" sz="2400" dirty="0"/>
              <a:t>=(100001)</a:t>
            </a:r>
            <a:r>
              <a:rPr lang="en-US" altLang="zh-CN" sz="2400" baseline="-25000" dirty="0"/>
              <a:t>Gray</a:t>
            </a:r>
          </a:p>
          <a:p>
            <a:r>
              <a:rPr lang="en-US" altLang="zh-CN" sz="2400" dirty="0"/>
              <a:t>(2).(1100110)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=(000100000010)</a:t>
            </a:r>
            <a:r>
              <a:rPr lang="en-US" altLang="zh-CN" sz="2400" baseline="-25000" dirty="0"/>
              <a:t>8421BCD</a:t>
            </a:r>
            <a:r>
              <a:rPr lang="en-US" altLang="zh-CN" sz="2400" dirty="0"/>
              <a:t>=(1010101)</a:t>
            </a:r>
            <a:r>
              <a:rPr lang="en-US" altLang="zh-CN" sz="2400" baseline="-25000" dirty="0"/>
              <a:t>Gray</a:t>
            </a:r>
          </a:p>
        </p:txBody>
      </p:sp>
    </p:spTree>
    <p:extLst>
      <p:ext uri="{BB962C8B-B14F-4D97-AF65-F5344CB8AC3E}">
        <p14:creationId xmlns:p14="http://schemas.microsoft.com/office/powerpoint/2010/main" val="2590135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419</Words>
  <Application>Microsoft Office PowerPoint</Application>
  <PresentationFormat>宽屏</PresentationFormat>
  <Paragraphs>44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Ulmus Lls</dc:creator>
  <cp:lastModifiedBy>Ulmus Lls</cp:lastModifiedBy>
  <cp:revision>5</cp:revision>
  <dcterms:created xsi:type="dcterms:W3CDTF">2024-09-05T13:24:56Z</dcterms:created>
  <dcterms:modified xsi:type="dcterms:W3CDTF">2024-09-07T02:17:36Z</dcterms:modified>
</cp:coreProperties>
</file>