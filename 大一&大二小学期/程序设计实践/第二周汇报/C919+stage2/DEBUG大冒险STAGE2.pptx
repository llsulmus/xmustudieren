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5" r:id="rId3"/>
    <p:sldId id="264" r:id="rId4"/>
    <p:sldId id="456" r:id="rId5"/>
    <p:sldId id="455" r:id="rId6"/>
    <p:sldId id="433" r:id="rId7"/>
    <p:sldId id="443" r:id="rId8"/>
    <p:sldId id="444" r:id="rId9"/>
    <p:sldId id="445" r:id="rId10"/>
    <p:sldId id="446" r:id="rId11"/>
    <p:sldId id="447" r:id="rId12"/>
    <p:sldId id="448" r:id="rId13"/>
    <p:sldId id="454" r:id="rId14"/>
    <p:sldId id="458" r:id="rId15"/>
    <p:sldId id="459" r:id="rId16"/>
    <p:sldId id="450" r:id="rId17"/>
    <p:sldId id="451" r:id="rId18"/>
    <p:sldId id="452" r:id="rId19"/>
    <p:sldId id="453" r:id="rId20"/>
    <p:sldId id="449" r:id="rId21"/>
    <p:sldId id="457" r:id="rId22"/>
    <p:sldId id="460" r:id="rId23"/>
    <p:sldId id="461" r:id="rId24"/>
    <p:sldId id="462" r:id="rId25"/>
    <p:sldId id="428" r:id="rId26"/>
    <p:sldId id="437" r:id="rId27"/>
    <p:sldId id="436" r:id="rId28"/>
    <p:sldId id="429" r:id="rId29"/>
    <p:sldId id="432" r:id="rId30"/>
    <p:sldId id="262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39D"/>
    <a:srgbClr val="76B3E9"/>
    <a:srgbClr val="EDCC87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92" y="224"/>
      </p:cViewPr>
      <p:guideLst>
        <p:guide orient="horz" pos="2216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8EC0E-2A9F-4AB8-87A9-0785BE166EC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2025/6/30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550A7-9FB6-45F7-96D6-6B24BFACAA2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tags" Target="../tags/tag37.xml"/><Relationship Id="rId21" Type="http://schemas.openxmlformats.org/officeDocument/2006/relationships/tags" Target="../tags/tag32.xml"/><Relationship Id="rId34" Type="http://schemas.openxmlformats.org/officeDocument/2006/relationships/tags" Target="../tags/tag45.xml"/><Relationship Id="rId42" Type="http://schemas.openxmlformats.org/officeDocument/2006/relationships/tags" Target="../tags/tag53.xml"/><Relationship Id="rId47" Type="http://schemas.openxmlformats.org/officeDocument/2006/relationships/tags" Target="../tags/tag58.xml"/><Relationship Id="rId50" Type="http://schemas.openxmlformats.org/officeDocument/2006/relationships/tags" Target="../tags/tag61.xml"/><Relationship Id="rId55" Type="http://schemas.openxmlformats.org/officeDocument/2006/relationships/tags" Target="../tags/tag66.xml"/><Relationship Id="rId63" Type="http://schemas.openxmlformats.org/officeDocument/2006/relationships/slideLayout" Target="../slideLayouts/slideLayout7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9" Type="http://schemas.openxmlformats.org/officeDocument/2006/relationships/tags" Target="../tags/tag40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37" Type="http://schemas.openxmlformats.org/officeDocument/2006/relationships/tags" Target="../tags/tag48.xml"/><Relationship Id="rId40" Type="http://schemas.openxmlformats.org/officeDocument/2006/relationships/tags" Target="../tags/tag51.xml"/><Relationship Id="rId45" Type="http://schemas.openxmlformats.org/officeDocument/2006/relationships/tags" Target="../tags/tag56.xml"/><Relationship Id="rId53" Type="http://schemas.openxmlformats.org/officeDocument/2006/relationships/tags" Target="../tags/tag64.xml"/><Relationship Id="rId58" Type="http://schemas.openxmlformats.org/officeDocument/2006/relationships/tags" Target="../tags/tag69.xml"/><Relationship Id="rId66" Type="http://schemas.openxmlformats.org/officeDocument/2006/relationships/image" Target="../media/image23.png"/><Relationship Id="rId5" Type="http://schemas.openxmlformats.org/officeDocument/2006/relationships/tags" Target="../tags/tag16.xml"/><Relationship Id="rId61" Type="http://schemas.openxmlformats.org/officeDocument/2006/relationships/tags" Target="../tags/tag72.xml"/><Relationship Id="rId19" Type="http://schemas.openxmlformats.org/officeDocument/2006/relationships/tags" Target="../tags/tag3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tags" Target="../tags/tag46.xml"/><Relationship Id="rId43" Type="http://schemas.openxmlformats.org/officeDocument/2006/relationships/tags" Target="../tags/tag54.xml"/><Relationship Id="rId48" Type="http://schemas.openxmlformats.org/officeDocument/2006/relationships/tags" Target="../tags/tag59.xml"/><Relationship Id="rId56" Type="http://schemas.openxmlformats.org/officeDocument/2006/relationships/tags" Target="../tags/tag67.xml"/><Relationship Id="rId64" Type="http://schemas.openxmlformats.org/officeDocument/2006/relationships/image" Target="../media/image21.png"/><Relationship Id="rId8" Type="http://schemas.openxmlformats.org/officeDocument/2006/relationships/tags" Target="../tags/tag19.xml"/><Relationship Id="rId51" Type="http://schemas.openxmlformats.org/officeDocument/2006/relationships/tags" Target="../tags/tag62.xml"/><Relationship Id="rId3" Type="http://schemas.openxmlformats.org/officeDocument/2006/relationships/tags" Target="../tags/tag14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38" Type="http://schemas.openxmlformats.org/officeDocument/2006/relationships/tags" Target="../tags/tag49.xml"/><Relationship Id="rId46" Type="http://schemas.openxmlformats.org/officeDocument/2006/relationships/tags" Target="../tags/tag57.xml"/><Relationship Id="rId59" Type="http://schemas.openxmlformats.org/officeDocument/2006/relationships/tags" Target="../tags/tag70.xml"/><Relationship Id="rId67" Type="http://schemas.openxmlformats.org/officeDocument/2006/relationships/image" Target="../media/image24.png"/><Relationship Id="rId20" Type="http://schemas.openxmlformats.org/officeDocument/2006/relationships/tags" Target="../tags/tag31.xml"/><Relationship Id="rId41" Type="http://schemas.openxmlformats.org/officeDocument/2006/relationships/tags" Target="../tags/tag52.xml"/><Relationship Id="rId54" Type="http://schemas.openxmlformats.org/officeDocument/2006/relationships/tags" Target="../tags/tag65.xml"/><Relationship Id="rId62" Type="http://schemas.openxmlformats.org/officeDocument/2006/relationships/tags" Target="../tags/tag7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tags" Target="../tags/tag47.xml"/><Relationship Id="rId49" Type="http://schemas.openxmlformats.org/officeDocument/2006/relationships/tags" Target="../tags/tag60.xml"/><Relationship Id="rId57" Type="http://schemas.openxmlformats.org/officeDocument/2006/relationships/tags" Target="../tags/tag68.xml"/><Relationship Id="rId10" Type="http://schemas.openxmlformats.org/officeDocument/2006/relationships/tags" Target="../tags/tag21.xml"/><Relationship Id="rId31" Type="http://schemas.openxmlformats.org/officeDocument/2006/relationships/tags" Target="../tags/tag42.xml"/><Relationship Id="rId44" Type="http://schemas.openxmlformats.org/officeDocument/2006/relationships/tags" Target="../tags/tag55.xml"/><Relationship Id="rId52" Type="http://schemas.openxmlformats.org/officeDocument/2006/relationships/tags" Target="../tags/tag63.xml"/><Relationship Id="rId60" Type="http://schemas.openxmlformats.org/officeDocument/2006/relationships/tags" Target="../tags/tag71.xml"/><Relationship Id="rId65" Type="http://schemas.openxmlformats.org/officeDocument/2006/relationships/image" Target="../media/image22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9" Type="http://schemas.openxmlformats.org/officeDocument/2006/relationships/tags" Target="../tags/tag5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image" Target="../media/image26.png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image" Target="../media/image25.png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26" Type="http://schemas.openxmlformats.org/officeDocument/2006/relationships/tags" Target="../tags/tag121.xml"/><Relationship Id="rId3" Type="http://schemas.openxmlformats.org/officeDocument/2006/relationships/tags" Target="../tags/tag98.xml"/><Relationship Id="rId21" Type="http://schemas.openxmlformats.org/officeDocument/2006/relationships/tags" Target="../tags/tag116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5" Type="http://schemas.openxmlformats.org/officeDocument/2006/relationships/tags" Target="../tags/tag120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24" Type="http://schemas.openxmlformats.org/officeDocument/2006/relationships/tags" Target="../tags/tag119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23" Type="http://schemas.openxmlformats.org/officeDocument/2006/relationships/tags" Target="../tags/tag118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Relationship Id="rId22" Type="http://schemas.openxmlformats.org/officeDocument/2006/relationships/tags" Target="../tags/tag117.xml"/><Relationship Id="rId27" Type="http://schemas.openxmlformats.org/officeDocument/2006/relationships/tags" Target="../tags/tag1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3193" y="-7503"/>
            <a:ext cx="12198386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82092" y="5071729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53213" y="4114800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7127" y="4798870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1478783" y="-31844"/>
            <a:ext cx="7495" cy="3912781"/>
          </a:xfrm>
          <a:prstGeom prst="line">
            <a:avLst/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5849988" y="2616798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07712" y="2261864"/>
            <a:ext cx="4777270" cy="153888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DEBUG </a:t>
            </a:r>
            <a:r>
              <a:rPr lang="zh-CN" altLang="en-US" sz="5400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大冒险</a:t>
            </a:r>
          </a:p>
          <a:p>
            <a:pPr algn="ctr"/>
            <a:r>
              <a:rPr lang="en-US" altLang="zh-CN" sz="4000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stage2</a:t>
            </a:r>
            <a:r>
              <a:rPr lang="zh-CN" altLang="en-US" sz="4000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汇报</a:t>
            </a:r>
          </a:p>
        </p:txBody>
      </p:sp>
      <p:sp>
        <p:nvSpPr>
          <p:cNvPr id="9" name="矩形 8"/>
          <p:cNvSpPr/>
          <p:nvPr/>
        </p:nvSpPr>
        <p:spPr>
          <a:xfrm>
            <a:off x="5825041" y="3652398"/>
            <a:ext cx="2354580" cy="6451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——C919</a:t>
            </a:r>
          </a:p>
          <a:p>
            <a:pPr algn="ctr"/>
            <a:r>
              <a:rPr lang="zh-CN" altLang="en-US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刘雨晨</a:t>
            </a:r>
            <a:r>
              <a:rPr lang="en-US" altLang="zh-CN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芦思瑶</a:t>
            </a:r>
            <a:r>
              <a:rPr lang="en-US" altLang="zh-CN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r>
              <a:rPr lang="zh-CN" altLang="en-US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刘灵菲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22480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75320" y="5086736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46827" y="4146698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0741" y="4830768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5849988" y="2616798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16660" y="0"/>
            <a:ext cx="0" cy="3391786"/>
          </a:xfrm>
          <a:prstGeom prst="line">
            <a:avLst/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630227" y="819023"/>
            <a:ext cx="364070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en-US" altLang="zh-CN" sz="4800" b="1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CONTENTS</a:t>
            </a:r>
          </a:p>
        </p:txBody>
      </p:sp>
      <p:sp>
        <p:nvSpPr>
          <p:cNvPr id="41" name="文本框 40"/>
          <p:cNvSpPr txBox="1"/>
          <p:nvPr>
            <p:custDataLst>
              <p:tags r:id="rId1"/>
            </p:custDataLst>
          </p:nvPr>
        </p:nvSpPr>
        <p:spPr>
          <a:xfrm>
            <a:off x="2297672" y="1878008"/>
            <a:ext cx="3295317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44739D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主要类的设计</a:t>
            </a:r>
          </a:p>
        </p:txBody>
      </p:sp>
      <p:sp>
        <p:nvSpPr>
          <p:cNvPr id="42" name="文本框 41"/>
          <p:cNvSpPr txBox="1"/>
          <p:nvPr>
            <p:custDataLst>
              <p:tags r:id="rId2"/>
            </p:custDataLst>
          </p:nvPr>
        </p:nvSpPr>
        <p:spPr>
          <a:xfrm>
            <a:off x="2297672" y="2198572"/>
            <a:ext cx="4885992" cy="2571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900" dirty="0">
                <a:solidFill>
                  <a:srgbClr val="626E5F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Main design</a:t>
            </a:r>
          </a:p>
        </p:txBody>
      </p:sp>
      <p:sp>
        <p:nvSpPr>
          <p:cNvPr id="46" name="文本框 45"/>
          <p:cNvSpPr txBox="1"/>
          <p:nvPr>
            <p:custDataLst>
              <p:tags r:id="rId3"/>
            </p:custDataLst>
          </p:nvPr>
        </p:nvSpPr>
        <p:spPr>
          <a:xfrm>
            <a:off x="2297672" y="3923644"/>
            <a:ext cx="340193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44739D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下一阶段规划</a:t>
            </a:r>
          </a:p>
        </p:txBody>
      </p:sp>
      <p:sp>
        <p:nvSpPr>
          <p:cNvPr id="48" name="文本框 47"/>
          <p:cNvSpPr txBox="1"/>
          <p:nvPr>
            <p:custDataLst>
              <p:tags r:id="rId4"/>
            </p:custDataLst>
          </p:nvPr>
        </p:nvSpPr>
        <p:spPr>
          <a:xfrm>
            <a:off x="2297672" y="4244208"/>
            <a:ext cx="4830685" cy="2571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900" dirty="0">
                <a:solidFill>
                  <a:srgbClr val="626E5F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Plan for next stage</a:t>
            </a:r>
          </a:p>
        </p:txBody>
      </p:sp>
      <p:sp>
        <p:nvSpPr>
          <p:cNvPr id="50" name="文本框 49"/>
          <p:cNvSpPr txBox="1"/>
          <p:nvPr>
            <p:custDataLst>
              <p:tags r:id="rId5"/>
            </p:custDataLst>
          </p:nvPr>
        </p:nvSpPr>
        <p:spPr>
          <a:xfrm>
            <a:off x="2297672" y="2900826"/>
            <a:ext cx="2950200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44739D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其他相关进度</a:t>
            </a:r>
          </a:p>
        </p:txBody>
      </p:sp>
      <p:sp>
        <p:nvSpPr>
          <p:cNvPr id="52" name="文本框 51"/>
          <p:cNvSpPr txBox="1"/>
          <p:nvPr>
            <p:custDataLst>
              <p:tags r:id="rId6"/>
            </p:custDataLst>
          </p:nvPr>
        </p:nvSpPr>
        <p:spPr>
          <a:xfrm>
            <a:off x="2297672" y="3221390"/>
            <a:ext cx="4830684" cy="2571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900" dirty="0">
                <a:solidFill>
                  <a:srgbClr val="626E5F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others</a:t>
            </a:r>
          </a:p>
        </p:txBody>
      </p:sp>
      <p:sp>
        <p:nvSpPr>
          <p:cNvPr id="53" name="椭圆 52"/>
          <p:cNvSpPr/>
          <p:nvPr>
            <p:custDataLst>
              <p:tags r:id="rId7"/>
            </p:custDataLst>
          </p:nvPr>
        </p:nvSpPr>
        <p:spPr>
          <a:xfrm>
            <a:off x="1491000" y="1630246"/>
            <a:ext cx="1141290" cy="113665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4000" kern="0" dirty="0">
                <a:solidFill>
                  <a:srgbClr val="44739D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01</a:t>
            </a:r>
            <a:endParaRPr lang="zh-CN" altLang="en-US" sz="4000" kern="0" dirty="0">
              <a:solidFill>
                <a:srgbClr val="44739D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4" name="椭圆 53"/>
          <p:cNvSpPr/>
          <p:nvPr>
            <p:custDataLst>
              <p:tags r:id="rId8"/>
            </p:custDataLst>
          </p:nvPr>
        </p:nvSpPr>
        <p:spPr>
          <a:xfrm>
            <a:off x="1491000" y="2653063"/>
            <a:ext cx="1141290" cy="113665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4000" kern="0" dirty="0">
                <a:solidFill>
                  <a:srgbClr val="44739D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02</a:t>
            </a:r>
            <a:endParaRPr lang="zh-CN" altLang="en-US" sz="4000" kern="0" dirty="0">
              <a:solidFill>
                <a:srgbClr val="44739D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55" name="椭圆 54"/>
          <p:cNvSpPr/>
          <p:nvPr>
            <p:custDataLst>
              <p:tags r:id="rId9"/>
            </p:custDataLst>
          </p:nvPr>
        </p:nvSpPr>
        <p:spPr>
          <a:xfrm>
            <a:off x="1491000" y="3675880"/>
            <a:ext cx="1141290" cy="1136652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zh-CN" sz="4000" kern="0" dirty="0">
                <a:solidFill>
                  <a:srgbClr val="44739D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03</a:t>
            </a:r>
            <a:endParaRPr lang="zh-CN" altLang="en-US" sz="4000" kern="0" dirty="0">
              <a:solidFill>
                <a:srgbClr val="44739D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22480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75320" y="5086736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46827" y="4146698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0741" y="4830768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7950729" y="3189162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7" name="文本框 3"/>
          <p:cNvSpPr txBox="1"/>
          <p:nvPr>
            <p:custDataLst>
              <p:tags r:id="rId1"/>
            </p:custDataLst>
          </p:nvPr>
        </p:nvSpPr>
        <p:spPr>
          <a:xfrm>
            <a:off x="652844" y="1342226"/>
            <a:ext cx="4770506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>
              <a:defRPr/>
            </a:pPr>
            <a:r>
              <a:rPr lang="en-US" altLang="zh-CN" sz="6600" b="1" kern="2200" spc="600" dirty="0">
                <a:solidFill>
                  <a:srgbClr val="4473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RART 01</a:t>
            </a:r>
            <a:endParaRPr lang="zh-CN" altLang="en-US" sz="6600" b="1" kern="2200" spc="600" dirty="0">
              <a:solidFill>
                <a:srgbClr val="44739D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58331" y="2241605"/>
            <a:ext cx="6247502" cy="1014730"/>
          </a:xfrm>
          <a:prstGeom prst="rect">
            <a:avLst/>
          </a:prstGeom>
          <a:solidFill>
            <a:srgbClr val="EDCC87">
              <a:alpha val="2800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zh-CN" altLang="en-US" sz="6000" b="1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主要类的设计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43E2-6CDF-C4DA-EC55-66A03159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47BA5964-5595-95ED-350A-38DA3042EA31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FAE2185-652F-A025-A0CD-3001DAFB49CE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D11BCBE1-86DD-45FD-FDFC-A56A4806F3C0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6235F074-1134-1004-086F-9D4D0004CF48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51368C0C-3BB6-6436-D138-937E157C7A1C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DC09023A-DE25-0FB0-6B42-05094B3769D7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0AC9D20D-88EF-0ADA-7CF0-721999A377D7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9F6A88DD-E022-3C29-584A-5E6B5F2CAC0C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3A62AA1-4028-372C-BA3B-602D24B0508E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76377631-8CA1-6BC3-2580-B1D87F14C71D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C9D2F35A-345E-F53D-9443-758A8B4270DD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9F124127-92A2-7B3A-81E1-AAE82D63A456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43E9CBF5-6AD4-6108-8EDA-3F477ED5FFCE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F1BC4538-97CE-C2B1-8EB0-545B555E452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6168F2B5-1BDF-FFC2-90A4-F90A2C23DDAE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474D453-99CD-1AE5-B16A-DD1573F1943D}"/>
              </a:ext>
            </a:extLst>
          </p:cNvPr>
          <p:cNvSpPr txBox="1"/>
          <p:nvPr/>
        </p:nvSpPr>
        <p:spPr>
          <a:xfrm>
            <a:off x="867056" y="510032"/>
            <a:ext cx="9539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基于问题的回答而设计：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游戏的主循环应该如何设计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（基于消息（事件）的程序运行机制）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键盘和鼠标事件如何处理？（用户输入）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如何显示对象？（刷新机制）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对象如何管理？（游戏对象管理类）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类的设计步骤，和基本设计原则（方法、属性和关系）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84C61C-D929-E35F-27F3-38FDFF8881DE}"/>
              </a:ext>
            </a:extLst>
          </p:cNvPr>
          <p:cNvSpPr txBox="1"/>
          <p:nvPr/>
        </p:nvSpPr>
        <p:spPr>
          <a:xfrm>
            <a:off x="780524" y="2302125"/>
            <a:ext cx="1038585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1.</a:t>
            </a:r>
            <a:r>
              <a:rPr lang="zh-CN" altLang="en-US" dirty="0"/>
              <a:t>核心结构：初始化 → 事件循环（事件处理 → 逻辑更新 → 画面渲染）→ 循环终止。</a:t>
            </a:r>
          </a:p>
          <a:p>
            <a:r>
              <a:rPr lang="zh-CN" altLang="en-US" dirty="0"/>
              <a:t>消息机制：通过消息队列收集用户输入、系统通知等事件，按优先级处理</a:t>
            </a:r>
            <a:endParaRPr lang="en-US" altLang="zh-CN" dirty="0"/>
          </a:p>
          <a:p>
            <a:r>
              <a:rPr lang="zh-CN" altLang="en-US" dirty="0"/>
              <a:t>帧率控制：使用定时器或时间差（</a:t>
            </a:r>
            <a:r>
              <a:rPr lang="en-US" altLang="zh-CN" dirty="0"/>
              <a:t>delta time</a:t>
            </a:r>
            <a:r>
              <a:rPr lang="zh-CN" altLang="en-US" dirty="0"/>
              <a:t>）确保循环稳定，避免 </a:t>
            </a:r>
            <a:r>
              <a:rPr lang="en-US" altLang="zh-CN" dirty="0"/>
              <a:t>CPU </a:t>
            </a:r>
            <a:r>
              <a:rPr lang="zh-CN" altLang="en-US" dirty="0"/>
              <a:t>过载。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2.</a:t>
            </a:r>
            <a:r>
              <a:rPr lang="zh-CN" altLang="en-US" dirty="0"/>
              <a:t>监听方式：键盘：监听按键按下（</a:t>
            </a:r>
            <a:r>
              <a:rPr lang="en-US" altLang="zh-CN" dirty="0"/>
              <a:t>Key Down</a:t>
            </a:r>
            <a:r>
              <a:rPr lang="zh-CN" altLang="en-US" dirty="0"/>
              <a:t>）、释放（</a:t>
            </a:r>
            <a:r>
              <a:rPr lang="en-US" altLang="zh-CN" dirty="0" err="1"/>
              <a:t>KeyUp</a:t>
            </a:r>
            <a:r>
              <a:rPr lang="zh-CN" altLang="en-US" dirty="0"/>
              <a:t>）、重复（</a:t>
            </a:r>
            <a:r>
              <a:rPr lang="en-US" altLang="zh-CN" dirty="0" err="1"/>
              <a:t>KeyRepeat</a:t>
            </a:r>
            <a:r>
              <a:rPr lang="zh-CN" altLang="en-US" dirty="0"/>
              <a:t>）事件，记录按键状态。</a:t>
            </a:r>
            <a:endParaRPr lang="en-US" altLang="zh-CN" dirty="0"/>
          </a:p>
          <a:p>
            <a:r>
              <a:rPr lang="zh-CN" altLang="en-US" dirty="0"/>
              <a:t>鼠标：监听点击、移动、滚轮事件，获取坐标位置、按键状态（左 </a:t>
            </a:r>
            <a:r>
              <a:rPr lang="en-US" altLang="zh-CN" dirty="0"/>
              <a:t>/ </a:t>
            </a:r>
            <a:r>
              <a:rPr lang="zh-CN" altLang="en-US" dirty="0"/>
              <a:t>中 </a:t>
            </a:r>
            <a:r>
              <a:rPr lang="en-US" altLang="zh-CN" dirty="0"/>
              <a:t>/ </a:t>
            </a:r>
            <a:r>
              <a:rPr lang="zh-CN" altLang="en-US" dirty="0"/>
              <a:t>右键）。</a:t>
            </a:r>
          </a:p>
          <a:p>
            <a:r>
              <a:rPr lang="zh-CN" altLang="en-US" dirty="0"/>
              <a:t>输入映射：将原始输入映射为游戏指令。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3.</a:t>
            </a:r>
            <a:r>
              <a:rPr lang="zh-CN" altLang="en-US" dirty="0"/>
              <a:t>双缓冲技术：在后台缓冲区渲染对象，完成后一次性切换到前台，避免画面闪烁。</a:t>
            </a:r>
          </a:p>
          <a:p>
            <a:r>
              <a:rPr lang="zh-CN" altLang="en-US" dirty="0"/>
              <a:t>渲染顺序：按图层（背景、角色、</a:t>
            </a:r>
            <a:r>
              <a:rPr lang="en-US" altLang="zh-CN" dirty="0"/>
              <a:t>UI</a:t>
            </a:r>
            <a:r>
              <a:rPr lang="zh-CN" altLang="en-US" dirty="0"/>
              <a:t>）分层渲染，确保遮挡关系正确。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4.</a:t>
            </a:r>
            <a:r>
              <a:rPr lang="zh-CN" altLang="en-US" dirty="0"/>
              <a:t>数据结构：使用集合（如列表、字典）存储所有对象，通过 </a:t>
            </a:r>
            <a:r>
              <a:rPr lang="en-US" altLang="zh-CN" dirty="0"/>
              <a:t>ID </a:t>
            </a:r>
            <a:r>
              <a:rPr lang="zh-CN" altLang="en-US" dirty="0"/>
              <a:t>或类型分类管理。</a:t>
            </a:r>
          </a:p>
          <a:p>
            <a:r>
              <a:rPr lang="zh-CN" altLang="en-US" dirty="0"/>
              <a:t>生命周期：对象创建、更新（逻辑与状态）、渲染、销毁的统一流程控制。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5.</a:t>
            </a:r>
            <a:r>
              <a:rPr lang="zh-CN" altLang="en-US" dirty="0"/>
              <a:t>需求分析：确定类的职责（如玩家类、敌人类、场景类）。</a:t>
            </a:r>
          </a:p>
          <a:p>
            <a:r>
              <a:rPr lang="zh-CN" altLang="en-US" dirty="0"/>
              <a:t>定义属性：封装数据（如角色血量、位置）。</a:t>
            </a:r>
          </a:p>
          <a:p>
            <a:r>
              <a:rPr lang="zh-CN" altLang="en-US" dirty="0"/>
              <a:t>定义方法：实现行为（如移动、攻击）。</a:t>
            </a:r>
          </a:p>
          <a:p>
            <a:r>
              <a:rPr lang="zh-CN" altLang="en-US" dirty="0"/>
              <a:t>建立关系：确定继承、组合、关联等关系（如 </a:t>
            </a:r>
            <a:r>
              <a:rPr lang="en-US" altLang="zh-CN" dirty="0"/>
              <a:t>NPC </a:t>
            </a:r>
            <a:r>
              <a:rPr lang="zh-CN" altLang="en-US" dirty="0"/>
              <a:t>类继承自角色基类）</a:t>
            </a:r>
          </a:p>
        </p:txBody>
      </p:sp>
    </p:spTree>
    <p:extLst>
      <p:ext uri="{BB962C8B-B14F-4D97-AF65-F5344CB8AC3E}">
        <p14:creationId xmlns:p14="http://schemas.microsoft.com/office/powerpoint/2010/main" val="342490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C355-FB31-39FF-48CD-3C44EC1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E5E29316-5E68-2D77-1DB9-685A8749F1EF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FAF278-F2EA-1C6B-608A-5909BDB855B4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D11AC372-831B-181F-E1D6-EDEC921A330E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86D10132-7583-B6F6-0F07-5A5F9FA4FEE8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07CD70B2-C5EC-80D1-34A7-D4C0D41B6DD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ABA75D05-D094-9142-261D-682165FE745E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60225926-93C8-ACFB-9E7D-36084368ACC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32724728-7861-1175-66F6-FD474D1500C0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24260C3-FA4B-DB3C-145E-12FCC2B26BDD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EEF5BA7A-7626-7F08-914A-C616B66BA64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7CBDAB53-A68C-8E61-4705-D6CFE177172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8D8A0538-531A-2E07-4995-DE7C63429C10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E5E56739-F453-10F4-7F6E-3CD845B0BBA4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C89F90B1-2F82-077D-EED6-EC410F8C7540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6E777CCE-E491-1F28-2E84-08341F135A9B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33EBBE7-3D7E-279D-56F4-6EE632649A05}"/>
              </a:ext>
            </a:extLst>
          </p:cNvPr>
          <p:cNvSpPr txBox="1"/>
          <p:nvPr/>
        </p:nvSpPr>
        <p:spPr>
          <a:xfrm>
            <a:off x="848520" y="690698"/>
            <a:ext cx="95394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目前框架：</a:t>
            </a:r>
          </a:p>
          <a:p>
            <a:r>
              <a:rPr lang="en-US" altLang="zh-CN" dirty="0" err="1"/>
              <a:t>DebugAdventure</a:t>
            </a:r>
            <a:r>
              <a:rPr lang="en-US" altLang="zh-CN" dirty="0"/>
              <a:t>/</a:t>
            </a:r>
          </a:p>
          <a:p>
            <a:r>
              <a:rPr lang="en-US" altLang="zh-CN" dirty="0"/>
              <a:t>├── include/</a:t>
            </a:r>
          </a:p>
          <a:p>
            <a:r>
              <a:rPr lang="en-US" altLang="zh-CN" dirty="0"/>
              <a:t>│   ├── </a:t>
            </a:r>
            <a:r>
              <a:rPr lang="en-US" altLang="zh-CN" dirty="0" err="1"/>
              <a:t>Game.h</a:t>
            </a:r>
            <a:endParaRPr lang="en-US" altLang="zh-CN" dirty="0"/>
          </a:p>
          <a:p>
            <a:r>
              <a:rPr lang="en-US" altLang="zh-CN" dirty="0"/>
              <a:t>│   ├── </a:t>
            </a:r>
            <a:r>
              <a:rPr lang="en-US" altLang="zh-CN" dirty="0" err="1"/>
              <a:t>Ground.h</a:t>
            </a:r>
            <a:endParaRPr lang="en-US" altLang="zh-CN" dirty="0"/>
          </a:p>
          <a:p>
            <a:r>
              <a:rPr lang="en-US" altLang="zh-CN" dirty="0"/>
              <a:t>│   ├── </a:t>
            </a:r>
            <a:r>
              <a:rPr lang="en-US" altLang="zh-CN" dirty="0" err="1"/>
              <a:t>Obstacle.h</a:t>
            </a:r>
            <a:endParaRPr lang="en-US" altLang="zh-CN" dirty="0"/>
          </a:p>
          <a:p>
            <a:r>
              <a:rPr lang="en-US" altLang="zh-CN" dirty="0"/>
              <a:t>│   ├── </a:t>
            </a:r>
            <a:r>
              <a:rPr lang="en-US" altLang="zh-CN" dirty="0" err="1"/>
              <a:t>Player.h</a:t>
            </a:r>
            <a:endParaRPr lang="en-US" altLang="zh-CN" dirty="0"/>
          </a:p>
          <a:p>
            <a:r>
              <a:rPr lang="en-US" altLang="zh-CN" dirty="0"/>
              <a:t>│   ├── </a:t>
            </a:r>
            <a:r>
              <a:rPr lang="en-US" altLang="zh-CN" dirty="0" err="1"/>
              <a:t>Config.h</a:t>
            </a:r>
            <a:endParaRPr lang="en-US" altLang="zh-CN" dirty="0"/>
          </a:p>
          <a:p>
            <a:r>
              <a:rPr lang="en-US" altLang="zh-CN" dirty="0"/>
              <a:t>│   └── </a:t>
            </a:r>
            <a:r>
              <a:rPr lang="en-US" altLang="zh-CN" dirty="0" err="1"/>
              <a:t>Start.h</a:t>
            </a:r>
            <a:endParaRPr lang="en-US" altLang="zh-CN" dirty="0"/>
          </a:p>
          <a:p>
            <a:r>
              <a:rPr lang="en-US" altLang="zh-CN" dirty="0"/>
              <a:t>├── </a:t>
            </a:r>
            <a:r>
              <a:rPr lang="en-US" altLang="zh-CN" dirty="0" err="1"/>
              <a:t>src</a:t>
            </a:r>
            <a:r>
              <a:rPr lang="en-US" altLang="zh-CN" dirty="0"/>
              <a:t>/</a:t>
            </a:r>
          </a:p>
          <a:p>
            <a:r>
              <a:rPr lang="en-US" altLang="zh-CN" dirty="0"/>
              <a:t>│   ├── main.cpp</a:t>
            </a:r>
          </a:p>
          <a:p>
            <a:r>
              <a:rPr lang="en-US" altLang="zh-CN" dirty="0"/>
              <a:t>│   ├── Game.cpp</a:t>
            </a:r>
          </a:p>
          <a:p>
            <a:r>
              <a:rPr lang="en-US" altLang="zh-CN" dirty="0"/>
              <a:t>│   ├── Player.cpp</a:t>
            </a:r>
          </a:p>
          <a:p>
            <a:r>
              <a:rPr lang="en-US" altLang="zh-CN" dirty="0"/>
              <a:t>│   ├── Ground.cpp</a:t>
            </a:r>
          </a:p>
          <a:p>
            <a:r>
              <a:rPr lang="en-US" altLang="zh-CN" dirty="0"/>
              <a:t>│   ├── Obstacle.cpp</a:t>
            </a:r>
          </a:p>
          <a:p>
            <a:r>
              <a:rPr lang="en-US" altLang="zh-CN" dirty="0"/>
              <a:t>│   └── Start.cpp</a:t>
            </a:r>
          </a:p>
          <a:p>
            <a:r>
              <a:rPr lang="en-US" altLang="zh-CN" dirty="0"/>
              <a:t>├── res/</a:t>
            </a:r>
          </a:p>
          <a:p>
            <a:r>
              <a:rPr lang="en-US" altLang="zh-CN" dirty="0"/>
              <a:t>│   ├── background.png</a:t>
            </a:r>
          </a:p>
          <a:p>
            <a:r>
              <a:rPr lang="en-US" altLang="zh-CN" dirty="0"/>
              <a:t>│   ├── player.png</a:t>
            </a:r>
          </a:p>
          <a:p>
            <a:r>
              <a:rPr lang="en-US" altLang="zh-CN" dirty="0"/>
              <a:t>└── README.md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734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395639" y="0"/>
            <a:ext cx="5796362" cy="6858000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4D41085-CB1F-851E-3193-E9433237A61E}"/>
              </a:ext>
            </a:extLst>
          </p:cNvPr>
          <p:cNvSpPr txBox="1"/>
          <p:nvPr/>
        </p:nvSpPr>
        <p:spPr>
          <a:xfrm>
            <a:off x="498084" y="776124"/>
            <a:ext cx="491111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游戏初始化：创建游戏窗口、玩家角色、地面，并加载背景纹理。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游戏循环：通过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run()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方法实现包含事件处理、更新和渲染的主循环。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障碍物生成：按随机时间间隔生成障碍物，这些障碍物会从右向左移动。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游戏状态管理：目前只有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"Playing" 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资源管理：加载并使用背景图片作为游戏背景。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0FCBD0D-DE04-6D2F-0919-995F94498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281829"/>
            <a:ext cx="4549856" cy="21070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8E27C7-24A6-DB67-AEFC-E937902D5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2530450"/>
            <a:ext cx="4594340" cy="14669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F17961D-6039-EC4C-D6AD-9DEDA78A0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4138959"/>
            <a:ext cx="2590933" cy="34926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384268B-6298-4EE1-5F25-70321EC465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4629811"/>
            <a:ext cx="3073558" cy="28576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A36E1D3-A7FA-0112-D414-7483C4FBCF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5024402"/>
            <a:ext cx="2895749" cy="27306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839F935-0C57-D4D6-D29D-BEEC83E61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076" y="5408707"/>
            <a:ext cx="2692538" cy="2540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DE6A-47F1-CA8E-D1F2-5A54B745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FACE5A83-F698-9F99-317B-A26FEE2D4B69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6452DCED-A9E5-534C-563A-474180DED1E4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BA0FF6-BC0B-7A60-D407-6D30B2CBE416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17B5153C-2BDB-1223-3DBE-6111EDD0A74E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2CC6B6B9-B064-FEC2-1600-8BB829E4B1B3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EB10D5B0-29DA-9DA7-57CB-F92E84EDB92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DA99CC11-8315-4458-B0CC-0627826BE919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450A5ECB-2B3C-0A3F-011F-1232EADF7522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9F7AFD2E-2432-5D2F-189B-75F5043FB849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12E1F7E-A3FB-9CD9-2491-6742BDE85412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B269D725-6381-2F13-9469-A656C3C77DB5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09BE7D82-D966-B987-D0F9-51E4338F973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3C26F19B-77AF-AA81-39A5-C7C34A1D2492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BAD819E5-310B-E964-CDCF-BF4371CC9DC3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C528DDAB-46EB-B2CB-510D-3B0795EA02C6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CA598E5E-AE28-EF25-EF3B-4B16D3317A89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F067D1E-0016-6F98-4C92-857C96E82F6A}"/>
              </a:ext>
            </a:extLst>
          </p:cNvPr>
          <p:cNvSpPr txBox="1"/>
          <p:nvPr/>
        </p:nvSpPr>
        <p:spPr>
          <a:xfrm>
            <a:off x="570433" y="1213007"/>
            <a:ext cx="364089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初始化游戏窗口、玩家、地面和游戏状态。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设置帧率上限为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帧每秒。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加载背景纹理，若失败则抛出异常。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初始化随机障碍物生成时间。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6A9A5B9-B19B-598C-B1F7-01A8BD1B3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041" y="1510413"/>
            <a:ext cx="7417848" cy="343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39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347E-2196-E3E3-2CA2-5684D347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12B7C788-84B5-81F7-5F94-0F7A1D33DA63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E5DDBD97-7357-7E19-49FE-D7D5D0278D3F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3E2619-49AE-C578-B7E5-DF325530DF95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BEFAACCF-9EA4-4F95-4E0B-1CB39D267E4C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328B1F6D-4C1A-B608-D2BA-535C31122CF8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AACBFB33-1506-8D20-2692-E7CCF2CFC717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35D47DA8-1AB9-8524-5026-032CB657AE85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EA9D207A-BE52-2F6E-C490-F9F765DFAD2E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5314FE9E-CBB4-5D3E-36A5-5FD65F25D743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363BE0B-694F-CE70-5C1D-DE91182E8111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87522633-70F8-0177-08CC-DB71C010B06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F4073917-822F-7D31-FDB2-095EED00D11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EC01D690-2F91-037E-9FCC-7C1A523CD56D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47C44FA1-09C6-6A24-6F3D-EA05A404458F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963E64A8-8357-16B9-188A-18C47D23AAB0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7B644951-3775-2F1B-3564-D21033C89968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1436850-FF7C-74BD-2559-FDD025A5164A}"/>
              </a:ext>
            </a:extLst>
          </p:cNvPr>
          <p:cNvSpPr txBox="1"/>
          <p:nvPr/>
        </p:nvSpPr>
        <p:spPr>
          <a:xfrm>
            <a:off x="570433" y="1213007"/>
            <a:ext cx="36408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随机时间生成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1.generateRandomTime()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函数使用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C++11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的随机数库生成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秒之间的随机浮点数。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使用静态随机数生成器确保随机性。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7CD51E-349A-1978-B5F3-AD75CA7A3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994" y="1651979"/>
            <a:ext cx="6266094" cy="20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20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87E1-2EDE-557F-8E1F-6EB3124A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FE04652C-756B-10F4-800E-903457594F6D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5172EAFD-6939-1AB2-3C6E-C8CBE56C00AF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9523CD-F061-288E-E4B2-8C0B78539480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64C99999-5C67-F817-CFE1-E55331C4E61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61C8AD63-B6D7-EBF6-A172-8D1CF91A1632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FF45A227-FCD4-91EA-BA64-AD915062ED6D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C9495560-506F-2377-7344-789331661331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299DE68E-5138-22F3-55A4-938A9865C186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BCCB7E58-2931-3346-B4D2-145EC0EF8CF0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E38B329-AE7F-111D-4C6E-4FD6D8E93ED0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3D1DF786-EDD2-6B7A-D2B0-DF40C854A6D4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DD07F2B6-EF53-5732-5CC6-60E67CE38B4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1AF0E8BA-A53C-5AF4-F509-72F77456ED1E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2CE42DC7-B594-9798-326A-8204C9363933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BED3DED9-40BA-BDD7-71B4-88D495FD7B58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EDE7F8E0-FD2F-B88B-1B6A-2657C0B8D78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604F3EE-F1DB-58A6-0FB8-2B541A21B839}"/>
              </a:ext>
            </a:extLst>
          </p:cNvPr>
          <p:cNvSpPr txBox="1"/>
          <p:nvPr/>
        </p:nvSpPr>
        <p:spPr>
          <a:xfrm>
            <a:off x="570433" y="1213007"/>
            <a:ext cx="364089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游戏循环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run()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方法中实现，包含事件处理、更新和渲染三个主要部分。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delta time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）确保游戏在不同性能的设备上表现一致。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8FC70B-6A7F-2439-1BA8-6905B56C1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727" y="1386458"/>
            <a:ext cx="7200124" cy="280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4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D66F6-5686-B877-1A30-7528336CF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1878EC5C-702F-0BA2-B05D-9D32EFBA169F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9BA66F5C-874E-7FA6-DC14-A0B6253F3524}"/>
              </a:ext>
            </a:extLst>
          </p:cNvPr>
          <p:cNvSpPr/>
          <p:nvPr/>
        </p:nvSpPr>
        <p:spPr>
          <a:xfrm>
            <a:off x="-39102" y="2827216"/>
            <a:ext cx="12221980" cy="406769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902B272-5D60-9946-88DB-7611CCDA119F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D069193C-1832-F251-3FC9-862E73C62CE1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DE49D3BA-5107-F876-2377-3AD31D47D88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252F0050-F665-31D6-FB68-866482745A62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40052D27-25A4-047C-0D4B-42C7DC8E190A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4A247889-DD2C-0EA0-898C-4C3DB0B6032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CDEBA124-12AD-820B-2413-2A8E39EAF99A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2D03117-3D8A-AD48-09D5-FF40D3E46505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DAAF096A-F75D-9A93-A135-FB4D423A9478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177516BA-A6EA-E9B7-66D7-606F8D3BBBF6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45FA6380-6849-6B8A-82FD-9760DE1522A2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13C2026F-FF22-5BBA-2C95-2A6FEC2824A9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4F747757-AF11-F74C-FB44-5366BDB6B576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A7B44EA0-94F4-958C-F827-1FC1EF177329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03C427C3-A886-94E8-7FF7-8D10225BEAEE}"/>
              </a:ext>
            </a:extLst>
          </p:cNvPr>
          <p:cNvSpPr txBox="1"/>
          <p:nvPr/>
        </p:nvSpPr>
        <p:spPr>
          <a:xfrm>
            <a:off x="889401" y="770403"/>
            <a:ext cx="106601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processEvents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方法处理窗口关闭事件，未来可扩展为处理键盘、鼠标输入等。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41EE21-360C-9787-3836-25FFF4C1A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16" y="3481159"/>
            <a:ext cx="10372367" cy="18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80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8CB4-3639-8887-34A1-FDC11F67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CA70DC21-EF43-309D-27B2-F83AAAD55176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1046A09E-2DB2-C8BE-928B-2D59C32361AF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61B35E-A0D1-645A-495F-7CD52ADA5964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6DCE4340-8822-30A3-A786-57DEED5AE5AC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F6E51551-2BEB-33BD-7CA1-95AB382196D5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D38E93CD-FDF2-DF6F-138E-C0E6C2FEE42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7F723932-38F0-9DDA-68E8-DB37B2B6599C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6F2EFF8B-C8DF-E145-AE2C-B03587D58A3A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C2F1295F-55F3-ED61-2E3B-42AC96961F66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0F95E65-AB70-2681-5784-EE3CAFC7AC00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B87F31AD-9E52-B405-4023-4A99BE351E78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9804FACD-52EC-092C-2CDC-C962E7406E4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9E804E8D-1EEB-374A-4708-FCAA5E49CCE4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E5120CCA-8131-5D38-F45F-C11DBC876113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85FB2049-4D9D-9019-E5F2-FA50A978241F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96D24186-B89C-A1F8-5BFD-8001FAFC1441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DFEBA83-D53B-93F4-081E-565EC294B5EB}"/>
              </a:ext>
            </a:extLst>
          </p:cNvPr>
          <p:cNvSpPr txBox="1"/>
          <p:nvPr/>
        </p:nvSpPr>
        <p:spPr>
          <a:xfrm>
            <a:off x="570433" y="1213007"/>
            <a:ext cx="36408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更新逻辑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更新玩家、地面和所有障碍物的状态。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移除移出屏幕的障碍物以优化性能。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基于计时器和随机时间生成新障碍物。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632461-C7A1-0837-EAC2-F6CA6C60F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224" y="517112"/>
            <a:ext cx="6159817" cy="5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0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D70E-0908-ECC9-EF94-8CC27227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C498B236-C59C-622F-5CBF-8701EF9B879C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BAC2F69B-112E-A862-DCC0-132BC1AB05A6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B47331-DB0D-3B46-9D10-95676F1F1510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7C764179-C518-6584-EBF7-2F482BD653DB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98857DB1-3405-410C-E48A-70B9F486E9BB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F767D821-801E-3AFB-DC93-51BBA7ABA91F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2E55B390-6E30-B714-ED79-3553F9408DC5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D4A9E8ED-7974-7BDD-C7D7-43079E2003A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2D9B99FE-3B53-DAD0-E3E7-B467CEB98E1F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311FBAF-B96E-E5FE-3AE2-1CD059C8C9A0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DCDA10BE-7E77-B6D0-7E45-017AD25A70CF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E78E0D28-AAC1-910D-96D1-5B87EBD40241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8D6F2FE6-1933-61F8-4A90-04C3D593E59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7EBB9C79-242C-A471-91DE-60BBAC00A6C0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DF5395E2-32C9-B48F-FF6B-10B4FB30AB78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06C37713-C3DA-272F-E6DC-8D6E28FD8570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E224C0E2-FD6B-82F6-8B83-B1A8282E54E1}"/>
              </a:ext>
            </a:extLst>
          </p:cNvPr>
          <p:cNvSpPr txBox="1"/>
          <p:nvPr/>
        </p:nvSpPr>
        <p:spPr>
          <a:xfrm>
            <a:off x="570433" y="1213007"/>
            <a:ext cx="364089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Game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渲染逻辑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清空窗口，绘制背景、地面、玩家和所有障碍物。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使用临时精灵对象绘制背景，避免存储额外的精灵成员变量。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F24A61-2C8C-A70C-836B-6EEDC1B49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672" y="1868611"/>
            <a:ext cx="7463739" cy="203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40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ABD9-ACE3-7A09-A9DB-0124B5EAD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A29CAD8B-5A0B-22DA-E9A3-1513D5FB8D27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063769DB-38C2-B045-D2AF-A2950B85FEEA}"/>
              </a:ext>
            </a:extLst>
          </p:cNvPr>
          <p:cNvSpPr/>
          <p:nvPr/>
        </p:nvSpPr>
        <p:spPr>
          <a:xfrm>
            <a:off x="6395639" y="0"/>
            <a:ext cx="5796362" cy="6858000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3ECDA42-12A8-911A-964D-149D5D2B628E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53771431-3BC4-AA3F-5866-6997C9D07420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CCFDE89D-C4D1-0CDF-0608-F58E1C66FADA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5F0E2503-F80C-0109-D97A-420FE6049E31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724E3A75-9DAC-9B15-BED0-FAA8572D4D0B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F709B0C2-2BB2-C325-CF53-61C7994E3D60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E402DA59-D3D1-6A71-B1DA-4E13F9A5BC44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A18E7D7-5C47-03AB-0A4C-231069126D8E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1D725D7B-1235-AF74-79CD-98B35B3325D1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DD3C0235-48FE-9983-2208-60CC805BB726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B2B242CB-BEBA-82BA-D0AD-965695665E50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FF827B78-A488-E3B8-CB70-14B27C93C11B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97698FA6-DF54-74DD-D327-8BC2CE8F89F3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373D8591-7A19-0D17-CC86-333258C719F8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A00D7F9-002C-3BB4-DA38-CA59B1A8A42E}"/>
              </a:ext>
            </a:extLst>
          </p:cNvPr>
          <p:cNvSpPr txBox="1"/>
          <p:nvPr/>
        </p:nvSpPr>
        <p:spPr>
          <a:xfrm>
            <a:off x="498084" y="776124"/>
            <a:ext cx="49111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Player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玩家初始化：加载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玩家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纹理图片，创建矩形形状并设置初始位置。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跳跃机制：通过空格键触发跳跃，实现受重力影响的抛物线运动。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碰撞检测：检测玩家与地面的碰撞，防止玩家掉落。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物理模拟：应用重力加速度和速度更新玩家位置。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340A74-0C7D-DD0B-448A-1CB881CB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162" y="787397"/>
            <a:ext cx="5283472" cy="259728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EBF4BB-180A-6E64-C660-9D1A75ED38FD}"/>
              </a:ext>
            </a:extLst>
          </p:cNvPr>
          <p:cNvSpPr txBox="1"/>
          <p:nvPr/>
        </p:nvSpPr>
        <p:spPr>
          <a:xfrm>
            <a:off x="6703541" y="3774989"/>
            <a:ext cx="5183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void Player::update(float dt, const Ground&amp; ground, </a:t>
            </a:r>
            <a:r>
              <a:rPr lang="en-US" altLang="zh-CN" dirty="0" err="1">
                <a:solidFill>
                  <a:schemeClr val="bg1"/>
                </a:solidFill>
              </a:rPr>
              <a:t>PlayerState</a:t>
            </a:r>
            <a:r>
              <a:rPr lang="en-US" altLang="zh-CN" dirty="0">
                <a:solidFill>
                  <a:schemeClr val="bg1"/>
                </a:solidFill>
              </a:rPr>
              <a:t> state);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…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13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ECAD3-8963-69C1-23C0-606A1B76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B14D9A19-345D-4715-1F3A-DFB77993A70D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73134AF2-D2D7-C831-6054-5B6CAD811259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F2F95C-BF1C-B370-77C2-702087EBB664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04C321BF-6BB1-0CC9-62A1-646E9DE62C92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811CDF46-2013-0823-090A-8C20E1EC5AA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9494FB26-DFE7-55A7-E809-2DEF1ABEA45C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725C7A63-3F8A-2108-F8D1-CA43AAA4D228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6EAA1B21-D6E0-6739-6D4D-853CEBBCAB10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B796B1B7-D4C3-FD08-6D11-0E43CDA29BF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D65D0F8-A2DF-78A4-B5D2-BBC1EB9B64A5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445567A0-5392-8991-7335-1E882B0851A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63D71988-56BE-6CC9-6834-7FB4D0198595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69D9CDE0-FEC7-3A2D-BA8B-68480240601E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38D29C0F-DDF0-05D5-964F-774E555C492D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A05E8180-DDFB-C1A6-C91A-9441EF683281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4E9FA56D-A598-C449-891E-130C600B4EAC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54A78FB6-94D6-E739-AD22-4906FAEF75B2}"/>
              </a:ext>
            </a:extLst>
          </p:cNvPr>
          <p:cNvSpPr txBox="1"/>
          <p:nvPr/>
        </p:nvSpPr>
        <p:spPr>
          <a:xfrm>
            <a:off x="570433" y="1213007"/>
            <a:ext cx="36408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Player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加载玩家纹理图片，若失败则抛出异常。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50×50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像素的矩形作为玩家碰撞体，设置原点为中心。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纹理应用到矩形上，并设置初始位置。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6A8EC4-20F5-9850-0E4F-D82BF1558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795" y="1106748"/>
            <a:ext cx="6596663" cy="324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23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FE86C-8218-65C7-DBCF-FCEF4444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6D0BBF62-9B78-CD31-1B2F-58B375F2F06D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0852036F-82D8-1C64-719A-9578FCCC95B3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64602E-4908-6613-0901-E6C7752169A1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27078F85-6867-F870-03F5-ABBE6C1609AC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B291DD83-2BFA-9EBE-15CD-52197EDB751B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7981DED9-7CD8-CFFC-C36A-E2032540C91E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3B1106A3-97D2-1E56-D7B6-776C185A5597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CB8499A4-7DEC-8401-398B-AE45C5831387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66C3240A-3347-1796-0E14-6BA15778F9D2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8EC334DB-7CEC-B362-8C31-C521DAC2C73A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896420B4-C4E8-7761-9222-D57820856DEE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7ACD1E33-1A00-48D0-340A-FFC419DDE1A4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A86DEC20-81DA-1FCE-21C6-DB9FC2B3EDD3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D7CFF59D-CDE7-6226-E73A-EEC73DD0FED8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98E03BAD-A1FC-23E0-7B6E-EB7AB86C38F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44DD1622-5E1B-AAD9-6079-D34078CFA053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47F9D02-BEA9-ACA7-AAE8-21029E3B16B0}"/>
              </a:ext>
            </a:extLst>
          </p:cNvPr>
          <p:cNvSpPr txBox="1"/>
          <p:nvPr/>
        </p:nvSpPr>
        <p:spPr>
          <a:xfrm>
            <a:off x="570433" y="712558"/>
            <a:ext cx="36408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Player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更新逻辑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物理参数：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gravity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：重力加速度，默认值为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GRAVITY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（代码中未显示具体值）。</a:t>
            </a:r>
          </a:p>
          <a:p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jumpImpulse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：跳跃冲量，负值表示向上跳跃，默认值为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JUMP_IMPULSE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跳跃逻辑：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当按下空格键且玩家在地面上时，赋予向上的速度（跳跃）。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地面检测通过比较玩家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坐标与地面高度实现。</a:t>
            </a:r>
          </a:p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重力应用：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每帧更新速度，增加重力影响（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velocity.y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+= gravity * dt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根据速度更新玩家位置（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shape.move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地面碰撞处理：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若玩家位置低于地面，强制将其位置重置到地面。</a:t>
            </a: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重置垂直速度为 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，防止继续下落。</a:t>
            </a:r>
            <a:endParaRPr lang="zh-CN" altLang="en-US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92890B-7356-9ABE-FC73-498B86A63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924" y="872608"/>
            <a:ext cx="7237689" cy="467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7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8218-3D1D-2F45-AD37-42547838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981DDB36-3FFC-0678-B18C-AD18B0F3B8A4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497780E2-354D-7DE1-359B-08A786884FA8}"/>
              </a:ext>
            </a:extLst>
          </p:cNvPr>
          <p:cNvSpPr/>
          <p:nvPr/>
        </p:nvSpPr>
        <p:spPr>
          <a:xfrm>
            <a:off x="6387327" y="0"/>
            <a:ext cx="5796362" cy="6858000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CA0566-C5E4-FED8-2766-406424F61DB5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0BD11AD8-5E39-9427-6A08-6CA2E9188CFB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05CC2250-7160-FC74-D54B-C4DE721BBA8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DB7BBEF4-DF64-BBAE-BA63-3D67E0E34A30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8C431C8C-0ACA-F056-6C67-1C48E37C0500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33B2DCE8-AEE4-F16C-BC2E-AEF15A78D90C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17C7ACD6-BD97-7F9D-56E3-8943435EE76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8149D3F-D158-B0BF-C759-198C6A657B00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438BA0CB-0792-E8C3-2397-73A5A2972C4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E8427F92-4963-FB69-D8ED-C4B3273B53AF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1C801979-3A93-1FCA-8251-5DD403832489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E9BC592A-E8A0-22EE-F05C-73812E3CAA21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7ABE2E5E-7C4C-B43B-6541-DEDCD7375838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668F58B5-1F86-3E76-F1F7-DA253B5E53A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4FCA72E-BEB6-19B8-2A78-54D609D4A19A}"/>
              </a:ext>
            </a:extLst>
          </p:cNvPr>
          <p:cNvSpPr txBox="1"/>
          <p:nvPr/>
        </p:nvSpPr>
        <p:spPr>
          <a:xfrm>
            <a:off x="498084" y="776124"/>
            <a:ext cx="49111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Ground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地面初始化：在指定高度创建由多个小矩形组成的地面，形成连续的视觉效果。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地面滚动：让地面从右向左移动，营造角色前进的视觉效果。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波浪效果：应用正弦函数使地面呈现波浪状的动态起伏效果。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无缝循环：当单个矩形片段移出屏幕左侧时，将其重新定位到最右侧，实现无限滚动的地面。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EBABBA-3808-E015-7102-3F17EEFA7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435" y="262072"/>
            <a:ext cx="5682769" cy="145468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7693D2-6026-5BEB-8EF3-776EDF273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77" y="2546492"/>
            <a:ext cx="5620689" cy="4028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B6FBB47-41DC-88EF-8E2D-6D64E62F4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73" y="4139020"/>
            <a:ext cx="5073911" cy="69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7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DF83-52BD-6317-C7BE-E7735D15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B2B32049-0585-4C1B-0EC0-962CEBFB040F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F68BC3FF-EA86-BE4A-5244-F5CAAF12A97B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DF41B5-9D5F-791E-6377-AA01760810EE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6408E3C1-9354-2319-2593-F8490537DC05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2C0A81C3-A19B-06F8-EE93-313F991B7F03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E0620C0F-3F36-9392-437E-B7D4DBAA902D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FC76B9FA-6ECD-6360-5186-B2100F6CE58F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F9A7F194-B03A-49F5-B054-C7253D788329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5CF4A7B9-DE45-AC4B-F10F-8C81F257913C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71D7459-67D0-B0B3-A1FA-BA714B6BEA04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6D9BFA6E-A66F-523F-D622-F72EA75699DE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DE05B93D-D9BF-7DA1-D4EB-D432234B421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68002305-CC63-1984-8CD6-CE6EC6C16A1D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EA9F626A-1DDC-D9D3-47EA-FA21EDE58914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C5A0C944-6022-4F3B-3BD9-91E0E220A158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C821EB57-39FE-588F-1FF3-CC80A72E3CA8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3A96FCF-AD60-40BD-1708-D486C8A1C565}"/>
              </a:ext>
            </a:extLst>
          </p:cNvPr>
          <p:cNvSpPr txBox="1"/>
          <p:nvPr/>
        </p:nvSpPr>
        <p:spPr>
          <a:xfrm>
            <a:off x="570433" y="1213007"/>
            <a:ext cx="36408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Ground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初始化地面的移动速度、片段宽度和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个小矩形片段，每个片段宽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像素，高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像素，形成总宽度为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像素的地面。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将所有片段排列在指定的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坐标位置。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224B5D-E49C-3E6E-DBE1-74B1C776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041" y="1510413"/>
            <a:ext cx="7417848" cy="343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96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CF68-B2E2-E678-7458-68EA2584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15F8CE67-32F2-0698-1D8A-FCC41DCEF816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B3212AA1-BE88-EB7C-16A5-6856239B0AA3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4A50FB-5EBD-470E-B66E-8EB6AEF65CA3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534A7454-8197-F981-C586-5C0D3F59AD41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AB87F63F-C9A7-D2DC-5820-4124EC686082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BE449761-5F40-1A35-51E2-B71ECD96366A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DED82FBE-70C9-E2A5-7B22-600A8C437C5F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EED16E18-8A8D-E829-C791-9B51D652A845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2AE4B9F8-F906-AD53-5BDC-61608696CA09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01B6E84-944B-BBF4-0366-1F246A537B8D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9248AB03-A344-84EA-7DAA-3F9F9029188A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8E7C6926-1D38-FFEA-1925-BC555DD007EA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8A6B3F1F-428E-C475-63D2-081B47025361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91917985-3F85-B0C4-B419-ECA8CCC99076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F90155BF-100A-5036-669B-8C66EC0AC421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1E3FB04F-527F-48E7-9CC0-65F8C61054C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803BD8E-F925-DBE6-881D-FA6A5E367C72}"/>
              </a:ext>
            </a:extLst>
          </p:cNvPr>
          <p:cNvSpPr txBox="1"/>
          <p:nvPr/>
        </p:nvSpPr>
        <p:spPr>
          <a:xfrm>
            <a:off x="570433" y="860249"/>
            <a:ext cx="364089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Ground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更新逻辑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滚动实现：每个片段向左移动，移动距离由速度和帧时间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(delta time)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决定。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波浪效果：使用正弦函数计算每个片段的高度偏移，基于片段的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坐标和总游戏时间，形成波浪动画。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无缝循环：当片段完全移出屏幕左侧时，将其重新定位到最右侧，确保地面连续不间断。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波浪计算：使用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std::sin(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xPos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0.01f + 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totalTime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2.0f)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计算高度偏移，其中：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xPos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0.01f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确保不同位置的片段有不同相位，形成波浪形状。</a:t>
            </a:r>
          </a:p>
          <a:p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totalTime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2.0f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使波浪随时间移动，创造动态效果。</a:t>
            </a:r>
          </a:p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高度偏移范围为 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±50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像素，使地面产生明显的起伏。</a:t>
            </a: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9033D7-B2AF-8E61-9CCA-13E333156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855" y="798327"/>
            <a:ext cx="6934556" cy="44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38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008A7-9BB6-45FA-DD8E-9DAFDDC43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B566860A-9B80-07C1-5919-2F89CB00B000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5CDAD1BB-E3CF-5AA3-F50C-BF962F9F03DD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86949A-B1A4-65D0-F7CC-D5DC7A4365EB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4200C37A-EBEB-6277-09EB-663C5E3C0773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E0A13650-90D2-BBD8-792A-333C7D30586A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BAB8F73A-85FA-7671-4BB7-B83A0F4381E7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2EC31AC4-A254-F329-32F7-45E54CF78428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777716EA-0B36-2E05-3CE3-92328D6C28AC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D05463C6-85E2-D10E-33A3-F32BBFC6837C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AB019C8-CC2A-3B72-0A08-D42A6D63612E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E2151B33-E83F-ED3D-9D65-9A6FE5072C42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6DAC5A27-AF8A-ADE0-3698-E8DB9E2087D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FE033595-41E9-9589-5126-48F7A2FE6E06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10BB5AB6-4B68-F0B1-1636-101857683F0A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A8C41A24-C1BC-6EA5-4835-AD8DC15AA022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6DD7E31C-E9A5-367B-4A69-7D6089CFEB5D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00F6C27-18A2-0957-71E6-EF86A7B6AE62}"/>
              </a:ext>
            </a:extLst>
          </p:cNvPr>
          <p:cNvSpPr txBox="1"/>
          <p:nvPr/>
        </p:nvSpPr>
        <p:spPr>
          <a:xfrm>
            <a:off x="570433" y="1213007"/>
            <a:ext cx="3640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Ground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遍历所有片段并绘制到屏幕上，确保地面可见。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2927AB-5FFA-AC75-8DDF-EA3CDDD16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830" y="2248934"/>
            <a:ext cx="7075588" cy="96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19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8457-CA94-4711-20F3-359B2E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972E0133-8664-EBA3-2CE5-18FB7D87319F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70DAE9F8-1C0B-328E-09B8-26B98D4707E4}"/>
              </a:ext>
            </a:extLst>
          </p:cNvPr>
          <p:cNvSpPr/>
          <p:nvPr/>
        </p:nvSpPr>
        <p:spPr>
          <a:xfrm>
            <a:off x="6395639" y="0"/>
            <a:ext cx="5796362" cy="6858000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BA03EA5-B5A3-2CEB-B142-4F40A2996072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21AB9BA4-9AF7-0168-FAC0-2CA970B13C58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94AA10AD-350A-EF65-3F9A-C1B875CB0856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EBF5CBD5-4500-DA08-81DC-0902A6598F25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DCA824EE-0AB4-1F04-9D21-907BE3DBF4FA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5FD9F55C-4132-9341-4624-B56F9C12154E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31AB72E8-C28D-636E-82C7-DF865FA65ECF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72753C4-3B35-CAE9-C306-086EE0CE5315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105B02A1-99B4-1014-318F-1468EEC59E7E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CBA54200-853B-F61C-5564-8D7DB45E53D0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46C6DB52-6336-D677-6E4C-69453E79C35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7F537DCC-6E1C-074C-E044-61F2D74251F0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A9765C32-1ABF-3610-37ED-C9422193E2FD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85D71273-57E4-B841-436C-2055C14B9A94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E9FD34-7E9E-4AD6-4AC4-1E609E2155C5}"/>
              </a:ext>
            </a:extLst>
          </p:cNvPr>
          <p:cNvSpPr txBox="1"/>
          <p:nvPr/>
        </p:nvSpPr>
        <p:spPr>
          <a:xfrm>
            <a:off x="501582" y="618678"/>
            <a:ext cx="491111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Obstacle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障碍物初始化：在屏幕右侧生成绿色方块障碍物，位置紧贴地面上方。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障碍物移动：障碍物以固定速度从右向左移动，模拟角色前进时遇到的障碍。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渲染功能：将障碍物绘制到游戏窗口中。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碰撞检测支持：提供获取障碍物边界的方法，用于检测与玩家的碰撞。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屏幕外检测：判断障碍物是否完全移出屏幕左侧，以便游戏移除不再需要的障碍物。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1B2552-9F4D-8901-60D2-5F43BACC1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793" y="1267585"/>
            <a:ext cx="5450625" cy="12530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F53201-47DB-D1CE-3BE3-48E0D4E097E4}"/>
              </a:ext>
            </a:extLst>
          </p:cNvPr>
          <p:cNvSpPr txBox="1"/>
          <p:nvPr/>
        </p:nvSpPr>
        <p:spPr>
          <a:xfrm>
            <a:off x="6698224" y="3267463"/>
            <a:ext cx="51911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zh-CN" dirty="0">
                <a:solidFill>
                  <a:schemeClr val="bg1"/>
                </a:solidFill>
              </a:rPr>
              <a:t>void Obstacle::update(float dt) </a:t>
            </a:r>
            <a:r>
              <a:rPr lang="zh-CN" altLang="en-US" dirty="0">
                <a:solidFill>
                  <a:schemeClr val="bg1"/>
                </a:solidFill>
              </a:rPr>
              <a:t>；</a:t>
            </a:r>
            <a:endParaRPr lang="fr-FR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void Obstacle::update(float dt, const Ground&amp; ground)</a:t>
            </a:r>
            <a:r>
              <a:rPr lang="zh-CN" altLang="en-US" dirty="0">
                <a:solidFill>
                  <a:schemeClr val="bg1"/>
                </a:solidFill>
              </a:rPr>
              <a:t>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void Obstacle::render(sf::</a:t>
            </a:r>
            <a:r>
              <a:rPr lang="en-US" altLang="zh-CN" dirty="0" err="1">
                <a:solidFill>
                  <a:schemeClr val="bg1"/>
                </a:solidFill>
              </a:rPr>
              <a:t>RenderWindow</a:t>
            </a:r>
            <a:r>
              <a:rPr lang="en-US" altLang="zh-CN" dirty="0">
                <a:solidFill>
                  <a:schemeClr val="bg1"/>
                </a:solidFill>
              </a:rPr>
              <a:t>&amp; window)</a:t>
            </a:r>
            <a:r>
              <a:rPr lang="zh-CN" altLang="en-US" dirty="0">
                <a:solidFill>
                  <a:schemeClr val="bg1"/>
                </a:solidFill>
              </a:rPr>
              <a:t>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…..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02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DAC9-BF26-D9F2-3A9A-1A30340C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EBF7586D-D6D2-6DCD-C392-B80AF605463E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386AFCB6-7F45-8B52-14DC-7F9D3A4EBCD0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5240D9-1A40-BDA6-04E2-830F8C1E038A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30E07731-3E95-C23E-E093-9FD780D5E53D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0333DE45-133F-67EF-FE33-FF3D85D5305A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9D0ADEE6-1F93-F552-251F-5072BA15A8B3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55DE34BD-C62F-E124-B98D-11B3B618D316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476070E1-E854-C70C-850D-B0778C30BC92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191EDEA9-FB97-3243-30AC-94319F723A84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A9E1DED-3A2C-7D35-00F3-B3C830BAE53D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90043B63-64C6-5F89-4A74-0A7A4E445A35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D63BFA6B-CD7F-77F7-B0AF-9632943E620C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AF658EF1-0FEC-24E8-DA88-C38B55C13D9A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4D62D025-FA5F-69CE-45CF-B4ED55D7C4D0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C7B30572-A444-D097-929D-9BD3CFB3AF1B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D3A10925-7CFA-C858-90EE-65A99908419E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17FC9A2-A998-6470-8E46-B27195355F1A}"/>
              </a:ext>
            </a:extLst>
          </p:cNvPr>
          <p:cNvSpPr txBox="1"/>
          <p:nvPr/>
        </p:nvSpPr>
        <p:spPr>
          <a:xfrm>
            <a:off x="570433" y="860249"/>
            <a:ext cx="36408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Obstacle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初始化障碍物的大小为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40×40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像素的绿色方块。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设置初始位置在屏幕右侧（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x=800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）且底部与地面顶部对齐。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设置水平移动速度为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秒（向左）。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858690-D791-C62F-2E7D-BB830B1EF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11" y="1768190"/>
            <a:ext cx="6077262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31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CD60-BCBE-14FE-D901-1B9D66C1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3DF2B9D3-6EEB-76CC-141E-39627B663959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7224FB40-BC8A-2455-CD35-B4C356C2BC77}"/>
              </a:ext>
            </a:extLst>
          </p:cNvPr>
          <p:cNvSpPr/>
          <p:nvPr/>
        </p:nvSpPr>
        <p:spPr>
          <a:xfrm>
            <a:off x="5520922" y="0"/>
            <a:ext cx="6671079" cy="6858000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53C420D-DB74-B95D-7373-18B8A4AE87F4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7978DC33-C413-4949-A02B-99A849C01107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CD01FF12-2C5C-C385-928E-88DA4C446050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7D9D4B48-B1BF-6287-AB77-43F722D8206A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E06E4EBD-8F37-1F1A-8884-08C65825049B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1BB98091-6513-39F8-D942-777A35D885F5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A0505D79-028C-DC24-993C-C86B2D5C3AEC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0B63445-D6B6-AF0C-882B-F419E883971B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82840CE5-5920-53C2-E1A2-AAA8C523E63A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D2B5276F-9EEB-51D0-5A96-044FB8B90EAB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9FF9488F-6357-1AA7-C565-4039DF94FDA6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28270E64-1FDE-2B9F-11BF-2E78C4693C32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B8B8C078-A7FD-DB9B-EB9E-190D6750F9EE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608C46A5-4EBF-8B16-A7DA-684829F6E087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51538D3D-DB38-1D93-39BD-853DC4A50C27}"/>
              </a:ext>
            </a:extLst>
          </p:cNvPr>
          <p:cNvSpPr txBox="1"/>
          <p:nvPr/>
        </p:nvSpPr>
        <p:spPr>
          <a:xfrm>
            <a:off x="501582" y="618678"/>
            <a:ext cx="49111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核心功能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启动界面初始化：创建游戏窗口，加载字体资源，显示标题和开始提示文本。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用户输入检测：监听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键按下事件，触发游戏启动。</a:t>
            </a:r>
          </a:p>
          <a:p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游戏流程控制：当用户按下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键时，创建游戏实例并启动主循环。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F732B8-1634-F247-2BBF-0FE0DE0A1D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233" y="541770"/>
            <a:ext cx="6388185" cy="36056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917988-722D-A1AD-7A95-519F2EF03056}"/>
              </a:ext>
            </a:extLst>
          </p:cNvPr>
          <p:cNvSpPr txBox="1"/>
          <p:nvPr/>
        </p:nvSpPr>
        <p:spPr>
          <a:xfrm>
            <a:off x="5702643" y="4404330"/>
            <a:ext cx="6233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bool Start::</a:t>
            </a:r>
            <a:r>
              <a:rPr lang="en-US" altLang="zh-CN" dirty="0" err="1">
                <a:solidFill>
                  <a:schemeClr val="bg1"/>
                </a:solidFill>
              </a:rPr>
              <a:t>checkEnterPressed</a:t>
            </a:r>
            <a:r>
              <a:rPr lang="en-US" altLang="zh-CN" dirty="0">
                <a:solidFill>
                  <a:schemeClr val="bg1"/>
                </a:solidFill>
              </a:rPr>
              <a:t>() const ;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void Start::update(float dt) { </a:t>
            </a:r>
            <a:r>
              <a:rPr lang="en-US" altLang="zh-CN" dirty="0" err="1">
                <a:solidFill>
                  <a:schemeClr val="bg1"/>
                </a:solidFill>
              </a:rPr>
              <a:t>printf</a:t>
            </a:r>
            <a:r>
              <a:rPr lang="en-US" altLang="zh-CN" dirty="0">
                <a:solidFill>
                  <a:schemeClr val="bg1"/>
                </a:solidFill>
              </a:rPr>
              <a:t>("1");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161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5659-5F7D-A4C3-35B4-F531E555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6E3802F5-3395-AEC7-C06A-280467D71F0F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D7C10F76-AE89-CF3B-9348-4C7284E79B55}"/>
              </a:ext>
            </a:extLst>
          </p:cNvPr>
          <p:cNvSpPr/>
          <p:nvPr/>
        </p:nvSpPr>
        <p:spPr>
          <a:xfrm>
            <a:off x="4646206" y="-36914"/>
            <a:ext cx="7536672" cy="6931827"/>
          </a:xfrm>
          <a:custGeom>
            <a:avLst/>
            <a:gdLst>
              <a:gd name="connsiteX0" fmla="*/ 0 w 5820034"/>
              <a:gd name="connsiteY0" fmla="*/ 0 h 6858000"/>
              <a:gd name="connsiteX1" fmla="*/ 4995889 w 5820034"/>
              <a:gd name="connsiteY1" fmla="*/ 0 h 6858000"/>
              <a:gd name="connsiteX2" fmla="*/ 5013849 w 5820034"/>
              <a:gd name="connsiteY2" fmla="*/ 0 h 6858000"/>
              <a:gd name="connsiteX3" fmla="*/ 5820034 w 5820034"/>
              <a:gd name="connsiteY3" fmla="*/ 0 h 6858000"/>
              <a:gd name="connsiteX4" fmla="*/ 5820034 w 5820034"/>
              <a:gd name="connsiteY4" fmla="*/ 6858000 h 6858000"/>
              <a:gd name="connsiteX5" fmla="*/ 5013849 w 5820034"/>
              <a:gd name="connsiteY5" fmla="*/ 6858000 h 6858000"/>
              <a:gd name="connsiteX6" fmla="*/ 4995889 w 5820034"/>
              <a:gd name="connsiteY6" fmla="*/ 6858000 h 6858000"/>
              <a:gd name="connsiteX7" fmla="*/ 0 w 582003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0034" h="6858000">
                <a:moveTo>
                  <a:pt x="0" y="0"/>
                </a:moveTo>
                <a:lnTo>
                  <a:pt x="4995889" y="0"/>
                </a:lnTo>
                <a:lnTo>
                  <a:pt x="5013849" y="0"/>
                </a:lnTo>
                <a:lnTo>
                  <a:pt x="5820034" y="0"/>
                </a:lnTo>
                <a:lnTo>
                  <a:pt x="5820034" y="6858000"/>
                </a:lnTo>
                <a:lnTo>
                  <a:pt x="5013849" y="6858000"/>
                </a:lnTo>
                <a:lnTo>
                  <a:pt x="4995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4739D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B3490F-23B2-CBD2-D907-95F868093DB1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02CBF1FA-5035-DCF1-E648-E0F3B594AAB0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02808185-EE85-F31A-6368-074B231124BE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5E2F4D1E-D1D6-DACB-5CA9-60F416E13005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4AD1191C-330E-6203-3358-B95EA0079E10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64031686-18C3-C3AE-8DE9-D1B709FDCCB4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0EFDFB10-FED8-6CF3-FCC4-5F17F62E60F8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1AD102CB-888C-4975-580B-FA46FDB42FBF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B9BDE5DE-5C0A-5FE5-51A0-5BD4560E152A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7C3EC464-B10B-60A5-34BF-E537A0780F3D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87179D1C-CFB9-2F73-E0C9-FC8BB49B220B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883808C1-5ED7-AA69-C2F8-01F9BDB9AE07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4EBA3DFC-9288-72D9-C04E-C562B3776133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E0D6BC41-D56E-5D56-5952-701394483DC5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B844164-A7D7-5C19-D1FA-1430A9A6D5D9}"/>
              </a:ext>
            </a:extLst>
          </p:cNvPr>
          <p:cNvSpPr txBox="1"/>
          <p:nvPr/>
        </p:nvSpPr>
        <p:spPr>
          <a:xfrm>
            <a:off x="570433" y="860249"/>
            <a:ext cx="36408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lang="en-US" altLang="zh-CN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关键分析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初始化障碍物的大小为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40×40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像素的绿色方块。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设置初始位置在屏幕右侧（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x=800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）且底部与地面顶部对齐。</a:t>
            </a: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设置水平移动速度为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秒（向左）。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970B4F-E3BB-B10F-7837-980CDBD7E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11" y="1768190"/>
            <a:ext cx="6077262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59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D1A6A-0CFF-4B7C-094D-103025FA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>
            <a:extLst>
              <a:ext uri="{FF2B5EF4-FFF2-40B4-BE49-F238E27FC236}">
                <a16:creationId xmlns:a16="http://schemas.microsoft.com/office/drawing/2014/main" id="{AC63DF87-EB38-73E6-8697-A69523FEEA98}"/>
              </a:ext>
            </a:extLst>
          </p:cNvPr>
          <p:cNvSpPr/>
          <p:nvPr/>
        </p:nvSpPr>
        <p:spPr>
          <a:xfrm>
            <a:off x="-30791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E3E9587-50B6-A15C-D001-D5176C4180F8}"/>
              </a:ext>
            </a:extLst>
          </p:cNvPr>
          <p:cNvGrpSpPr/>
          <p:nvPr/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>
              <a:extLst>
                <a:ext uri="{FF2B5EF4-FFF2-40B4-BE49-F238E27FC236}">
                  <a16:creationId xmlns:a16="http://schemas.microsoft.com/office/drawing/2014/main" id="{935B9121-18FA-C268-342A-017CC2B30843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>
              <a:extLst>
                <a:ext uri="{FF2B5EF4-FFF2-40B4-BE49-F238E27FC236}">
                  <a16:creationId xmlns:a16="http://schemas.microsoft.com/office/drawing/2014/main" id="{EC4BDE50-8467-F790-5F00-45051F6CE455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2140BCF5-71F4-503E-DF3A-B3B14CEBEFB1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>
              <a:extLst>
                <a:ext uri="{FF2B5EF4-FFF2-40B4-BE49-F238E27FC236}">
                  <a16:creationId xmlns:a16="http://schemas.microsoft.com/office/drawing/2014/main" id="{64CF2819-D9A5-F31B-3246-309060DB8DDF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58F24CE5-71FF-2227-5286-E386BE8B3811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B2A4946F-21A1-E7F5-422B-FB613B604338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94ED8C4-DAA7-9165-F833-6E6F2F50032D}"/>
              </a:ext>
            </a:extLst>
          </p:cNvPr>
          <p:cNvGrpSpPr/>
          <p:nvPr/>
        </p:nvGrpSpPr>
        <p:grpSpPr>
          <a:xfrm rot="10800000">
            <a:off x="-3079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>
              <a:extLst>
                <a:ext uri="{FF2B5EF4-FFF2-40B4-BE49-F238E27FC236}">
                  <a16:creationId xmlns:a16="http://schemas.microsoft.com/office/drawing/2014/main" id="{05857E51-C0E5-A61E-4B26-B57D43896E3B}"/>
                </a:ext>
              </a:extLst>
            </p:cNvPr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>
              <a:extLst>
                <a:ext uri="{FF2B5EF4-FFF2-40B4-BE49-F238E27FC236}">
                  <a16:creationId xmlns:a16="http://schemas.microsoft.com/office/drawing/2014/main" id="{39DCFBCA-1066-1225-02B6-6CAFE690AC65}"/>
                </a:ext>
              </a:extLst>
            </p:cNvPr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>
              <a:extLst>
                <a:ext uri="{FF2B5EF4-FFF2-40B4-BE49-F238E27FC236}">
                  <a16:creationId xmlns:a16="http://schemas.microsoft.com/office/drawing/2014/main" id="{78C61531-C075-FD32-8FC9-EF6AC099994F}"/>
                </a:ext>
              </a:extLst>
            </p:cNvPr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>
              <a:extLst>
                <a:ext uri="{FF2B5EF4-FFF2-40B4-BE49-F238E27FC236}">
                  <a16:creationId xmlns:a16="http://schemas.microsoft.com/office/drawing/2014/main" id="{B0904CD1-D4D1-9FA2-9C46-04BD0FBDDCC4}"/>
                </a:ext>
              </a:extLst>
            </p:cNvPr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>
              <a:extLst>
                <a:ext uri="{FF2B5EF4-FFF2-40B4-BE49-F238E27FC236}">
                  <a16:creationId xmlns:a16="http://schemas.microsoft.com/office/drawing/2014/main" id="{38E6EBAD-E78E-3117-BF61-273A125D0098}"/>
                </a:ext>
              </a:extLst>
            </p:cNvPr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7EFCA195-EC27-3A6A-107E-810267E3701B}"/>
                </a:ext>
              </a:extLst>
            </p:cNvPr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7FF4160-465A-1918-5884-D28351AB4E35}"/>
              </a:ext>
            </a:extLst>
          </p:cNvPr>
          <p:cNvSpPr txBox="1"/>
          <p:nvPr/>
        </p:nvSpPr>
        <p:spPr>
          <a:xfrm>
            <a:off x="1275070" y="618678"/>
            <a:ext cx="3692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总体演示如下：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406EE4-A8CE-486E-485B-744EE9AF9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190" y="1418022"/>
            <a:ext cx="6491074" cy="506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293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22480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75320" y="5086736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46827" y="4146698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0741" y="4830768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7950729" y="3189162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文本框 3"/>
          <p:cNvSpPr txBox="1"/>
          <p:nvPr>
            <p:custDataLst>
              <p:tags r:id="rId1"/>
            </p:custDataLst>
          </p:nvPr>
        </p:nvSpPr>
        <p:spPr>
          <a:xfrm>
            <a:off x="652844" y="1342226"/>
            <a:ext cx="4770506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2200" cap="none" spc="60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RART 02</a:t>
            </a:r>
            <a:endParaRPr kumimoji="0" lang="zh-CN" altLang="en-US" sz="6600" b="1" i="0" u="none" strike="noStrike" kern="2200" cap="none" spc="600" normalizeH="0" baseline="0" noProof="0" dirty="0">
              <a:ln>
                <a:noFill/>
              </a:ln>
              <a:solidFill>
                <a:srgbClr val="44739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58331" y="2241605"/>
            <a:ext cx="6247502" cy="1015663"/>
          </a:xfrm>
          <a:prstGeom prst="rect">
            <a:avLst/>
          </a:prstGeom>
          <a:solidFill>
            <a:srgbClr val="EDCC87">
              <a:alpha val="2800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zh-CN" altLang="en-US" sz="6000" b="1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其他相关进度</a:t>
            </a:r>
            <a:endParaRPr lang="zh-CN" altLang="en-US" sz="6000" b="1" dirty="0">
              <a:ln w="0"/>
              <a:solidFill>
                <a:srgbClr val="44739D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30290" y="-15123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 rot="5400000">
            <a:off x="-158850" y="4320581"/>
            <a:ext cx="2680485" cy="2424366"/>
            <a:chOff x="4575320" y="0"/>
            <a:chExt cx="7617774" cy="6889898"/>
          </a:xfrm>
        </p:grpSpPr>
        <p:sp>
          <p:nvSpPr>
            <p:cNvPr id="44" name="流程图: 联系 43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rot="16200000">
            <a:off x="10004233" y="109347"/>
            <a:ext cx="2288803" cy="2070109"/>
            <a:chOff x="4575320" y="0"/>
            <a:chExt cx="7617774" cy="6889898"/>
          </a:xfrm>
        </p:grpSpPr>
        <p:sp>
          <p:nvSpPr>
            <p:cNvPr id="57" name="流程图: 联系 56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7" name="Group 30"/>
          <p:cNvGrpSpPr/>
          <p:nvPr>
            <p:custDataLst>
              <p:tags r:id="rId1"/>
            </p:custDataLst>
          </p:nvPr>
        </p:nvGrpSpPr>
        <p:grpSpPr bwMode="auto">
          <a:xfrm>
            <a:off x="3279246" y="2407554"/>
            <a:ext cx="3316325" cy="3317283"/>
            <a:chOff x="0" y="0"/>
            <a:chExt cx="1200" cy="1200"/>
          </a:xfrm>
          <a:solidFill>
            <a:sysClr val="window" lastClr="FFFFFF"/>
          </a:solidFill>
        </p:grpSpPr>
        <p:sp>
          <p:nvSpPr>
            <p:cNvPr id="38" name="AutoShape 60"/>
            <p:cNvSpPr/>
            <p:nvPr>
              <p:custDataLst>
                <p:tags r:id="rId54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40" name="Group 32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52" name="AutoShape 62"/>
              <p:cNvSpPr/>
              <p:nvPr>
                <p:custDataLst>
                  <p:tags r:id="rId61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53" name="AutoShape 63"/>
              <p:cNvSpPr/>
              <p:nvPr>
                <p:custDataLst>
                  <p:tags r:id="rId62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41" name="Group 35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50" name="AutoShape 65"/>
              <p:cNvSpPr/>
              <p:nvPr>
                <p:custDataLst>
                  <p:tags r:id="rId59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51" name="AutoShape 66"/>
              <p:cNvSpPr/>
              <p:nvPr>
                <p:custDataLst>
                  <p:tags r:id="rId60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42" name="Group 38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48" name="AutoShape 68"/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49" name="AutoShape 69"/>
              <p:cNvSpPr/>
              <p:nvPr>
                <p:custDataLst>
                  <p:tags r:id="rId58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43" name="Group 41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45" name="AutoShape 71"/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46" name="AutoShape 72"/>
              <p:cNvSpPr/>
              <p:nvPr>
                <p:custDataLst>
                  <p:tags r:id="rId56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grpSp>
        <p:nvGrpSpPr>
          <p:cNvPr id="94" name="Group 86"/>
          <p:cNvGrpSpPr/>
          <p:nvPr>
            <p:custDataLst>
              <p:tags r:id="rId2"/>
            </p:custDataLst>
          </p:nvPr>
        </p:nvGrpSpPr>
        <p:grpSpPr bwMode="auto">
          <a:xfrm>
            <a:off x="8846593" y="2698629"/>
            <a:ext cx="2346348" cy="2347025"/>
            <a:chOff x="0" y="0"/>
            <a:chExt cx="1200" cy="1200"/>
          </a:xfrm>
          <a:solidFill>
            <a:sysClr val="window" lastClr="FFFFFF"/>
          </a:solidFill>
        </p:grpSpPr>
        <p:sp>
          <p:nvSpPr>
            <p:cNvPr id="95" name="AutoShape 116"/>
            <p:cNvSpPr/>
            <p:nvPr>
              <p:custDataLst>
                <p:tags r:id="rId45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96" name="Group 88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06" name="AutoShape 118"/>
              <p:cNvSpPr/>
              <p:nvPr>
                <p:custDataLst>
                  <p:tags r:id="rId52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7" name="AutoShape 119"/>
              <p:cNvSpPr/>
              <p:nvPr>
                <p:custDataLst>
                  <p:tags r:id="rId53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97" name="Group 91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04" name="AutoShape 121"/>
              <p:cNvSpPr/>
              <p:nvPr>
                <p:custDataLst>
                  <p:tags r:id="rId50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5" name="AutoShape 122"/>
              <p:cNvSpPr/>
              <p:nvPr>
                <p:custDataLst>
                  <p:tags r:id="rId51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98" name="Group 94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02" name="AutoShape 124"/>
              <p:cNvSpPr/>
              <p:nvPr>
                <p:custDataLst>
                  <p:tags r:id="rId48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3" name="AutoShape 125"/>
              <p:cNvSpPr/>
              <p:nvPr>
                <p:custDataLst>
                  <p:tags r:id="rId49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99" name="Group 97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100" name="AutoShape 127"/>
              <p:cNvSpPr/>
              <p:nvPr>
                <p:custDataLst>
                  <p:tags r:id="rId46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1" name="AutoShape 128"/>
              <p:cNvSpPr/>
              <p:nvPr>
                <p:custDataLst>
                  <p:tags r:id="rId47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27" name="文本框4"/>
          <p:cNvSpPr txBox="1"/>
          <p:nvPr>
            <p:custDataLst>
              <p:tags r:id="rId3"/>
            </p:custDataLst>
          </p:nvPr>
        </p:nvSpPr>
        <p:spPr>
          <a:xfrm>
            <a:off x="1547001" y="4395302"/>
            <a:ext cx="1770085" cy="2527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en-US" altLang="zh-CN" sz="1400" dirty="0">
                <a:solidFill>
                  <a:srgbClr val="4473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solidFill>
                  <a:srgbClr val="4473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简单实现方块的滑行</a:t>
            </a:r>
            <a:endParaRPr lang="en-US" altLang="zh-CN" sz="1400" dirty="0">
              <a:solidFill>
                <a:srgbClr val="44739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4"/>
          <p:cNvSpPr txBox="1"/>
          <p:nvPr>
            <p:custDataLst>
              <p:tags r:id="rId4"/>
            </p:custDataLst>
          </p:nvPr>
        </p:nvSpPr>
        <p:spPr>
          <a:xfrm>
            <a:off x="7673975" y="4699000"/>
            <a:ext cx="1482725" cy="1092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1400" dirty="0">
                <a:solidFill>
                  <a:srgbClr val="76B3E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场景，地面，角色都进行了优化，新增障碍物</a:t>
            </a:r>
          </a:p>
          <a:p>
            <a:pPr algn="ctr">
              <a:lnSpc>
                <a:spcPct val="130000"/>
              </a:lnSpc>
              <a:defRPr/>
            </a:pPr>
            <a:endParaRPr lang="zh-CN" altLang="en-US" sz="1400" dirty="0">
              <a:solidFill>
                <a:srgbClr val="76B3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590415" y="54864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版本迭代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739D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FC9ED-FAEF-2B43-C740-8E5A3D69653E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58" t="52126" r="-18995" b="-15482"/>
          <a:stretch>
            <a:fillRect/>
          </a:stretch>
        </p:blipFill>
        <p:spPr>
          <a:xfrm rot="20459552">
            <a:off x="1690361" y="2111290"/>
            <a:ext cx="2438470" cy="2023519"/>
          </a:xfrm>
          <a:prstGeom prst="rect">
            <a:avLst/>
          </a:prstGeom>
        </p:spPr>
      </p:pic>
      <p:grpSp>
        <p:nvGrpSpPr>
          <p:cNvPr id="22" name="Group 16"/>
          <p:cNvGrpSpPr/>
          <p:nvPr>
            <p:custDataLst>
              <p:tags r:id="rId5"/>
            </p:custDataLst>
          </p:nvPr>
        </p:nvGrpSpPr>
        <p:grpSpPr bwMode="auto">
          <a:xfrm rot="20457993">
            <a:off x="1253998" y="1790268"/>
            <a:ext cx="2414914" cy="2415611"/>
            <a:chOff x="0" y="0"/>
            <a:chExt cx="1200" cy="1200"/>
          </a:xfrm>
          <a:solidFill>
            <a:srgbClr val="44739D"/>
          </a:solidFill>
        </p:grpSpPr>
        <p:sp>
          <p:nvSpPr>
            <p:cNvPr id="23" name="AutoShape 46"/>
            <p:cNvSpPr/>
            <p:nvPr>
              <p:custDataLst>
                <p:tags r:id="rId36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24" name="Group 18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5" name="AutoShape 48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6" name="AutoShape 49"/>
              <p:cNvSpPr/>
              <p:nvPr>
                <p:custDataLst>
                  <p:tags r:id="rId44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6" name="Group 21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3" name="AutoShape 51"/>
              <p:cNvSpPr/>
              <p:nvPr>
                <p:custDataLst>
                  <p:tags r:id="rId41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4" name="AutoShape 52"/>
              <p:cNvSpPr/>
              <p:nvPr>
                <p:custDataLst>
                  <p:tags r:id="rId42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7" name="Group 24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1" name="AutoShape 54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2" name="AutoShape 55"/>
              <p:cNvSpPr/>
              <p:nvPr>
                <p:custDataLst>
                  <p:tags r:id="rId40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29" name="AutoShape 57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0" name="AutoShape 58"/>
              <p:cNvSpPr/>
              <p:nvPr>
                <p:custDataLst>
                  <p:tags r:id="rId38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C3BC231-19E7-F2A5-CE40-C8F480A48620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6" t="-2014" r="12683" b="2014"/>
          <a:stretch>
            <a:fillRect/>
          </a:stretch>
        </p:blipFill>
        <p:spPr>
          <a:xfrm>
            <a:off x="3801175" y="2786449"/>
            <a:ext cx="2315021" cy="2316997"/>
          </a:xfrm>
          <a:prstGeom prst="rect">
            <a:avLst/>
          </a:prstGeom>
        </p:spPr>
      </p:pic>
      <p:grpSp>
        <p:nvGrpSpPr>
          <p:cNvPr id="54" name="Group 44"/>
          <p:cNvGrpSpPr/>
          <p:nvPr>
            <p:custDataLst>
              <p:tags r:id="rId6"/>
            </p:custDataLst>
          </p:nvPr>
        </p:nvGrpSpPr>
        <p:grpSpPr bwMode="auto">
          <a:xfrm>
            <a:off x="3272559" y="2409228"/>
            <a:ext cx="3324687" cy="3325649"/>
            <a:chOff x="0" y="0"/>
            <a:chExt cx="1200" cy="1200"/>
          </a:xfrm>
          <a:solidFill>
            <a:srgbClr val="EDCC87"/>
          </a:solidFill>
        </p:grpSpPr>
        <p:sp>
          <p:nvSpPr>
            <p:cNvPr id="55" name="AutoShape 74"/>
            <p:cNvSpPr/>
            <p:nvPr>
              <p:custDataLst>
                <p:tags r:id="rId27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68" name="Group 46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8" name="AutoShape 76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9" name="AutoShape 77"/>
              <p:cNvSpPr/>
              <p:nvPr>
                <p:custDataLst>
                  <p:tags r:id="rId35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9" name="Group 49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6" name="AutoShape 79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7" name="AutoShape 80"/>
              <p:cNvSpPr/>
              <p:nvPr>
                <p:custDataLst>
                  <p:tags r:id="rId33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0" name="Group 52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4" name="AutoShape 82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5" name="AutoShape 83"/>
              <p:cNvSpPr/>
              <p:nvPr>
                <p:custDataLst>
                  <p:tags r:id="rId31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1" name="Group 55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72" name="AutoShape 85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3" name="AutoShape 86"/>
              <p:cNvSpPr/>
              <p:nvPr>
                <p:custDataLst>
                  <p:tags r:id="rId29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EB54EFE3-437A-588B-DA90-FDC039676E40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35624">
            <a:off x="6763591" y="1998268"/>
            <a:ext cx="1794626" cy="1774537"/>
          </a:xfrm>
          <a:prstGeom prst="rect">
            <a:avLst/>
          </a:prstGeom>
        </p:spPr>
      </p:pic>
      <p:grpSp>
        <p:nvGrpSpPr>
          <p:cNvPr id="80" name="Group 58"/>
          <p:cNvGrpSpPr/>
          <p:nvPr>
            <p:custDataLst>
              <p:tags r:id="rId7"/>
            </p:custDataLst>
          </p:nvPr>
        </p:nvGrpSpPr>
        <p:grpSpPr bwMode="auto">
          <a:xfrm rot="1282349">
            <a:off x="6184166" y="1427258"/>
            <a:ext cx="2951748" cy="2952597"/>
            <a:chOff x="0" y="0"/>
            <a:chExt cx="1200" cy="1200"/>
          </a:xfrm>
          <a:solidFill>
            <a:srgbClr val="76B3E9"/>
          </a:solidFill>
        </p:grpSpPr>
        <p:sp>
          <p:nvSpPr>
            <p:cNvPr id="81" name="AutoShape 88"/>
            <p:cNvSpPr/>
            <p:nvPr>
              <p:custDataLst>
                <p:tags r:id="rId18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82" name="Group 60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92" name="AutoShape 90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93" name="AutoShape 91"/>
              <p:cNvSpPr/>
              <p:nvPr>
                <p:custDataLst>
                  <p:tags r:id="rId26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3" name="Group 63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90" name="AutoShape 93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91" name="AutoShape 94"/>
              <p:cNvSpPr/>
              <p:nvPr>
                <p:custDataLst>
                  <p:tags r:id="rId24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4" name="Group 66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88" name="AutoShape 96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89" name="AutoShape 97"/>
              <p:cNvSpPr/>
              <p:nvPr>
                <p:custDataLst>
                  <p:tags r:id="rId22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85" name="Group 69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86" name="AutoShape 99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87" name="AutoShape 100"/>
              <p:cNvSpPr/>
              <p:nvPr>
                <p:custDataLst>
                  <p:tags r:id="rId20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DBC9F93D-0699-FD9D-18E5-E3F704E7A071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045" y="3137899"/>
            <a:ext cx="1497702" cy="1510165"/>
          </a:xfrm>
          <a:prstGeom prst="rect">
            <a:avLst/>
          </a:prstGeom>
        </p:spPr>
      </p:pic>
      <p:grpSp>
        <p:nvGrpSpPr>
          <p:cNvPr id="108" name="Group 100"/>
          <p:cNvGrpSpPr/>
          <p:nvPr>
            <p:custDataLst>
              <p:tags r:id="rId8"/>
            </p:custDataLst>
          </p:nvPr>
        </p:nvGrpSpPr>
        <p:grpSpPr bwMode="auto">
          <a:xfrm>
            <a:off x="8839904" y="2700302"/>
            <a:ext cx="2353037" cy="2353717"/>
            <a:chOff x="0" y="0"/>
            <a:chExt cx="1200" cy="1200"/>
          </a:xfrm>
          <a:solidFill>
            <a:srgbClr val="44739D"/>
          </a:solidFill>
        </p:grpSpPr>
        <p:sp>
          <p:nvSpPr>
            <p:cNvPr id="109" name="AutoShape 130"/>
            <p:cNvSpPr/>
            <p:nvPr>
              <p:custDataLst>
                <p:tags r:id="rId9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110" name="Group 102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20" name="AutoShape 132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21" name="AutoShape 133"/>
              <p:cNvSpPr/>
              <p:nvPr>
                <p:custDataLst>
                  <p:tags r:id="rId17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1" name="Group 105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18" name="AutoShape 135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19" name="AutoShape 136"/>
              <p:cNvSpPr/>
              <p:nvPr>
                <p:custDataLst>
                  <p:tags r:id="rId15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2" name="Group 108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16" name="AutoShape 138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17" name="AutoShape 139"/>
              <p:cNvSpPr/>
              <p:nvPr>
                <p:custDataLst>
                  <p:tags r:id="rId13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3" name="Group 111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114" name="AutoShape 141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15" name="AutoShape 142"/>
              <p:cNvSpPr/>
              <p:nvPr>
                <p:custDataLst>
                  <p:tags r:id="rId11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11240" y="-7503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 rot="5400000">
            <a:off x="-158850" y="4320581"/>
            <a:ext cx="2680485" cy="2424366"/>
            <a:chOff x="4575320" y="0"/>
            <a:chExt cx="7617774" cy="6889898"/>
          </a:xfrm>
        </p:grpSpPr>
        <p:sp>
          <p:nvSpPr>
            <p:cNvPr id="44" name="流程图: 联系 43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rot="16200000">
            <a:off x="10004233" y="109347"/>
            <a:ext cx="2288803" cy="2070109"/>
            <a:chOff x="4575320" y="0"/>
            <a:chExt cx="7617774" cy="6889898"/>
          </a:xfrm>
        </p:grpSpPr>
        <p:sp>
          <p:nvSpPr>
            <p:cNvPr id="57" name="流程图: 联系 56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28" name="文本框4"/>
          <p:cNvSpPr txBox="1"/>
          <p:nvPr>
            <p:custDataLst>
              <p:tags r:id="rId1"/>
            </p:custDataLst>
          </p:nvPr>
        </p:nvSpPr>
        <p:spPr>
          <a:xfrm>
            <a:off x="7263900" y="4698925"/>
            <a:ext cx="1770085" cy="812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30000"/>
              </a:lnSpc>
              <a:defRPr/>
            </a:pPr>
            <a:endParaRPr lang="zh-CN" altLang="en-US" sz="1400" dirty="0">
              <a:solidFill>
                <a:srgbClr val="76B3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  <a:defRPr/>
            </a:pPr>
            <a:endParaRPr lang="zh-CN" altLang="en-US" sz="1400" dirty="0">
              <a:solidFill>
                <a:srgbClr val="76B3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  <a:defRPr/>
            </a:pPr>
            <a:endParaRPr lang="zh-CN" altLang="en-US" sz="1400" dirty="0">
              <a:solidFill>
                <a:srgbClr val="76B3E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590415" y="54864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ea"/>
              </a:rPr>
              <a:t>美术资源的优化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739D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BEDE440-3C69-CE5F-3CF3-5342E0B9D4F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638" y="1587702"/>
            <a:ext cx="3130031" cy="2992615"/>
          </a:xfrm>
          <a:prstGeom prst="rect">
            <a:avLst/>
          </a:prstGeom>
        </p:spPr>
      </p:pic>
      <p:grpSp>
        <p:nvGrpSpPr>
          <p:cNvPr id="22" name="Group 16"/>
          <p:cNvGrpSpPr/>
          <p:nvPr>
            <p:custDataLst>
              <p:tags r:id="rId2"/>
            </p:custDataLst>
          </p:nvPr>
        </p:nvGrpSpPr>
        <p:grpSpPr bwMode="auto">
          <a:xfrm rot="20457993">
            <a:off x="6793205" y="1024631"/>
            <a:ext cx="4208412" cy="4209627"/>
            <a:chOff x="0" y="0"/>
            <a:chExt cx="1200" cy="1200"/>
          </a:xfrm>
          <a:solidFill>
            <a:srgbClr val="44739D"/>
          </a:solidFill>
        </p:grpSpPr>
        <p:sp>
          <p:nvSpPr>
            <p:cNvPr id="23" name="AutoShape 46"/>
            <p:cNvSpPr/>
            <p:nvPr>
              <p:custDataLst>
                <p:tags r:id="rId13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24" name="Group 18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5" name="AutoShape 4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6" name="AutoShape 49"/>
              <p:cNvSpPr/>
              <p:nvPr>
                <p:custDataLst>
                  <p:tags r:id="rId21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6" name="Group 21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3" name="AutoShape 51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4" name="AutoShape 52"/>
              <p:cNvSpPr/>
              <p:nvPr>
                <p:custDataLst>
                  <p:tags r:id="rId19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7" name="Group 24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31" name="AutoShape 54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2" name="AutoShape 55"/>
              <p:cNvSpPr/>
              <p:nvPr>
                <p:custDataLst>
                  <p:tags r:id="rId17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8" name="Group 27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29" name="AutoShape 57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30" name="AutoShape 58"/>
              <p:cNvSpPr/>
              <p:nvPr>
                <p:custDataLst>
                  <p:tags r:id="rId15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7F794939-B397-16DD-8D49-8B7DC184C25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72" y="1842177"/>
            <a:ext cx="4698954" cy="366518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54" name="Group 44"/>
          <p:cNvGrpSpPr/>
          <p:nvPr>
            <p:custDataLst>
              <p:tags r:id="rId3"/>
            </p:custDataLst>
          </p:nvPr>
        </p:nvGrpSpPr>
        <p:grpSpPr bwMode="auto">
          <a:xfrm>
            <a:off x="483322" y="855642"/>
            <a:ext cx="5686112" cy="5687757"/>
            <a:chOff x="0" y="0"/>
            <a:chExt cx="1200" cy="1200"/>
          </a:xfrm>
          <a:solidFill>
            <a:srgbClr val="EDCC87"/>
          </a:solidFill>
        </p:grpSpPr>
        <p:sp>
          <p:nvSpPr>
            <p:cNvPr id="55" name="AutoShape 74"/>
            <p:cNvSpPr/>
            <p:nvPr>
              <p:custDataLst>
                <p:tags r:id="rId4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68" name="Group 46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8" name="AutoShape 76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9" name="AutoShape 77"/>
              <p:cNvSpPr/>
              <p:nvPr>
                <p:custDataLst>
                  <p:tags r:id="rId12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69" name="Group 49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6" name="AutoShape 79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7" name="AutoShape 80"/>
              <p:cNvSpPr/>
              <p:nvPr>
                <p:custDataLst>
                  <p:tags r:id="rId10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0" name="Group 52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74" name="AutoShape 82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5" name="AutoShape 83"/>
              <p:cNvSpPr/>
              <p:nvPr>
                <p:custDataLst>
                  <p:tags r:id="rId8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1" name="Group 55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72" name="AutoShape 85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73" name="AutoShape 86"/>
              <p:cNvSpPr/>
              <p:nvPr>
                <p:custDataLst>
                  <p:tags r:id="rId6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63A0FDC7-F130-7AE2-3B1E-812FEFAFD929}"/>
              </a:ext>
            </a:extLst>
          </p:cNvPr>
          <p:cNvSpPr txBox="1"/>
          <p:nvPr/>
        </p:nvSpPr>
        <p:spPr>
          <a:xfrm>
            <a:off x="402753" y="771564"/>
            <a:ext cx="539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Background:</a:t>
            </a:r>
            <a:endParaRPr lang="zh-CN" altLang="en-US" sz="3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8729D50-62EF-454C-0853-14B3983FAE34}"/>
              </a:ext>
            </a:extLst>
          </p:cNvPr>
          <p:cNvSpPr txBox="1"/>
          <p:nvPr/>
        </p:nvSpPr>
        <p:spPr>
          <a:xfrm>
            <a:off x="7364638" y="5241750"/>
            <a:ext cx="3483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player</a:t>
            </a:r>
            <a:r>
              <a:rPr lang="zh-CN" altLang="en-US" sz="3600" dirty="0"/>
              <a:t>（暂时）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22480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75320" y="5086736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46827" y="4146698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0741" y="4830768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7950729" y="3189162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文本框 3"/>
          <p:cNvSpPr txBox="1"/>
          <p:nvPr>
            <p:custDataLst>
              <p:tags r:id="rId1"/>
            </p:custDataLst>
          </p:nvPr>
        </p:nvSpPr>
        <p:spPr>
          <a:xfrm>
            <a:off x="652844" y="1342226"/>
            <a:ext cx="4770506" cy="110799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2200" cap="none" spc="60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RART 03</a:t>
            </a:r>
            <a:endParaRPr kumimoji="0" lang="zh-CN" altLang="en-US" sz="6600" b="1" i="0" u="none" strike="noStrike" kern="2200" cap="none" spc="600" normalizeH="0" baseline="0" noProof="0" dirty="0">
              <a:ln>
                <a:noFill/>
              </a:ln>
              <a:solidFill>
                <a:srgbClr val="44739D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58331" y="2241605"/>
            <a:ext cx="6247502" cy="1015663"/>
          </a:xfrm>
          <a:prstGeom prst="rect">
            <a:avLst/>
          </a:prstGeom>
          <a:solidFill>
            <a:srgbClr val="EDCC87">
              <a:alpha val="28000"/>
            </a:srgbClr>
          </a:solidFill>
        </p:spPr>
        <p:txBody>
          <a:bodyPr wrap="square" lIns="91440" tIns="45720" rIns="91440" bIns="45720">
            <a:spAutoFit/>
          </a:bodyPr>
          <a:lstStyle/>
          <a:p>
            <a:pPr>
              <a:defRPr/>
            </a:pPr>
            <a:r>
              <a:rPr lang="zh-CN" altLang="en-US" sz="6000" b="1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下一阶段规划</a:t>
            </a:r>
            <a:endParaRPr lang="zh-CN" altLang="en-US" sz="6000" b="1" dirty="0">
              <a:ln w="0"/>
              <a:solidFill>
                <a:srgbClr val="44739D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82409" y="0"/>
            <a:ext cx="12556490" cy="6873240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9511515" y="4425784"/>
            <a:ext cx="2680485" cy="2424366"/>
            <a:chOff x="4575320" y="0"/>
            <a:chExt cx="7617774" cy="6889898"/>
          </a:xfrm>
        </p:grpSpPr>
        <p:sp>
          <p:nvSpPr>
            <p:cNvPr id="44" name="流程图: 联系 43"/>
            <p:cNvSpPr/>
            <p:nvPr>
              <p:custDataLst>
                <p:tags r:id="rId24"/>
              </p:custDataLst>
            </p:nvPr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 24"/>
            <p:cNvSpPr/>
            <p:nvPr>
              <p:custDataLst>
                <p:tags r:id="rId25"/>
              </p:custDataLst>
            </p:nvPr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任意多边形 6"/>
            <p:cNvSpPr/>
            <p:nvPr>
              <p:custDataLst>
                <p:tags r:id="rId26"/>
              </p:custDataLst>
            </p:nvPr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任意多边形 9"/>
            <p:cNvSpPr/>
            <p:nvPr>
              <p:custDataLst>
                <p:tags r:id="rId27"/>
              </p:custDataLst>
            </p:nvPr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rot="10800000">
            <a:off x="-78781" y="0"/>
            <a:ext cx="2288803" cy="2070109"/>
            <a:chOff x="4575320" y="0"/>
            <a:chExt cx="7617774" cy="6889898"/>
          </a:xfrm>
        </p:grpSpPr>
        <p:sp>
          <p:nvSpPr>
            <p:cNvPr id="57" name="流程图: 联系 56"/>
            <p:cNvSpPr/>
            <p:nvPr/>
          </p:nvSpPr>
          <p:spPr>
            <a:xfrm>
              <a:off x="10367203" y="1494220"/>
              <a:ext cx="1307006" cy="1307006"/>
            </a:xfrm>
            <a:prstGeom prst="flowChartConnector">
              <a:avLst/>
            </a:pr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575320" y="5086736"/>
              <a:ext cx="4067405" cy="1786271"/>
            </a:xfrm>
            <a:custGeom>
              <a:avLst/>
              <a:gdLst>
                <a:gd name="connsiteX0" fmla="*/ 2033702 w 4067405"/>
                <a:gd name="connsiteY0" fmla="*/ 0 h 1786271"/>
                <a:gd name="connsiteX1" fmla="*/ 4044963 w 4067405"/>
                <a:gd name="connsiteY1" fmla="*/ 1639225 h 1786271"/>
                <a:gd name="connsiteX2" fmla="*/ 4067405 w 4067405"/>
                <a:gd name="connsiteY2" fmla="*/ 1786271 h 1786271"/>
                <a:gd name="connsiteX3" fmla="*/ 0 w 4067405"/>
                <a:gd name="connsiteY3" fmla="*/ 1786271 h 1786271"/>
                <a:gd name="connsiteX4" fmla="*/ 22442 w 4067405"/>
                <a:gd name="connsiteY4" fmla="*/ 1639225 h 1786271"/>
                <a:gd name="connsiteX5" fmla="*/ 2033702 w 4067405"/>
                <a:gd name="connsiteY5" fmla="*/ 0 h 178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67405" h="1786271">
                  <a:moveTo>
                    <a:pt x="2033702" y="0"/>
                  </a:moveTo>
                  <a:cubicBezTo>
                    <a:pt x="3025798" y="0"/>
                    <a:pt x="3853531" y="703722"/>
                    <a:pt x="4044963" y="1639225"/>
                  </a:cubicBezTo>
                  <a:lnTo>
                    <a:pt x="4067405" y="1786271"/>
                  </a:lnTo>
                  <a:lnTo>
                    <a:pt x="0" y="1786271"/>
                  </a:lnTo>
                  <a:lnTo>
                    <a:pt x="22442" y="1639225"/>
                  </a:lnTo>
                  <a:cubicBezTo>
                    <a:pt x="213873" y="703722"/>
                    <a:pt x="1041606" y="0"/>
                    <a:pt x="2033702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0781415" y="0"/>
              <a:ext cx="1411679" cy="2445488"/>
            </a:xfrm>
            <a:custGeom>
              <a:avLst/>
              <a:gdLst>
                <a:gd name="connsiteX0" fmla="*/ 1222744 w 1411679"/>
                <a:gd name="connsiteY0" fmla="*/ 0 h 2445488"/>
                <a:gd name="connsiteX1" fmla="*/ 1347762 w 1411679"/>
                <a:gd name="connsiteY1" fmla="*/ 6313 h 2445488"/>
                <a:gd name="connsiteX2" fmla="*/ 1411679 w 1411679"/>
                <a:gd name="connsiteY2" fmla="*/ 16068 h 2445488"/>
                <a:gd name="connsiteX3" fmla="*/ 1411679 w 1411679"/>
                <a:gd name="connsiteY3" fmla="*/ 2429420 h 2445488"/>
                <a:gd name="connsiteX4" fmla="*/ 1347762 w 1411679"/>
                <a:gd name="connsiteY4" fmla="*/ 2439175 h 2445488"/>
                <a:gd name="connsiteX5" fmla="*/ 1222744 w 1411679"/>
                <a:gd name="connsiteY5" fmla="*/ 2445488 h 2445488"/>
                <a:gd name="connsiteX6" fmla="*/ 0 w 1411679"/>
                <a:gd name="connsiteY6" fmla="*/ 1222744 h 2445488"/>
                <a:gd name="connsiteX7" fmla="*/ 1222744 w 1411679"/>
                <a:gd name="connsiteY7" fmla="*/ 0 h 2445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1679" h="2445488">
                  <a:moveTo>
                    <a:pt x="1222744" y="0"/>
                  </a:moveTo>
                  <a:cubicBezTo>
                    <a:pt x="1264950" y="0"/>
                    <a:pt x="1306657" y="2138"/>
                    <a:pt x="1347762" y="6313"/>
                  </a:cubicBezTo>
                  <a:lnTo>
                    <a:pt x="1411679" y="16068"/>
                  </a:lnTo>
                  <a:lnTo>
                    <a:pt x="1411679" y="2429420"/>
                  </a:lnTo>
                  <a:lnTo>
                    <a:pt x="1347762" y="2439175"/>
                  </a:lnTo>
                  <a:cubicBezTo>
                    <a:pt x="1306657" y="2443350"/>
                    <a:pt x="1264950" y="2445488"/>
                    <a:pt x="1222744" y="2445488"/>
                  </a:cubicBezTo>
                  <a:cubicBezTo>
                    <a:pt x="547441" y="2445488"/>
                    <a:pt x="0" y="1898047"/>
                    <a:pt x="0" y="1222744"/>
                  </a:cubicBezTo>
                  <a:cubicBezTo>
                    <a:pt x="0" y="547441"/>
                    <a:pt x="547441" y="0"/>
                    <a:pt x="1222744" y="0"/>
                  </a:cubicBezTo>
                  <a:close/>
                </a:path>
              </a:pathLst>
            </a:custGeom>
            <a:solidFill>
              <a:srgbClr val="4473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/>
          </p:nvSpPr>
          <p:spPr>
            <a:xfrm>
              <a:off x="10709851" y="1924547"/>
              <a:ext cx="1482149" cy="2966376"/>
            </a:xfrm>
            <a:custGeom>
              <a:avLst/>
              <a:gdLst>
                <a:gd name="connsiteX0" fmla="*/ 1482149 w 1482149"/>
                <a:gd name="connsiteY0" fmla="*/ 0 h 2966376"/>
                <a:gd name="connsiteX1" fmla="*/ 1482149 w 1482149"/>
                <a:gd name="connsiteY1" fmla="*/ 2966376 h 2966376"/>
                <a:gd name="connsiteX2" fmla="*/ 1331590 w 1482149"/>
                <a:gd name="connsiteY2" fmla="*/ 2958773 h 2966376"/>
                <a:gd name="connsiteX3" fmla="*/ 0 w 1482149"/>
                <a:gd name="connsiteY3" fmla="*/ 1483188 h 2966376"/>
                <a:gd name="connsiteX4" fmla="*/ 1331590 w 1482149"/>
                <a:gd name="connsiteY4" fmla="*/ 7603 h 296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149" h="2966376">
                  <a:moveTo>
                    <a:pt x="1482149" y="0"/>
                  </a:moveTo>
                  <a:lnTo>
                    <a:pt x="1482149" y="2966376"/>
                  </a:lnTo>
                  <a:lnTo>
                    <a:pt x="1331590" y="2958773"/>
                  </a:lnTo>
                  <a:cubicBezTo>
                    <a:pt x="583656" y="2882816"/>
                    <a:pt x="0" y="2251162"/>
                    <a:pt x="0" y="1483188"/>
                  </a:cubicBezTo>
                  <a:cubicBezTo>
                    <a:pt x="0" y="715214"/>
                    <a:pt x="583656" y="83560"/>
                    <a:pt x="1331590" y="7603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846827" y="4146698"/>
              <a:ext cx="4345173" cy="2743200"/>
            </a:xfrm>
            <a:custGeom>
              <a:avLst/>
              <a:gdLst>
                <a:gd name="connsiteX0" fmla="*/ 2700670 w 4345173"/>
                <a:gd name="connsiteY0" fmla="*/ 0 h 2743200"/>
                <a:gd name="connsiteX1" fmla="*/ 4210640 w 4345173"/>
                <a:gd name="connsiteY1" fmla="*/ 461232 h 2743200"/>
                <a:gd name="connsiteX2" fmla="*/ 4345173 w 4345173"/>
                <a:gd name="connsiteY2" fmla="*/ 561834 h 2743200"/>
                <a:gd name="connsiteX3" fmla="*/ 4345173 w 4345173"/>
                <a:gd name="connsiteY3" fmla="*/ 2743200 h 2743200"/>
                <a:gd name="connsiteX4" fmla="*/ 2148 w 4345173"/>
                <a:gd name="connsiteY4" fmla="*/ 2743200 h 2743200"/>
                <a:gd name="connsiteX5" fmla="*/ 0 w 4345173"/>
                <a:gd name="connsiteY5" fmla="*/ 2700670 h 2743200"/>
                <a:gd name="connsiteX6" fmla="*/ 2700670 w 4345173"/>
                <a:gd name="connsiteY6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5173" h="2743200">
                  <a:moveTo>
                    <a:pt x="2700670" y="0"/>
                  </a:moveTo>
                  <a:cubicBezTo>
                    <a:pt x="3259997" y="0"/>
                    <a:pt x="3779611" y="170034"/>
                    <a:pt x="4210640" y="461232"/>
                  </a:cubicBezTo>
                  <a:lnTo>
                    <a:pt x="4345173" y="561834"/>
                  </a:lnTo>
                  <a:lnTo>
                    <a:pt x="4345173" y="2743200"/>
                  </a:lnTo>
                  <a:lnTo>
                    <a:pt x="2148" y="2743200"/>
                  </a:lnTo>
                  <a:lnTo>
                    <a:pt x="0" y="2700670"/>
                  </a:lnTo>
                  <a:cubicBezTo>
                    <a:pt x="0" y="1209131"/>
                    <a:pt x="1209131" y="0"/>
                    <a:pt x="2700670" y="0"/>
                  </a:cubicBezTo>
                  <a:close/>
                </a:path>
              </a:pathLst>
            </a:custGeom>
            <a:solidFill>
              <a:srgbClr val="ED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10320741" y="4830768"/>
              <a:ext cx="1871259" cy="2059130"/>
            </a:xfrm>
            <a:custGeom>
              <a:avLst/>
              <a:gdLst>
                <a:gd name="connsiteX0" fmla="*/ 1518224 w 1871259"/>
                <a:gd name="connsiteY0" fmla="*/ 0 h 2059130"/>
                <a:gd name="connsiteX1" fmla="*/ 1824199 w 1871259"/>
                <a:gd name="connsiteY1" fmla="*/ 30845 h 2059130"/>
                <a:gd name="connsiteX2" fmla="*/ 1871259 w 1871259"/>
                <a:gd name="connsiteY2" fmla="*/ 42946 h 2059130"/>
                <a:gd name="connsiteX3" fmla="*/ 1871259 w 1871259"/>
                <a:gd name="connsiteY3" fmla="*/ 2059130 h 2059130"/>
                <a:gd name="connsiteX4" fmla="*/ 100989 w 1871259"/>
                <a:gd name="connsiteY4" fmla="*/ 2059130 h 2059130"/>
                <a:gd name="connsiteX5" fmla="*/ 68256 w 1871259"/>
                <a:gd name="connsiteY5" fmla="*/ 1969698 h 2059130"/>
                <a:gd name="connsiteX6" fmla="*/ 0 w 1871259"/>
                <a:gd name="connsiteY6" fmla="*/ 1518224 h 2059130"/>
                <a:gd name="connsiteX7" fmla="*/ 1518224 w 1871259"/>
                <a:gd name="connsiteY7" fmla="*/ 0 h 2059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1259" h="2059130">
                  <a:moveTo>
                    <a:pt x="1518224" y="0"/>
                  </a:moveTo>
                  <a:cubicBezTo>
                    <a:pt x="1623036" y="0"/>
                    <a:pt x="1725366" y="10621"/>
                    <a:pt x="1824199" y="30845"/>
                  </a:cubicBezTo>
                  <a:lnTo>
                    <a:pt x="1871259" y="42946"/>
                  </a:lnTo>
                  <a:lnTo>
                    <a:pt x="1871259" y="2059130"/>
                  </a:lnTo>
                  <a:lnTo>
                    <a:pt x="100989" y="2059130"/>
                  </a:lnTo>
                  <a:lnTo>
                    <a:pt x="68256" y="1969698"/>
                  </a:lnTo>
                  <a:cubicBezTo>
                    <a:pt x="23897" y="1827077"/>
                    <a:pt x="0" y="1675442"/>
                    <a:pt x="0" y="1518224"/>
                  </a:cubicBezTo>
                  <a:cubicBezTo>
                    <a:pt x="0" y="679732"/>
                    <a:pt x="679732" y="0"/>
                    <a:pt x="1518224" y="0"/>
                  </a:cubicBezTo>
                  <a:close/>
                </a:path>
              </a:pathLst>
            </a:custGeom>
            <a:solidFill>
              <a:srgbClr val="7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2896897" y="2009678"/>
            <a:ext cx="3383176" cy="1440557"/>
          </a:xfrm>
          <a:prstGeom prst="rect">
            <a:avLst/>
          </a:prstGeom>
          <a:solidFill>
            <a:srgbClr val="44739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6269905" y="3429000"/>
            <a:ext cx="4739966" cy="2686211"/>
          </a:xfrm>
          <a:prstGeom prst="rect">
            <a:avLst/>
          </a:prstGeom>
          <a:solidFill>
            <a:srgbClr val="76B3E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Shape 5408"/>
          <p:cNvSpPr/>
          <p:nvPr>
            <p:custDataLst>
              <p:tags r:id="rId4"/>
            </p:custDataLst>
          </p:nvPr>
        </p:nvSpPr>
        <p:spPr>
          <a:xfrm>
            <a:off x="2896896" y="2012950"/>
            <a:ext cx="1200150" cy="1038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738"/>
                </a:moveTo>
                <a:cubicBezTo>
                  <a:pt x="21600" y="20855"/>
                  <a:pt x="20965" y="21600"/>
                  <a:pt x="20012" y="21600"/>
                </a:cubicBezTo>
                <a:cubicBezTo>
                  <a:pt x="1588" y="21600"/>
                  <a:pt x="1588" y="21600"/>
                  <a:pt x="1588" y="21600"/>
                </a:cubicBezTo>
                <a:cubicBezTo>
                  <a:pt x="635" y="21600"/>
                  <a:pt x="0" y="20855"/>
                  <a:pt x="0" y="19738"/>
                </a:cubicBezTo>
                <a:cubicBezTo>
                  <a:pt x="0" y="1490"/>
                  <a:pt x="0" y="1490"/>
                  <a:pt x="0" y="1490"/>
                </a:cubicBezTo>
                <a:cubicBezTo>
                  <a:pt x="0" y="745"/>
                  <a:pt x="635" y="0"/>
                  <a:pt x="1588" y="0"/>
                </a:cubicBezTo>
                <a:cubicBezTo>
                  <a:pt x="20012" y="0"/>
                  <a:pt x="20012" y="0"/>
                  <a:pt x="20012" y="0"/>
                </a:cubicBezTo>
                <a:cubicBezTo>
                  <a:pt x="20965" y="0"/>
                  <a:pt x="21600" y="745"/>
                  <a:pt x="21600" y="1490"/>
                </a:cubicBezTo>
                <a:lnTo>
                  <a:pt x="21600" y="19738"/>
                </a:lnTo>
                <a:close/>
                <a:moveTo>
                  <a:pt x="20012" y="5214"/>
                </a:moveTo>
                <a:cubicBezTo>
                  <a:pt x="20012" y="3724"/>
                  <a:pt x="20012" y="3724"/>
                  <a:pt x="20012" y="3724"/>
                </a:cubicBezTo>
                <a:cubicBezTo>
                  <a:pt x="20012" y="1490"/>
                  <a:pt x="20012" y="1490"/>
                  <a:pt x="20012" y="1490"/>
                </a:cubicBezTo>
                <a:cubicBezTo>
                  <a:pt x="9847" y="1490"/>
                  <a:pt x="9847" y="1490"/>
                  <a:pt x="9847" y="1490"/>
                </a:cubicBezTo>
                <a:cubicBezTo>
                  <a:pt x="9212" y="3352"/>
                  <a:pt x="9212" y="3352"/>
                  <a:pt x="9212" y="3352"/>
                </a:cubicBezTo>
                <a:cubicBezTo>
                  <a:pt x="1588" y="3352"/>
                  <a:pt x="1588" y="3352"/>
                  <a:pt x="1588" y="3352"/>
                </a:cubicBezTo>
                <a:cubicBezTo>
                  <a:pt x="1588" y="5214"/>
                  <a:pt x="1588" y="5214"/>
                  <a:pt x="1588" y="5214"/>
                </a:cubicBezTo>
                <a:lnTo>
                  <a:pt x="20012" y="5214"/>
                </a:lnTo>
                <a:close/>
                <a:moveTo>
                  <a:pt x="20012" y="19738"/>
                </a:moveTo>
                <a:cubicBezTo>
                  <a:pt x="20012" y="17876"/>
                  <a:pt x="20012" y="17876"/>
                  <a:pt x="20012" y="17876"/>
                </a:cubicBezTo>
                <a:cubicBezTo>
                  <a:pt x="1588" y="17876"/>
                  <a:pt x="1588" y="17876"/>
                  <a:pt x="1588" y="17876"/>
                </a:cubicBezTo>
                <a:cubicBezTo>
                  <a:pt x="1588" y="19738"/>
                  <a:pt x="1588" y="19738"/>
                  <a:pt x="1588" y="19738"/>
                </a:cubicBezTo>
                <a:lnTo>
                  <a:pt x="20012" y="19738"/>
                </a:lnTo>
                <a:close/>
                <a:moveTo>
                  <a:pt x="7624" y="2607"/>
                </a:moveTo>
                <a:cubicBezTo>
                  <a:pt x="7624" y="745"/>
                  <a:pt x="7624" y="745"/>
                  <a:pt x="7624" y="745"/>
                </a:cubicBezTo>
                <a:cubicBezTo>
                  <a:pt x="2859" y="745"/>
                  <a:pt x="2859" y="745"/>
                  <a:pt x="2859" y="745"/>
                </a:cubicBezTo>
                <a:cubicBezTo>
                  <a:pt x="2859" y="2607"/>
                  <a:pt x="2859" y="2607"/>
                  <a:pt x="2859" y="2607"/>
                </a:cubicBezTo>
                <a:lnTo>
                  <a:pt x="7624" y="2607"/>
                </a:lnTo>
                <a:close/>
                <a:moveTo>
                  <a:pt x="10800" y="6331"/>
                </a:moveTo>
                <a:cubicBezTo>
                  <a:pt x="8259" y="6331"/>
                  <a:pt x="6035" y="8566"/>
                  <a:pt x="6035" y="11545"/>
                </a:cubicBezTo>
                <a:cubicBezTo>
                  <a:pt x="6035" y="14524"/>
                  <a:pt x="8259" y="17131"/>
                  <a:pt x="10800" y="17131"/>
                </a:cubicBezTo>
                <a:cubicBezTo>
                  <a:pt x="13341" y="17131"/>
                  <a:pt x="15247" y="14524"/>
                  <a:pt x="15247" y="11545"/>
                </a:cubicBezTo>
                <a:cubicBezTo>
                  <a:pt x="15247" y="8566"/>
                  <a:pt x="13341" y="6331"/>
                  <a:pt x="10800" y="6331"/>
                </a:cubicBezTo>
                <a:close/>
                <a:moveTo>
                  <a:pt x="10800" y="15269"/>
                </a:moveTo>
                <a:cubicBezTo>
                  <a:pt x="8894" y="15269"/>
                  <a:pt x="7624" y="13779"/>
                  <a:pt x="7624" y="11545"/>
                </a:cubicBezTo>
                <a:cubicBezTo>
                  <a:pt x="7624" y="9683"/>
                  <a:pt x="8894" y="7821"/>
                  <a:pt x="10800" y="7821"/>
                </a:cubicBezTo>
                <a:cubicBezTo>
                  <a:pt x="12388" y="7821"/>
                  <a:pt x="13659" y="9683"/>
                  <a:pt x="13659" y="11545"/>
                </a:cubicBezTo>
                <a:cubicBezTo>
                  <a:pt x="13659" y="13779"/>
                  <a:pt x="12388" y="15269"/>
                  <a:pt x="10800" y="15269"/>
                </a:cubicBezTo>
                <a:close/>
                <a:moveTo>
                  <a:pt x="10800" y="9310"/>
                </a:moveTo>
                <a:cubicBezTo>
                  <a:pt x="9529" y="9310"/>
                  <a:pt x="8894" y="10428"/>
                  <a:pt x="8894" y="11545"/>
                </a:cubicBezTo>
                <a:cubicBezTo>
                  <a:pt x="8894" y="11917"/>
                  <a:pt x="8894" y="11917"/>
                  <a:pt x="9212" y="11917"/>
                </a:cubicBezTo>
                <a:cubicBezTo>
                  <a:pt x="9529" y="11917"/>
                  <a:pt x="9529" y="11917"/>
                  <a:pt x="9529" y="11545"/>
                </a:cubicBezTo>
                <a:cubicBezTo>
                  <a:pt x="9529" y="10800"/>
                  <a:pt x="10165" y="10055"/>
                  <a:pt x="10800" y="10055"/>
                </a:cubicBezTo>
                <a:cubicBezTo>
                  <a:pt x="10800" y="10055"/>
                  <a:pt x="11118" y="10055"/>
                  <a:pt x="11118" y="9683"/>
                </a:cubicBezTo>
                <a:cubicBezTo>
                  <a:pt x="11118" y="9683"/>
                  <a:pt x="10800" y="9310"/>
                  <a:pt x="10800" y="9310"/>
                </a:cubicBezTo>
                <a:close/>
              </a:path>
            </a:pathLst>
          </a:custGeom>
          <a:solidFill>
            <a:sysClr val="window" lastClr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Shape 5554"/>
          <p:cNvSpPr/>
          <p:nvPr>
            <p:custDataLst>
              <p:tags r:id="rId5"/>
            </p:custDataLst>
          </p:nvPr>
        </p:nvSpPr>
        <p:spPr>
          <a:xfrm>
            <a:off x="9809721" y="3422177"/>
            <a:ext cx="1200150" cy="9645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3" y="8000"/>
                </a:moveTo>
                <a:cubicBezTo>
                  <a:pt x="17153" y="12400"/>
                  <a:pt x="13341" y="15600"/>
                  <a:pt x="8576" y="15600"/>
                </a:cubicBezTo>
                <a:cubicBezTo>
                  <a:pt x="7941" y="15600"/>
                  <a:pt x="7306" y="15600"/>
                  <a:pt x="6353" y="15600"/>
                </a:cubicBezTo>
                <a:cubicBezTo>
                  <a:pt x="5400" y="16400"/>
                  <a:pt x="4447" y="17200"/>
                  <a:pt x="3176" y="17600"/>
                </a:cubicBezTo>
                <a:cubicBezTo>
                  <a:pt x="2859" y="17600"/>
                  <a:pt x="2541" y="17600"/>
                  <a:pt x="2224" y="17600"/>
                </a:cubicBezTo>
                <a:cubicBezTo>
                  <a:pt x="2224" y="17600"/>
                  <a:pt x="2224" y="17600"/>
                  <a:pt x="2224" y="17600"/>
                </a:cubicBezTo>
                <a:cubicBezTo>
                  <a:pt x="1906" y="17600"/>
                  <a:pt x="1588" y="17600"/>
                  <a:pt x="1588" y="17200"/>
                </a:cubicBezTo>
                <a:cubicBezTo>
                  <a:pt x="1588" y="16800"/>
                  <a:pt x="1906" y="16800"/>
                  <a:pt x="1906" y="16400"/>
                </a:cubicBezTo>
                <a:cubicBezTo>
                  <a:pt x="2541" y="16000"/>
                  <a:pt x="2859" y="15200"/>
                  <a:pt x="3494" y="14000"/>
                </a:cubicBezTo>
                <a:cubicBezTo>
                  <a:pt x="1271" y="12800"/>
                  <a:pt x="0" y="10400"/>
                  <a:pt x="0" y="8000"/>
                </a:cubicBezTo>
                <a:cubicBezTo>
                  <a:pt x="0" y="3600"/>
                  <a:pt x="3812" y="0"/>
                  <a:pt x="8576" y="0"/>
                </a:cubicBezTo>
                <a:cubicBezTo>
                  <a:pt x="13341" y="0"/>
                  <a:pt x="17153" y="3600"/>
                  <a:pt x="17153" y="8000"/>
                </a:cubicBezTo>
                <a:close/>
                <a:moveTo>
                  <a:pt x="1588" y="8000"/>
                </a:moveTo>
                <a:cubicBezTo>
                  <a:pt x="1588" y="9600"/>
                  <a:pt x="2541" y="11200"/>
                  <a:pt x="4129" y="12400"/>
                </a:cubicBezTo>
                <a:cubicBezTo>
                  <a:pt x="5400" y="13200"/>
                  <a:pt x="5400" y="13200"/>
                  <a:pt x="5400" y="13200"/>
                </a:cubicBezTo>
                <a:cubicBezTo>
                  <a:pt x="4765" y="14400"/>
                  <a:pt x="4765" y="14400"/>
                  <a:pt x="4765" y="14400"/>
                </a:cubicBezTo>
                <a:cubicBezTo>
                  <a:pt x="5082" y="14400"/>
                  <a:pt x="5400" y="14000"/>
                  <a:pt x="5718" y="14000"/>
                </a:cubicBezTo>
                <a:cubicBezTo>
                  <a:pt x="6035" y="13600"/>
                  <a:pt x="6035" y="13600"/>
                  <a:pt x="6035" y="13600"/>
                </a:cubicBezTo>
                <a:cubicBezTo>
                  <a:pt x="6671" y="13600"/>
                  <a:pt x="6671" y="13600"/>
                  <a:pt x="6671" y="13600"/>
                </a:cubicBezTo>
                <a:cubicBezTo>
                  <a:pt x="7306" y="13600"/>
                  <a:pt x="7941" y="13600"/>
                  <a:pt x="8576" y="13600"/>
                </a:cubicBezTo>
                <a:cubicBezTo>
                  <a:pt x="12388" y="13600"/>
                  <a:pt x="15565" y="11200"/>
                  <a:pt x="15565" y="8000"/>
                </a:cubicBezTo>
                <a:cubicBezTo>
                  <a:pt x="15565" y="4800"/>
                  <a:pt x="12388" y="2000"/>
                  <a:pt x="8576" y="2000"/>
                </a:cubicBezTo>
                <a:cubicBezTo>
                  <a:pt x="4765" y="2000"/>
                  <a:pt x="1588" y="4800"/>
                  <a:pt x="1588" y="8000"/>
                </a:cubicBezTo>
                <a:close/>
                <a:moveTo>
                  <a:pt x="20012" y="20400"/>
                </a:moveTo>
                <a:cubicBezTo>
                  <a:pt x="20012" y="20800"/>
                  <a:pt x="20329" y="20800"/>
                  <a:pt x="20329" y="21200"/>
                </a:cubicBezTo>
                <a:cubicBezTo>
                  <a:pt x="20012" y="21200"/>
                  <a:pt x="20012" y="21600"/>
                  <a:pt x="19694" y="21600"/>
                </a:cubicBezTo>
                <a:cubicBezTo>
                  <a:pt x="19376" y="21600"/>
                  <a:pt x="19059" y="21600"/>
                  <a:pt x="18741" y="21200"/>
                </a:cubicBezTo>
                <a:cubicBezTo>
                  <a:pt x="17471" y="20800"/>
                  <a:pt x="16518" y="20400"/>
                  <a:pt x="15247" y="19200"/>
                </a:cubicBezTo>
                <a:cubicBezTo>
                  <a:pt x="14612" y="19600"/>
                  <a:pt x="13976" y="19600"/>
                  <a:pt x="13341" y="19600"/>
                </a:cubicBezTo>
                <a:cubicBezTo>
                  <a:pt x="11118" y="19600"/>
                  <a:pt x="9212" y="18800"/>
                  <a:pt x="7624" y="17600"/>
                </a:cubicBezTo>
                <a:cubicBezTo>
                  <a:pt x="7941" y="17600"/>
                  <a:pt x="8259" y="17600"/>
                  <a:pt x="8576" y="17600"/>
                </a:cubicBezTo>
                <a:cubicBezTo>
                  <a:pt x="11118" y="17600"/>
                  <a:pt x="13659" y="16800"/>
                  <a:pt x="15565" y="15200"/>
                </a:cubicBezTo>
                <a:cubicBezTo>
                  <a:pt x="17471" y="13200"/>
                  <a:pt x="18741" y="10800"/>
                  <a:pt x="18741" y="8000"/>
                </a:cubicBezTo>
                <a:cubicBezTo>
                  <a:pt x="18741" y="7200"/>
                  <a:pt x="18424" y="6400"/>
                  <a:pt x="18424" y="5600"/>
                </a:cubicBezTo>
                <a:cubicBezTo>
                  <a:pt x="20329" y="7200"/>
                  <a:pt x="21600" y="9200"/>
                  <a:pt x="21600" y="12000"/>
                </a:cubicBezTo>
                <a:cubicBezTo>
                  <a:pt x="21600" y="14400"/>
                  <a:pt x="20647" y="16400"/>
                  <a:pt x="18424" y="18000"/>
                </a:cubicBezTo>
                <a:cubicBezTo>
                  <a:pt x="19059" y="19200"/>
                  <a:pt x="19376" y="19600"/>
                  <a:pt x="20012" y="20400"/>
                </a:cubicBezTo>
                <a:close/>
              </a:path>
            </a:pathLst>
          </a:custGeom>
          <a:solidFill>
            <a:sysClr val="window" lastClr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文本框6"/>
          <p:cNvSpPr/>
          <p:nvPr>
            <p:custDataLst>
              <p:tags r:id="rId6"/>
            </p:custDataLst>
          </p:nvPr>
        </p:nvSpPr>
        <p:spPr>
          <a:xfrm>
            <a:off x="366869" y="2606867"/>
            <a:ext cx="2425700" cy="2078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0"/>
              </a:lnSpc>
              <a:spcBef>
                <a:spcPts val="2950"/>
              </a:spcBef>
              <a:defRPr/>
            </a:pPr>
            <a:r>
              <a:rPr lang="zh-CN" altLang="en-US" sz="1600" b="1" dirty="0"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部分基本功能的实现</a:t>
            </a:r>
            <a:endParaRPr lang="en-US" altLang="zh-CN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1.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碰撞检测</a:t>
            </a:r>
            <a:endParaRPr lang="en-US" altLang="zh-CN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2.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暂停</a:t>
            </a: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/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推出</a:t>
            </a:r>
            <a:endParaRPr lang="en-US" altLang="zh-CN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3.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死亡状态判定</a:t>
            </a:r>
            <a:endParaRPr lang="en-US" altLang="zh-CN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4.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奖惩机制设计（积分）</a:t>
            </a:r>
          </a:p>
          <a:p>
            <a:pPr marL="285750" lvl="0" indent="-285750" algn="l">
              <a:lnSpc>
                <a:spcPct val="0"/>
              </a:lnSpc>
              <a:spcBef>
                <a:spcPts val="2950"/>
              </a:spcBef>
              <a:buFont typeface="Arial" panose="020B0604020202020204" pitchFamily="34" charset="0"/>
              <a:buChar char="•"/>
              <a:defRPr/>
            </a:pPr>
            <a:endParaRPr lang="zh-CN" altLang="en-US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  <p:sp>
        <p:nvSpPr>
          <p:cNvPr id="32" name="文本框5"/>
          <p:cNvSpPr/>
          <p:nvPr>
            <p:custDataLst>
              <p:tags r:id="rId7"/>
            </p:custDataLst>
          </p:nvPr>
        </p:nvSpPr>
        <p:spPr>
          <a:xfrm>
            <a:off x="2483743" y="3461202"/>
            <a:ext cx="24047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44739D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美术资源优化</a:t>
            </a:r>
          </a:p>
        </p:txBody>
      </p:sp>
      <p:sp>
        <p:nvSpPr>
          <p:cNvPr id="34" name="文本框5"/>
          <p:cNvSpPr/>
          <p:nvPr>
            <p:custDataLst>
              <p:tags r:id="rId8"/>
            </p:custDataLst>
          </p:nvPr>
        </p:nvSpPr>
        <p:spPr>
          <a:xfrm>
            <a:off x="133293" y="2101197"/>
            <a:ext cx="286448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EDCC87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游戏功能</a:t>
            </a:r>
          </a:p>
        </p:txBody>
      </p:sp>
      <p:sp>
        <p:nvSpPr>
          <p:cNvPr id="36" name="文本框5"/>
          <p:cNvSpPr/>
          <p:nvPr>
            <p:custDataLst>
              <p:tags r:id="rId9"/>
            </p:custDataLst>
          </p:nvPr>
        </p:nvSpPr>
        <p:spPr>
          <a:xfrm>
            <a:off x="8211820" y="4213225"/>
            <a:ext cx="300164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76B3E9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交互与体验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730561" y="727031"/>
            <a:ext cx="4191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已有功能进行优化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44739D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rgbClr val="44739D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以及</a:t>
            </a:r>
            <a:endParaRPr lang="en-US" altLang="zh-CN" sz="3200" b="1" dirty="0">
              <a:solidFill>
                <a:srgbClr val="44739D"/>
              </a:solidFill>
              <a:latin typeface="等线" panose="02010600030101010101" pitchFamily="2" charset="-122"/>
              <a:ea typeface="等线" panose="02010600030101010101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39D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新功能追加</a:t>
            </a:r>
          </a:p>
        </p:txBody>
      </p:sp>
      <p:sp>
        <p:nvSpPr>
          <p:cNvPr id="4" name="矩形 3"/>
          <p:cNvSpPr/>
          <p:nvPr>
            <p:custDataLst>
              <p:tags r:id="rId10"/>
            </p:custDataLst>
          </p:nvPr>
        </p:nvSpPr>
        <p:spPr>
          <a:xfrm>
            <a:off x="729280" y="743805"/>
            <a:ext cx="2167615" cy="1241822"/>
          </a:xfrm>
          <a:prstGeom prst="rect">
            <a:avLst/>
          </a:prstGeom>
          <a:solidFill>
            <a:srgbClr val="EDCC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圆角矩形 4"/>
          <p:cNvSpPr/>
          <p:nvPr>
            <p:custDataLst>
              <p:tags r:id="rId11"/>
            </p:custDataLst>
          </p:nvPr>
        </p:nvSpPr>
        <p:spPr>
          <a:xfrm>
            <a:off x="1838020" y="1019101"/>
            <a:ext cx="1046480" cy="9855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Group 44"/>
          <p:cNvGrpSpPr/>
          <p:nvPr>
            <p:custDataLst>
              <p:tags r:id="rId12"/>
            </p:custDataLst>
          </p:nvPr>
        </p:nvGrpSpPr>
        <p:grpSpPr bwMode="auto">
          <a:xfrm>
            <a:off x="2105686" y="1297637"/>
            <a:ext cx="791210" cy="724535"/>
            <a:chOff x="0" y="0"/>
            <a:chExt cx="1200" cy="1200"/>
          </a:xfrm>
          <a:solidFill>
            <a:srgbClr val="EDCC87"/>
          </a:solidFill>
        </p:grpSpPr>
        <p:sp>
          <p:nvSpPr>
            <p:cNvPr id="8" name="AutoShape 74"/>
            <p:cNvSpPr/>
            <p:nvPr>
              <p:custDataLst>
                <p:tags r:id="rId15"/>
              </p:custDataLst>
            </p:nvPr>
          </p:nvSpPr>
          <p:spPr bwMode="auto">
            <a:xfrm>
              <a:off x="96" y="96"/>
              <a:ext cx="1007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24EB3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grpSp>
          <p:nvGrpSpPr>
            <p:cNvPr id="9" name="Group 46"/>
            <p:cNvGrpSpPr/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1" name="AutoShape 76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2" name="AutoShape 77"/>
              <p:cNvSpPr/>
              <p:nvPr>
                <p:custDataLst>
                  <p:tags r:id="rId23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" name="Group 49"/>
            <p:cNvGrpSpPr/>
            <p:nvPr/>
          </p:nvGrpSpPr>
          <p:grpSpPr bwMode="auto">
            <a:xfrm rot="-54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4" name="AutoShape 79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6" name="AutoShape 80"/>
              <p:cNvSpPr/>
              <p:nvPr>
                <p:custDataLst>
                  <p:tags r:id="rId21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" name="Group 52"/>
            <p:cNvGrpSpPr/>
            <p:nvPr/>
          </p:nvGrpSpPr>
          <p:grpSpPr bwMode="auto">
            <a:xfrm rot="-27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18" name="AutoShape 82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9" name="AutoShape 83"/>
              <p:cNvSpPr/>
              <p:nvPr>
                <p:custDataLst>
                  <p:tags r:id="rId19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20" name="Group 55"/>
            <p:cNvGrpSpPr/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21" name="AutoShape 85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43" name="AutoShape 86"/>
              <p:cNvSpPr/>
              <p:nvPr>
                <p:custDataLst>
                  <p:tags r:id="rId17"/>
                </p:custDataLst>
              </p:nvPr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124EB3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  <p:sp>
        <p:nvSpPr>
          <p:cNvPr id="45" name="文本框6"/>
          <p:cNvSpPr/>
          <p:nvPr>
            <p:custDataLst>
              <p:tags r:id="rId13"/>
            </p:custDataLst>
          </p:nvPr>
        </p:nvSpPr>
        <p:spPr>
          <a:xfrm>
            <a:off x="2696648" y="4010193"/>
            <a:ext cx="2425700" cy="1691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0"/>
              </a:lnSpc>
              <a:spcBef>
                <a:spcPts val="2950"/>
              </a:spcBef>
              <a:buClrTx/>
              <a:buSzTx/>
              <a:buNone/>
              <a:defRPr/>
            </a:pPr>
            <a:r>
              <a:rPr lang="en-US" altLang="zh-CN" sz="1600" b="1" dirty="0">
                <a:solidFill>
                  <a:prstClr val="white">
                    <a:lumMod val="5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Graphics模块</a:t>
            </a:r>
            <a:endParaRPr lang="zh-CN" altLang="en-US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1.UI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设计完善</a:t>
            </a:r>
            <a:endParaRPr lang="en-US" altLang="zh-CN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2.Player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设计</a:t>
            </a:r>
          </a:p>
          <a:p>
            <a:pPr lvl="0"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3.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场景变化</a:t>
            </a:r>
            <a:r>
              <a:rPr lang="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 </a:t>
            </a:r>
          </a:p>
          <a:p>
            <a:pPr lvl="0"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4.</a:t>
            </a:r>
            <a:r>
              <a:rPr lang="zh-CN" altLang="en-US" sz="1600" dirty="0">
                <a:solidFill>
                  <a:prstClr val="white">
                    <a:lumMod val="50000"/>
                  </a:prst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粒子特效</a:t>
            </a:r>
          </a:p>
        </p:txBody>
      </p:sp>
      <p:sp>
        <p:nvSpPr>
          <p:cNvPr id="46" name="文本框6"/>
          <p:cNvSpPr/>
          <p:nvPr>
            <p:custDataLst>
              <p:tags r:id="rId14"/>
            </p:custDataLst>
          </p:nvPr>
        </p:nvSpPr>
        <p:spPr>
          <a:xfrm>
            <a:off x="6400490" y="4213225"/>
            <a:ext cx="2425700" cy="1304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0"/>
              </a:lnSpc>
              <a:spcBef>
                <a:spcPts val="2950"/>
              </a:spcBef>
              <a:buClrTx/>
              <a:buSzTx/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基础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模块</a:t>
            </a:r>
            <a:endParaRPr lang="en-US" altLang="zh-CN" sz="1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1.Audio</a:t>
            </a: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类的实现</a:t>
            </a:r>
            <a:endParaRPr lang="en-US" altLang="zh-CN" sz="1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  <a:p>
            <a:pPr algn="l">
              <a:lnSpc>
                <a:spcPct val="0"/>
              </a:lnSpc>
              <a:spcBef>
                <a:spcPts val="2950"/>
              </a:spcBef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2.Text</a:t>
            </a: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  <a:sym typeface="+mn-lt"/>
              </a:rPr>
              <a:t>类的实现</a:t>
            </a:r>
          </a:p>
          <a:p>
            <a:pPr marL="285750" lvl="0" indent="-285750" algn="l">
              <a:lnSpc>
                <a:spcPct val="0"/>
              </a:lnSpc>
              <a:spcBef>
                <a:spcPts val="2950"/>
              </a:spcBef>
              <a:buFont typeface="Arial" panose="020B0604020202020204" pitchFamily="34" charset="0"/>
              <a:buChar char="•"/>
              <a:defRPr/>
            </a:pPr>
            <a:endParaRPr lang="zh-CN" altLang="en-US" sz="1600" dirty="0">
              <a:solidFill>
                <a:prstClr val="white">
                  <a:lumMod val="50000"/>
                </a:prst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流程图: 过程 38"/>
          <p:cNvSpPr/>
          <p:nvPr/>
        </p:nvSpPr>
        <p:spPr>
          <a:xfrm>
            <a:off x="-22480" y="0"/>
            <a:ext cx="12214480" cy="6873007"/>
          </a:xfrm>
          <a:prstGeom prst="flowChartProcess">
            <a:avLst/>
          </a:prstGeom>
          <a:solidFill>
            <a:srgbClr val="FAF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10367203" y="1494220"/>
            <a:ext cx="1307006" cy="130700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4575320" y="5086736"/>
            <a:ext cx="4067405" cy="1786271"/>
          </a:xfrm>
          <a:custGeom>
            <a:avLst/>
            <a:gdLst>
              <a:gd name="connsiteX0" fmla="*/ 2033702 w 4067405"/>
              <a:gd name="connsiteY0" fmla="*/ 0 h 1786271"/>
              <a:gd name="connsiteX1" fmla="*/ 4044963 w 4067405"/>
              <a:gd name="connsiteY1" fmla="*/ 1639225 h 1786271"/>
              <a:gd name="connsiteX2" fmla="*/ 4067405 w 4067405"/>
              <a:gd name="connsiteY2" fmla="*/ 1786271 h 1786271"/>
              <a:gd name="connsiteX3" fmla="*/ 0 w 4067405"/>
              <a:gd name="connsiteY3" fmla="*/ 1786271 h 1786271"/>
              <a:gd name="connsiteX4" fmla="*/ 22442 w 4067405"/>
              <a:gd name="connsiteY4" fmla="*/ 1639225 h 1786271"/>
              <a:gd name="connsiteX5" fmla="*/ 2033702 w 4067405"/>
              <a:gd name="connsiteY5" fmla="*/ 0 h 1786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7405" h="1786271">
                <a:moveTo>
                  <a:pt x="2033702" y="0"/>
                </a:moveTo>
                <a:cubicBezTo>
                  <a:pt x="3025798" y="0"/>
                  <a:pt x="3853531" y="703722"/>
                  <a:pt x="4044963" y="1639225"/>
                </a:cubicBezTo>
                <a:lnTo>
                  <a:pt x="4067405" y="1786271"/>
                </a:lnTo>
                <a:lnTo>
                  <a:pt x="0" y="1786271"/>
                </a:lnTo>
                <a:lnTo>
                  <a:pt x="22442" y="1639225"/>
                </a:lnTo>
                <a:cubicBezTo>
                  <a:pt x="213873" y="703722"/>
                  <a:pt x="1041606" y="0"/>
                  <a:pt x="2033702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0781415" y="0"/>
            <a:ext cx="1411679" cy="2445488"/>
          </a:xfrm>
          <a:custGeom>
            <a:avLst/>
            <a:gdLst>
              <a:gd name="connsiteX0" fmla="*/ 1222744 w 1411679"/>
              <a:gd name="connsiteY0" fmla="*/ 0 h 2445488"/>
              <a:gd name="connsiteX1" fmla="*/ 1347762 w 1411679"/>
              <a:gd name="connsiteY1" fmla="*/ 6313 h 2445488"/>
              <a:gd name="connsiteX2" fmla="*/ 1411679 w 1411679"/>
              <a:gd name="connsiteY2" fmla="*/ 16068 h 2445488"/>
              <a:gd name="connsiteX3" fmla="*/ 1411679 w 1411679"/>
              <a:gd name="connsiteY3" fmla="*/ 2429420 h 2445488"/>
              <a:gd name="connsiteX4" fmla="*/ 1347762 w 1411679"/>
              <a:gd name="connsiteY4" fmla="*/ 2439175 h 2445488"/>
              <a:gd name="connsiteX5" fmla="*/ 1222744 w 1411679"/>
              <a:gd name="connsiteY5" fmla="*/ 2445488 h 2445488"/>
              <a:gd name="connsiteX6" fmla="*/ 0 w 1411679"/>
              <a:gd name="connsiteY6" fmla="*/ 1222744 h 2445488"/>
              <a:gd name="connsiteX7" fmla="*/ 1222744 w 1411679"/>
              <a:gd name="connsiteY7" fmla="*/ 0 h 244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1679" h="2445488">
                <a:moveTo>
                  <a:pt x="1222744" y="0"/>
                </a:moveTo>
                <a:cubicBezTo>
                  <a:pt x="1264950" y="0"/>
                  <a:pt x="1306657" y="2138"/>
                  <a:pt x="1347762" y="6313"/>
                </a:cubicBezTo>
                <a:lnTo>
                  <a:pt x="1411679" y="16068"/>
                </a:lnTo>
                <a:lnTo>
                  <a:pt x="1411679" y="2429420"/>
                </a:lnTo>
                <a:lnTo>
                  <a:pt x="1347762" y="2439175"/>
                </a:lnTo>
                <a:cubicBezTo>
                  <a:pt x="1306657" y="2443350"/>
                  <a:pt x="1264950" y="2445488"/>
                  <a:pt x="1222744" y="2445488"/>
                </a:cubicBezTo>
                <a:cubicBezTo>
                  <a:pt x="547441" y="2445488"/>
                  <a:pt x="0" y="1898047"/>
                  <a:pt x="0" y="1222744"/>
                </a:cubicBezTo>
                <a:cubicBezTo>
                  <a:pt x="0" y="547441"/>
                  <a:pt x="547441" y="0"/>
                  <a:pt x="1222744" y="0"/>
                </a:cubicBezTo>
                <a:close/>
              </a:path>
            </a:pathLst>
          </a:cu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709851" y="1924547"/>
            <a:ext cx="1482149" cy="2966376"/>
          </a:xfrm>
          <a:custGeom>
            <a:avLst/>
            <a:gdLst>
              <a:gd name="connsiteX0" fmla="*/ 1482149 w 1482149"/>
              <a:gd name="connsiteY0" fmla="*/ 0 h 2966376"/>
              <a:gd name="connsiteX1" fmla="*/ 1482149 w 1482149"/>
              <a:gd name="connsiteY1" fmla="*/ 2966376 h 2966376"/>
              <a:gd name="connsiteX2" fmla="*/ 1331590 w 1482149"/>
              <a:gd name="connsiteY2" fmla="*/ 2958773 h 2966376"/>
              <a:gd name="connsiteX3" fmla="*/ 0 w 1482149"/>
              <a:gd name="connsiteY3" fmla="*/ 1483188 h 2966376"/>
              <a:gd name="connsiteX4" fmla="*/ 1331590 w 1482149"/>
              <a:gd name="connsiteY4" fmla="*/ 7603 h 29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2149" h="2966376">
                <a:moveTo>
                  <a:pt x="1482149" y="0"/>
                </a:moveTo>
                <a:lnTo>
                  <a:pt x="1482149" y="2966376"/>
                </a:lnTo>
                <a:lnTo>
                  <a:pt x="1331590" y="2958773"/>
                </a:lnTo>
                <a:cubicBezTo>
                  <a:pt x="583656" y="2882816"/>
                  <a:pt x="0" y="2251162"/>
                  <a:pt x="0" y="1483188"/>
                </a:cubicBezTo>
                <a:cubicBezTo>
                  <a:pt x="0" y="715214"/>
                  <a:pt x="583656" y="83560"/>
                  <a:pt x="1331590" y="7603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7846827" y="4114800"/>
            <a:ext cx="4345173" cy="2743200"/>
          </a:xfrm>
          <a:custGeom>
            <a:avLst/>
            <a:gdLst>
              <a:gd name="connsiteX0" fmla="*/ 2700670 w 4345173"/>
              <a:gd name="connsiteY0" fmla="*/ 0 h 2743200"/>
              <a:gd name="connsiteX1" fmla="*/ 4210640 w 4345173"/>
              <a:gd name="connsiteY1" fmla="*/ 461232 h 2743200"/>
              <a:gd name="connsiteX2" fmla="*/ 4345173 w 4345173"/>
              <a:gd name="connsiteY2" fmla="*/ 561834 h 2743200"/>
              <a:gd name="connsiteX3" fmla="*/ 4345173 w 4345173"/>
              <a:gd name="connsiteY3" fmla="*/ 2743200 h 2743200"/>
              <a:gd name="connsiteX4" fmla="*/ 2148 w 4345173"/>
              <a:gd name="connsiteY4" fmla="*/ 2743200 h 2743200"/>
              <a:gd name="connsiteX5" fmla="*/ 0 w 4345173"/>
              <a:gd name="connsiteY5" fmla="*/ 2700670 h 2743200"/>
              <a:gd name="connsiteX6" fmla="*/ 2700670 w 4345173"/>
              <a:gd name="connsiteY6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5173" h="2743200">
                <a:moveTo>
                  <a:pt x="2700670" y="0"/>
                </a:moveTo>
                <a:cubicBezTo>
                  <a:pt x="3259997" y="0"/>
                  <a:pt x="3779611" y="170034"/>
                  <a:pt x="4210640" y="461232"/>
                </a:cubicBezTo>
                <a:lnTo>
                  <a:pt x="4345173" y="561834"/>
                </a:lnTo>
                <a:lnTo>
                  <a:pt x="4345173" y="2743200"/>
                </a:lnTo>
                <a:lnTo>
                  <a:pt x="2148" y="2743200"/>
                </a:lnTo>
                <a:lnTo>
                  <a:pt x="0" y="2700670"/>
                </a:lnTo>
                <a:cubicBezTo>
                  <a:pt x="0" y="1209131"/>
                  <a:pt x="1209131" y="0"/>
                  <a:pt x="270067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8" name="流程图: 联系 17"/>
          <p:cNvSpPr/>
          <p:nvPr/>
        </p:nvSpPr>
        <p:spPr>
          <a:xfrm>
            <a:off x="9446242" y="466022"/>
            <a:ext cx="597197" cy="597197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流程图: 联系 25"/>
          <p:cNvSpPr/>
          <p:nvPr/>
        </p:nvSpPr>
        <p:spPr>
          <a:xfrm>
            <a:off x="8962561" y="1084077"/>
            <a:ext cx="277333" cy="277333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7" name="流程图: 联系 26"/>
          <p:cNvSpPr/>
          <p:nvPr/>
        </p:nvSpPr>
        <p:spPr>
          <a:xfrm>
            <a:off x="8179296" y="4462102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流程图: 联系 27"/>
          <p:cNvSpPr/>
          <p:nvPr/>
        </p:nvSpPr>
        <p:spPr>
          <a:xfrm>
            <a:off x="8799921" y="487287"/>
            <a:ext cx="277333" cy="277333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7865428" y="0"/>
            <a:ext cx="277334" cy="138667"/>
          </a:xfrm>
          <a:custGeom>
            <a:avLst/>
            <a:gdLst>
              <a:gd name="connsiteX0" fmla="*/ 0 w 277334"/>
              <a:gd name="connsiteY0" fmla="*/ 0 h 138667"/>
              <a:gd name="connsiteX1" fmla="*/ 277334 w 277334"/>
              <a:gd name="connsiteY1" fmla="*/ 0 h 138667"/>
              <a:gd name="connsiteX2" fmla="*/ 138667 w 277334"/>
              <a:gd name="connsiteY2" fmla="*/ 138667 h 138667"/>
              <a:gd name="connsiteX3" fmla="*/ 0 w 277334"/>
              <a:gd name="connsiteY3" fmla="*/ 0 h 138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4" h="138667">
                <a:moveTo>
                  <a:pt x="0" y="0"/>
                </a:moveTo>
                <a:lnTo>
                  <a:pt x="277334" y="0"/>
                </a:lnTo>
                <a:cubicBezTo>
                  <a:pt x="277334" y="76584"/>
                  <a:pt x="215251" y="138667"/>
                  <a:pt x="138667" y="138667"/>
                </a:cubicBezTo>
                <a:cubicBezTo>
                  <a:pt x="62083" y="138667"/>
                  <a:pt x="0" y="76584"/>
                  <a:pt x="0" y="0"/>
                </a:cubicBezTo>
                <a:close/>
              </a:path>
            </a:pathLst>
          </a:cu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流程图: 联系 31"/>
          <p:cNvSpPr/>
          <p:nvPr/>
        </p:nvSpPr>
        <p:spPr>
          <a:xfrm>
            <a:off x="4436653" y="5713613"/>
            <a:ext cx="368210" cy="368210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流程图: 联系 32"/>
          <p:cNvSpPr/>
          <p:nvPr/>
        </p:nvSpPr>
        <p:spPr>
          <a:xfrm>
            <a:off x="3951321" y="5518298"/>
            <a:ext cx="195316" cy="195316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流程图: 联系 33"/>
          <p:cNvSpPr/>
          <p:nvPr/>
        </p:nvSpPr>
        <p:spPr>
          <a:xfrm>
            <a:off x="1477520" y="5984165"/>
            <a:ext cx="106731" cy="106731"/>
          </a:xfrm>
          <a:prstGeom prst="flowChartConnector">
            <a:avLst/>
          </a:pr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5" name="流程图: 联系 34"/>
          <p:cNvSpPr/>
          <p:nvPr/>
        </p:nvSpPr>
        <p:spPr>
          <a:xfrm>
            <a:off x="1416660" y="5562590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6" name="流程图: 联系 35"/>
          <p:cNvSpPr/>
          <p:nvPr/>
        </p:nvSpPr>
        <p:spPr>
          <a:xfrm>
            <a:off x="651309" y="4706818"/>
            <a:ext cx="184105" cy="184105"/>
          </a:xfrm>
          <a:prstGeom prst="flowChartConnector">
            <a:avLst/>
          </a:prstGeom>
          <a:solidFill>
            <a:srgbClr val="EDC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7" name="任意多边形 46"/>
          <p:cNvSpPr/>
          <p:nvPr/>
        </p:nvSpPr>
        <p:spPr>
          <a:xfrm>
            <a:off x="10321288" y="4798870"/>
            <a:ext cx="1871259" cy="2059130"/>
          </a:xfrm>
          <a:custGeom>
            <a:avLst/>
            <a:gdLst>
              <a:gd name="connsiteX0" fmla="*/ 1518224 w 1871259"/>
              <a:gd name="connsiteY0" fmla="*/ 0 h 2059130"/>
              <a:gd name="connsiteX1" fmla="*/ 1824199 w 1871259"/>
              <a:gd name="connsiteY1" fmla="*/ 30845 h 2059130"/>
              <a:gd name="connsiteX2" fmla="*/ 1871259 w 1871259"/>
              <a:gd name="connsiteY2" fmla="*/ 42946 h 2059130"/>
              <a:gd name="connsiteX3" fmla="*/ 1871259 w 1871259"/>
              <a:gd name="connsiteY3" fmla="*/ 2059130 h 2059130"/>
              <a:gd name="connsiteX4" fmla="*/ 100989 w 1871259"/>
              <a:gd name="connsiteY4" fmla="*/ 2059130 h 2059130"/>
              <a:gd name="connsiteX5" fmla="*/ 68256 w 1871259"/>
              <a:gd name="connsiteY5" fmla="*/ 1969698 h 2059130"/>
              <a:gd name="connsiteX6" fmla="*/ 0 w 1871259"/>
              <a:gd name="connsiteY6" fmla="*/ 1518224 h 2059130"/>
              <a:gd name="connsiteX7" fmla="*/ 1518224 w 1871259"/>
              <a:gd name="connsiteY7" fmla="*/ 0 h 205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71259" h="2059130">
                <a:moveTo>
                  <a:pt x="1518224" y="0"/>
                </a:moveTo>
                <a:cubicBezTo>
                  <a:pt x="1623036" y="0"/>
                  <a:pt x="1725366" y="10621"/>
                  <a:pt x="1824199" y="30845"/>
                </a:cubicBezTo>
                <a:lnTo>
                  <a:pt x="1871259" y="42946"/>
                </a:lnTo>
                <a:lnTo>
                  <a:pt x="1871259" y="2059130"/>
                </a:lnTo>
                <a:lnTo>
                  <a:pt x="100989" y="2059130"/>
                </a:lnTo>
                <a:lnTo>
                  <a:pt x="68256" y="1969698"/>
                </a:lnTo>
                <a:cubicBezTo>
                  <a:pt x="23897" y="1827077"/>
                  <a:pt x="0" y="1675442"/>
                  <a:pt x="0" y="1518224"/>
                </a:cubicBezTo>
                <a:cubicBezTo>
                  <a:pt x="0" y="679732"/>
                  <a:pt x="679732" y="0"/>
                  <a:pt x="1518224" y="0"/>
                </a:cubicBezTo>
                <a:close/>
              </a:path>
            </a:pathLst>
          </a:custGeom>
          <a:solidFill>
            <a:srgbClr val="76B3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1478783" y="-31844"/>
            <a:ext cx="7495" cy="3912781"/>
          </a:xfrm>
          <a:prstGeom prst="line">
            <a:avLst/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弧形 50"/>
          <p:cNvSpPr/>
          <p:nvPr/>
        </p:nvSpPr>
        <p:spPr>
          <a:xfrm flipH="1" flipV="1">
            <a:off x="-106327" y="3391786"/>
            <a:ext cx="3300197" cy="3593804"/>
          </a:xfrm>
          <a:prstGeom prst="arc">
            <a:avLst>
              <a:gd name="adj1" fmla="val 17407053"/>
              <a:gd name="adj2" fmla="val 20388126"/>
            </a:avLst>
          </a:prstGeom>
          <a:ln w="28575">
            <a:solidFill>
              <a:srgbClr val="4473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流程图: 联系 22"/>
          <p:cNvSpPr/>
          <p:nvPr/>
        </p:nvSpPr>
        <p:spPr>
          <a:xfrm>
            <a:off x="5849988" y="2616798"/>
            <a:ext cx="106731" cy="106731"/>
          </a:xfrm>
          <a:prstGeom prst="flowChartConnector">
            <a:avLst/>
          </a:prstGeom>
          <a:solidFill>
            <a:srgbClr val="4473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84474" y="2141946"/>
            <a:ext cx="445025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dirty="0">
                <a:ln w="0"/>
                <a:solidFill>
                  <a:srgbClr val="44739D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THANK YOU</a:t>
            </a:r>
            <a:endParaRPr lang="zh-CN" altLang="en-US" sz="6000" dirty="0">
              <a:ln w="0"/>
              <a:solidFill>
                <a:srgbClr val="44739D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8.6444094488189,&quot;left&quot;:117.4015748031496,&quot;top&quot;:128.36582677165353,&quot;width&quot;:448.241338582677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7.73429218997006,&quot;left&quot;:72.92299355078822,&quot;top&quot;:78.02594403050234,&quot;width&quot;:808.4109434570858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1.35594573327717,&quot;left&quot;:43.17393700787402,&quot;top&quot;:78.02594403050234,&quot;width&quot;:916.826062992126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2.72405596949767,&quot;left&quot;:43.17393700787402,&quot;top&quot;:78.02594403050234,&quot;width&quot;:916.826062992126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1.35594573327717,&quot;left&quot;:43.17393700787402,&quot;top&quot;:78.02594403050234,&quot;width&quot;:916.826062992126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1.35594573327717,&quot;left&quot;:43.17393700787402,&quot;top&quot;:78.02594403050234,&quot;width&quot;:916.826062992126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1952</Words>
  <Application>Microsoft Office PowerPoint</Application>
  <PresentationFormat>宽屏</PresentationFormat>
  <Paragraphs>211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等线</vt:lpstr>
      <vt:lpstr>等线 Light</vt:lpstr>
      <vt:lpstr>华文细黑</vt:lpstr>
      <vt:lpstr>思源黑体 CN Bold</vt:lpstr>
      <vt:lpstr>思源黑体 CN Light</vt:lpstr>
      <vt:lpstr>思源黑体 CN Normal</vt:lpstr>
      <vt:lpstr>思源黑体 CN Regular</vt:lpstr>
      <vt:lpstr>微软雅黑</vt:lpstr>
      <vt:lpstr>Arial</vt:lpstr>
      <vt:lpstr>Calibri</vt:lpstr>
      <vt:lpstr>Calibri Light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刘llc181</dc:creator>
  <cp:lastModifiedBy>Ulmus Lls</cp:lastModifiedBy>
  <cp:revision>50</cp:revision>
  <dcterms:created xsi:type="dcterms:W3CDTF">2020-06-12T08:27:00Z</dcterms:created>
  <dcterms:modified xsi:type="dcterms:W3CDTF">2025-06-30T15:37:49Z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D108E2BD880C4CD8A66D63EA0A176B44_12</vt:lpwstr>
  </property>
  <property fmtid="{D5CDD505-2E9C-101B-9397-08002B2CF9AE}" pid="3" name="KSOProductBuildVer">
    <vt:lpwstr>2052-12.1.0.21171</vt:lpwstr>
  </property>
</Properties>
</file>